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>
        <p:scale>
          <a:sx n="121" d="100"/>
          <a:sy n="121" d="100"/>
        </p:scale>
        <p:origin x="32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9059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 to The Claude Beast series. Today we're covering Claude Agent Teams --</a:t>
            </a:r>
          </a:p>
          <a:p>
            <a:r>
              <a:t>Anthropic's experimental multi-agent collaboration feature for Claude Code.</a:t>
            </a:r>
          </a:p>
          <a:p>
            <a:endParaRPr/>
          </a:p>
          <a:p>
            <a:r>
              <a:t>Agent Teams was released on February 5, 2026, alongside Claude Opus 4.6.</a:t>
            </a:r>
          </a:p>
          <a:p>
            <a:r>
              <a:t>It transforms Claude Code from a single-session assistant into a coordinated</a:t>
            </a:r>
          </a:p>
          <a:p>
            <a:r>
              <a:t>development squad -- multiple Claude instances working in parallel on the same project.</a:t>
            </a:r>
          </a:p>
          <a:p>
            <a:endParaRPr/>
          </a:p>
          <a:p>
            <a:r>
              <a:t>The community actually discovered this feature hidden in the binary weeks before launch.</a:t>
            </a:r>
          </a:p>
          <a:p>
            <a:r>
              <a:t>A developer named Kieran Klaassen ran 'strings' on the Claude Code binary and found</a:t>
            </a:r>
          </a:p>
          <a:p>
            <a:r>
              <a:t>13 fully implemented operations including spawnTeam, broadcastMessage, and voteOnDecision.</a:t>
            </a:r>
          </a:p>
          <a:p>
            <a:endParaRPr/>
          </a:p>
          <a:p>
            <a:r>
              <a:t>Let's dive into how it works and why it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Agent Teams is a fundamental shift in how we think about AI-assisted development.</a:t>
            </a:r>
          </a:p>
          <a:p>
            <a:endParaRPr/>
          </a:p>
          <a:p>
            <a:r>
              <a:t>Instead of a single Claude session doing everything sequentially -- reading files,</a:t>
            </a:r>
          </a:p>
          <a:p>
            <a:r>
              <a:t>writing code, running tests, one thing at a time -- you now spin up a coordinated</a:t>
            </a:r>
          </a:p>
          <a:p>
            <a:r>
              <a:t>team of agents.</a:t>
            </a:r>
          </a:p>
          <a:p>
            <a:endParaRPr/>
          </a:p>
          <a:p>
            <a:r>
              <a:t>Think of it like the difference between a solo developer and a development team.</a:t>
            </a:r>
          </a:p>
          <a:p>
            <a:r>
              <a:t>A solo developer context-switches between frontend, backend, and testing. A team</a:t>
            </a:r>
          </a:p>
          <a:p>
            <a:r>
              <a:t>divides the work and coordinates.</a:t>
            </a:r>
          </a:p>
          <a:p>
            <a:endParaRPr/>
          </a:p>
          <a:p>
            <a:r>
              <a:t>The key insight is that this isn't just subagent delegation where workers report</a:t>
            </a:r>
          </a:p>
          <a:p>
            <a:r>
              <a:t>back to a boss. Teammates can message each other directly -- the API teammate can</a:t>
            </a:r>
          </a:p>
          <a:p>
            <a:r>
              <a:t>tell the frontend teammate that type definitions are ready, without routing through</a:t>
            </a:r>
          </a:p>
          <a:p>
            <a:r>
              <a:t>the lead. This peer-to-peer communication is what makes it truly collaborative.</a:t>
            </a:r>
          </a:p>
          <a:p>
            <a:endParaRPr/>
          </a:p>
          <a:p>
            <a:r>
              <a:t>Community tools like claude-flow and ccswarm had been doing similar orchestration</a:t>
            </a:r>
          </a:p>
          <a:p>
            <a:r>
              <a:t>for months. Anthropic absorbed the best patterns into the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Agent Teams are disabled by default -- it's still experimental.</a:t>
            </a:r>
          </a:p>
          <a:p>
            <a:endParaRPr/>
          </a:p>
          <a:p>
            <a:r>
              <a:t>You have two options. The environment variable approach works for quick testing,</a:t>
            </a:r>
          </a:p>
          <a:p>
            <a:r>
              <a:t>but the settings.json approach is recommended because it persists across sessions</a:t>
            </a:r>
          </a:p>
          <a:p>
            <a:r>
              <a:t>and can be committed to your project's configuration.</a:t>
            </a:r>
          </a:p>
          <a:p>
            <a:endParaRPr/>
          </a:p>
          <a:p>
            <a:r>
              <a:t>Once enabled, you don't need to learn any special commands or APIs. You just tell</a:t>
            </a:r>
          </a:p>
          <a:p>
            <a:r>
              <a:t>Claude what team you want in plain English. Say something like 'Create an agent</a:t>
            </a:r>
          </a:p>
          <a:p>
            <a:r>
              <a:t>team with three reviewers looking at security, performance, and test coverage.'</a:t>
            </a:r>
          </a:p>
          <a:p>
            <a:endParaRPr/>
          </a:p>
          <a:p>
            <a:r>
              <a:t>Claude handles all the mechanics -- creating the team directory, spawning teammate</a:t>
            </a:r>
          </a:p>
          <a:p>
            <a:r>
              <a:t>instances, setting up the task list, and coordinating the work. The natural language</a:t>
            </a:r>
          </a:p>
          <a:p>
            <a:r>
              <a:t>interface is one of the strongest aspects of this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architecture is elegantly simple. There are four core components.</a:t>
            </a:r>
          </a:p>
          <a:p>
            <a:endParaRPr/>
          </a:p>
          <a:p>
            <a:r>
              <a:t>The Team Lead is your main Claude Code session. It's the orchestrator -- it creates</a:t>
            </a:r>
          </a:p>
          <a:p>
            <a:r>
              <a:t>the team, spawns teammates, assigns tasks, and monitors progress.</a:t>
            </a:r>
          </a:p>
          <a:p>
            <a:endParaRPr/>
          </a:p>
          <a:p>
            <a:r>
              <a:t>Teammates are separate Claude Code instances, each with their own independent context</a:t>
            </a:r>
          </a:p>
          <a:p>
            <a:r>
              <a:t>window. This is important -- they don't share context with the lead or each other.</a:t>
            </a:r>
          </a:p>
          <a:p>
            <a:r>
              <a:t>They load project context like CLAUDE.md independently.</a:t>
            </a:r>
          </a:p>
          <a:p>
            <a:endParaRPr/>
          </a:p>
          <a:p>
            <a:r>
              <a:t>The Task List is a shared set of work items stored as JSON files on disk. Tasks have</a:t>
            </a:r>
          </a:p>
          <a:p>
            <a:r>
              <a:t>statuses (pending, in progress, completed), and they support dependency tracking.</a:t>
            </a:r>
          </a:p>
          <a:p>
            <a:r>
              <a:t>A task blocked by another task can't be claimed until the dependency resolves.</a:t>
            </a:r>
          </a:p>
          <a:p>
            <a:endParaRPr/>
          </a:p>
          <a:p>
            <a:r>
              <a:t>The Mailbox is the communication backbone. Any agent can send a message to any other</a:t>
            </a:r>
          </a:p>
          <a:p>
            <a:r>
              <a:t>agent directly. This is the key differentiator from subagents -- it's peer-to-peer</a:t>
            </a:r>
          </a:p>
          <a:p>
            <a:r>
              <a:t>communication, not hub-and-spoke.</a:t>
            </a:r>
          </a:p>
          <a:p>
            <a:endParaRPr/>
          </a:p>
          <a:p>
            <a:r>
              <a:t>All of this state lives as simple JSON files on disk. No database, no complex</a:t>
            </a:r>
          </a:p>
          <a:p>
            <a:r>
              <a:t>infrastructure. Just files in ~/.claude/teams/ and ~/.claude/tasks/.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Under the hood, Agent Teams are built from seven tool calls, organized into</a:t>
            </a:r>
          </a:p>
          <a:p>
            <a:r>
              <a:t>three categories.</a:t>
            </a:r>
          </a:p>
          <a:p>
            <a:endParaRPr/>
          </a:p>
          <a:p>
            <a:r>
              <a:t>In the Setup phase, TeamCreate initializes the team directory and config file.</a:t>
            </a:r>
          </a:p>
          <a:p>
            <a:r>
              <a:t>TaskCreate defines individual units of work as JSON files. And the Task tool with</a:t>
            </a:r>
          </a:p>
          <a:p>
            <a:r>
              <a:t>a team_name parameter spawns a teammate -- it turns a subagent into a full team member.</a:t>
            </a:r>
          </a:p>
          <a:p>
            <a:endParaRPr/>
          </a:p>
          <a:p>
            <a:r>
              <a:t>During Execution, TaskList returns all tasks with their current status so agents</a:t>
            </a:r>
          </a:p>
          <a:p>
            <a:r>
              <a:t>can coordinate. TaskUpdate lets agents claim tasks by marking them in-progress,</a:t>
            </a:r>
          </a:p>
          <a:p>
            <a:r>
              <a:t>and then mark them complete when done.</a:t>
            </a:r>
          </a:p>
          <a:p>
            <a:endParaRPr/>
          </a:p>
          <a:p>
            <a:r>
              <a:t>For Communication, SendMessage enables direct messaging between any two agents,</a:t>
            </a:r>
          </a:p>
          <a:p>
            <a:r>
              <a:t>including broadcasts to all teammates. TeamDelete handles teardown.</a:t>
            </a:r>
          </a:p>
          <a:p>
            <a:endParaRPr/>
          </a:p>
          <a:p>
            <a:r>
              <a:t>The lifecycle flows naturally: create team, define tasks, spawn teammates, then</a:t>
            </a:r>
          </a:p>
          <a:p>
            <a:r>
              <a:t>each teammate loops through checking the task list, claiming work, doing it,</a:t>
            </a:r>
          </a:p>
          <a:p>
            <a:r>
              <a:t>completing it, and reporting. When everything's done, delete the team.</a:t>
            </a:r>
          </a:p>
          <a:p>
            <a:endParaRPr/>
          </a:p>
          <a:p>
            <a:r>
              <a:t>This simplicity is a design strength. All state is just JSON files. No complex</a:t>
            </a:r>
          </a:p>
          <a:p>
            <a:r>
              <a:t>orchestration layer, no message queues. Files on disk.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Claude Code includes four built-in agent types you can use as teammates.</a:t>
            </a:r>
          </a:p>
          <a:p>
            <a:endParaRPr/>
          </a:p>
          <a:p>
            <a:r>
              <a:t>General-purpose agents inherit your current model and have access to all tools.</a:t>
            </a:r>
          </a:p>
          <a:p>
            <a:r>
              <a:t>These are your workhorses for complex, multi-step tasks.</a:t>
            </a:r>
          </a:p>
          <a:p>
            <a:endParaRPr/>
          </a:p>
          <a:p>
            <a:r>
              <a:t>Explore agents run on Haiku, which makes them fast and cheap. They're read-only --</a:t>
            </a:r>
          </a:p>
          <a:p>
            <a:r>
              <a:t>perfect for codebase discovery and research without risk of modifying anything.</a:t>
            </a:r>
          </a:p>
          <a:p>
            <a:endParaRPr/>
          </a:p>
          <a:p>
            <a:r>
              <a:t>Plan agents also use read-only tools but inherit the main model. They're designed</a:t>
            </a:r>
          </a:p>
          <a:p>
            <a:r>
              <a:t>for the research phase before implementation.</a:t>
            </a:r>
          </a:p>
          <a:p>
            <a:endParaRPr/>
          </a:p>
          <a:p>
            <a:r>
              <a:t>Bash agents get terminal access in a separate context -- useful for running builds,</a:t>
            </a:r>
          </a:p>
          <a:p>
            <a:r>
              <a:t>tests, or servers.</a:t>
            </a:r>
          </a:p>
          <a:p>
            <a:endParaRPr/>
          </a:p>
          <a:p>
            <a:r>
              <a:t>On the communication side, the key insight is that this is peer-to-peer, not</a:t>
            </a:r>
          </a:p>
          <a:p>
            <a:r>
              <a:t>hub-and-spoke. In a traditional subagent model, all communication routes through</a:t>
            </a:r>
          </a:p>
          <a:p>
            <a:r>
              <a:t>the parent agent. With Agent Teams, the API teammate can message the frontend</a:t>
            </a:r>
          </a:p>
          <a:p>
            <a:r>
              <a:t>teammate directly -- 'Hey, type definitions are ready at /types, you can import them now.'</a:t>
            </a:r>
          </a:p>
          <a:p>
            <a:endParaRPr/>
          </a:p>
          <a:p>
            <a:r>
              <a:t>This eliminates a major bottleneck. No more waiting for the lead to relay information</a:t>
            </a:r>
          </a:p>
          <a:p>
            <a:r>
              <a:t>between workers. Agents self-coordinate. Messages are delivered automatically to each</a:t>
            </a:r>
          </a:p>
          <a:p>
            <a:r>
              <a:t>agent's inbox -- no polling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Let's look at the four strongest use cases for Agent Teams.</a:t>
            </a:r>
          </a:p>
          <a:p>
            <a:endParaRPr/>
          </a:p>
          <a:p>
            <a:r>
              <a:t>First, Parallel Code Review. This is the most accessible entry point. Instead of one</a:t>
            </a:r>
          </a:p>
          <a:p>
            <a:r>
              <a:t>reviewer catching whatever they notice first, you spawn three reviewers, each with a</a:t>
            </a:r>
          </a:p>
          <a:p>
            <a:r>
              <a:t>different lens: security, performance, and test coverage. Three-reviewer teams</a:t>
            </a:r>
          </a:p>
          <a:p>
            <a:r>
              <a:t>consistently surface issues that single-pass reviews miss.</a:t>
            </a:r>
          </a:p>
          <a:p>
            <a:endParaRPr/>
          </a:p>
          <a:p>
            <a:r>
              <a:t>Second, Competing Hypotheses for debugging. This is the most intellectually interesting</a:t>
            </a:r>
          </a:p>
          <a:p>
            <a:r>
              <a:t>pattern. You describe a bug and spawn five agents, each investigating a different theory.</a:t>
            </a:r>
          </a:p>
          <a:p>
            <a:r>
              <a:t>They actively try to disprove each other's theories, like a scientific debate. Sequential</a:t>
            </a:r>
          </a:p>
          <a:p>
            <a:r>
              <a:t>investigation suffers from anchoring bias -- once you explore one theory, you're biased</a:t>
            </a:r>
          </a:p>
          <a:p>
            <a:r>
              <a:t>toward it. Multiple independent investigators eliminate that bias.</a:t>
            </a:r>
          </a:p>
          <a:p>
            <a:endParaRPr/>
          </a:p>
          <a:p>
            <a:r>
              <a:t>Third, Cross-Layer Development. When a feature spans frontend, backend, and tests, each</a:t>
            </a:r>
          </a:p>
          <a:p>
            <a:r>
              <a:t>teammate owns a layer. When the API teammate finishes type definitions, it messages the</a:t>
            </a:r>
          </a:p>
          <a:p>
            <a:r>
              <a:t>UI teammate directly. No round-trip through the lead.</a:t>
            </a:r>
          </a:p>
          <a:p>
            <a:endParaRPr/>
          </a:p>
          <a:p>
            <a:r>
              <a:t>Fourth, QA Swarms. Multiple test agents hammer an application from different angles</a:t>
            </a:r>
          </a:p>
          <a:p>
            <a:r>
              <a:t>simultaneously. In a real-world example from alexop.dev, 5 QA agents tested a blog</a:t>
            </a:r>
          </a:p>
          <a:p>
            <a:r>
              <a:t>and found 10 issues in about 3 minutes -- pages, posts, links, SEO, and accessibility.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Let's talk about cost, because this is where teams require careful thinking.</a:t>
            </a:r>
          </a:p>
          <a:p>
            <a:endParaRPr/>
          </a:p>
          <a:p>
            <a:r>
              <a:t>Each teammate is a separate Claude instance with its own context window. Token usage</a:t>
            </a:r>
          </a:p>
          <a:p>
            <a:r>
              <a:t>scales linearly with the number of active teammates. A solo session uses about 200K</a:t>
            </a:r>
          </a:p>
          <a:p>
            <a:r>
              <a:t>tokens. A 3-person agent team uses roughly 800K -- that's 4x the cost. A 5-person</a:t>
            </a:r>
          </a:p>
          <a:p>
            <a:r>
              <a:t>team pushes past 1.2 million tokens, about 6x cost.</a:t>
            </a:r>
          </a:p>
          <a:p>
            <a:endParaRPr/>
          </a:p>
          <a:p>
            <a:r>
              <a:t>Five-person teams on complex tasks can burn through $50 to $100+ in tokens quickly.</a:t>
            </a:r>
          </a:p>
          <a:p>
            <a:r>
              <a:t>This is real money.</a:t>
            </a:r>
          </a:p>
          <a:p>
            <a:endParaRPr/>
          </a:p>
          <a:p>
            <a:r>
              <a:t>But there are smart optimization strategies. First, use cheaper models for teammates.</a:t>
            </a:r>
          </a:p>
          <a:p>
            <a:r>
              <a:t>Run the lead on Opus for its reasoning capability, but spawn teammates on Sonnet.</a:t>
            </a:r>
          </a:p>
          <a:p>
            <a:r>
              <a:t>The teammates are doing focused, well-scoped tasks -- they don't need the most</a:t>
            </a:r>
          </a:p>
          <a:p>
            <a:r>
              <a:t>expensive model.</a:t>
            </a:r>
          </a:p>
          <a:p>
            <a:endParaRPr/>
          </a:p>
          <a:p>
            <a:r>
              <a:t>Second, start with 3-5 teammates. There are diminishing returns beyond that.</a:t>
            </a:r>
          </a:p>
          <a:p>
            <a:endParaRPr/>
          </a:p>
          <a:p>
            <a:r>
              <a:t>Third, plan first. Use plan mode at about 10K tokens to explore the codebase and</a:t>
            </a:r>
          </a:p>
          <a:p>
            <a:r>
              <a:t>create a task breakdown. Then hand the approved plan to a team for parallel execution.</a:t>
            </a:r>
          </a:p>
          <a:p>
            <a:endParaRPr/>
          </a:p>
          <a:p>
            <a:r>
              <a:t>Fourth, avoid broadcasts -- they cost scales with team size because every recipient</a:t>
            </a:r>
          </a:p>
          <a:p>
            <a:r>
              <a:t>processes the message. Use targeted messages instead.</a:t>
            </a:r>
          </a:p>
          <a:p>
            <a:endParaRPr/>
          </a:p>
          <a:p>
            <a:r>
              <a:t>The bottom line: use teams when the coordination benefit justifies the cost multiplier.</a:t>
            </a:r>
          </a:p>
          <a:p>
            <a:r>
              <a:t>For research, review, and multi-layer features, it's almost always worth it. For</a:t>
            </a:r>
          </a:p>
          <a:p>
            <a:r>
              <a:t>routine sequential tasks, stick with a solo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Let me wrap up with key takeaways and practical advice for getting started.</a:t>
            </a:r>
          </a:p>
          <a:p>
            <a:endParaRPr/>
          </a:p>
          <a:p>
            <a:r>
              <a:t>Agent Teams transform Claude Code from a solo assistant into a coordinated development</a:t>
            </a:r>
          </a:p>
          <a:p>
            <a:r>
              <a:t>squad. The architecture is surprisingly simple -- just a lead, teammates, a shared task</a:t>
            </a:r>
          </a:p>
          <a:p>
            <a:r>
              <a:t>list, and a messaging system, all stored as JSON files on disk.</a:t>
            </a:r>
          </a:p>
          <a:p>
            <a:endParaRPr/>
          </a:p>
          <a:p>
            <a:r>
              <a:t>The critical differentiator from subagents is peer-to-peer communication. Teammates</a:t>
            </a:r>
          </a:p>
          <a:p>
            <a:r>
              <a:t>talk to each other directly, not just report back to a parent.</a:t>
            </a:r>
          </a:p>
          <a:p>
            <a:endParaRPr/>
          </a:p>
          <a:p>
            <a:r>
              <a:t>It's still experimental. There's no session resumption, you can only have one team</a:t>
            </a:r>
          </a:p>
          <a:p>
            <a:r>
              <a:t>per session, and teammates can't spawn their own teams. But it's production-usable</a:t>
            </a:r>
          </a:p>
          <a:p>
            <a:r>
              <a:t>for the right workloads.</a:t>
            </a:r>
          </a:p>
          <a:p>
            <a:endParaRPr/>
          </a:p>
          <a:p>
            <a:r>
              <a:t>For getting started, I recommend a progression. Begin with review and research tasks --</a:t>
            </a:r>
          </a:p>
          <a:p>
            <a:r>
              <a:t>they have clear boundaries and low risk. Then try cross-layer features where each</a:t>
            </a:r>
          </a:p>
          <a:p>
            <a:r>
              <a:t>teammate owns a different layer. Then scale to larger refactors.</a:t>
            </a:r>
          </a:p>
          <a:p>
            <a:endParaRPr/>
          </a:p>
          <a:p>
            <a:r>
              <a:t>Always plan first, parallelize second. Use plan mode to define tasks cheaply, then</a:t>
            </a:r>
          </a:p>
          <a:p>
            <a:r>
              <a:t>hand the approved plan to a team for parallel execution.</a:t>
            </a:r>
          </a:p>
          <a:p>
            <a:endParaRPr/>
          </a:p>
          <a:p>
            <a:r>
              <a:t>Three to five teammates is the sweet spot. Use delegate mode to keep the lead focused</a:t>
            </a:r>
          </a:p>
          <a:p>
            <a:r>
              <a:t>on coordination instead of doing the work itself.</a:t>
            </a:r>
          </a:p>
          <a:p>
            <a:endParaRPr/>
          </a:p>
          <a:p>
            <a:r>
              <a:t>And finally -- the skills of engineering management transfer directly. Task sizing,</a:t>
            </a:r>
          </a:p>
          <a:p>
            <a:r>
              <a:t>file ownership boundaries, clear briefs, monitoring progress, and knowing when to</a:t>
            </a:r>
          </a:p>
          <a:p>
            <a:r>
              <a:t>intervene. If you're a good engineering manager, you'll be a good agent team lead.</a:t>
            </a:r>
          </a:p>
          <a:p>
            <a:endParaRPr/>
          </a:p>
          <a:p>
            <a:r>
              <a:t>Thank you. Let's discuss.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7A6E5D"/>
                </a:solidFill>
                <a:latin typeface="JetBrains Mono"/>
              </a:defRPr>
            </a:pPr>
            <a:r>
              <a:t>THE CLAUDE BEAST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5400" b="0" i="0">
                <a:solidFill>
                  <a:srgbClr val="E8D5B7"/>
                </a:solidFill>
                <a:latin typeface="Georgia"/>
              </a:defRPr>
            </a:pPr>
            <a:r>
              <a:t>Claude Agent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0" i="0">
                <a:solidFill>
                  <a:srgbClr val="C4A882"/>
                </a:solidFill>
                <a:latin typeface="Calibri"/>
              </a:defRPr>
            </a:pPr>
            <a:r>
              <a:t>Multi-Agent Collaboration in Claude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114800"/>
            <a:ext cx="3931920" cy="18288"/>
          </a:xfrm>
          <a:prstGeom prst="rect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0" i="1">
                <a:solidFill>
                  <a:srgbClr val="D4886B"/>
                </a:solidFill>
                <a:latin typeface="Calibri"/>
              </a:defRPr>
            </a:pPr>
            <a:r>
              <a:t>February 2026  |  Experimental Feature  |  Released with Opus 4.6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0" i="0">
                <a:solidFill>
                  <a:srgbClr val="E8D5B7"/>
                </a:solidFill>
                <a:latin typeface="Georgia"/>
              </a:defRPr>
            </a:pPr>
            <a:r>
              <a:t>What Are Agent Teams?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39"/>
            <a:ext cx="10515600" cy="1364243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" y="160020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61288" y="160020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362456" y="160020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1536192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Core Concept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 i="0">
                <a:solidFill>
                  <a:srgbClr val="E8D5B7"/>
                </a:solidFill>
                <a:latin typeface="Calibri"/>
              </a:defRPr>
            </a:pPr>
            <a:r>
              <a:t>Multiple Claude Code instances working together in parallel on the same project -- sharing tasks, communicating directly, and coordinating autonomously.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D4886B"/>
                </a:solidFill>
                <a:latin typeface="Calibri"/>
              </a:rPr>
              <a:t>  –  </a:t>
            </a:r>
            <a:r>
              <a:rPr sz="1700">
                <a:solidFill>
                  <a:srgbClr val="C4A882"/>
                </a:solidFill>
                <a:latin typeface="Calibri"/>
              </a:rPr>
              <a:t>One session acts as Team Lead (orchestrator), spawning independent Teammates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D4886B"/>
                </a:solidFill>
                <a:latin typeface="Calibri"/>
              </a:rPr>
              <a:t>  –  </a:t>
            </a:r>
            <a:r>
              <a:rPr sz="1700">
                <a:solidFill>
                  <a:srgbClr val="C4A882"/>
                </a:solidFill>
                <a:latin typeface="Calibri"/>
              </a:rPr>
              <a:t>Each teammate gets its own Claude Code instance with its own context window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D4886B"/>
                </a:solidFill>
                <a:latin typeface="Calibri"/>
              </a:rPr>
              <a:t>  –  </a:t>
            </a:r>
            <a:r>
              <a:rPr sz="1700">
                <a:solidFill>
                  <a:srgbClr val="C4A882"/>
                </a:solidFill>
                <a:latin typeface="Calibri"/>
              </a:rPr>
              <a:t>Teammates coordinate through a shared task list and direct messaging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D4886B"/>
                </a:solidFill>
                <a:latin typeface="Calibri"/>
              </a:rPr>
              <a:t>  –  </a:t>
            </a:r>
            <a:r>
              <a:rPr sz="1700" b="1">
                <a:solidFill>
                  <a:srgbClr val="E8D5B7"/>
                </a:solidFill>
                <a:latin typeface="Calibri"/>
              </a:rPr>
              <a:t>Not just delegation</a:t>
            </a:r>
            <a:r>
              <a:rPr sz="1700">
                <a:solidFill>
                  <a:srgbClr val="C4A882"/>
                </a:solidFill>
                <a:latin typeface="Calibri"/>
              </a:rPr>
              <a:t> — teammates can discuss, challenge, and self-coordinate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D4886B"/>
                </a:solidFill>
                <a:latin typeface="Calibri"/>
              </a:rPr>
              <a:t>  –  </a:t>
            </a:r>
            <a:r>
              <a:rPr sz="1700">
                <a:solidFill>
                  <a:srgbClr val="C4A882"/>
                </a:solidFill>
                <a:latin typeface="Calibri"/>
              </a:rPr>
              <a:t>Evolves Claude Code from solo assistant to coordinated development squad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7A6E5D"/>
                </a:solidFill>
                <a:latin typeface="JetBrains Mono"/>
              </a:defRPr>
            </a:pPr>
            <a: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0" i="0">
                <a:solidFill>
                  <a:srgbClr val="E8D5B7"/>
                </a:solidFill>
                <a:latin typeface="Georgia"/>
              </a:defRPr>
            </a:pPr>
            <a:r>
              <a:t>How to Enable Agent Teams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029200" cy="182880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" y="169164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61288" y="169164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362456" y="169164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162763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Option A: Environment Variable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4884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D4886B"/>
                </a:solidFill>
                <a:latin typeface="JetBrains Mono"/>
              </a:defRPr>
            </a:pPr>
            <a:r>
              <a:t>export CLAUDE_CODE_EXPERIMENTAL_AGENT_TEAMS=1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554480"/>
            <a:ext cx="5029200" cy="182880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29400" y="169164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830568" y="169164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031736" y="169164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0" y="162763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Option B: settings.json (Recommended)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14884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D4886B"/>
                </a:solidFill>
                <a:latin typeface="JetBrains Mono"/>
              </a:defRPr>
            </a:pPr>
            <a:r>
              <a:t>{ "env": {</a:t>
            </a:r>
            <a:br/>
            <a:r>
              <a:t>    "CLAUDE_CODE_EXPERIMENTAL_AGENT_TEAMS": "1"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 i="0">
                <a:solidFill>
                  <a:srgbClr val="E8D5B7"/>
                </a:solidFill>
                <a:latin typeface="Calibri"/>
              </a:defRPr>
            </a:pPr>
            <a:r>
              <a:t>Then simply ask Claude in natural language: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389120"/>
            <a:ext cx="10515600" cy="146304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60120" y="452628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61288" y="452628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362456" y="452628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45920" y="4462272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Prompt Example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89204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 i="0">
                <a:solidFill>
                  <a:srgbClr val="E8D5B7"/>
                </a:solidFill>
                <a:latin typeface="Calibri"/>
              </a:defRPr>
            </a:pPr>
            <a:r>
              <a:t>"Create an agent team to explore this from different angles:</a:t>
            </a:r>
            <a:br/>
            <a:r>
              <a:t>one teammate on UX, one on technical architecture,</a:t>
            </a:r>
            <a:br/>
            <a:r>
              <a:t>one playing devil's advocate."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7A6E5D"/>
                </a:solidFill>
                <a:latin typeface="Calibri"/>
              </a:defRPr>
            </a:pPr>
            <a:r>
              <a:t>Claude handles team creation, teammate spawning, and coordination automatically.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7A6E5D"/>
                </a:solidFill>
                <a:latin typeface="JetBrains Mono"/>
              </a:defRPr>
            </a:pPr>
            <a: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0" i="0">
                <a:solidFill>
                  <a:srgbClr val="E8D5B7"/>
                </a:solidFill>
                <a:latin typeface="Georgia"/>
              </a:defRPr>
            </a:pPr>
            <a:r>
              <a:t>Architecture: Four Core Components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029200" cy="201168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" y="160020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61288" y="160020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362456" y="160020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153619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Team Lead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 i="0">
                <a:solidFill>
                  <a:srgbClr val="C4A882"/>
                </a:solidFill>
                <a:latin typeface="Calibri"/>
              </a:defRPr>
            </a:pPr>
            <a:r>
              <a:t>The main Claude Code session.</a:t>
            </a:r>
            <a:br/>
            <a:r>
              <a:t>Creates team, spawns teammates,</a:t>
            </a:r>
            <a:br/>
            <a:r>
              <a:t>coordinates all 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63040"/>
            <a:ext cx="5029200" cy="201168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29400" y="160020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830568" y="160020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031736" y="160020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0" y="153619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Teammates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05740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 i="0">
                <a:solidFill>
                  <a:srgbClr val="C4A882"/>
                </a:solidFill>
                <a:latin typeface="Calibri"/>
              </a:defRPr>
            </a:pPr>
            <a:r>
              <a:t>Separate Claude instances.</a:t>
            </a:r>
            <a:br/>
            <a:r>
              <a:t>Each with own context window.</a:t>
            </a:r>
            <a:br/>
            <a:r>
              <a:t>Work independently on tasks.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49039"/>
            <a:ext cx="5029200" cy="201168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60120" y="3886199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61288" y="3886199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362456" y="3886199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645920" y="3822191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Task List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343399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 i="0">
                <a:solidFill>
                  <a:srgbClr val="C4A882"/>
                </a:solidFill>
                <a:latin typeface="Calibri"/>
              </a:defRPr>
            </a:pPr>
            <a:r>
              <a:t>Shared work items on disk.</a:t>
            </a:r>
            <a:br/>
            <a:r>
              <a:t>Dependency tracking built in.</a:t>
            </a:r>
            <a:br/>
            <a:r>
              <a:t>Claim, execute, complete.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749039"/>
            <a:ext cx="5029200" cy="201168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629400" y="3886199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830568" y="3886199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031736" y="3886199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0" y="3822191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Mailbox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343399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 i="0">
                <a:solidFill>
                  <a:srgbClr val="C4A882"/>
                </a:solidFill>
                <a:latin typeface="Calibri"/>
              </a:defRPr>
            </a:pPr>
            <a:r>
              <a:t>Direct messaging system.</a:t>
            </a:r>
            <a:br/>
            <a:r>
              <a:t>Agent-to-agent communication.</a:t>
            </a:r>
            <a:br/>
            <a:r>
              <a:t>Broadcasts + targeted msgs.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7A6E5D"/>
                </a:solidFill>
                <a:latin typeface="JetBrains Mono"/>
              </a:defRPr>
            </a:pPr>
            <a:r>
              <a:t>All state stored as JSON files on disk: ~/.claude/teams/ and ~/.claude/tasks/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7A6E5D"/>
                </a:solidFill>
                <a:latin typeface="JetBrains Mono"/>
              </a:defRPr>
            </a:pPr>
            <a:r>
              <a:t>4 / 10</a:t>
            </a:r>
          </a:p>
        </p:txBody>
      </p:sp>
      <p:pic>
        <p:nvPicPr>
          <p:cNvPr id="29" name="Graphic 28" descr="Voice with solid fill">
            <a:extLst>
              <a:ext uri="{FF2B5EF4-FFF2-40B4-BE49-F238E27FC236}">
                <a16:creationId xmlns:a16="http://schemas.microsoft.com/office/drawing/2014/main" id="{531D7EDD-C961-415B-4C3E-7405452150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93489" y="4924044"/>
            <a:ext cx="1323663" cy="1323663"/>
          </a:xfrm>
          <a:prstGeom prst="rect">
            <a:avLst/>
          </a:prstGeom>
        </p:spPr>
      </p:pic>
      <p:pic>
        <p:nvPicPr>
          <p:cNvPr id="30" name="Graphic 29" descr="Marketing with solid fill">
            <a:extLst>
              <a:ext uri="{FF2B5EF4-FFF2-40B4-BE49-F238E27FC236}">
                <a16:creationId xmlns:a16="http://schemas.microsoft.com/office/drawing/2014/main" id="{E5C1D1C4-0D0B-02AE-6E18-8BB9F1DCAF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27064" y="50292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0" i="0">
                <a:solidFill>
                  <a:srgbClr val="E8D5B7"/>
                </a:solidFill>
                <a:latin typeface="Georgia"/>
              </a:defRPr>
            </a:pPr>
            <a:r>
              <a:t>The 7 Primitives 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45336" y="1054559"/>
            <a:ext cx="33832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D4886B"/>
                </a:solidFill>
                <a:latin typeface="JetBrains Mono"/>
              </a:defRPr>
            </a:pPr>
            <a:r>
              <a:rPr dirty="0"/>
              <a:t>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1545336" y="1420319"/>
            <a:ext cx="1371600" cy="18288"/>
          </a:xfrm>
          <a:prstGeom prst="rect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737"/>
            <a:ext cx="3462108" cy="1551355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772564"/>
            <a:ext cx="29260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E8D5B7"/>
                </a:solidFill>
                <a:latin typeface="Calibri"/>
              </a:defRPr>
            </a:pPr>
            <a:r>
              <a:rPr dirty="0" err="1"/>
              <a:t>TeamCreate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960120" y="2370154"/>
            <a:ext cx="29260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C4A882"/>
                </a:solidFill>
                <a:latin typeface="Calibri"/>
              </a:defRPr>
            </a:pPr>
            <a:r>
              <a:rPr dirty="0"/>
              <a:t>Creates team directory</a:t>
            </a:r>
            <a:br>
              <a:rPr dirty="0"/>
            </a:br>
            <a:r>
              <a:rPr dirty="0"/>
              <a:t>&amp; config 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91169"/>
            <a:ext cx="3462108" cy="1551355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523021"/>
            <a:ext cx="29260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E8D5B7"/>
                </a:solidFill>
                <a:latin typeface="Calibri"/>
              </a:defRPr>
            </a:pPr>
            <a:r>
              <a:rPr dirty="0" err="1"/>
              <a:t>TaskCreate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960120" y="4044644"/>
            <a:ext cx="29260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C4A882"/>
                </a:solidFill>
                <a:latin typeface="Calibri"/>
              </a:defRPr>
            </a:pPr>
            <a:r>
              <a:rPr dirty="0"/>
              <a:t>Defines a unit of</a:t>
            </a:r>
            <a:br>
              <a:rPr dirty="0"/>
            </a:br>
            <a:r>
              <a:rPr dirty="0"/>
              <a:t>work as JSON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181601"/>
            <a:ext cx="3462108" cy="1551355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5321966"/>
            <a:ext cx="29260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E8D5B7"/>
                </a:solidFill>
                <a:latin typeface="Calibri"/>
              </a:defRPr>
            </a:pPr>
            <a:r>
              <a:rPr dirty="0"/>
              <a:t>Task (spawn)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785496"/>
            <a:ext cx="29260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C4A882"/>
                </a:solidFill>
                <a:latin typeface="Calibri"/>
              </a:defRPr>
            </a:pPr>
            <a:r>
              <a:rPr dirty="0"/>
              <a:t>Spawns a teammate</a:t>
            </a:r>
            <a:br>
              <a:rPr dirty="0"/>
            </a:br>
            <a:r>
              <a:rPr dirty="0"/>
              <a:t>instance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02936" y="1054559"/>
            <a:ext cx="33832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D4886B"/>
                </a:solidFill>
                <a:latin typeface="JetBrains Mono"/>
              </a:defRPr>
            </a:pPr>
            <a:r>
              <a:t>EXECUTION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02936" y="1420319"/>
            <a:ext cx="1371600" cy="18288"/>
          </a:xfrm>
          <a:prstGeom prst="rect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389120" y="1600737"/>
            <a:ext cx="3462108" cy="1551355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17720" y="1792590"/>
            <a:ext cx="29260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E8D5B7"/>
                </a:solidFill>
                <a:latin typeface="Calibri"/>
              </a:defRPr>
            </a:pPr>
            <a:r>
              <a:rPr dirty="0" err="1"/>
              <a:t>TaskList</a:t>
            </a:r>
            <a:endParaRPr dirty="0"/>
          </a:p>
        </p:txBody>
      </p:sp>
      <p:sp>
        <p:nvSpPr>
          <p:cNvPr id="30" name="TextBox 29"/>
          <p:cNvSpPr txBox="1"/>
          <p:nvPr/>
        </p:nvSpPr>
        <p:spPr>
          <a:xfrm>
            <a:off x="4617720" y="2286538"/>
            <a:ext cx="29260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C4A882"/>
                </a:solidFill>
                <a:latin typeface="Calibri"/>
              </a:defRPr>
            </a:pPr>
            <a:r>
              <a:t>Returns all tasks</a:t>
            </a:r>
            <a:br/>
            <a:r>
              <a:t>with current status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0" y="3391169"/>
            <a:ext cx="3462108" cy="1551355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617720" y="3526227"/>
            <a:ext cx="29260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E8D5B7"/>
                </a:solidFill>
                <a:latin typeface="Calibri"/>
              </a:defRPr>
            </a:pPr>
            <a:r>
              <a:rPr dirty="0" err="1"/>
              <a:t>TaskUpdate</a:t>
            </a:r>
            <a:endParaRPr dirty="0"/>
          </a:p>
        </p:txBody>
      </p:sp>
      <p:sp>
        <p:nvSpPr>
          <p:cNvPr id="36" name="TextBox 35"/>
          <p:cNvSpPr txBox="1"/>
          <p:nvPr/>
        </p:nvSpPr>
        <p:spPr>
          <a:xfrm>
            <a:off x="4617720" y="4080095"/>
            <a:ext cx="29260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C4A882"/>
                </a:solidFill>
                <a:latin typeface="Calibri"/>
              </a:defRPr>
            </a:pPr>
            <a:r>
              <a:rPr dirty="0"/>
              <a:t>Claims tasks &amp; marks</a:t>
            </a:r>
            <a:br>
              <a:rPr dirty="0"/>
            </a:br>
            <a:r>
              <a:rPr dirty="0"/>
              <a:t>them complete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0536" y="1054559"/>
            <a:ext cx="33832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D4886B"/>
                </a:solidFill>
                <a:latin typeface="JetBrains Mono"/>
              </a:defRPr>
            </a:pPr>
            <a:r>
              <a:t>COMMUNICATION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860536" y="1420319"/>
            <a:ext cx="1371600" cy="18288"/>
          </a:xfrm>
          <a:prstGeom prst="rect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8046720" y="1600737"/>
            <a:ext cx="3462108" cy="1551355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75320" y="1791009"/>
            <a:ext cx="29260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E8D5B7"/>
                </a:solidFill>
                <a:latin typeface="Calibri"/>
              </a:defRPr>
            </a:pPr>
            <a:r>
              <a:rPr dirty="0" err="1"/>
              <a:t>SendMessage</a:t>
            </a:r>
            <a:endParaRPr dirty="0"/>
          </a:p>
        </p:txBody>
      </p:sp>
      <p:sp>
        <p:nvSpPr>
          <p:cNvPr id="44" name="TextBox 43"/>
          <p:cNvSpPr txBox="1"/>
          <p:nvPr/>
        </p:nvSpPr>
        <p:spPr>
          <a:xfrm>
            <a:off x="8275320" y="2286538"/>
            <a:ext cx="29260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C4A882"/>
                </a:solidFill>
                <a:latin typeface="Calibri"/>
              </a:defRPr>
            </a:pPr>
            <a:r>
              <a:t>Messages between</a:t>
            </a:r>
            <a:br/>
            <a:r>
              <a:t>any two agents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46720" y="3391169"/>
            <a:ext cx="3462108" cy="1551355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275320" y="3503356"/>
            <a:ext cx="29260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E8D5B7"/>
                </a:solidFill>
                <a:latin typeface="Calibri"/>
              </a:defRPr>
            </a:pPr>
            <a:r>
              <a:rPr dirty="0" err="1"/>
              <a:t>TeamDelete</a:t>
            </a:r>
            <a:endParaRPr dirty="0"/>
          </a:p>
        </p:txBody>
      </p:sp>
      <p:sp>
        <p:nvSpPr>
          <p:cNvPr id="50" name="TextBox 49"/>
          <p:cNvSpPr txBox="1"/>
          <p:nvPr/>
        </p:nvSpPr>
        <p:spPr>
          <a:xfrm>
            <a:off x="8275320" y="4044644"/>
            <a:ext cx="29260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C4A882"/>
                </a:solidFill>
                <a:latin typeface="Calibri"/>
              </a:defRPr>
            </a:pPr>
            <a:r>
              <a:t>Removes team config</a:t>
            </a:r>
            <a:br/>
            <a:r>
              <a:t>&amp; task files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7A6E5D"/>
                </a:solidFill>
                <a:latin typeface="JetBrains Mono"/>
              </a:defRPr>
            </a:pPr>
            <a: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0" i="0">
                <a:solidFill>
                  <a:srgbClr val="E8D5B7"/>
                </a:solidFill>
                <a:latin typeface="Georgia"/>
              </a:defRPr>
            </a:pPr>
            <a:r>
              <a:t>Agent Types &amp; Communication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D4886B"/>
                </a:solidFill>
                <a:latin typeface="JetBrains Mono"/>
              </a:defRPr>
            </a:pPr>
            <a:r>
              <a:t>BUILT-IN AGENT TYPES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5303520" cy="82296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947671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E8D5B7"/>
                </a:solidFill>
                <a:latin typeface="Calibri"/>
              </a:defRPr>
            </a:pPr>
            <a:r>
              <a:t>General-purpose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947671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C4A882"/>
                </a:solidFill>
                <a:latin typeface="Calibri"/>
              </a:defRPr>
            </a:pPr>
            <a:r>
              <a:t>Full tools, complex multi-step tasks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13431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7A6E5D"/>
                </a:solidFill>
                <a:latin typeface="JetBrains Mono"/>
              </a:defRPr>
            </a:pPr>
            <a:r>
              <a:t>Inherits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80359"/>
            <a:ext cx="5303520" cy="82296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953511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E8D5B7"/>
                </a:solidFill>
                <a:latin typeface="Calibri"/>
              </a:defRPr>
            </a:pPr>
            <a:r>
              <a:t>Explore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953511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C4A882"/>
                </a:solidFill>
                <a:latin typeface="Calibri"/>
              </a:defRPr>
            </a:pPr>
            <a:r>
              <a:t>Read-only codebase discovery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19271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7A6E5D"/>
                </a:solidFill>
                <a:latin typeface="JetBrains Mono"/>
              </a:defRPr>
            </a:pPr>
            <a:r>
              <a:t>Haiku (fast/cheap)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86199"/>
            <a:ext cx="5303520" cy="82296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3959351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E8D5B7"/>
                </a:solidFill>
                <a:latin typeface="Calibri"/>
              </a:defRPr>
            </a:pPr>
            <a:r>
              <a:t>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959351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C4A882"/>
                </a:solidFill>
                <a:latin typeface="Calibri"/>
              </a:defRPr>
            </a:pPr>
            <a:r>
              <a:t>Research &amp; context gathering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325111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7A6E5D"/>
                </a:solidFill>
                <a:latin typeface="JetBrains Mono"/>
              </a:defRPr>
            </a:pPr>
            <a:r>
              <a:t>Inherits 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92039"/>
            <a:ext cx="5303520" cy="82296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965191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E8D5B7"/>
                </a:solidFill>
                <a:latin typeface="Calibri"/>
              </a:defRPr>
            </a:pPr>
            <a:r>
              <a:t>Bash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965191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C4A882"/>
                </a:solidFill>
                <a:latin typeface="Calibri"/>
              </a:defRPr>
            </a:pPr>
            <a:r>
              <a:t>Terminal commands in separate 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330951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7A6E5D"/>
                </a:solidFill>
                <a:latin typeface="JetBrains Mono"/>
              </a:defRPr>
            </a:pPr>
            <a:r>
              <a:t>Inherits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1417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D4886B"/>
                </a:solidFill>
                <a:latin typeface="JetBrains Mono"/>
              </a:defRPr>
            </a:pPr>
            <a:r>
              <a:t>PEER-TO-PEER COMMUNICATION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1874519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Direct messages between any two agents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Broadcast to all teammates (use sparingly)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Shutdown request / response protocol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Plan approval workflow for quality gates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Idle notifications when agents finish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 b="1">
                <a:solidFill>
                  <a:srgbClr val="E8D5B7"/>
                </a:solidFill>
                <a:latin typeface="Calibri"/>
              </a:rPr>
              <a:t>No polling needed</a:t>
            </a:r>
            <a:r>
              <a:rPr sz="1500">
                <a:solidFill>
                  <a:srgbClr val="C4A882"/>
                </a:solidFill>
                <a:latin typeface="Calibri"/>
              </a:rPr>
              <a:t> — auto-delivered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897879"/>
            <a:ext cx="10515600" cy="82296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60120" y="6035039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61288" y="6035039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362456" y="6035039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645920" y="5971031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6355079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 i="0">
                <a:solidFill>
                  <a:srgbClr val="E8D5B7"/>
                </a:solidFill>
                <a:latin typeface="Calibri"/>
              </a:defRPr>
            </a:pPr>
            <a:r>
              <a:rPr dirty="0"/>
              <a:t>This is peer-to-peer, not hub-and-spoke. The API teammate can tell the frontend teammate directly that types are ready.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7A6E5D"/>
                </a:solidFill>
                <a:latin typeface="JetBrains Mono"/>
              </a:defRPr>
            </a:pPr>
            <a: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0" i="0">
                <a:solidFill>
                  <a:srgbClr val="E8D5B7"/>
                </a:solidFill>
                <a:latin typeface="Georgia"/>
              </a:defRPr>
            </a:pPr>
            <a:r>
              <a:t>High-Impact Use Cases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515600" cy="109728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" y="160020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61288" y="160020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362456" y="160020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1536192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Parallel Code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 i="0">
                <a:solidFill>
                  <a:srgbClr val="D4886B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92024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C4A882"/>
                </a:solidFill>
                <a:latin typeface="Calibri"/>
              </a:defRPr>
            </a:pPr>
            <a:r>
              <a:t>3 reviewers apply different lenses (security, performance, tests) to the same PR.</a:t>
            </a:r>
            <a:br/>
            <a:r>
              <a:t>Consistently surfaces issues single-pass reviews miss.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43200"/>
            <a:ext cx="10515600" cy="109728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60120" y="288036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61288" y="288036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362456" y="288036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645920" y="2816352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Competing Hypotheses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004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 i="0">
                <a:solidFill>
                  <a:srgbClr val="D4886B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20040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C4A882"/>
                </a:solidFill>
                <a:latin typeface="Calibri"/>
              </a:defRPr>
            </a:pPr>
            <a:r>
              <a:t>5 agents investigate different debugging theories and actively disprove each other.</a:t>
            </a:r>
            <a:br/>
            <a:r>
              <a:t>Eliminates anchoring bias from sequential investigation.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23360"/>
            <a:ext cx="10515600" cy="109728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60120" y="416052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61288" y="416052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362456" y="416052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645920" y="4096512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Cross-Layer Development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4805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 i="0">
                <a:solidFill>
                  <a:srgbClr val="D4886B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48056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C4A882"/>
                </a:solidFill>
                <a:latin typeface="Calibri"/>
              </a:defRPr>
            </a:pPr>
            <a:r>
              <a:t>API, frontend, and test teammates each own their layer.</a:t>
            </a:r>
            <a:br/>
            <a:r>
              <a:t>Agents message each other directly when interfaces are ready.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303520"/>
            <a:ext cx="10515600" cy="109728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60120" y="544068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161288" y="544068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362456" y="544068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645920" y="5376672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QA Swarm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7607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 i="0">
                <a:solidFill>
                  <a:srgbClr val="D4886B"/>
                </a:solidFill>
                <a:latin typeface="Georgia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576072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C4A882"/>
                </a:solidFill>
                <a:latin typeface="Calibri"/>
              </a:defRPr>
            </a:pPr>
            <a:r>
              <a:t>5 QA agents test pages, posts, links, SEO, and accessibility simultaneously.</a:t>
            </a:r>
            <a:br/>
            <a:r>
              <a:t>Real-world example: 10 issues found and prioritized in ~3 minutes.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7A6E5D"/>
                </a:solidFill>
                <a:latin typeface="JetBrains Mono"/>
              </a:defRPr>
            </a:pPr>
            <a: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0" i="0">
                <a:solidFill>
                  <a:srgbClr val="E8D5B7"/>
                </a:solidFill>
                <a:latin typeface="Georgia"/>
              </a:defRPr>
            </a:pPr>
            <a:r>
              <a:t>Cost Considerations &amp;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D4886B"/>
                </a:solidFill>
                <a:latin typeface="JetBrains Mono"/>
              </a:defRPr>
            </a:pPr>
            <a:r>
              <a:t>TOKEN USAGE SCALES LINEARLY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5303520" cy="64008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98424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 i="0">
                <a:solidFill>
                  <a:srgbClr val="E8D5B7"/>
                </a:solidFill>
                <a:latin typeface="Calibri"/>
              </a:defRPr>
            </a:pPr>
            <a:r>
              <a:t>Solo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984247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C4A882"/>
                </a:solidFill>
                <a:latin typeface="Calibri"/>
              </a:defRPr>
            </a:pPr>
            <a:r>
              <a:t>~200K tokens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984247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 i="0">
                <a:solidFill>
                  <a:srgbClr val="D4886B"/>
                </a:solidFill>
                <a:latin typeface="Calibri"/>
              </a:defRPr>
            </a:pPr>
            <a:r>
              <a:t>1x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59"/>
            <a:ext cx="5303520" cy="64008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76148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 i="0">
                <a:solidFill>
                  <a:srgbClr val="E8D5B7"/>
                </a:solidFill>
                <a:latin typeface="Calibri"/>
              </a:defRPr>
            </a:pPr>
            <a:r>
              <a:t>3 subagents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761487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C4A882"/>
                </a:solidFill>
                <a:latin typeface="Calibri"/>
              </a:defRPr>
            </a:pPr>
            <a:r>
              <a:t>~440K tokens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761487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 i="0">
                <a:solidFill>
                  <a:srgbClr val="D4886B"/>
                </a:solidFill>
                <a:latin typeface="Calibri"/>
              </a:defRPr>
            </a:pPr>
            <a:r>
              <a:t>~2.2x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28999"/>
            <a:ext cx="5303520" cy="64008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353872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 i="0">
                <a:solidFill>
                  <a:srgbClr val="E8D5B7"/>
                </a:solidFill>
                <a:latin typeface="Calibri"/>
              </a:defRPr>
            </a:pPr>
            <a:r>
              <a:t>3 agent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538727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C4A882"/>
                </a:solidFill>
                <a:latin typeface="Calibri"/>
              </a:defRPr>
            </a:pPr>
            <a:r>
              <a:t>~800K tokens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538727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 i="0">
                <a:solidFill>
                  <a:srgbClr val="D4886B"/>
                </a:solidFill>
                <a:latin typeface="Calibri"/>
              </a:defRPr>
            </a:pPr>
            <a:r>
              <a:t>~4x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06239"/>
            <a:ext cx="5303520" cy="64008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31596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 i="0">
                <a:solidFill>
                  <a:srgbClr val="E8D5B7"/>
                </a:solidFill>
                <a:latin typeface="Calibri"/>
              </a:defRPr>
            </a:pPr>
            <a:r>
              <a:t>5 agent 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315967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C4A882"/>
                </a:solidFill>
                <a:latin typeface="Calibri"/>
              </a:defRPr>
            </a:pPr>
            <a:r>
              <a:t>~1.2M+ tokens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315967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 i="0">
                <a:solidFill>
                  <a:srgbClr val="D4886B"/>
                </a:solidFill>
                <a:latin typeface="Calibri"/>
              </a:defRPr>
            </a:pPr>
            <a:r>
              <a:t>~6x+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1417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D4886B"/>
                </a:solidFill>
                <a:latin typeface="JetBrains Mono"/>
              </a:defRPr>
            </a:pPr>
            <a:r>
              <a:t>COST OPTIMIZATION STRATEGIES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1874519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Opus for the lead, Sonnet for teammates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Start with 3-5 teammates (diminishing returns beyond)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Plan first (~10K tokens), then parallelize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Use targeted messages, avoid broadcasts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Size tasks at 5-6 per teammate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120640"/>
            <a:ext cx="10515600" cy="118872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60120" y="525780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61288" y="525780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362456" y="525780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645920" y="5193792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When Teams Are Worth The Cost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422393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dirty="0">
                <a:solidFill>
                  <a:srgbClr val="D4886B"/>
                </a:solidFill>
                <a:latin typeface="Calibri"/>
              </a:rPr>
              <a:t>  –  </a:t>
            </a:r>
            <a:r>
              <a:rPr sz="1400" dirty="0">
                <a:solidFill>
                  <a:srgbClr val="C4A882"/>
                </a:solidFill>
                <a:latin typeface="Calibri"/>
              </a:rPr>
              <a:t>Research, review, and new features: extra tokens usually worthwhile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dirty="0">
                <a:solidFill>
                  <a:srgbClr val="D4886B"/>
                </a:solidFill>
                <a:latin typeface="Calibri"/>
              </a:rPr>
              <a:t>  –  </a:t>
            </a:r>
            <a:r>
              <a:rPr sz="1400" dirty="0">
                <a:solidFill>
                  <a:srgbClr val="C4A882"/>
                </a:solidFill>
                <a:latin typeface="Calibri"/>
              </a:rPr>
              <a:t>Routine / sequential tasks: single session more cost-effective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dirty="0">
                <a:solidFill>
                  <a:srgbClr val="D4886B"/>
                </a:solidFill>
                <a:latin typeface="Calibri"/>
              </a:rPr>
              <a:t>  –  </a:t>
            </a:r>
            <a:r>
              <a:rPr sz="1400" dirty="0">
                <a:solidFill>
                  <a:srgbClr val="C4A882"/>
                </a:solidFill>
                <a:latin typeface="Calibri"/>
              </a:rPr>
              <a:t>Rule of thumb: use teams when coordination benefit justifies 3-6x token cost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7A6E5D"/>
                </a:solidFill>
                <a:latin typeface="JetBrains Mono"/>
              </a:defRPr>
            </a:pPr>
            <a:r>
              <a:t>9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0" i="0">
                <a:solidFill>
                  <a:srgbClr val="E8D5B7"/>
                </a:solidFill>
                <a:latin typeface="Georgia"/>
              </a:defRPr>
            </a:pPr>
            <a:r>
              <a:t>Key Takeaways &amp; Getting Started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D4886B"/>
                </a:solidFill>
                <a:latin typeface="JetBrains Mono"/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Agent Teams transform Claude Code into a coordinated development squad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Architecture is simple: lead + teammates + tasks + messaging (all JSON on disk)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Peer-to-peer communication is the differentiator vs. subagents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Still experimental: no resume, one team per session, no nested teams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Engineering management skills transfer directly to agent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0" y="1417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D4886B"/>
                </a:solidFill>
                <a:latin typeface="JetBrains Mono"/>
              </a:defRPr>
            </a:pPr>
            <a:r>
              <a:t>BEST PRACTICES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78308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Start with review &amp; research tasks (clear boundaries, low risk)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Plan first, parallelize second (cheap planning, expensive execution)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3-5 teammates is the sweet spot for most workflows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Use delegate mode (Shift+Tab) to keep lead focused on coordination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>
                <a:solidFill>
                  <a:srgbClr val="C4A882"/>
                </a:solidFill>
                <a:latin typeface="Calibri"/>
              </a:rPr>
              <a:t>Give each teammate clear file ownership to avoid conflicts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12080"/>
            <a:ext cx="10515600" cy="109728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0120" y="534924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1288" y="534924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362456" y="534924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45920" y="5285232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The Delegation Progression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80644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 i="0">
                <a:solidFill>
                  <a:srgbClr val="E8D5B7"/>
                </a:solidFill>
                <a:latin typeface="Calibri"/>
              </a:defRPr>
            </a:pPr>
            <a:r>
              <a:t>Level 0: Solo Session  →  Level 1: Subagents (delegate + report)  →  Level 2: Agent Teams (coordinate independently)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7A6E5D"/>
                </a:solidFill>
                <a:latin typeface="JetBrains Mono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2694</Words>
  <Application>Microsoft Macintosh PowerPoint</Application>
  <PresentationFormat>Widescreen</PresentationFormat>
  <Paragraphs>309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Haim Ari</cp:lastModifiedBy>
  <cp:revision>6</cp:revision>
  <dcterms:created xsi:type="dcterms:W3CDTF">2013-01-27T09:14:16Z</dcterms:created>
  <dcterms:modified xsi:type="dcterms:W3CDTF">2026-02-26T17:56:55Z</dcterms:modified>
  <cp:category/>
</cp:coreProperties>
</file>