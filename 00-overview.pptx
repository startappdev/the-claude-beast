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6"/>
  </p:normalViewPr>
  <p:slideViewPr>
    <p:cSldViewPr snapToGrid="0" snapToObjects="1">
      <p:cViewPr varScale="1">
        <p:scale>
          <a:sx n="125" d="100"/>
          <a:sy n="125" d="100"/>
        </p:scale>
        <p:origin x="168" y="2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3088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The Claude Beast series overview. This presentation covers all 17 topics you need to master for building a high-performance agentic development environment with Claude Code. Each topic has its own deep-dive episode. Today we are walking through what each topic covers and why it matters. By the end, you will have a complete mental map of the Beast stack and know exactly which capabilities to reach for in your next hackathon project.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CLAUDE.md is the single highest-leverage file in any Claude Code project. It acts as persistent memory, loaded into the system prompt at the start of every session. The 6-level hierarchy provides granular control from organization-wide policies down to Claude's own auto-generated notes. AGENTS.md is the open standard for cross-tool compatibility, supported by Cursor, GitHub Copilot, Zed, and many others. The symlink pattern lets you maintain a single source of truth. Key advice: keep it concise, treat it as a living document, and never include secrets.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PRDs have evolved beyond traditional human documents. In the agentic development era, a PRD serves as the programming interface for Claude Code. Claude draws context from three sources: CLAUDE.md for project memory, the codebase itself, and the conversation history. The gold standard methodology is PRD to Plan to Todo, which structures development into clear phases. There are 8 or more skills and plugins available for automated PRD generation. The key insight is that a well-crafted PRD eliminates ambiguity and gives Claude a complete specification before any code is written.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Claude Skills are markdown-based workflow templates with a progressive disclosure architecture. They have been adopted as an open standard by 26 or more platforms, with a central registry at agentskills.io. Popular skills include Superpowers with 60 thousand GitHub stars, frontend-design for UI work, and Vercel React best practices. Skills enforce structured workflows: brainstorm, plan, TDD, and review. They install with a single command and complement CLAUDE.md by providing task-specific workflows rather than project-level context.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Claude Hooks give you deterministic control over Claude's probabilistic behavior. There are 14 or more lifecycle events organized into Session, Tool, Agent, and User categories. Three hook types exist: command hooks run shell scripts, prompt hooks inject content into the LLM context, and agent hooks enable multi-turn sub-agents. The critical distinction is that CLAUDE.md provides guidance that Claude may or may not follow, while hooks provide enforcement that is guaranteed to execute. Real-world uses include auto-formatting, blocking dangerous commands, and injecting context.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Language Server Protocol brings IDE-level code understanding to Claude Code. It provides 9 operations including hover, go to definition, find references, and diagnostics. The performance impact is dramatic: 900 times faster navigation and 75 percent token reduction. It supports 11 or more official languages and 17 or more community languages. LSP gives Claude type-aware intelligence, letting it see signatures, cross-file references, and type hierarchies. It activates automatically and dramatically reduces hallucination by enabling precise code navigation.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Claude Plan Mode is a read-only exploration mode that lets you research and plan without modifying any files. Activate it with Shift plus Tab twice, the /plan command, or the permission-mode plan flag. A powerful pattern is the opusplan alias, which uses Opus 4.6 for planning and Sonnet for execution, optimizing both quality and cost. Plan mode integrates with Agent Teams, where team leads can require teammates to plan before acting. It pairs naturally with the Superpowers plugin's brainstorm and plan phases.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major open source tools are ending the vibe coding era. Superpowers with nearly 60 thousand stars enforces TDD and a brainstorm-plan-review cycle. GSD with nearly 20 thousand stars focuses on meta-prompting and context engineering. OpenSpec with 25 thousand stars provides spec-driven development templates. Spec Kit with over 71 thousand stars handles specification management and validation. They share a common philosophy: structure first, code second, review always. All are installable as Claude Skills with a single command.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 is an AI-native search engine valued at 700 million dollars, available as an MCP server. MCP, the Model Context Protocol, is Anthropic's universal tool protocol, often described as USB-C for AI. EXA provides 8 or more tools including web search with over 2 million API calls, code context for finding documentation and examples, and a deep researcher that performs autonomous multi-step research with synthesis. Setup is a single command, and the free tier includes 10 dollars in API credits. It gives Claude access to real-time web knowledge during development.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Atlassian MCP bridges Claude Code to Jira, Confluence, and Compass. It provides 35 or more tools: 13 for Jira, 11 for Confluence, 6 for Compass, plus platform tools. Two flavors exist: the official Rovo enterprise agent and the community sooperset package with 1.2 thousand GitHub stars. Use cases include generating PRDs from existing Confluence pages, sprint planning with Jira issue creation, and context-aware coding where Claude reads your tickets and documentation while writing code. It closes the loop between project management and implementation.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Claude Sub Agents are isolated AI workers spawned via the Task tool. Each gets its own context window, preventing token pollution. Built-in types include Explore for read-only research, Plan for analysis, and general-purpose for full file access. Worktree isolation using git worktrees enables true parallel file editing without merge conflicts. The architecture is hub-and-spoke: results flow back to the parent agent for synthesis. You can define custom agent types with specialized markdown files in the .claude/agents/ directory.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Claude Agent Teams enable multi-agent collaboration with peer-to-peer messaging. The architecture includes a Team Lead, Teammates, a Shared Task list, and a Mailbox system. Seven coordination primitives handle creation, messaging, broadcasting, task management, assignment, shutdown, and plan approval. Agents can communicate directly with each other, not just through the lead. This has been proven at scale: 16 agents built a 100 thousand line C compiler at a cost of 20 thousand dollars in API usage. Common use cases include parallel code review, competing hypotheses, and cross-layer development.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Greptile provides AI code review with full codebase context using graph-based analysis. Version 3, powered by Claude Opus 4.5, achieved a 256 percent improvement over previous versions. It catches 82 percent of bugs overall and 100 percent of high-severity bugs. The autonomous greploop cycle reviews code, fixes issues, pushes changes, and re-reviews until the code is clean. It integrates as an MCP server so you can use Greptile tools directly from Claude Code. Custom context rules let you teach Greptile your team's specific patterns and coding standards.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/team-review is a Claude Code slash command that spawns three parallel AI reviewer agents, each specializing in a different dimension: security, performance, and test coverage. Built on Claude Code's Agent Teams feature, each reviewer is a fully independent Claude instance with its own context window. It requires zero configuration -- just type /team-review and it analyzes your branch changes. Results are synthesized into a single prioritized report. Part of the startappdev/agents ecosystem, it pairs with /greptile-review-loop for end-to-end autonomous review.</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/greptile-review-loop is a fully autonomous agent that manages the entire PR lifecycle. It detects or creates a PR, triggers Greptile reviews, spawns parallel code-fixer agents to address issues, validates fixes with language-specific tooling, pushes changes, and re-reviews. It auto-merges when the score reaches 4/5 or higher with zero unaddressed comments. Five hard stop conditions prevent runaway behavior: score too low, max iterations reached, compilation failures, review timeouts, and missing score data.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Claude Worktrees bring Git's native worktree feature into Claude Code with first-class CLI support. The --worktree flag creates an isolated directory with its own branch, auto-branching from the default remote. Shared: Git history, remotes, and config. Separate: working files, branch, staging area, and session context. Auto-cleanup removes worktrees with no changes. Subagents can use worktree isolation via YAML frontmatter. Worktrees are the enabling infrastructure for multi-agent parallelism.</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Portless from Vercel Labs replaces fragile numeric port numbers with stable named .localhost URLs. It runs a proxy on port 1355 that routes requests by hostname to backend apps on random ports. It supports HTTPS with auto-generated certificates, 11 tested frameworks, subdomain hierarchies, and route conflict detection. The 'for humans and agents' tagline addresses a real problem: AI coding agents frequently guess wrong ports. Portless gives every service a permanent, semantic URL. It gained 2,400 stars in 10 days, signaling strong developer demand.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Handy is a free, open-source, offline speech-to-text application built with Tauri and Rust. It supports Whisper models for GPU-accelerated accuracy and Parakeet V3 for CPU-optimized speed at about 5x real-time. The killer use case for developers: speak prompts to Claude Code across multiple terminals and worktrees. Optional LLM post-processing cleans up formatting before insertion. With 16,000 stars, 900,000 downloads, and a WIRED feature, it is the most popular open-source STT tool for developers. Built by CJ Pais after breaking a finger, it prioritizes privacy, extensibility, and forkability over polish.</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That completes our overview of all 17 topics in The Claude Beast series. You now have a complete mental map of the stack: from CLAUDE.md as your foundation, through PRDs, Skills, Hooks, LSP, and Plan Mode for individual productivity, to SuperPowers, EXA, and Atlassian for extended capabilities, Sub Agents, Agent Teams, and Greptile for multi-agent collaboration and quality assurance, /team-review and /greptile-review-loop for autonomous code review, Claude Worktrees for parallel isolation, Portless for stable local URLs, and Handy for voice-driven development. Each topic has its own deep-dive episode with hands-on setup instructions. Go build something amazing at your next hackathon.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1097280"/>
            <a:ext cx="5486400" cy="365760"/>
          </a:xfrm>
          <a:prstGeom prst="rect">
            <a:avLst/>
          </a:prstGeom>
          <a:noFill/>
        </p:spPr>
        <p:txBody>
          <a:bodyPr wrap="square">
            <a:spAutoFit/>
          </a:bodyPr>
          <a:lstStyle/>
          <a:p>
            <a:pPr algn="l">
              <a:spcAft>
                <a:spcPts val="0"/>
              </a:spcAft>
              <a:defRPr sz="1300" b="0" i="0">
                <a:solidFill>
                  <a:srgbClr val="7A6E5D"/>
                </a:solidFill>
                <a:latin typeface="JetBrains Mono"/>
              </a:defRPr>
            </a:pPr>
            <a:r>
              <a:t>FEBRUARY 2026</a:t>
            </a:r>
          </a:p>
        </p:txBody>
      </p:sp>
      <p:sp>
        <p:nvSpPr>
          <p:cNvPr id="3" name="TextBox 2"/>
          <p:cNvSpPr txBox="1"/>
          <p:nvPr/>
        </p:nvSpPr>
        <p:spPr>
          <a:xfrm>
            <a:off x="731520" y="1828800"/>
            <a:ext cx="10515600" cy="1371600"/>
          </a:xfrm>
          <a:prstGeom prst="rect">
            <a:avLst/>
          </a:prstGeom>
          <a:noFill/>
        </p:spPr>
        <p:txBody>
          <a:bodyPr wrap="square">
            <a:spAutoFit/>
          </a:bodyPr>
          <a:lstStyle/>
          <a:p>
            <a:pPr algn="ctr">
              <a:spcAft>
                <a:spcPts val="0"/>
              </a:spcAft>
              <a:defRPr sz="5400" b="0" i="0">
                <a:solidFill>
                  <a:srgbClr val="E8D5B7"/>
                </a:solidFill>
                <a:latin typeface="Georgia"/>
              </a:defRPr>
            </a:pPr>
            <a:r>
              <a:t>THE CLAUDE BEAST</a:t>
            </a:r>
          </a:p>
        </p:txBody>
      </p:sp>
      <p:sp>
        <p:nvSpPr>
          <p:cNvPr id="4" name="TextBox 3"/>
          <p:cNvSpPr txBox="1"/>
          <p:nvPr/>
        </p:nvSpPr>
        <p:spPr>
          <a:xfrm>
            <a:off x="731520" y="3291840"/>
            <a:ext cx="10515600" cy="731520"/>
          </a:xfrm>
          <a:prstGeom prst="rect">
            <a:avLst/>
          </a:prstGeom>
          <a:noFill/>
        </p:spPr>
        <p:txBody>
          <a:bodyPr wrap="square">
            <a:spAutoFit/>
          </a:bodyPr>
          <a:lstStyle/>
          <a:p>
            <a:pPr algn="ctr">
              <a:spcAft>
                <a:spcPts val="0"/>
              </a:spcAft>
              <a:defRPr sz="2400" b="0" i="0">
                <a:solidFill>
                  <a:srgbClr val="C4A882"/>
                </a:solidFill>
                <a:latin typeface="Calibri"/>
              </a:defRPr>
            </a:pPr>
            <a:r>
              <a:t>Complete Overview: 17 Topics for</a:t>
            </a:r>
            <a:br/>
            <a:r>
              <a:t>Mastering Agentic Development</a:t>
            </a:r>
          </a:p>
        </p:txBody>
      </p:sp>
      <p:sp>
        <p:nvSpPr>
          <p:cNvPr id="5" name="Rectangle 4"/>
          <p:cNvSpPr/>
          <p:nvPr/>
        </p:nvSpPr>
        <p:spPr>
          <a:xfrm>
            <a:off x="4114800" y="4114800"/>
            <a:ext cx="393192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389120"/>
            <a:ext cx="10515600" cy="457200"/>
          </a:xfrm>
          <a:prstGeom prst="rect">
            <a:avLst/>
          </a:prstGeom>
          <a:noFill/>
        </p:spPr>
        <p:txBody>
          <a:bodyPr wrap="square">
            <a:spAutoFit/>
          </a:bodyPr>
          <a:lstStyle/>
          <a:p>
            <a:pPr algn="ctr">
              <a:spcAft>
                <a:spcPts val="0"/>
              </a:spcAft>
              <a:defRPr sz="1600" b="0" i="1">
                <a:solidFill>
                  <a:srgbClr val="D4886B"/>
                </a:solidFill>
                <a:latin typeface="Calibri"/>
              </a:defRPr>
            </a:pPr>
            <a:r>
              <a:t>Optimized for start.io Agentic Hackathons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System Prompt: CLAUDE.md &amp; AGENTS.md</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Episode 1  |  The Foundation of Every Session</a:t>
            </a:r>
          </a:p>
        </p:txBody>
      </p:sp>
      <p:sp>
        <p:nvSpPr>
          <p:cNvPr id="4" name="TextBox 3"/>
          <p:cNvSpPr txBox="1"/>
          <p:nvPr/>
        </p:nvSpPr>
        <p:spPr>
          <a:xfrm>
            <a:off x="731520" y="1737360"/>
            <a:ext cx="64008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CLAUDE.md = persistent project memory</a:t>
            </a:r>
            <a:r>
              <a:rPr sz="1700">
                <a:solidFill>
                  <a:srgbClr val="C4A882"/>
                </a:solidFill>
                <a:latin typeface="Calibri"/>
              </a:rPr>
              <a:t> — loaded into Claude's system prompt every session</a:t>
            </a:r>
          </a:p>
          <a:p>
            <a:pPr>
              <a:spcBef>
                <a:spcPts val="200"/>
              </a:spcBef>
              <a:spcAft>
                <a:spcPts val="1000"/>
              </a:spcAft>
            </a:pPr>
            <a:r>
              <a:rPr sz="1700">
                <a:solidFill>
                  <a:srgbClr val="D4886B"/>
                </a:solidFill>
                <a:latin typeface="Calibri"/>
              </a:rPr>
              <a:t>  –  </a:t>
            </a:r>
            <a:r>
              <a:rPr sz="1700" b="1">
                <a:solidFill>
                  <a:srgbClr val="E8D5B7"/>
                </a:solidFill>
                <a:latin typeface="Calibri"/>
              </a:rPr>
              <a:t>6-level memory hierarchy</a:t>
            </a:r>
            <a:r>
              <a:rPr sz="1700">
                <a:solidFill>
                  <a:srgbClr val="C4A882"/>
                </a:solidFill>
                <a:latin typeface="Calibri"/>
              </a:rPr>
              <a:t> — managed policy, user, project, rules, local, auto memory</a:t>
            </a:r>
          </a:p>
          <a:p>
            <a:pPr>
              <a:spcBef>
                <a:spcPts val="200"/>
              </a:spcBef>
              <a:spcAft>
                <a:spcPts val="1000"/>
              </a:spcAft>
            </a:pPr>
            <a:r>
              <a:rPr sz="1700">
                <a:solidFill>
                  <a:srgbClr val="D4886B"/>
                </a:solidFill>
                <a:latin typeface="Calibri"/>
              </a:rPr>
              <a:t>  –  </a:t>
            </a:r>
            <a:r>
              <a:rPr sz="1700" b="1">
                <a:solidFill>
                  <a:srgbClr val="E8D5B7"/>
                </a:solidFill>
                <a:latin typeface="Calibri"/>
              </a:rPr>
              <a:t>AGENTS.md = cross-tool open standard</a:t>
            </a:r>
            <a:r>
              <a:rPr sz="1700">
                <a:solidFill>
                  <a:srgbClr val="C4A882"/>
                </a:solidFill>
                <a:latin typeface="Calibri"/>
              </a:rPr>
              <a:t> — works with Cursor, Copilot, Zed, and 10+ tools</a:t>
            </a:r>
          </a:p>
          <a:p>
            <a:pPr>
              <a:spcBef>
                <a:spcPts val="200"/>
              </a:spcBef>
              <a:spcAft>
                <a:spcPts val="1000"/>
              </a:spcAft>
            </a:pPr>
            <a:r>
              <a:rPr sz="1700">
                <a:solidFill>
                  <a:srgbClr val="D4886B"/>
                </a:solidFill>
                <a:latin typeface="Calibri"/>
              </a:rPr>
              <a:t>  –  </a:t>
            </a:r>
            <a:r>
              <a:rPr sz="1700" b="1">
                <a:solidFill>
                  <a:srgbClr val="E8D5B7"/>
                </a:solidFill>
                <a:latin typeface="Calibri"/>
              </a:rPr>
              <a:t>Symlink pattern</a:t>
            </a:r>
            <a:r>
              <a:rPr sz="1700">
                <a:solidFill>
                  <a:srgbClr val="C4A882"/>
                </a:solidFill>
                <a:latin typeface="Calibri"/>
              </a:rPr>
              <a:t> — enables interoperability between CLAUDE.md and AGENTS.md</a:t>
            </a:r>
          </a:p>
          <a:p>
            <a:pPr>
              <a:spcBef>
                <a:spcPts val="200"/>
              </a:spcBef>
              <a:spcAft>
                <a:spcPts val="1000"/>
              </a:spcAft>
            </a:pPr>
            <a:r>
              <a:rPr sz="1700">
                <a:solidFill>
                  <a:srgbClr val="D4886B"/>
                </a:solidFill>
                <a:latin typeface="Calibri"/>
              </a:rPr>
              <a:t>  –  </a:t>
            </a:r>
            <a:r>
              <a:rPr sz="1700" b="1">
                <a:solidFill>
                  <a:srgbClr val="E8D5B7"/>
                </a:solidFill>
                <a:latin typeface="Calibri"/>
              </a:rPr>
              <a:t>Best practice: keep it concise</a:t>
            </a:r>
            <a:r>
              <a:rPr sz="1700">
                <a:solidFill>
                  <a:srgbClr val="C4A882"/>
                </a:solidFill>
                <a:latin typeface="Calibri"/>
              </a:rPr>
              <a:t> — under 300 lines, progressive disclosure via @imports</a:t>
            </a:r>
          </a:p>
          <a:p>
            <a:pPr>
              <a:spcBef>
                <a:spcPts val="200"/>
              </a:spcBef>
              <a:spcAft>
                <a:spcPts val="1000"/>
              </a:spcAft>
            </a:pPr>
            <a:r>
              <a:rPr sz="1700">
                <a:solidFill>
                  <a:srgbClr val="D4886B"/>
                </a:solidFill>
                <a:latin typeface="Calibri"/>
              </a:rPr>
              <a:t>  –  </a:t>
            </a:r>
            <a:r>
              <a:rPr sz="1700" b="1">
                <a:solidFill>
                  <a:srgbClr val="E8D5B7"/>
                </a:solidFill>
                <a:latin typeface="Calibri"/>
              </a:rPr>
              <a:t>/init command</a:t>
            </a:r>
            <a:r>
              <a:rPr sz="1700">
                <a:solidFill>
                  <a:srgbClr val="C4A882"/>
                </a:solidFill>
                <a:latin typeface="Calibri"/>
              </a:rPr>
              <a:t> — auto-generates a starter CLAUDE.md from your codebase</a:t>
            </a:r>
          </a:p>
        </p:txBody>
      </p:sp>
      <p:sp>
        <p:nvSpPr>
          <p:cNvPr id="5" name="Rounded Rectangle 4"/>
          <p:cNvSpPr/>
          <p:nvPr/>
        </p:nvSpPr>
        <p:spPr>
          <a:xfrm>
            <a:off x="7589520" y="1737360"/>
            <a:ext cx="4114800" cy="25603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818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019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0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0" y="1810512"/>
            <a:ext cx="2926080" cy="320040"/>
          </a:xfrm>
          <a:prstGeom prst="rect">
            <a:avLst/>
          </a:prstGeom>
          <a:noFill/>
        </p:spPr>
        <p:txBody>
          <a:bodyPr wrap="square">
            <a:spAutoFit/>
          </a:bodyPr>
          <a:lstStyle/>
          <a:p>
            <a:pPr algn="ctr">
              <a:spcAft>
                <a:spcPts val="0"/>
              </a:spcAft>
              <a:defRPr sz="1100" b="0" i="0">
                <a:solidFill>
                  <a:srgbClr val="7A6E5D"/>
                </a:solidFill>
                <a:latin typeface="Calibri"/>
              </a:defRPr>
            </a:pPr>
            <a:r>
              <a:t>Key Insight</a:t>
            </a:r>
          </a:p>
        </p:txBody>
      </p:sp>
      <p:sp>
        <p:nvSpPr>
          <p:cNvPr id="10" name="TextBox 9"/>
          <p:cNvSpPr txBox="1"/>
          <p:nvPr/>
        </p:nvSpPr>
        <p:spPr>
          <a:xfrm>
            <a:off x="7863840" y="2331720"/>
            <a:ext cx="3566160" cy="1828800"/>
          </a:xfrm>
          <a:prstGeom prst="rect">
            <a:avLst/>
          </a:prstGeom>
          <a:noFill/>
        </p:spPr>
        <p:txBody>
          <a:bodyPr wrap="square">
            <a:spAutoFit/>
          </a:bodyPr>
          <a:lstStyle/>
          <a:p>
            <a:pPr algn="l">
              <a:spcAft>
                <a:spcPts val="0"/>
              </a:spcAft>
              <a:defRPr sz="1500" b="0" i="0">
                <a:solidFill>
                  <a:srgbClr val="E8D5B7"/>
                </a:solidFill>
                <a:latin typeface="Calibri"/>
              </a:defRPr>
            </a:pPr>
            <a:r>
              <a:t>Without CLAUDE.md, every session starts from zero. It is the only file loaded by default into every conversation with the agent.</a:t>
            </a:r>
          </a:p>
        </p:txBody>
      </p:sp>
      <p:sp>
        <p:nvSpPr>
          <p:cNvPr id="11" name="TextBox 1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2 / 19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PRD: Product Requirements Documents</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Episode 2  |  From Human Docs to AI Programming Interfaces</a:t>
            </a:r>
          </a:p>
        </p:txBody>
      </p:sp>
      <p:sp>
        <p:nvSpPr>
          <p:cNvPr id="4" name="TextBox 3"/>
          <p:cNvSpPr txBox="1"/>
          <p:nvPr/>
        </p:nvSpPr>
        <p:spPr>
          <a:xfrm>
            <a:off x="731520" y="1737360"/>
            <a:ext cx="64008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PRDs evolved</a:t>
            </a:r>
            <a:r>
              <a:rPr sz="1700">
                <a:solidFill>
                  <a:srgbClr val="C4A882"/>
                </a:solidFill>
                <a:latin typeface="Calibri"/>
              </a:rPr>
              <a:t> — from human-readable docs to AI programming interfaces</a:t>
            </a:r>
          </a:p>
          <a:p>
            <a:pPr>
              <a:spcBef>
                <a:spcPts val="200"/>
              </a:spcBef>
              <a:spcAft>
                <a:spcPts val="1000"/>
              </a:spcAft>
            </a:pPr>
            <a:r>
              <a:rPr sz="1700">
                <a:solidFill>
                  <a:srgbClr val="D4886B"/>
                </a:solidFill>
                <a:latin typeface="Calibri"/>
              </a:rPr>
              <a:t>  –  </a:t>
            </a:r>
            <a:r>
              <a:rPr sz="1700" b="1">
                <a:solidFill>
                  <a:srgbClr val="E8D5B7"/>
                </a:solidFill>
                <a:latin typeface="Calibri"/>
              </a:rPr>
              <a:t>Claude Code uses 3 context sources</a:t>
            </a:r>
            <a:r>
              <a:rPr sz="1700">
                <a:solidFill>
                  <a:srgbClr val="C4A882"/>
                </a:solidFill>
                <a:latin typeface="Calibri"/>
              </a:rPr>
              <a:t> — CLAUDE.md + codebase + conversation history</a:t>
            </a:r>
          </a:p>
          <a:p>
            <a:pPr>
              <a:spcBef>
                <a:spcPts val="200"/>
              </a:spcBef>
              <a:spcAft>
                <a:spcPts val="1000"/>
              </a:spcAft>
            </a:pPr>
            <a:r>
              <a:rPr sz="1700">
                <a:solidFill>
                  <a:srgbClr val="D4886B"/>
                </a:solidFill>
                <a:latin typeface="Calibri"/>
              </a:rPr>
              <a:t>  –  </a:t>
            </a:r>
            <a:r>
              <a:rPr sz="1700" b="1">
                <a:solidFill>
                  <a:srgbClr val="E8D5B7"/>
                </a:solidFill>
                <a:latin typeface="Calibri"/>
              </a:rPr>
              <a:t>Gold standard methodology</a:t>
            </a:r>
            <a:r>
              <a:rPr sz="1700">
                <a:solidFill>
                  <a:srgbClr val="C4A882"/>
                </a:solidFill>
                <a:latin typeface="Calibri"/>
              </a:rPr>
              <a:t> — PRD → Plan → Todo for structured development</a:t>
            </a:r>
          </a:p>
          <a:p>
            <a:pPr>
              <a:spcBef>
                <a:spcPts val="200"/>
              </a:spcBef>
              <a:spcAft>
                <a:spcPts val="1000"/>
              </a:spcAft>
            </a:pPr>
            <a:r>
              <a:rPr sz="1700">
                <a:solidFill>
                  <a:srgbClr val="D4886B"/>
                </a:solidFill>
                <a:latin typeface="Calibri"/>
              </a:rPr>
              <a:t>  –  </a:t>
            </a:r>
            <a:r>
              <a:rPr sz="1700" b="1">
                <a:solidFill>
                  <a:srgbClr val="E8D5B7"/>
                </a:solidFill>
                <a:latin typeface="Calibri"/>
              </a:rPr>
              <a:t>8+ skills and plugins available</a:t>
            </a:r>
            <a:r>
              <a:rPr sz="1700">
                <a:solidFill>
                  <a:srgbClr val="C4A882"/>
                </a:solidFill>
                <a:latin typeface="Calibri"/>
              </a:rPr>
              <a:t> — for automated PRD generation</a:t>
            </a:r>
          </a:p>
          <a:p>
            <a:pPr>
              <a:spcBef>
                <a:spcPts val="200"/>
              </a:spcBef>
              <a:spcAft>
                <a:spcPts val="1000"/>
              </a:spcAft>
            </a:pPr>
            <a:r>
              <a:rPr sz="1700">
                <a:solidFill>
                  <a:srgbClr val="D4886B"/>
                </a:solidFill>
                <a:latin typeface="Calibri"/>
              </a:rPr>
              <a:t>  –  </a:t>
            </a:r>
            <a:r>
              <a:rPr sz="1700" b="1">
                <a:solidFill>
                  <a:srgbClr val="E8D5B7"/>
                </a:solidFill>
                <a:latin typeface="Calibri"/>
              </a:rPr>
              <a:t>PRDs solve context overload</a:t>
            </a:r>
            <a:r>
              <a:rPr sz="1700">
                <a:solidFill>
                  <a:srgbClr val="C4A882"/>
                </a:solidFill>
                <a:latin typeface="Calibri"/>
              </a:rPr>
              <a:t> — give Claude a complete spec before coding begins</a:t>
            </a:r>
          </a:p>
          <a:p>
            <a:pPr>
              <a:spcBef>
                <a:spcPts val="200"/>
              </a:spcBef>
              <a:spcAft>
                <a:spcPts val="1000"/>
              </a:spcAft>
            </a:pPr>
            <a:r>
              <a:rPr sz="1700">
                <a:solidFill>
                  <a:srgbClr val="D4886B"/>
                </a:solidFill>
                <a:latin typeface="Calibri"/>
              </a:rPr>
              <a:t>  –  </a:t>
            </a:r>
            <a:r>
              <a:rPr sz="1700" b="1">
                <a:solidFill>
                  <a:srgbClr val="E8D5B7"/>
                </a:solidFill>
                <a:latin typeface="Calibri"/>
              </a:rPr>
              <a:t>Bridges the gap</a:t>
            </a:r>
            <a:r>
              <a:rPr sz="1700">
                <a:solidFill>
                  <a:srgbClr val="C4A882"/>
                </a:solidFill>
                <a:latin typeface="Calibri"/>
              </a:rPr>
              <a:t> — between business requirements and agentic execution</a:t>
            </a:r>
          </a:p>
        </p:txBody>
      </p:sp>
      <p:sp>
        <p:nvSpPr>
          <p:cNvPr id="5" name="Rounded Rectangle 4"/>
          <p:cNvSpPr/>
          <p:nvPr/>
        </p:nvSpPr>
        <p:spPr>
          <a:xfrm>
            <a:off x="7589520" y="1737360"/>
            <a:ext cx="4114800" cy="25603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818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019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0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0" y="1810512"/>
            <a:ext cx="2926080" cy="320040"/>
          </a:xfrm>
          <a:prstGeom prst="rect">
            <a:avLst/>
          </a:prstGeom>
          <a:noFill/>
        </p:spPr>
        <p:txBody>
          <a:bodyPr wrap="square">
            <a:spAutoFit/>
          </a:bodyPr>
          <a:lstStyle/>
          <a:p>
            <a:pPr algn="ctr">
              <a:spcAft>
                <a:spcPts val="0"/>
              </a:spcAft>
              <a:defRPr sz="1100" b="0" i="0">
                <a:solidFill>
                  <a:srgbClr val="7A6E5D"/>
                </a:solidFill>
                <a:latin typeface="Calibri"/>
              </a:defRPr>
            </a:pPr>
            <a:r>
              <a:t>Key Insight</a:t>
            </a:r>
          </a:p>
        </p:txBody>
      </p:sp>
      <p:sp>
        <p:nvSpPr>
          <p:cNvPr id="10" name="TextBox 9"/>
          <p:cNvSpPr txBox="1"/>
          <p:nvPr/>
        </p:nvSpPr>
        <p:spPr>
          <a:xfrm>
            <a:off x="7863840" y="2331720"/>
            <a:ext cx="3566160" cy="1828800"/>
          </a:xfrm>
          <a:prstGeom prst="rect">
            <a:avLst/>
          </a:prstGeom>
          <a:noFill/>
        </p:spPr>
        <p:txBody>
          <a:bodyPr wrap="square">
            <a:spAutoFit/>
          </a:bodyPr>
          <a:lstStyle/>
          <a:p>
            <a:pPr algn="l">
              <a:spcAft>
                <a:spcPts val="0"/>
              </a:spcAft>
              <a:defRPr sz="1500" b="0" i="0">
                <a:solidFill>
                  <a:srgbClr val="E8D5B7"/>
                </a:solidFill>
                <a:latin typeface="Calibri"/>
              </a:defRPr>
            </a:pPr>
            <a:r>
              <a:t>The PRD is not just documentation. It is the programming interface that tells Claude what to build, how, and why.</a:t>
            </a:r>
          </a:p>
        </p:txBody>
      </p:sp>
      <p:sp>
        <p:nvSpPr>
          <p:cNvPr id="11" name="TextBox 1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3 / 19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Claude Skills</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Episode 3  |  Markdown Workflow Templates with Progressive Disclosure</a:t>
            </a:r>
          </a:p>
        </p:txBody>
      </p:sp>
      <p:sp>
        <p:nvSpPr>
          <p:cNvPr id="4" name="TextBox 3"/>
          <p:cNvSpPr txBox="1"/>
          <p:nvPr/>
        </p:nvSpPr>
        <p:spPr>
          <a:xfrm>
            <a:off x="731520" y="1737360"/>
            <a:ext cx="64008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Markdown-based workflow templates</a:t>
            </a:r>
            <a:r>
              <a:rPr sz="1700">
                <a:solidFill>
                  <a:srgbClr val="C4A882"/>
                </a:solidFill>
                <a:latin typeface="Calibri"/>
              </a:rPr>
              <a:t> — with progressive disclosure architecture</a:t>
            </a:r>
          </a:p>
          <a:p>
            <a:pPr>
              <a:spcBef>
                <a:spcPts val="200"/>
              </a:spcBef>
              <a:spcAft>
                <a:spcPts val="1000"/>
              </a:spcAft>
            </a:pPr>
            <a:r>
              <a:rPr sz="1700">
                <a:solidFill>
                  <a:srgbClr val="D4886B"/>
                </a:solidFill>
                <a:latin typeface="Calibri"/>
              </a:rPr>
              <a:t>  –  </a:t>
            </a:r>
            <a:r>
              <a:rPr sz="1700" b="1">
                <a:solidFill>
                  <a:srgbClr val="E8D5B7"/>
                </a:solidFill>
                <a:latin typeface="Calibri"/>
              </a:rPr>
              <a:t>Open standard</a:t>
            </a:r>
            <a:r>
              <a:rPr sz="1700">
                <a:solidFill>
                  <a:srgbClr val="C4A882"/>
                </a:solidFill>
                <a:latin typeface="Calibri"/>
              </a:rPr>
              <a:t> — adopted by 26+ platforms (agentskills.io registry)</a:t>
            </a:r>
          </a:p>
          <a:p>
            <a:pPr>
              <a:spcBef>
                <a:spcPts val="200"/>
              </a:spcBef>
              <a:spcAft>
                <a:spcPts val="1000"/>
              </a:spcAft>
            </a:pPr>
            <a:r>
              <a:rPr sz="1700">
                <a:solidFill>
                  <a:srgbClr val="D4886B"/>
                </a:solidFill>
                <a:latin typeface="Calibri"/>
              </a:rPr>
              <a:t>  –  </a:t>
            </a:r>
            <a:r>
              <a:rPr sz="1700" b="1">
                <a:solidFill>
                  <a:srgbClr val="E8D5B7"/>
                </a:solidFill>
                <a:latin typeface="Calibri"/>
              </a:rPr>
              <a:t>Key skills</a:t>
            </a:r>
            <a:r>
              <a:rPr sz="1700">
                <a:solidFill>
                  <a:srgbClr val="C4A882"/>
                </a:solidFill>
                <a:latin typeface="Calibri"/>
              </a:rPr>
              <a:t> — Superpowers (60K stars), frontend-design, Vercel React best practices</a:t>
            </a:r>
          </a:p>
          <a:p>
            <a:pPr>
              <a:spcBef>
                <a:spcPts val="200"/>
              </a:spcBef>
              <a:spcAft>
                <a:spcPts val="1000"/>
              </a:spcAft>
            </a:pPr>
            <a:r>
              <a:rPr sz="1700">
                <a:solidFill>
                  <a:srgbClr val="D4886B"/>
                </a:solidFill>
                <a:latin typeface="Calibri"/>
              </a:rPr>
              <a:t>  –  </a:t>
            </a:r>
            <a:r>
              <a:rPr sz="1700" b="1">
                <a:solidFill>
                  <a:srgbClr val="E8D5B7"/>
                </a:solidFill>
                <a:latin typeface="Calibri"/>
              </a:rPr>
              <a:t>Enforce structured workflows</a:t>
            </a:r>
            <a:r>
              <a:rPr sz="1700">
                <a:solidFill>
                  <a:srgbClr val="C4A882"/>
                </a:solidFill>
                <a:latin typeface="Calibri"/>
              </a:rPr>
              <a:t> — brainstorm → plan → TDD → review cycle</a:t>
            </a:r>
          </a:p>
          <a:p>
            <a:pPr>
              <a:spcBef>
                <a:spcPts val="200"/>
              </a:spcBef>
              <a:spcAft>
                <a:spcPts val="1000"/>
              </a:spcAft>
            </a:pPr>
            <a:r>
              <a:rPr sz="1700">
                <a:solidFill>
                  <a:srgbClr val="D4886B"/>
                </a:solidFill>
                <a:latin typeface="Calibri"/>
              </a:rPr>
              <a:t>  –  </a:t>
            </a:r>
            <a:r>
              <a:rPr sz="1700" b="1">
                <a:solidFill>
                  <a:srgbClr val="E8D5B7"/>
                </a:solidFill>
                <a:latin typeface="Calibri"/>
              </a:rPr>
              <a:t>Install with one command</a:t>
            </a:r>
            <a:r>
              <a:rPr sz="1700">
                <a:solidFill>
                  <a:srgbClr val="C4A882"/>
                </a:solidFill>
                <a:latin typeface="Calibri"/>
              </a:rPr>
              <a:t> — /install-skill or direct GitHub URL</a:t>
            </a:r>
          </a:p>
          <a:p>
            <a:pPr>
              <a:spcBef>
                <a:spcPts val="200"/>
              </a:spcBef>
              <a:spcAft>
                <a:spcPts val="1000"/>
              </a:spcAft>
            </a:pPr>
            <a:r>
              <a:rPr sz="1700">
                <a:solidFill>
                  <a:srgbClr val="D4886B"/>
                </a:solidFill>
                <a:latin typeface="Calibri"/>
              </a:rPr>
              <a:t>  –  </a:t>
            </a:r>
            <a:r>
              <a:rPr sz="1700" b="1">
                <a:solidFill>
                  <a:srgbClr val="E8D5B7"/>
                </a:solidFill>
                <a:latin typeface="Calibri"/>
              </a:rPr>
              <a:t>Skills complement CLAUDE.md</a:t>
            </a:r>
            <a:r>
              <a:rPr sz="1700">
                <a:solidFill>
                  <a:srgbClr val="C4A882"/>
                </a:solidFill>
                <a:latin typeface="Calibri"/>
              </a:rPr>
              <a:t> — skills are task workflows, CLAUDE.md is project context</a:t>
            </a:r>
          </a:p>
        </p:txBody>
      </p:sp>
      <p:sp>
        <p:nvSpPr>
          <p:cNvPr id="5" name="Rounded Rectangle 4"/>
          <p:cNvSpPr/>
          <p:nvPr/>
        </p:nvSpPr>
        <p:spPr>
          <a:xfrm>
            <a:off x="7589520" y="1737360"/>
            <a:ext cx="4114800" cy="25603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818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019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0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0" y="1810512"/>
            <a:ext cx="2926080" cy="320040"/>
          </a:xfrm>
          <a:prstGeom prst="rect">
            <a:avLst/>
          </a:prstGeom>
          <a:noFill/>
        </p:spPr>
        <p:txBody>
          <a:bodyPr wrap="square">
            <a:spAutoFit/>
          </a:bodyPr>
          <a:lstStyle/>
          <a:p>
            <a:pPr algn="ctr">
              <a:spcAft>
                <a:spcPts val="0"/>
              </a:spcAft>
              <a:defRPr sz="1100" b="0" i="0">
                <a:solidFill>
                  <a:srgbClr val="7A6E5D"/>
                </a:solidFill>
                <a:latin typeface="Calibri"/>
              </a:defRPr>
            </a:pPr>
            <a:r>
              <a:t>Key Insight</a:t>
            </a:r>
          </a:p>
        </p:txBody>
      </p:sp>
      <p:sp>
        <p:nvSpPr>
          <p:cNvPr id="10" name="TextBox 9"/>
          <p:cNvSpPr txBox="1"/>
          <p:nvPr/>
        </p:nvSpPr>
        <p:spPr>
          <a:xfrm>
            <a:off x="7863840" y="2331720"/>
            <a:ext cx="3566160" cy="1828800"/>
          </a:xfrm>
          <a:prstGeom prst="rect">
            <a:avLst/>
          </a:prstGeom>
          <a:noFill/>
        </p:spPr>
        <p:txBody>
          <a:bodyPr wrap="square">
            <a:spAutoFit/>
          </a:bodyPr>
          <a:lstStyle/>
          <a:p>
            <a:pPr algn="l">
              <a:spcAft>
                <a:spcPts val="0"/>
              </a:spcAft>
              <a:defRPr sz="1500" b="0" i="0">
                <a:solidFill>
                  <a:srgbClr val="E8D5B7"/>
                </a:solidFill>
                <a:latin typeface="Calibri"/>
              </a:defRPr>
            </a:pPr>
            <a:r>
              <a:t>Skills are reusable expert templates that enforce quality workflows. They turn Claude from a general assistant into a specialized practitioner.</a:t>
            </a:r>
          </a:p>
        </p:txBody>
      </p:sp>
      <p:sp>
        <p:nvSpPr>
          <p:cNvPr id="11" name="TextBox 1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4 / 19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Claude Hooks</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Episode 4  |  Deterministic Control Over Probabilistic AI</a:t>
            </a:r>
          </a:p>
        </p:txBody>
      </p:sp>
      <p:sp>
        <p:nvSpPr>
          <p:cNvPr id="4" name="TextBox 3"/>
          <p:cNvSpPr txBox="1"/>
          <p:nvPr/>
        </p:nvSpPr>
        <p:spPr>
          <a:xfrm>
            <a:off x="731520" y="1737360"/>
            <a:ext cx="64008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14+ lifecycle events</a:t>
            </a:r>
            <a:r>
              <a:rPr sz="1700">
                <a:solidFill>
                  <a:srgbClr val="C4A882"/>
                </a:solidFill>
                <a:latin typeface="Calibri"/>
              </a:rPr>
              <a:t> — across Session, Tool, Agent, and User categories</a:t>
            </a:r>
          </a:p>
          <a:p>
            <a:pPr>
              <a:spcBef>
                <a:spcPts val="200"/>
              </a:spcBef>
              <a:spcAft>
                <a:spcPts val="1000"/>
              </a:spcAft>
            </a:pPr>
            <a:r>
              <a:rPr sz="1700">
                <a:solidFill>
                  <a:srgbClr val="D4886B"/>
                </a:solidFill>
                <a:latin typeface="Calibri"/>
              </a:rPr>
              <a:t>  –  </a:t>
            </a:r>
            <a:r>
              <a:rPr sz="1700" b="1">
                <a:solidFill>
                  <a:srgbClr val="E8D5B7"/>
                </a:solidFill>
                <a:latin typeface="Calibri"/>
              </a:rPr>
              <a:t>3 hook types</a:t>
            </a:r>
            <a:r>
              <a:rPr sz="1700">
                <a:solidFill>
                  <a:srgbClr val="C4A882"/>
                </a:solidFill>
                <a:latin typeface="Calibri"/>
              </a:rPr>
              <a:t> — command (shell), prompt (LLM injection), agent (multi-turn)</a:t>
            </a:r>
          </a:p>
          <a:p>
            <a:pPr>
              <a:spcBef>
                <a:spcPts val="200"/>
              </a:spcBef>
              <a:spcAft>
                <a:spcPts val="1000"/>
              </a:spcAft>
            </a:pPr>
            <a:r>
              <a:rPr sz="1700">
                <a:solidFill>
                  <a:srgbClr val="D4886B"/>
                </a:solidFill>
                <a:latin typeface="Calibri"/>
              </a:rPr>
              <a:t>  –  </a:t>
            </a:r>
            <a:r>
              <a:rPr sz="1700" b="1">
                <a:solidFill>
                  <a:srgbClr val="E8D5B7"/>
                </a:solidFill>
                <a:latin typeface="Calibri"/>
              </a:rPr>
              <a:t>CLAUDE.md = guidance (suggestions)</a:t>
            </a:r>
            <a:r>
              <a:rPr sz="1700">
                <a:solidFill>
                  <a:srgbClr val="C4A882"/>
                </a:solidFill>
                <a:latin typeface="Calibri"/>
              </a:rPr>
              <a:t> — vs Hooks = enforcement (guaranteed execution)</a:t>
            </a:r>
          </a:p>
          <a:p>
            <a:pPr>
              <a:spcBef>
                <a:spcPts val="200"/>
              </a:spcBef>
              <a:spcAft>
                <a:spcPts val="1000"/>
              </a:spcAft>
            </a:pPr>
            <a:r>
              <a:rPr sz="1700">
                <a:solidFill>
                  <a:srgbClr val="D4886B"/>
                </a:solidFill>
                <a:latin typeface="Calibri"/>
              </a:rPr>
              <a:t>  –  </a:t>
            </a:r>
            <a:r>
              <a:rPr sz="1700" b="1">
                <a:solidFill>
                  <a:srgbClr val="E8D5B7"/>
                </a:solidFill>
                <a:latin typeface="Calibri"/>
              </a:rPr>
              <a:t>Pre/post patterns</a:t>
            </a:r>
            <a:r>
              <a:rPr sz="1700">
                <a:solidFill>
                  <a:srgbClr val="C4A882"/>
                </a:solidFill>
                <a:latin typeface="Calibri"/>
              </a:rPr>
              <a:t> — validate before actions, transform after results</a:t>
            </a:r>
          </a:p>
          <a:p>
            <a:pPr>
              <a:spcBef>
                <a:spcPts val="200"/>
              </a:spcBef>
              <a:spcAft>
                <a:spcPts val="1000"/>
              </a:spcAft>
            </a:pPr>
            <a:r>
              <a:rPr sz="1700">
                <a:solidFill>
                  <a:srgbClr val="D4886B"/>
                </a:solidFill>
                <a:latin typeface="Calibri"/>
              </a:rPr>
              <a:t>  –  </a:t>
            </a:r>
            <a:r>
              <a:rPr sz="1700" b="1">
                <a:solidFill>
                  <a:srgbClr val="E8D5B7"/>
                </a:solidFill>
                <a:latin typeface="Calibri"/>
              </a:rPr>
              <a:t>Real-world uses</a:t>
            </a:r>
            <a:r>
              <a:rPr sz="1700">
                <a:solidFill>
                  <a:srgbClr val="C4A882"/>
                </a:solidFill>
                <a:latin typeface="Calibri"/>
              </a:rPr>
              <a:t> — auto-format on save, block dangerous commands, inject context</a:t>
            </a:r>
          </a:p>
          <a:p>
            <a:pPr>
              <a:spcBef>
                <a:spcPts val="200"/>
              </a:spcBef>
              <a:spcAft>
                <a:spcPts val="1000"/>
              </a:spcAft>
            </a:pPr>
            <a:r>
              <a:rPr sz="1700">
                <a:solidFill>
                  <a:srgbClr val="D4886B"/>
                </a:solidFill>
                <a:latin typeface="Calibri"/>
              </a:rPr>
              <a:t>  –  </a:t>
            </a:r>
            <a:r>
              <a:rPr sz="1700" b="1">
                <a:solidFill>
                  <a:srgbClr val="E8D5B7"/>
                </a:solidFill>
                <a:latin typeface="Calibri"/>
              </a:rPr>
              <a:t>Configured in .claude/settings.json</a:t>
            </a:r>
            <a:r>
              <a:rPr sz="1700">
                <a:solidFill>
                  <a:srgbClr val="C4A882"/>
                </a:solidFill>
                <a:latin typeface="Calibri"/>
              </a:rPr>
              <a:t> — with matcher patterns for targeted activation</a:t>
            </a:r>
          </a:p>
        </p:txBody>
      </p:sp>
      <p:sp>
        <p:nvSpPr>
          <p:cNvPr id="5" name="Rounded Rectangle 4"/>
          <p:cNvSpPr/>
          <p:nvPr/>
        </p:nvSpPr>
        <p:spPr>
          <a:xfrm>
            <a:off x="7589520" y="1737360"/>
            <a:ext cx="4114800" cy="25603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818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019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0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0" y="1810512"/>
            <a:ext cx="2926080" cy="320040"/>
          </a:xfrm>
          <a:prstGeom prst="rect">
            <a:avLst/>
          </a:prstGeom>
          <a:noFill/>
        </p:spPr>
        <p:txBody>
          <a:bodyPr wrap="square">
            <a:spAutoFit/>
          </a:bodyPr>
          <a:lstStyle/>
          <a:p>
            <a:pPr algn="ctr">
              <a:spcAft>
                <a:spcPts val="0"/>
              </a:spcAft>
              <a:defRPr sz="1100" b="0" i="0">
                <a:solidFill>
                  <a:srgbClr val="7A6E5D"/>
                </a:solidFill>
                <a:latin typeface="Calibri"/>
              </a:defRPr>
            </a:pPr>
            <a:r>
              <a:t>Key Insight</a:t>
            </a:r>
          </a:p>
        </p:txBody>
      </p:sp>
      <p:sp>
        <p:nvSpPr>
          <p:cNvPr id="10" name="TextBox 9"/>
          <p:cNvSpPr txBox="1"/>
          <p:nvPr/>
        </p:nvSpPr>
        <p:spPr>
          <a:xfrm>
            <a:off x="7863840" y="2331720"/>
            <a:ext cx="3566160" cy="1828800"/>
          </a:xfrm>
          <a:prstGeom prst="rect">
            <a:avLst/>
          </a:prstGeom>
          <a:noFill/>
        </p:spPr>
        <p:txBody>
          <a:bodyPr wrap="square">
            <a:spAutoFit/>
          </a:bodyPr>
          <a:lstStyle/>
          <a:p>
            <a:pPr algn="l">
              <a:spcAft>
                <a:spcPts val="0"/>
              </a:spcAft>
              <a:defRPr sz="1500" b="0" i="0">
                <a:solidFill>
                  <a:srgbClr val="E8D5B7"/>
                </a:solidFill>
                <a:latin typeface="Calibri"/>
              </a:defRPr>
            </a:pPr>
            <a:r>
              <a:t>CLAUDE.md suggests behavior. Hooks enforce it. They provide deterministic control over Claude's probabilistic actions.</a:t>
            </a:r>
          </a:p>
        </p:txBody>
      </p:sp>
      <p:sp>
        <p:nvSpPr>
          <p:cNvPr id="11" name="TextBox 1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5 / 19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LSP: Language Server Protocol</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Episode 5  |  IDE-Level Code Understanding for Claude Code</a:t>
            </a:r>
          </a:p>
        </p:txBody>
      </p:sp>
      <p:sp>
        <p:nvSpPr>
          <p:cNvPr id="4" name="TextBox 3"/>
          <p:cNvSpPr txBox="1"/>
          <p:nvPr/>
        </p:nvSpPr>
        <p:spPr>
          <a:xfrm>
            <a:off x="731520" y="1737360"/>
            <a:ext cx="64008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9 LSP operations</a:t>
            </a:r>
            <a:r>
              <a:rPr sz="1700">
                <a:solidFill>
                  <a:srgbClr val="C4A882"/>
                </a:solidFill>
                <a:latin typeface="Calibri"/>
              </a:rPr>
              <a:t> — hover, goToDefinition, findReferences, diagnostics, and more</a:t>
            </a:r>
          </a:p>
          <a:p>
            <a:pPr>
              <a:spcBef>
                <a:spcPts val="200"/>
              </a:spcBef>
              <a:spcAft>
                <a:spcPts val="1000"/>
              </a:spcAft>
            </a:pPr>
            <a:r>
              <a:rPr sz="1700">
                <a:solidFill>
                  <a:srgbClr val="D4886B"/>
                </a:solidFill>
                <a:latin typeface="Calibri"/>
              </a:rPr>
              <a:t>  –  </a:t>
            </a:r>
            <a:r>
              <a:rPr sz="1700" b="1">
                <a:solidFill>
                  <a:srgbClr val="E8D5B7"/>
                </a:solidFill>
                <a:latin typeface="Calibri"/>
              </a:rPr>
              <a:t>Performance leap</a:t>
            </a:r>
            <a:r>
              <a:rPr sz="1700">
                <a:solidFill>
                  <a:srgbClr val="C4A882"/>
                </a:solidFill>
                <a:latin typeface="Calibri"/>
              </a:rPr>
              <a:t> — 900x faster navigation, 75% token reduction in prompts</a:t>
            </a:r>
          </a:p>
          <a:p>
            <a:pPr>
              <a:spcBef>
                <a:spcPts val="200"/>
              </a:spcBef>
              <a:spcAft>
                <a:spcPts val="1000"/>
              </a:spcAft>
            </a:pPr>
            <a:r>
              <a:rPr sz="1700">
                <a:solidFill>
                  <a:srgbClr val="D4886B"/>
                </a:solidFill>
                <a:latin typeface="Calibri"/>
              </a:rPr>
              <a:t>  –  </a:t>
            </a:r>
            <a:r>
              <a:rPr sz="1700" b="1">
                <a:solidFill>
                  <a:srgbClr val="E8D5B7"/>
                </a:solidFill>
                <a:latin typeface="Calibri"/>
              </a:rPr>
              <a:t>Multi-language support</a:t>
            </a:r>
            <a:r>
              <a:rPr sz="1700">
                <a:solidFill>
                  <a:srgbClr val="C4A882"/>
                </a:solidFill>
                <a:latin typeface="Calibri"/>
              </a:rPr>
              <a:t> — 11+ official languages, 17+ community languages</a:t>
            </a:r>
          </a:p>
          <a:p>
            <a:pPr>
              <a:spcBef>
                <a:spcPts val="200"/>
              </a:spcBef>
              <a:spcAft>
                <a:spcPts val="1000"/>
              </a:spcAft>
            </a:pPr>
            <a:r>
              <a:rPr sz="1700">
                <a:solidFill>
                  <a:srgbClr val="D4886B"/>
                </a:solidFill>
                <a:latin typeface="Calibri"/>
              </a:rPr>
              <a:t>  –  </a:t>
            </a:r>
            <a:r>
              <a:rPr sz="1700" b="1">
                <a:solidFill>
                  <a:srgbClr val="E8D5B7"/>
                </a:solidFill>
                <a:latin typeface="Calibri"/>
              </a:rPr>
              <a:t>Type-aware intelligence</a:t>
            </a:r>
            <a:r>
              <a:rPr sz="1700">
                <a:solidFill>
                  <a:srgbClr val="C4A882"/>
                </a:solidFill>
                <a:latin typeface="Calibri"/>
              </a:rPr>
              <a:t> — Claude sees types, signatures, and cross-file references</a:t>
            </a:r>
          </a:p>
          <a:p>
            <a:pPr>
              <a:spcBef>
                <a:spcPts val="200"/>
              </a:spcBef>
              <a:spcAft>
                <a:spcPts val="1000"/>
              </a:spcAft>
            </a:pPr>
            <a:r>
              <a:rPr sz="1700">
                <a:solidFill>
                  <a:srgbClr val="D4886B"/>
                </a:solidFill>
                <a:latin typeface="Calibri"/>
              </a:rPr>
              <a:t>  –  </a:t>
            </a:r>
            <a:r>
              <a:rPr sz="1700" b="1">
                <a:solidFill>
                  <a:srgbClr val="E8D5B7"/>
                </a:solidFill>
                <a:latin typeface="Calibri"/>
              </a:rPr>
              <a:t>Automatic activation</a:t>
            </a:r>
            <a:r>
              <a:rPr sz="1700">
                <a:solidFill>
                  <a:srgbClr val="C4A882"/>
                </a:solidFill>
                <a:latin typeface="Calibri"/>
              </a:rPr>
              <a:t> — Claude Code starts LSP servers for detected languages</a:t>
            </a:r>
          </a:p>
          <a:p>
            <a:pPr>
              <a:spcBef>
                <a:spcPts val="200"/>
              </a:spcBef>
              <a:spcAft>
                <a:spcPts val="1000"/>
              </a:spcAft>
            </a:pPr>
            <a:r>
              <a:rPr sz="1700">
                <a:solidFill>
                  <a:srgbClr val="D4886B"/>
                </a:solidFill>
                <a:latin typeface="Calibri"/>
              </a:rPr>
              <a:t>  –  </a:t>
            </a:r>
            <a:r>
              <a:rPr sz="1700" b="1">
                <a:solidFill>
                  <a:srgbClr val="E8D5B7"/>
                </a:solidFill>
                <a:latin typeface="Calibri"/>
              </a:rPr>
              <a:t>Reduces hallucination</a:t>
            </a:r>
            <a:r>
              <a:rPr sz="1700">
                <a:solidFill>
                  <a:srgbClr val="C4A882"/>
                </a:solidFill>
                <a:latin typeface="Calibri"/>
              </a:rPr>
              <a:t> — Claude navigates code precisely instead of guessing</a:t>
            </a:r>
          </a:p>
        </p:txBody>
      </p:sp>
      <p:sp>
        <p:nvSpPr>
          <p:cNvPr id="5" name="Rounded Rectangle 4"/>
          <p:cNvSpPr/>
          <p:nvPr/>
        </p:nvSpPr>
        <p:spPr>
          <a:xfrm>
            <a:off x="7589520" y="1737360"/>
            <a:ext cx="4114800" cy="25603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818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019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0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0" y="1810512"/>
            <a:ext cx="2926080" cy="320040"/>
          </a:xfrm>
          <a:prstGeom prst="rect">
            <a:avLst/>
          </a:prstGeom>
          <a:noFill/>
        </p:spPr>
        <p:txBody>
          <a:bodyPr wrap="square">
            <a:spAutoFit/>
          </a:bodyPr>
          <a:lstStyle/>
          <a:p>
            <a:pPr algn="ctr">
              <a:spcAft>
                <a:spcPts val="0"/>
              </a:spcAft>
              <a:defRPr sz="1100" b="0" i="0">
                <a:solidFill>
                  <a:srgbClr val="7A6E5D"/>
                </a:solidFill>
                <a:latin typeface="Calibri"/>
              </a:defRPr>
            </a:pPr>
            <a:r>
              <a:t>Key Insight</a:t>
            </a:r>
          </a:p>
        </p:txBody>
      </p:sp>
      <p:sp>
        <p:nvSpPr>
          <p:cNvPr id="10" name="TextBox 9"/>
          <p:cNvSpPr txBox="1"/>
          <p:nvPr/>
        </p:nvSpPr>
        <p:spPr>
          <a:xfrm>
            <a:off x="7863840" y="2331720"/>
            <a:ext cx="3566160" cy="1828800"/>
          </a:xfrm>
          <a:prstGeom prst="rect">
            <a:avLst/>
          </a:prstGeom>
          <a:noFill/>
        </p:spPr>
        <p:txBody>
          <a:bodyPr wrap="square">
            <a:spAutoFit/>
          </a:bodyPr>
          <a:lstStyle/>
          <a:p>
            <a:pPr algn="l">
              <a:spcAft>
                <a:spcPts val="0"/>
              </a:spcAft>
              <a:defRPr sz="1500" b="0" i="0">
                <a:solidFill>
                  <a:srgbClr val="E8D5B7"/>
                </a:solidFill>
                <a:latin typeface="Calibri"/>
              </a:defRPr>
            </a:pPr>
            <a:r>
              <a:t>LSP gives Claude the same code intelligence that IDEs give human developers: jump to definition, find references, and see type information.</a:t>
            </a:r>
          </a:p>
        </p:txBody>
      </p:sp>
      <p:sp>
        <p:nvSpPr>
          <p:cNvPr id="11" name="TextBox 1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6 / 19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Claude Plan Mode</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Episode 6  |  Research Before You Code</a:t>
            </a:r>
          </a:p>
        </p:txBody>
      </p:sp>
      <p:sp>
        <p:nvSpPr>
          <p:cNvPr id="4" name="TextBox 3"/>
          <p:cNvSpPr txBox="1"/>
          <p:nvPr/>
        </p:nvSpPr>
        <p:spPr>
          <a:xfrm>
            <a:off x="731520" y="1737360"/>
            <a:ext cx="64008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Read-only exploration mode</a:t>
            </a:r>
            <a:r>
              <a:rPr sz="1700">
                <a:solidFill>
                  <a:srgbClr val="C4A882"/>
                </a:solidFill>
                <a:latin typeface="Calibri"/>
              </a:rPr>
              <a:t> — research and plan without modifying any files</a:t>
            </a:r>
          </a:p>
          <a:p>
            <a:pPr>
              <a:spcBef>
                <a:spcPts val="200"/>
              </a:spcBef>
              <a:spcAft>
                <a:spcPts val="1000"/>
              </a:spcAft>
            </a:pPr>
            <a:r>
              <a:rPr sz="1700">
                <a:solidFill>
                  <a:srgbClr val="D4886B"/>
                </a:solidFill>
                <a:latin typeface="Calibri"/>
              </a:rPr>
              <a:t>  –  </a:t>
            </a:r>
            <a:r>
              <a:rPr sz="1700" b="1">
                <a:solidFill>
                  <a:srgbClr val="E8D5B7"/>
                </a:solidFill>
                <a:latin typeface="Calibri"/>
              </a:rPr>
              <a:t>Activation</a:t>
            </a:r>
            <a:r>
              <a:rPr sz="1700">
                <a:solidFill>
                  <a:srgbClr val="C4A882"/>
                </a:solidFill>
                <a:latin typeface="Calibri"/>
              </a:rPr>
              <a:t> — Shift+Tab twice, /plan command, or --permission-mode plan flag</a:t>
            </a:r>
          </a:p>
          <a:p>
            <a:pPr>
              <a:spcBef>
                <a:spcPts val="200"/>
              </a:spcBef>
              <a:spcAft>
                <a:spcPts val="1000"/>
              </a:spcAft>
            </a:pPr>
            <a:r>
              <a:rPr sz="1700">
                <a:solidFill>
                  <a:srgbClr val="D4886B"/>
                </a:solidFill>
                <a:latin typeface="Calibri"/>
              </a:rPr>
              <a:t>  –  </a:t>
            </a:r>
            <a:r>
              <a:rPr sz="1700" b="1">
                <a:solidFill>
                  <a:srgbClr val="E8D5B7"/>
                </a:solidFill>
                <a:latin typeface="Calibri"/>
              </a:rPr>
              <a:t>opusplan alias</a:t>
            </a:r>
            <a:r>
              <a:rPr sz="1700">
                <a:solidFill>
                  <a:srgbClr val="C4A882"/>
                </a:solidFill>
                <a:latin typeface="Calibri"/>
              </a:rPr>
              <a:t> — Opus 4.6 for planning, Sonnet for execution (cost optimization)</a:t>
            </a:r>
          </a:p>
          <a:p>
            <a:pPr>
              <a:spcBef>
                <a:spcPts val="200"/>
              </a:spcBef>
              <a:spcAft>
                <a:spcPts val="1000"/>
              </a:spcAft>
            </a:pPr>
            <a:r>
              <a:rPr sz="1700">
                <a:solidFill>
                  <a:srgbClr val="D4886B"/>
                </a:solidFill>
                <a:latin typeface="Calibri"/>
              </a:rPr>
              <a:t>  –  </a:t>
            </a:r>
            <a:r>
              <a:rPr sz="1700" b="1">
                <a:solidFill>
                  <a:srgbClr val="E8D5B7"/>
                </a:solidFill>
                <a:latin typeface="Calibri"/>
              </a:rPr>
              <a:t>Integrates with Agent Teams</a:t>
            </a:r>
            <a:r>
              <a:rPr sz="1700">
                <a:solidFill>
                  <a:srgbClr val="C4A882"/>
                </a:solidFill>
                <a:latin typeface="Calibri"/>
              </a:rPr>
              <a:t> — plan mode required for controlled team members</a:t>
            </a:r>
          </a:p>
          <a:p>
            <a:pPr>
              <a:spcBef>
                <a:spcPts val="200"/>
              </a:spcBef>
              <a:spcAft>
                <a:spcPts val="1000"/>
              </a:spcAft>
            </a:pPr>
            <a:r>
              <a:rPr sz="1700">
                <a:solidFill>
                  <a:srgbClr val="D4886B"/>
                </a:solidFill>
                <a:latin typeface="Calibri"/>
              </a:rPr>
              <a:t>  –  </a:t>
            </a:r>
            <a:r>
              <a:rPr sz="1700" b="1">
                <a:solidFill>
                  <a:srgbClr val="E8D5B7"/>
                </a:solidFill>
                <a:latin typeface="Calibri"/>
              </a:rPr>
              <a:t>Pairs with Superpowers</a:t>
            </a:r>
            <a:r>
              <a:rPr sz="1700">
                <a:solidFill>
                  <a:srgbClr val="C4A882"/>
                </a:solidFill>
                <a:latin typeface="Calibri"/>
              </a:rPr>
              <a:t> — plan phase naturally feeds into TDD execution</a:t>
            </a:r>
          </a:p>
          <a:p>
            <a:pPr>
              <a:spcBef>
                <a:spcPts val="200"/>
              </a:spcBef>
              <a:spcAft>
                <a:spcPts val="1000"/>
              </a:spcAft>
            </a:pPr>
            <a:r>
              <a:rPr sz="1700">
                <a:solidFill>
                  <a:srgbClr val="D4886B"/>
                </a:solidFill>
                <a:latin typeface="Calibri"/>
              </a:rPr>
              <a:t>  –  </a:t>
            </a:r>
            <a:r>
              <a:rPr sz="1700" b="1">
                <a:solidFill>
                  <a:srgbClr val="E8D5B7"/>
                </a:solidFill>
                <a:latin typeface="Calibri"/>
              </a:rPr>
              <a:t>Prevents premature coding</a:t>
            </a:r>
            <a:r>
              <a:rPr sz="1700">
                <a:solidFill>
                  <a:srgbClr val="C4A882"/>
                </a:solidFill>
                <a:latin typeface="Calibri"/>
              </a:rPr>
              <a:t> — forces analysis before implementation</a:t>
            </a:r>
          </a:p>
        </p:txBody>
      </p:sp>
      <p:sp>
        <p:nvSpPr>
          <p:cNvPr id="5" name="Rounded Rectangle 4"/>
          <p:cNvSpPr/>
          <p:nvPr/>
        </p:nvSpPr>
        <p:spPr>
          <a:xfrm>
            <a:off x="7589520" y="1737360"/>
            <a:ext cx="4114800" cy="25603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818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019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0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0" y="1810512"/>
            <a:ext cx="2926080" cy="320040"/>
          </a:xfrm>
          <a:prstGeom prst="rect">
            <a:avLst/>
          </a:prstGeom>
          <a:noFill/>
        </p:spPr>
        <p:txBody>
          <a:bodyPr wrap="square">
            <a:spAutoFit/>
          </a:bodyPr>
          <a:lstStyle/>
          <a:p>
            <a:pPr algn="ctr">
              <a:spcAft>
                <a:spcPts val="0"/>
              </a:spcAft>
              <a:defRPr sz="1100" b="0" i="0">
                <a:solidFill>
                  <a:srgbClr val="7A6E5D"/>
                </a:solidFill>
                <a:latin typeface="Calibri"/>
              </a:defRPr>
            </a:pPr>
            <a:r>
              <a:t>Key Insight</a:t>
            </a:r>
          </a:p>
        </p:txBody>
      </p:sp>
      <p:sp>
        <p:nvSpPr>
          <p:cNvPr id="10" name="TextBox 9"/>
          <p:cNvSpPr txBox="1"/>
          <p:nvPr/>
        </p:nvSpPr>
        <p:spPr>
          <a:xfrm>
            <a:off x="7863840" y="2331720"/>
            <a:ext cx="3566160" cy="1828800"/>
          </a:xfrm>
          <a:prstGeom prst="rect">
            <a:avLst/>
          </a:prstGeom>
          <a:noFill/>
        </p:spPr>
        <p:txBody>
          <a:bodyPr wrap="square">
            <a:spAutoFit/>
          </a:bodyPr>
          <a:lstStyle/>
          <a:p>
            <a:pPr algn="l">
              <a:spcAft>
                <a:spcPts val="0"/>
              </a:spcAft>
              <a:defRPr sz="1500" b="0" i="0">
                <a:solidFill>
                  <a:srgbClr val="E8D5B7"/>
                </a:solidFill>
                <a:latin typeface="Calibri"/>
              </a:defRPr>
            </a:pPr>
            <a:r>
              <a:t>Plan Mode forces a "think before you code" discipline. Use Opus 4.6 to plan, Sonnet to execute.</a:t>
            </a:r>
          </a:p>
        </p:txBody>
      </p:sp>
      <p:sp>
        <p:nvSpPr>
          <p:cNvPr id="11" name="TextBox 1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7 / 19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SuperPowers, GSD, OpenSpec &amp; Spec Kit</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Episode 7  |  Four Tools Ending the "Vibe Coding" Era</a:t>
            </a:r>
          </a:p>
        </p:txBody>
      </p:sp>
      <p:sp>
        <p:nvSpPr>
          <p:cNvPr id="4" name="TextBox 3"/>
          <p:cNvSpPr txBox="1"/>
          <p:nvPr/>
        </p:nvSpPr>
        <p:spPr>
          <a:xfrm>
            <a:off x="731520" y="1737360"/>
            <a:ext cx="64008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Superpowers (59.8K stars)</a:t>
            </a:r>
            <a:r>
              <a:rPr sz="1700">
                <a:solidFill>
                  <a:srgbClr val="C4A882"/>
                </a:solidFill>
                <a:latin typeface="Calibri"/>
              </a:rPr>
              <a:t> — enforced TDD + brainstorm-plan-review workflow</a:t>
            </a:r>
          </a:p>
          <a:p>
            <a:pPr>
              <a:spcBef>
                <a:spcPts val="200"/>
              </a:spcBef>
              <a:spcAft>
                <a:spcPts val="1000"/>
              </a:spcAft>
            </a:pPr>
            <a:r>
              <a:rPr sz="1700">
                <a:solidFill>
                  <a:srgbClr val="D4886B"/>
                </a:solidFill>
                <a:latin typeface="Calibri"/>
              </a:rPr>
              <a:t>  –  </a:t>
            </a:r>
            <a:r>
              <a:rPr sz="1700" b="1">
                <a:solidFill>
                  <a:srgbClr val="E8D5B7"/>
                </a:solidFill>
                <a:latin typeface="Calibri"/>
              </a:rPr>
              <a:t>GSD (19.7K stars)</a:t>
            </a:r>
            <a:r>
              <a:rPr sz="1700">
                <a:solidFill>
                  <a:srgbClr val="C4A882"/>
                </a:solidFill>
                <a:latin typeface="Calibri"/>
              </a:rPr>
              <a:t> — meta-prompting + context engineering for deep work</a:t>
            </a:r>
          </a:p>
          <a:p>
            <a:pPr>
              <a:spcBef>
                <a:spcPts val="200"/>
              </a:spcBef>
              <a:spcAft>
                <a:spcPts val="1000"/>
              </a:spcAft>
            </a:pPr>
            <a:r>
              <a:rPr sz="1700">
                <a:solidFill>
                  <a:srgbClr val="D4886B"/>
                </a:solidFill>
                <a:latin typeface="Calibri"/>
              </a:rPr>
              <a:t>  –  </a:t>
            </a:r>
            <a:r>
              <a:rPr sz="1700" b="1">
                <a:solidFill>
                  <a:srgbClr val="E8D5B7"/>
                </a:solidFill>
                <a:latin typeface="Calibri"/>
              </a:rPr>
              <a:t>OpenSpec (25.4K stars)</a:t>
            </a:r>
            <a:r>
              <a:rPr sz="1700">
                <a:solidFill>
                  <a:srgbClr val="C4A882"/>
                </a:solidFill>
                <a:latin typeface="Calibri"/>
              </a:rPr>
              <a:t> — spec-driven development with structured templates</a:t>
            </a:r>
          </a:p>
          <a:p>
            <a:pPr>
              <a:spcBef>
                <a:spcPts val="200"/>
              </a:spcBef>
              <a:spcAft>
                <a:spcPts val="1000"/>
              </a:spcAft>
            </a:pPr>
            <a:r>
              <a:rPr sz="1700">
                <a:solidFill>
                  <a:srgbClr val="D4886B"/>
                </a:solidFill>
                <a:latin typeface="Calibri"/>
              </a:rPr>
              <a:t>  –  </a:t>
            </a:r>
            <a:r>
              <a:rPr sz="1700" b="1">
                <a:solidFill>
                  <a:srgbClr val="E8D5B7"/>
                </a:solidFill>
                <a:latin typeface="Calibri"/>
              </a:rPr>
              <a:t>Spec Kit (71.4K stars)</a:t>
            </a:r>
            <a:r>
              <a:rPr sz="1700">
                <a:solidFill>
                  <a:srgbClr val="C4A882"/>
                </a:solidFill>
                <a:latin typeface="Calibri"/>
              </a:rPr>
              <a:t> — specification management and validation framework</a:t>
            </a:r>
          </a:p>
          <a:p>
            <a:pPr>
              <a:spcBef>
                <a:spcPts val="200"/>
              </a:spcBef>
              <a:spcAft>
                <a:spcPts val="1000"/>
              </a:spcAft>
            </a:pPr>
            <a:r>
              <a:rPr sz="1700">
                <a:solidFill>
                  <a:srgbClr val="D4886B"/>
                </a:solidFill>
                <a:latin typeface="Calibri"/>
              </a:rPr>
              <a:t>  –  </a:t>
            </a:r>
            <a:r>
              <a:rPr sz="1700" b="1">
                <a:solidFill>
                  <a:srgbClr val="E8D5B7"/>
                </a:solidFill>
                <a:latin typeface="Calibri"/>
              </a:rPr>
              <a:t>Common philosophy</a:t>
            </a:r>
            <a:r>
              <a:rPr sz="1700">
                <a:solidFill>
                  <a:srgbClr val="C4A882"/>
                </a:solidFill>
                <a:latin typeface="Calibri"/>
              </a:rPr>
              <a:t> — structure first, code second, review always</a:t>
            </a:r>
          </a:p>
          <a:p>
            <a:pPr>
              <a:spcBef>
                <a:spcPts val="200"/>
              </a:spcBef>
              <a:spcAft>
                <a:spcPts val="1000"/>
              </a:spcAft>
            </a:pPr>
            <a:r>
              <a:rPr sz="1700">
                <a:solidFill>
                  <a:srgbClr val="D4886B"/>
                </a:solidFill>
                <a:latin typeface="Calibri"/>
              </a:rPr>
              <a:t>  –  </a:t>
            </a:r>
            <a:r>
              <a:rPr sz="1700" b="1">
                <a:solidFill>
                  <a:srgbClr val="E8D5B7"/>
                </a:solidFill>
                <a:latin typeface="Calibri"/>
              </a:rPr>
              <a:t>All installable as Claude Skills</a:t>
            </a:r>
            <a:r>
              <a:rPr sz="1700">
                <a:solidFill>
                  <a:srgbClr val="C4A882"/>
                </a:solidFill>
                <a:latin typeface="Calibri"/>
              </a:rPr>
              <a:t> — one command setup</a:t>
            </a:r>
          </a:p>
        </p:txBody>
      </p:sp>
      <p:sp>
        <p:nvSpPr>
          <p:cNvPr id="5" name="Rounded Rectangle 4"/>
          <p:cNvSpPr/>
          <p:nvPr/>
        </p:nvSpPr>
        <p:spPr>
          <a:xfrm>
            <a:off x="7589520" y="1737360"/>
            <a:ext cx="4114800" cy="25603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818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019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0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0" y="1810512"/>
            <a:ext cx="2926080" cy="320040"/>
          </a:xfrm>
          <a:prstGeom prst="rect">
            <a:avLst/>
          </a:prstGeom>
          <a:noFill/>
        </p:spPr>
        <p:txBody>
          <a:bodyPr wrap="square">
            <a:spAutoFit/>
          </a:bodyPr>
          <a:lstStyle/>
          <a:p>
            <a:pPr algn="ctr">
              <a:spcAft>
                <a:spcPts val="0"/>
              </a:spcAft>
              <a:defRPr sz="1100" b="0" i="0">
                <a:solidFill>
                  <a:srgbClr val="7A6E5D"/>
                </a:solidFill>
                <a:latin typeface="Calibri"/>
              </a:defRPr>
            </a:pPr>
            <a:r>
              <a:t>Key Insight</a:t>
            </a:r>
          </a:p>
        </p:txBody>
      </p:sp>
      <p:sp>
        <p:nvSpPr>
          <p:cNvPr id="10" name="TextBox 9"/>
          <p:cNvSpPr txBox="1"/>
          <p:nvPr/>
        </p:nvSpPr>
        <p:spPr>
          <a:xfrm>
            <a:off x="7863840" y="2331720"/>
            <a:ext cx="3566160" cy="1828800"/>
          </a:xfrm>
          <a:prstGeom prst="rect">
            <a:avLst/>
          </a:prstGeom>
          <a:noFill/>
        </p:spPr>
        <p:txBody>
          <a:bodyPr wrap="square">
            <a:spAutoFit/>
          </a:bodyPr>
          <a:lstStyle/>
          <a:p>
            <a:pPr algn="l">
              <a:spcAft>
                <a:spcPts val="0"/>
              </a:spcAft>
              <a:defRPr sz="1500" b="0" i="0">
                <a:solidFill>
                  <a:srgbClr val="E8D5B7"/>
                </a:solidFill>
                <a:latin typeface="Calibri"/>
              </a:defRPr>
            </a:pPr>
            <a:r>
              <a:t>These four tools share one philosophy: stop vibe coding. Structure your intent before writing a single line of code.</a:t>
            </a:r>
          </a:p>
        </p:txBody>
      </p:sp>
      <p:sp>
        <p:nvSpPr>
          <p:cNvPr id="11" name="TextBox 1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8 / 19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EXA MCP: AI-Native Search</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Episode 8  |  Real-Time Web Intelligence via MCP Protocol</a:t>
            </a:r>
          </a:p>
        </p:txBody>
      </p:sp>
      <p:sp>
        <p:nvSpPr>
          <p:cNvPr id="4" name="TextBox 3"/>
          <p:cNvSpPr txBox="1"/>
          <p:nvPr/>
        </p:nvSpPr>
        <p:spPr>
          <a:xfrm>
            <a:off x="731520" y="1737360"/>
            <a:ext cx="64008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AI-native search engine</a:t>
            </a:r>
            <a:r>
              <a:rPr sz="1700">
                <a:solidFill>
                  <a:srgbClr val="C4A882"/>
                </a:solidFill>
                <a:latin typeface="Calibri"/>
              </a:rPr>
              <a:t> — $700M valuation, purpose-built for LLM consumption</a:t>
            </a:r>
          </a:p>
          <a:p>
            <a:pPr>
              <a:spcBef>
                <a:spcPts val="200"/>
              </a:spcBef>
              <a:spcAft>
                <a:spcPts val="1000"/>
              </a:spcAft>
            </a:pPr>
            <a:r>
              <a:rPr sz="1700">
                <a:solidFill>
                  <a:srgbClr val="D4886B"/>
                </a:solidFill>
                <a:latin typeface="Calibri"/>
              </a:rPr>
              <a:t>  –  </a:t>
            </a:r>
            <a:r>
              <a:rPr sz="1700" b="1">
                <a:solidFill>
                  <a:srgbClr val="E8D5B7"/>
                </a:solidFill>
                <a:latin typeface="Calibri"/>
              </a:rPr>
              <a:t>MCP = "USB-C for AI"</a:t>
            </a:r>
            <a:r>
              <a:rPr sz="1700">
                <a:solidFill>
                  <a:srgbClr val="C4A882"/>
                </a:solidFill>
                <a:latin typeface="Calibri"/>
              </a:rPr>
              <a:t> — universal tool protocol created by Anthropic</a:t>
            </a:r>
          </a:p>
          <a:p>
            <a:pPr>
              <a:spcBef>
                <a:spcPts val="200"/>
              </a:spcBef>
              <a:spcAft>
                <a:spcPts val="1000"/>
              </a:spcAft>
            </a:pPr>
            <a:r>
              <a:rPr sz="1700">
                <a:solidFill>
                  <a:srgbClr val="D4886B"/>
                </a:solidFill>
                <a:latin typeface="Calibri"/>
              </a:rPr>
              <a:t>  –  </a:t>
            </a:r>
            <a:r>
              <a:rPr sz="1700" b="1">
                <a:solidFill>
                  <a:srgbClr val="E8D5B7"/>
                </a:solidFill>
                <a:latin typeface="Calibri"/>
              </a:rPr>
              <a:t>8+ tools</a:t>
            </a:r>
            <a:r>
              <a:rPr sz="1700">
                <a:solidFill>
                  <a:srgbClr val="C4A882"/>
                </a:solidFill>
                <a:latin typeface="Calibri"/>
              </a:rPr>
              <a:t> — web search (2M+ calls), code context, deep research agent</a:t>
            </a:r>
          </a:p>
          <a:p>
            <a:pPr>
              <a:spcBef>
                <a:spcPts val="200"/>
              </a:spcBef>
              <a:spcAft>
                <a:spcPts val="1000"/>
              </a:spcAft>
            </a:pPr>
            <a:r>
              <a:rPr sz="1700">
                <a:solidFill>
                  <a:srgbClr val="D4886B"/>
                </a:solidFill>
                <a:latin typeface="Calibri"/>
              </a:rPr>
              <a:t>  –  </a:t>
            </a:r>
            <a:r>
              <a:rPr sz="1700" b="1">
                <a:solidFill>
                  <a:srgbClr val="E8D5B7"/>
                </a:solidFill>
                <a:latin typeface="Calibri"/>
              </a:rPr>
              <a:t>One-command setup</a:t>
            </a:r>
            <a:r>
              <a:rPr sz="1700">
                <a:solidFill>
                  <a:srgbClr val="C4A882"/>
                </a:solidFill>
                <a:latin typeface="Calibri"/>
              </a:rPr>
              <a:t> — free tier includes $10 in API credits</a:t>
            </a:r>
          </a:p>
          <a:p>
            <a:pPr>
              <a:spcBef>
                <a:spcPts val="200"/>
              </a:spcBef>
              <a:spcAft>
                <a:spcPts val="1000"/>
              </a:spcAft>
            </a:pPr>
            <a:r>
              <a:rPr sz="1700">
                <a:solidFill>
                  <a:srgbClr val="D4886B"/>
                </a:solidFill>
                <a:latin typeface="Calibri"/>
              </a:rPr>
              <a:t>  –  </a:t>
            </a:r>
            <a:r>
              <a:rPr sz="1700" b="1">
                <a:solidFill>
                  <a:srgbClr val="E8D5B7"/>
                </a:solidFill>
                <a:latin typeface="Calibri"/>
              </a:rPr>
              <a:t>Deep Researcher</a:t>
            </a:r>
            <a:r>
              <a:rPr sz="1700">
                <a:solidFill>
                  <a:srgbClr val="C4A882"/>
                </a:solidFill>
                <a:latin typeface="Calibri"/>
              </a:rPr>
              <a:t> — autonomous multi-step research with synthesis</a:t>
            </a:r>
          </a:p>
          <a:p>
            <a:pPr>
              <a:spcBef>
                <a:spcPts val="200"/>
              </a:spcBef>
              <a:spcAft>
                <a:spcPts val="1000"/>
              </a:spcAft>
            </a:pPr>
            <a:r>
              <a:rPr sz="1700">
                <a:solidFill>
                  <a:srgbClr val="D4886B"/>
                </a:solidFill>
                <a:latin typeface="Calibri"/>
              </a:rPr>
              <a:t>  –  </a:t>
            </a:r>
            <a:r>
              <a:rPr sz="1700" b="1">
                <a:solidFill>
                  <a:srgbClr val="E8D5B7"/>
                </a:solidFill>
                <a:latin typeface="Calibri"/>
              </a:rPr>
              <a:t>Code Context tool</a:t>
            </a:r>
            <a:r>
              <a:rPr sz="1700">
                <a:solidFill>
                  <a:srgbClr val="C4A882"/>
                </a:solidFill>
                <a:latin typeface="Calibri"/>
              </a:rPr>
              <a:t> — finds documentation, examples, and API references</a:t>
            </a:r>
          </a:p>
        </p:txBody>
      </p:sp>
      <p:sp>
        <p:nvSpPr>
          <p:cNvPr id="5" name="Rounded Rectangle 4"/>
          <p:cNvSpPr/>
          <p:nvPr/>
        </p:nvSpPr>
        <p:spPr>
          <a:xfrm>
            <a:off x="7589520" y="1737360"/>
            <a:ext cx="4114800" cy="25603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818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019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0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0" y="1810512"/>
            <a:ext cx="2926080" cy="320040"/>
          </a:xfrm>
          <a:prstGeom prst="rect">
            <a:avLst/>
          </a:prstGeom>
          <a:noFill/>
        </p:spPr>
        <p:txBody>
          <a:bodyPr wrap="square">
            <a:spAutoFit/>
          </a:bodyPr>
          <a:lstStyle/>
          <a:p>
            <a:pPr algn="ctr">
              <a:spcAft>
                <a:spcPts val="0"/>
              </a:spcAft>
              <a:defRPr sz="1100" b="0" i="0">
                <a:solidFill>
                  <a:srgbClr val="7A6E5D"/>
                </a:solidFill>
                <a:latin typeface="Calibri"/>
              </a:defRPr>
            </a:pPr>
            <a:r>
              <a:t>Key Insight</a:t>
            </a:r>
          </a:p>
        </p:txBody>
      </p:sp>
      <p:sp>
        <p:nvSpPr>
          <p:cNvPr id="10" name="TextBox 9"/>
          <p:cNvSpPr txBox="1"/>
          <p:nvPr/>
        </p:nvSpPr>
        <p:spPr>
          <a:xfrm>
            <a:off x="7863840" y="2331720"/>
            <a:ext cx="3566160" cy="1828800"/>
          </a:xfrm>
          <a:prstGeom prst="rect">
            <a:avLst/>
          </a:prstGeom>
          <a:noFill/>
        </p:spPr>
        <p:txBody>
          <a:bodyPr wrap="square">
            <a:spAutoFit/>
          </a:bodyPr>
          <a:lstStyle/>
          <a:p>
            <a:pPr algn="l">
              <a:spcAft>
                <a:spcPts val="0"/>
              </a:spcAft>
              <a:defRPr sz="1500" b="0" i="0">
                <a:solidFill>
                  <a:srgbClr val="E8D5B7"/>
                </a:solidFill>
                <a:latin typeface="Calibri"/>
              </a:defRPr>
            </a:pPr>
            <a:r>
              <a:t>MCP is the universal protocol for connecting AI to external tools. EXA brings live web knowledge into Claude's context.</a:t>
            </a:r>
          </a:p>
        </p:txBody>
      </p:sp>
      <p:sp>
        <p:nvSpPr>
          <p:cNvPr id="11" name="TextBox 1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9 / 19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Atlassian MCP: Jira, Confluence &amp; Compass</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Episode 9  |  Enterprise Project Management for Claude Code</a:t>
            </a:r>
          </a:p>
        </p:txBody>
      </p:sp>
      <p:sp>
        <p:nvSpPr>
          <p:cNvPr id="4" name="TextBox 3"/>
          <p:cNvSpPr txBox="1"/>
          <p:nvPr/>
        </p:nvSpPr>
        <p:spPr>
          <a:xfrm>
            <a:off x="731520" y="1737360"/>
            <a:ext cx="64008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Bridges Claude Code</a:t>
            </a:r>
            <a:r>
              <a:rPr sz="1700">
                <a:solidFill>
                  <a:srgbClr val="C4A882"/>
                </a:solidFill>
                <a:latin typeface="Calibri"/>
              </a:rPr>
              <a:t> — to Jira, Confluence, and Compass ecosystems</a:t>
            </a:r>
          </a:p>
          <a:p>
            <a:pPr>
              <a:spcBef>
                <a:spcPts val="200"/>
              </a:spcBef>
              <a:spcAft>
                <a:spcPts val="1000"/>
              </a:spcAft>
            </a:pPr>
            <a:r>
              <a:rPr sz="1700">
                <a:solidFill>
                  <a:srgbClr val="D4886B"/>
                </a:solidFill>
                <a:latin typeface="Calibri"/>
              </a:rPr>
              <a:t>  –  </a:t>
            </a:r>
            <a:r>
              <a:rPr sz="1700" b="1">
                <a:solidFill>
                  <a:srgbClr val="E8D5B7"/>
                </a:solidFill>
                <a:latin typeface="Calibri"/>
              </a:rPr>
              <a:t>35+ tools</a:t>
            </a:r>
            <a:r>
              <a:rPr sz="1700">
                <a:solidFill>
                  <a:srgbClr val="C4A882"/>
                </a:solidFill>
                <a:latin typeface="Calibri"/>
              </a:rPr>
              <a:t> — 13 Jira + 11 Confluence + 6 Compass + platform tools</a:t>
            </a:r>
          </a:p>
          <a:p>
            <a:pPr>
              <a:spcBef>
                <a:spcPts val="200"/>
              </a:spcBef>
              <a:spcAft>
                <a:spcPts val="1000"/>
              </a:spcAft>
            </a:pPr>
            <a:r>
              <a:rPr sz="1700">
                <a:solidFill>
                  <a:srgbClr val="D4886B"/>
                </a:solidFill>
                <a:latin typeface="Calibri"/>
              </a:rPr>
              <a:t>  –  </a:t>
            </a:r>
            <a:r>
              <a:rPr sz="1700" b="1">
                <a:solidFill>
                  <a:srgbClr val="E8D5B7"/>
                </a:solidFill>
                <a:latin typeface="Calibri"/>
              </a:rPr>
              <a:t>Official (Rovo) vs Community</a:t>
            </a:r>
            <a:r>
              <a:rPr sz="1700">
                <a:solidFill>
                  <a:srgbClr val="C4A882"/>
                </a:solidFill>
                <a:latin typeface="Calibri"/>
              </a:rPr>
              <a:t> — enterprise Rovo agent or sooperset (1.2K stars)</a:t>
            </a:r>
          </a:p>
          <a:p>
            <a:pPr>
              <a:spcBef>
                <a:spcPts val="200"/>
              </a:spcBef>
              <a:spcAft>
                <a:spcPts val="1000"/>
              </a:spcAft>
            </a:pPr>
            <a:r>
              <a:rPr sz="1700">
                <a:solidFill>
                  <a:srgbClr val="D4886B"/>
                </a:solidFill>
                <a:latin typeface="Calibri"/>
              </a:rPr>
              <a:t>  –  </a:t>
            </a:r>
            <a:r>
              <a:rPr sz="1700" b="1">
                <a:solidFill>
                  <a:srgbClr val="E8D5B7"/>
                </a:solidFill>
                <a:latin typeface="Calibri"/>
              </a:rPr>
              <a:t>PRD from Confluence</a:t>
            </a:r>
            <a:r>
              <a:rPr sz="1700">
                <a:solidFill>
                  <a:srgbClr val="C4A882"/>
                </a:solidFill>
                <a:latin typeface="Calibri"/>
              </a:rPr>
              <a:t> — generate product requirements from existing wiki pages</a:t>
            </a:r>
          </a:p>
          <a:p>
            <a:pPr>
              <a:spcBef>
                <a:spcPts val="200"/>
              </a:spcBef>
              <a:spcAft>
                <a:spcPts val="1000"/>
              </a:spcAft>
            </a:pPr>
            <a:r>
              <a:rPr sz="1700">
                <a:solidFill>
                  <a:srgbClr val="D4886B"/>
                </a:solidFill>
                <a:latin typeface="Calibri"/>
              </a:rPr>
              <a:t>  –  </a:t>
            </a:r>
            <a:r>
              <a:rPr sz="1700" b="1">
                <a:solidFill>
                  <a:srgbClr val="E8D5B7"/>
                </a:solidFill>
                <a:latin typeface="Calibri"/>
              </a:rPr>
              <a:t>Sprint planning</a:t>
            </a:r>
            <a:r>
              <a:rPr sz="1700">
                <a:solidFill>
                  <a:srgbClr val="C4A882"/>
                </a:solidFill>
                <a:latin typeface="Calibri"/>
              </a:rPr>
              <a:t> — create, estimate, and assign Jira issues from conversation</a:t>
            </a:r>
          </a:p>
          <a:p>
            <a:pPr>
              <a:spcBef>
                <a:spcPts val="200"/>
              </a:spcBef>
              <a:spcAft>
                <a:spcPts val="1000"/>
              </a:spcAft>
            </a:pPr>
            <a:r>
              <a:rPr sz="1700">
                <a:solidFill>
                  <a:srgbClr val="D4886B"/>
                </a:solidFill>
                <a:latin typeface="Calibri"/>
              </a:rPr>
              <a:t>  –  </a:t>
            </a:r>
            <a:r>
              <a:rPr sz="1700" b="1">
                <a:solidFill>
                  <a:srgbClr val="E8D5B7"/>
                </a:solidFill>
                <a:latin typeface="Calibri"/>
              </a:rPr>
              <a:t>Context-aware coding</a:t>
            </a:r>
            <a:r>
              <a:rPr sz="1700">
                <a:solidFill>
                  <a:srgbClr val="C4A882"/>
                </a:solidFill>
                <a:latin typeface="Calibri"/>
              </a:rPr>
              <a:t> — Claude reads Jira tickets and Confluence docs while coding</a:t>
            </a:r>
          </a:p>
        </p:txBody>
      </p:sp>
      <p:sp>
        <p:nvSpPr>
          <p:cNvPr id="5" name="Rounded Rectangle 4"/>
          <p:cNvSpPr/>
          <p:nvPr/>
        </p:nvSpPr>
        <p:spPr>
          <a:xfrm>
            <a:off x="7589520" y="1737360"/>
            <a:ext cx="4114800" cy="25603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818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019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0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0" y="1810512"/>
            <a:ext cx="2926080" cy="320040"/>
          </a:xfrm>
          <a:prstGeom prst="rect">
            <a:avLst/>
          </a:prstGeom>
          <a:noFill/>
        </p:spPr>
        <p:txBody>
          <a:bodyPr wrap="square">
            <a:spAutoFit/>
          </a:bodyPr>
          <a:lstStyle/>
          <a:p>
            <a:pPr algn="ctr">
              <a:spcAft>
                <a:spcPts val="0"/>
              </a:spcAft>
              <a:defRPr sz="1100" b="0" i="0">
                <a:solidFill>
                  <a:srgbClr val="7A6E5D"/>
                </a:solidFill>
                <a:latin typeface="Calibri"/>
              </a:defRPr>
            </a:pPr>
            <a:r>
              <a:t>Key Insight</a:t>
            </a:r>
          </a:p>
        </p:txBody>
      </p:sp>
      <p:sp>
        <p:nvSpPr>
          <p:cNvPr id="10" name="TextBox 9"/>
          <p:cNvSpPr txBox="1"/>
          <p:nvPr/>
        </p:nvSpPr>
        <p:spPr>
          <a:xfrm>
            <a:off x="7863840" y="2331720"/>
            <a:ext cx="3566160" cy="1828800"/>
          </a:xfrm>
          <a:prstGeom prst="rect">
            <a:avLst/>
          </a:prstGeom>
          <a:noFill/>
        </p:spPr>
        <p:txBody>
          <a:bodyPr wrap="square">
            <a:spAutoFit/>
          </a:bodyPr>
          <a:lstStyle/>
          <a:p>
            <a:pPr algn="l">
              <a:spcAft>
                <a:spcPts val="0"/>
              </a:spcAft>
              <a:defRPr sz="1500" b="0" i="0">
                <a:solidFill>
                  <a:srgbClr val="E8D5B7"/>
                </a:solidFill>
                <a:latin typeface="Calibri"/>
              </a:defRPr>
            </a:pPr>
            <a:r>
              <a:t>Atlassian MCP closes the loop between project management and code. Claude reads your tickets and docs, then builds what they describe.</a:t>
            </a:r>
          </a:p>
        </p:txBody>
      </p:sp>
      <p:sp>
        <p:nvSpPr>
          <p:cNvPr id="11" name="TextBox 1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10 / 19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Claude Sub Agents</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Episode 10  |  Isolated AI Workers via the Task Tool</a:t>
            </a:r>
          </a:p>
        </p:txBody>
      </p:sp>
      <p:sp>
        <p:nvSpPr>
          <p:cNvPr id="4" name="TextBox 3"/>
          <p:cNvSpPr txBox="1"/>
          <p:nvPr/>
        </p:nvSpPr>
        <p:spPr>
          <a:xfrm>
            <a:off x="731520" y="1737360"/>
            <a:ext cx="64008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Isolated AI workers</a:t>
            </a:r>
            <a:r>
              <a:rPr sz="1700">
                <a:solidFill>
                  <a:srgbClr val="C4A882"/>
                </a:solidFill>
                <a:latin typeface="Calibri"/>
              </a:rPr>
              <a:t> — spawned via the Task tool with their own context window</a:t>
            </a:r>
          </a:p>
          <a:p>
            <a:pPr>
              <a:spcBef>
                <a:spcPts val="200"/>
              </a:spcBef>
              <a:spcAft>
                <a:spcPts val="1000"/>
              </a:spcAft>
            </a:pPr>
            <a:r>
              <a:rPr sz="1700">
                <a:solidFill>
                  <a:srgbClr val="D4886B"/>
                </a:solidFill>
                <a:latin typeface="Calibri"/>
              </a:rPr>
              <a:t>  –  </a:t>
            </a:r>
            <a:r>
              <a:rPr sz="1700" b="1">
                <a:solidFill>
                  <a:srgbClr val="E8D5B7"/>
                </a:solidFill>
                <a:latin typeface="Calibri"/>
              </a:rPr>
              <a:t>Built-in types</a:t>
            </a:r>
            <a:r>
              <a:rPr sz="1700">
                <a:solidFill>
                  <a:srgbClr val="C4A882"/>
                </a:solidFill>
                <a:latin typeface="Calibri"/>
              </a:rPr>
              <a:t> — Explore (read-only), Plan (analysis), general-purpose (full access)</a:t>
            </a:r>
          </a:p>
          <a:p>
            <a:pPr>
              <a:spcBef>
                <a:spcPts val="200"/>
              </a:spcBef>
              <a:spcAft>
                <a:spcPts val="1000"/>
              </a:spcAft>
            </a:pPr>
            <a:r>
              <a:rPr sz="1700">
                <a:solidFill>
                  <a:srgbClr val="D4886B"/>
                </a:solidFill>
                <a:latin typeface="Calibri"/>
              </a:rPr>
              <a:t>  –  </a:t>
            </a:r>
            <a:r>
              <a:rPr sz="1700" b="1">
                <a:solidFill>
                  <a:srgbClr val="E8D5B7"/>
                </a:solidFill>
                <a:latin typeface="Calibri"/>
              </a:rPr>
              <a:t>Context isolation</a:t>
            </a:r>
            <a:r>
              <a:rPr sz="1700">
                <a:solidFill>
                  <a:srgbClr val="C4A882"/>
                </a:solidFill>
                <a:latin typeface="Calibri"/>
              </a:rPr>
              <a:t> — each agent gets a fresh context window, preventing pollution</a:t>
            </a:r>
          </a:p>
          <a:p>
            <a:pPr>
              <a:spcBef>
                <a:spcPts val="200"/>
              </a:spcBef>
              <a:spcAft>
                <a:spcPts val="1000"/>
              </a:spcAft>
            </a:pPr>
            <a:r>
              <a:rPr sz="1700">
                <a:solidFill>
                  <a:srgbClr val="D4886B"/>
                </a:solidFill>
                <a:latin typeface="Calibri"/>
              </a:rPr>
              <a:t>  –  </a:t>
            </a:r>
            <a:r>
              <a:rPr sz="1700" b="1">
                <a:solidFill>
                  <a:srgbClr val="E8D5B7"/>
                </a:solidFill>
                <a:latin typeface="Calibri"/>
              </a:rPr>
              <a:t>Worktree isolation</a:t>
            </a:r>
            <a:r>
              <a:rPr sz="1700">
                <a:solidFill>
                  <a:srgbClr val="C4A882"/>
                </a:solidFill>
                <a:latin typeface="Calibri"/>
              </a:rPr>
              <a:t> — git worktrees enable true parallel file editing without conflicts</a:t>
            </a:r>
          </a:p>
          <a:p>
            <a:pPr>
              <a:spcBef>
                <a:spcPts val="200"/>
              </a:spcBef>
              <a:spcAft>
                <a:spcPts val="1000"/>
              </a:spcAft>
            </a:pPr>
            <a:r>
              <a:rPr sz="1700">
                <a:solidFill>
                  <a:srgbClr val="D4886B"/>
                </a:solidFill>
                <a:latin typeface="Calibri"/>
              </a:rPr>
              <a:t>  –  </a:t>
            </a:r>
            <a:r>
              <a:rPr sz="1700" b="1">
                <a:solidFill>
                  <a:srgbClr val="E8D5B7"/>
                </a:solidFill>
                <a:latin typeface="Calibri"/>
              </a:rPr>
              <a:t>Hub-and-spoke architecture</a:t>
            </a:r>
            <a:r>
              <a:rPr sz="1700">
                <a:solidFill>
                  <a:srgbClr val="C4A882"/>
                </a:solidFill>
                <a:latin typeface="Calibri"/>
              </a:rPr>
              <a:t> — results flow back to parent agent for synthesis</a:t>
            </a:r>
          </a:p>
          <a:p>
            <a:pPr>
              <a:spcBef>
                <a:spcPts val="200"/>
              </a:spcBef>
              <a:spcAft>
                <a:spcPts val="1000"/>
              </a:spcAft>
            </a:pPr>
            <a:r>
              <a:rPr sz="1700">
                <a:solidFill>
                  <a:srgbClr val="D4886B"/>
                </a:solidFill>
                <a:latin typeface="Calibri"/>
              </a:rPr>
              <a:t>  –  </a:t>
            </a:r>
            <a:r>
              <a:rPr sz="1700" b="1">
                <a:solidFill>
                  <a:srgbClr val="E8D5B7"/>
                </a:solidFill>
                <a:latin typeface="Calibri"/>
              </a:rPr>
              <a:t>Custom agents</a:t>
            </a:r>
            <a:r>
              <a:rPr sz="1700">
                <a:solidFill>
                  <a:srgbClr val="C4A882"/>
                </a:solidFill>
                <a:latin typeface="Calibri"/>
              </a:rPr>
              <a:t> — define specialized .md files in .claude/agents/ directory</a:t>
            </a:r>
          </a:p>
        </p:txBody>
      </p:sp>
      <p:sp>
        <p:nvSpPr>
          <p:cNvPr id="5" name="Rounded Rectangle 4"/>
          <p:cNvSpPr/>
          <p:nvPr/>
        </p:nvSpPr>
        <p:spPr>
          <a:xfrm>
            <a:off x="7589520" y="1737360"/>
            <a:ext cx="4114800" cy="25603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818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019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0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0" y="1810512"/>
            <a:ext cx="2926080" cy="320040"/>
          </a:xfrm>
          <a:prstGeom prst="rect">
            <a:avLst/>
          </a:prstGeom>
          <a:noFill/>
        </p:spPr>
        <p:txBody>
          <a:bodyPr wrap="square">
            <a:spAutoFit/>
          </a:bodyPr>
          <a:lstStyle/>
          <a:p>
            <a:pPr algn="ctr">
              <a:spcAft>
                <a:spcPts val="0"/>
              </a:spcAft>
              <a:defRPr sz="1100" b="0" i="0">
                <a:solidFill>
                  <a:srgbClr val="7A6E5D"/>
                </a:solidFill>
                <a:latin typeface="Calibri"/>
              </a:defRPr>
            </a:pPr>
            <a:r>
              <a:t>Key Insight</a:t>
            </a:r>
          </a:p>
        </p:txBody>
      </p:sp>
      <p:sp>
        <p:nvSpPr>
          <p:cNvPr id="10" name="TextBox 9"/>
          <p:cNvSpPr txBox="1"/>
          <p:nvPr/>
        </p:nvSpPr>
        <p:spPr>
          <a:xfrm>
            <a:off x="7863840" y="2331720"/>
            <a:ext cx="3566160" cy="1828800"/>
          </a:xfrm>
          <a:prstGeom prst="rect">
            <a:avLst/>
          </a:prstGeom>
          <a:noFill/>
        </p:spPr>
        <p:txBody>
          <a:bodyPr wrap="square">
            <a:spAutoFit/>
          </a:bodyPr>
          <a:lstStyle/>
          <a:p>
            <a:pPr algn="l">
              <a:spcAft>
                <a:spcPts val="0"/>
              </a:spcAft>
              <a:defRPr sz="1500" b="0" i="0">
                <a:solidFill>
                  <a:srgbClr val="E8D5B7"/>
                </a:solidFill>
                <a:latin typeface="Calibri"/>
              </a:defRPr>
            </a:pPr>
            <a:r>
              <a:t>Sub agents give you parallelism with isolation. Each agent works in its own context window, preventing token pollution across tasks.</a:t>
            </a:r>
          </a:p>
        </p:txBody>
      </p:sp>
      <p:sp>
        <p:nvSpPr>
          <p:cNvPr id="11" name="TextBox 1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11 / 19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Claude Agent Teams</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Episode 11  |  Multi-Agent Collaboration with Peer-to-Peer Messaging</a:t>
            </a:r>
          </a:p>
        </p:txBody>
      </p:sp>
      <p:sp>
        <p:nvSpPr>
          <p:cNvPr id="4" name="TextBox 3"/>
          <p:cNvSpPr txBox="1"/>
          <p:nvPr/>
        </p:nvSpPr>
        <p:spPr>
          <a:xfrm>
            <a:off x="731520" y="1737360"/>
            <a:ext cx="64008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Multi-agent collaboration</a:t>
            </a:r>
            <a:r>
              <a:rPr sz="1700">
                <a:solidFill>
                  <a:srgbClr val="C4A882"/>
                </a:solidFill>
                <a:latin typeface="Calibri"/>
              </a:rPr>
              <a:t> — Team Lead + Teammates + Shared Tasks + Mailbox</a:t>
            </a:r>
          </a:p>
          <a:p>
            <a:pPr>
              <a:spcBef>
                <a:spcPts val="200"/>
              </a:spcBef>
              <a:spcAft>
                <a:spcPts val="1000"/>
              </a:spcAft>
            </a:pPr>
            <a:r>
              <a:rPr sz="1700">
                <a:solidFill>
                  <a:srgbClr val="D4886B"/>
                </a:solidFill>
                <a:latin typeface="Calibri"/>
              </a:rPr>
              <a:t>  –  </a:t>
            </a:r>
            <a:r>
              <a:rPr sz="1700" b="1">
                <a:solidFill>
                  <a:srgbClr val="E8D5B7"/>
                </a:solidFill>
                <a:latin typeface="Calibri"/>
              </a:rPr>
              <a:t>7 coordination primitives</a:t>
            </a:r>
            <a:r>
              <a:rPr sz="1700">
                <a:solidFill>
                  <a:srgbClr val="C4A882"/>
                </a:solidFill>
                <a:latin typeface="Calibri"/>
              </a:rPr>
              <a:t> — create, message, broadcast, task, assign, shutdown, plan</a:t>
            </a:r>
          </a:p>
          <a:p>
            <a:pPr>
              <a:spcBef>
                <a:spcPts val="200"/>
              </a:spcBef>
              <a:spcAft>
                <a:spcPts val="1000"/>
              </a:spcAft>
            </a:pPr>
            <a:r>
              <a:rPr sz="1700">
                <a:solidFill>
                  <a:srgbClr val="D4886B"/>
                </a:solidFill>
                <a:latin typeface="Calibri"/>
              </a:rPr>
              <a:t>  –  </a:t>
            </a:r>
            <a:r>
              <a:rPr sz="1700" b="1">
                <a:solidFill>
                  <a:srgbClr val="E8D5B7"/>
                </a:solidFill>
                <a:latin typeface="Calibri"/>
              </a:rPr>
              <a:t>Peer-to-peer messaging</a:t>
            </a:r>
            <a:r>
              <a:rPr sz="1700">
                <a:solidFill>
                  <a:srgbClr val="C4A882"/>
                </a:solidFill>
                <a:latin typeface="Calibri"/>
              </a:rPr>
              <a:t> — agents communicate directly, not just through the lead</a:t>
            </a:r>
          </a:p>
          <a:p>
            <a:pPr>
              <a:spcBef>
                <a:spcPts val="200"/>
              </a:spcBef>
              <a:spcAft>
                <a:spcPts val="1000"/>
              </a:spcAft>
            </a:pPr>
            <a:r>
              <a:rPr sz="1700">
                <a:solidFill>
                  <a:srgbClr val="D4886B"/>
                </a:solidFill>
                <a:latin typeface="Calibri"/>
              </a:rPr>
              <a:t>  –  </a:t>
            </a:r>
            <a:r>
              <a:rPr sz="1700" b="1">
                <a:solidFill>
                  <a:srgbClr val="E8D5B7"/>
                </a:solidFill>
                <a:latin typeface="Calibri"/>
              </a:rPr>
              <a:t>Proven at scale</a:t>
            </a:r>
            <a:r>
              <a:rPr sz="1700">
                <a:solidFill>
                  <a:srgbClr val="C4A882"/>
                </a:solidFill>
                <a:latin typeface="Calibri"/>
              </a:rPr>
              <a:t> — 16 agents built a 100K-line C compiler ($20K API cost)</a:t>
            </a:r>
          </a:p>
          <a:p>
            <a:pPr>
              <a:spcBef>
                <a:spcPts val="200"/>
              </a:spcBef>
              <a:spcAft>
                <a:spcPts val="1000"/>
              </a:spcAft>
            </a:pPr>
            <a:r>
              <a:rPr sz="1700">
                <a:solidFill>
                  <a:srgbClr val="D4886B"/>
                </a:solidFill>
                <a:latin typeface="Calibri"/>
              </a:rPr>
              <a:t>  –  </a:t>
            </a:r>
            <a:r>
              <a:rPr sz="1700" b="1">
                <a:solidFill>
                  <a:srgbClr val="E8D5B7"/>
                </a:solidFill>
                <a:latin typeface="Calibri"/>
              </a:rPr>
              <a:t>Use cases</a:t>
            </a:r>
            <a:r>
              <a:rPr sz="1700">
                <a:solidFill>
                  <a:srgbClr val="C4A882"/>
                </a:solidFill>
                <a:latin typeface="Calibri"/>
              </a:rPr>
              <a:t> — parallel code review, competing hypotheses, cross-layer development</a:t>
            </a:r>
          </a:p>
          <a:p>
            <a:pPr>
              <a:spcBef>
                <a:spcPts val="200"/>
              </a:spcBef>
              <a:spcAft>
                <a:spcPts val="1000"/>
              </a:spcAft>
            </a:pPr>
            <a:r>
              <a:rPr sz="1700">
                <a:solidFill>
                  <a:srgbClr val="D4886B"/>
                </a:solidFill>
                <a:latin typeface="Calibri"/>
              </a:rPr>
              <a:t>  –  </a:t>
            </a:r>
            <a:r>
              <a:rPr sz="1700" b="1">
                <a:solidFill>
                  <a:srgbClr val="E8D5B7"/>
                </a:solidFill>
                <a:latin typeface="Calibri"/>
              </a:rPr>
              <a:t>Shared task list</a:t>
            </a:r>
            <a:r>
              <a:rPr sz="1700">
                <a:solidFill>
                  <a:srgbClr val="C4A882"/>
                </a:solidFill>
                <a:latin typeface="Calibri"/>
              </a:rPr>
              <a:t> — all agents read/write the same task queue for coordination</a:t>
            </a:r>
          </a:p>
        </p:txBody>
      </p:sp>
      <p:sp>
        <p:nvSpPr>
          <p:cNvPr id="5" name="Rounded Rectangle 4"/>
          <p:cNvSpPr/>
          <p:nvPr/>
        </p:nvSpPr>
        <p:spPr>
          <a:xfrm>
            <a:off x="7589520" y="1737360"/>
            <a:ext cx="4114800" cy="25603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818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019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0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0" y="1810512"/>
            <a:ext cx="2926080" cy="320040"/>
          </a:xfrm>
          <a:prstGeom prst="rect">
            <a:avLst/>
          </a:prstGeom>
          <a:noFill/>
        </p:spPr>
        <p:txBody>
          <a:bodyPr wrap="square">
            <a:spAutoFit/>
          </a:bodyPr>
          <a:lstStyle/>
          <a:p>
            <a:pPr algn="ctr">
              <a:spcAft>
                <a:spcPts val="0"/>
              </a:spcAft>
              <a:defRPr sz="1100" b="0" i="0">
                <a:solidFill>
                  <a:srgbClr val="7A6E5D"/>
                </a:solidFill>
                <a:latin typeface="Calibri"/>
              </a:defRPr>
            </a:pPr>
            <a:r>
              <a:t>Key Insight</a:t>
            </a:r>
          </a:p>
        </p:txBody>
      </p:sp>
      <p:sp>
        <p:nvSpPr>
          <p:cNvPr id="10" name="TextBox 9"/>
          <p:cNvSpPr txBox="1"/>
          <p:nvPr/>
        </p:nvSpPr>
        <p:spPr>
          <a:xfrm>
            <a:off x="7863840" y="2331720"/>
            <a:ext cx="3566160" cy="1828800"/>
          </a:xfrm>
          <a:prstGeom prst="rect">
            <a:avLst/>
          </a:prstGeom>
          <a:noFill/>
        </p:spPr>
        <p:txBody>
          <a:bodyPr wrap="square">
            <a:spAutoFit/>
          </a:bodyPr>
          <a:lstStyle/>
          <a:p>
            <a:pPr algn="l">
              <a:spcAft>
                <a:spcPts val="0"/>
              </a:spcAft>
              <a:defRPr sz="1500" b="0" i="0">
                <a:solidFill>
                  <a:srgbClr val="E8D5B7"/>
                </a:solidFill>
                <a:latin typeface="Calibri"/>
              </a:defRPr>
            </a:pPr>
            <a:r>
              <a:t>Agent Teams are Sub Agents with communication. They can message each other, share tasks, and collaborate on complex problems.</a:t>
            </a:r>
          </a:p>
        </p:txBody>
      </p:sp>
      <p:sp>
        <p:nvSpPr>
          <p:cNvPr id="11" name="TextBox 1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12 / 19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Greptile: AI Code Review</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Episode 12  |  Full Codebase Context with Graph-Based Analysis</a:t>
            </a:r>
          </a:p>
        </p:txBody>
      </p:sp>
      <p:sp>
        <p:nvSpPr>
          <p:cNvPr id="4" name="TextBox 3"/>
          <p:cNvSpPr txBox="1"/>
          <p:nvPr/>
        </p:nvSpPr>
        <p:spPr>
          <a:xfrm>
            <a:off x="731520" y="1737360"/>
            <a:ext cx="64008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AI code review</a:t>
            </a:r>
            <a:r>
              <a:rPr sz="1700">
                <a:solidFill>
                  <a:srgbClr val="C4A882"/>
                </a:solidFill>
                <a:latin typeface="Calibri"/>
              </a:rPr>
              <a:t> — with full codebase context using graph-based indexing</a:t>
            </a:r>
          </a:p>
          <a:p>
            <a:pPr>
              <a:spcBef>
                <a:spcPts val="200"/>
              </a:spcBef>
              <a:spcAft>
                <a:spcPts val="1000"/>
              </a:spcAft>
            </a:pPr>
            <a:r>
              <a:rPr sz="1700">
                <a:solidFill>
                  <a:srgbClr val="D4886B"/>
                </a:solidFill>
                <a:latin typeface="Calibri"/>
              </a:rPr>
              <a:t>  –  </a:t>
            </a:r>
            <a:r>
              <a:rPr sz="1700" b="1">
                <a:solidFill>
                  <a:srgbClr val="E8D5B7"/>
                </a:solidFill>
                <a:latin typeface="Calibri"/>
              </a:rPr>
              <a:t>v3 powered by Claude Opus 4.5</a:t>
            </a:r>
            <a:r>
              <a:rPr sz="1700">
                <a:solidFill>
                  <a:srgbClr val="C4A882"/>
                </a:solidFill>
                <a:latin typeface="Calibri"/>
              </a:rPr>
              <a:t> — 256% improvement over previous versions</a:t>
            </a:r>
          </a:p>
          <a:p>
            <a:pPr>
              <a:spcBef>
                <a:spcPts val="200"/>
              </a:spcBef>
              <a:spcAft>
                <a:spcPts val="1000"/>
              </a:spcAft>
            </a:pPr>
            <a:r>
              <a:rPr sz="1700">
                <a:solidFill>
                  <a:srgbClr val="D4886B"/>
                </a:solidFill>
                <a:latin typeface="Calibri"/>
              </a:rPr>
              <a:t>  –  </a:t>
            </a:r>
            <a:r>
              <a:rPr sz="1700" b="1">
                <a:solidFill>
                  <a:srgbClr val="E8D5B7"/>
                </a:solidFill>
                <a:latin typeface="Calibri"/>
              </a:rPr>
              <a:t>82% bug catch rate</a:t>
            </a:r>
            <a:r>
              <a:rPr sz="1700">
                <a:solidFill>
                  <a:srgbClr val="C4A882"/>
                </a:solidFill>
                <a:latin typeface="Calibri"/>
              </a:rPr>
              <a:t> — 100% detection on high-severity bugs</a:t>
            </a:r>
          </a:p>
          <a:p>
            <a:pPr>
              <a:spcBef>
                <a:spcPts val="200"/>
              </a:spcBef>
              <a:spcAft>
                <a:spcPts val="1000"/>
              </a:spcAft>
            </a:pPr>
            <a:r>
              <a:rPr sz="1700">
                <a:solidFill>
                  <a:srgbClr val="D4886B"/>
                </a:solidFill>
                <a:latin typeface="Calibri"/>
              </a:rPr>
              <a:t>  –  </a:t>
            </a:r>
            <a:r>
              <a:rPr sz="1700" b="1">
                <a:solidFill>
                  <a:srgbClr val="E8D5B7"/>
                </a:solidFill>
                <a:latin typeface="Calibri"/>
              </a:rPr>
              <a:t>Autonomous greploop</a:t>
            </a:r>
            <a:r>
              <a:rPr sz="1700">
                <a:solidFill>
                  <a:srgbClr val="C4A882"/>
                </a:solidFill>
                <a:latin typeface="Calibri"/>
              </a:rPr>
              <a:t> — review → fix → push → re-review until clean</a:t>
            </a:r>
          </a:p>
          <a:p>
            <a:pPr>
              <a:spcBef>
                <a:spcPts val="200"/>
              </a:spcBef>
              <a:spcAft>
                <a:spcPts val="1000"/>
              </a:spcAft>
            </a:pPr>
            <a:r>
              <a:rPr sz="1700">
                <a:solidFill>
                  <a:srgbClr val="D4886B"/>
                </a:solidFill>
                <a:latin typeface="Calibri"/>
              </a:rPr>
              <a:t>  –  </a:t>
            </a:r>
            <a:r>
              <a:rPr sz="1700" b="1">
                <a:solidFill>
                  <a:srgbClr val="E8D5B7"/>
                </a:solidFill>
                <a:latin typeface="Calibri"/>
              </a:rPr>
              <a:t>MCP integration</a:t>
            </a:r>
            <a:r>
              <a:rPr sz="1700">
                <a:solidFill>
                  <a:srgbClr val="C4A882"/>
                </a:solidFill>
                <a:latin typeface="Calibri"/>
              </a:rPr>
              <a:t> — use Greptile tools directly from Claude Code</a:t>
            </a:r>
          </a:p>
          <a:p>
            <a:pPr>
              <a:spcBef>
                <a:spcPts val="200"/>
              </a:spcBef>
              <a:spcAft>
                <a:spcPts val="1000"/>
              </a:spcAft>
            </a:pPr>
            <a:r>
              <a:rPr sz="1700">
                <a:solidFill>
                  <a:srgbClr val="D4886B"/>
                </a:solidFill>
                <a:latin typeface="Calibri"/>
              </a:rPr>
              <a:t>  –  </a:t>
            </a:r>
            <a:r>
              <a:rPr sz="1700" b="1">
                <a:solidFill>
                  <a:srgbClr val="E8D5B7"/>
                </a:solidFill>
                <a:latin typeface="Calibri"/>
              </a:rPr>
              <a:t>Custom context rules</a:t>
            </a:r>
            <a:r>
              <a:rPr sz="1700">
                <a:solidFill>
                  <a:srgbClr val="C4A882"/>
                </a:solidFill>
                <a:latin typeface="Calibri"/>
              </a:rPr>
              <a:t> — teach Greptile your team's patterns and standards</a:t>
            </a:r>
          </a:p>
        </p:txBody>
      </p:sp>
      <p:sp>
        <p:nvSpPr>
          <p:cNvPr id="5" name="Rounded Rectangle 4"/>
          <p:cNvSpPr/>
          <p:nvPr/>
        </p:nvSpPr>
        <p:spPr>
          <a:xfrm>
            <a:off x="7589520" y="1737360"/>
            <a:ext cx="4114800" cy="25603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818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019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0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0" y="1810512"/>
            <a:ext cx="2926080" cy="320040"/>
          </a:xfrm>
          <a:prstGeom prst="rect">
            <a:avLst/>
          </a:prstGeom>
          <a:noFill/>
        </p:spPr>
        <p:txBody>
          <a:bodyPr wrap="square">
            <a:spAutoFit/>
          </a:bodyPr>
          <a:lstStyle/>
          <a:p>
            <a:pPr algn="ctr">
              <a:spcAft>
                <a:spcPts val="0"/>
              </a:spcAft>
              <a:defRPr sz="1100" b="0" i="0">
                <a:solidFill>
                  <a:srgbClr val="7A6E5D"/>
                </a:solidFill>
                <a:latin typeface="Calibri"/>
              </a:defRPr>
            </a:pPr>
            <a:r>
              <a:t>Key Insight</a:t>
            </a:r>
          </a:p>
        </p:txBody>
      </p:sp>
      <p:sp>
        <p:nvSpPr>
          <p:cNvPr id="10" name="TextBox 9"/>
          <p:cNvSpPr txBox="1"/>
          <p:nvPr/>
        </p:nvSpPr>
        <p:spPr>
          <a:xfrm>
            <a:off x="7863840" y="2331720"/>
            <a:ext cx="3566160" cy="1828800"/>
          </a:xfrm>
          <a:prstGeom prst="rect">
            <a:avLst/>
          </a:prstGeom>
          <a:noFill/>
        </p:spPr>
        <p:txBody>
          <a:bodyPr wrap="square">
            <a:spAutoFit/>
          </a:bodyPr>
          <a:lstStyle/>
          <a:p>
            <a:pPr algn="l">
              <a:spcAft>
                <a:spcPts val="0"/>
              </a:spcAft>
              <a:defRPr sz="1500" b="0" i="0">
                <a:solidFill>
                  <a:srgbClr val="E8D5B7"/>
                </a:solidFill>
                <a:latin typeface="Calibri"/>
              </a:defRPr>
            </a:pPr>
            <a:r>
              <a:t>Greptile does not just lint individual files. It understands your entire codebase graph and catches architectural issues.</a:t>
            </a:r>
          </a:p>
        </p:txBody>
      </p:sp>
      <p:sp>
        <p:nvSpPr>
          <p:cNvPr id="11" name="TextBox 1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13 / 19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/team-review: Agent Team Code Review</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Episode 13  |  Three Parallel AI Reviewers, One Comprehensive Report</a:t>
            </a:r>
          </a:p>
        </p:txBody>
      </p:sp>
      <p:sp>
        <p:nvSpPr>
          <p:cNvPr id="4" name="TextBox 3"/>
          <p:cNvSpPr txBox="1"/>
          <p:nvPr/>
        </p:nvSpPr>
        <p:spPr>
          <a:xfrm>
            <a:off x="731520" y="1737360"/>
            <a:ext cx="64008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Three specialist reviewers</a:t>
            </a:r>
            <a:r>
              <a:rPr sz="1700">
                <a:solidFill>
                  <a:srgbClr val="C4A882"/>
                </a:solidFill>
                <a:latin typeface="Calibri"/>
              </a:rPr>
              <a:t> — security, performance, and test coverage in parallel</a:t>
            </a:r>
          </a:p>
          <a:p>
            <a:pPr>
              <a:spcBef>
                <a:spcPts val="200"/>
              </a:spcBef>
              <a:spcAft>
                <a:spcPts val="1000"/>
              </a:spcAft>
            </a:pPr>
            <a:r>
              <a:rPr sz="1700">
                <a:solidFill>
                  <a:srgbClr val="D4886B"/>
                </a:solidFill>
                <a:latin typeface="Calibri"/>
              </a:rPr>
              <a:t>  –  </a:t>
            </a:r>
            <a:r>
              <a:rPr sz="1700" b="1">
                <a:solidFill>
                  <a:srgbClr val="E8D5B7"/>
                </a:solidFill>
                <a:latin typeface="Calibri"/>
              </a:rPr>
              <a:t>Built on Agent Teams</a:t>
            </a:r>
            <a:r>
              <a:rPr sz="1700">
                <a:solidFill>
                  <a:srgbClr val="C4A882"/>
                </a:solidFill>
                <a:latin typeface="Calibri"/>
              </a:rPr>
              <a:t> — each reviewer is an independent Claude instance</a:t>
            </a:r>
          </a:p>
          <a:p>
            <a:pPr>
              <a:spcBef>
                <a:spcPts val="200"/>
              </a:spcBef>
              <a:spcAft>
                <a:spcPts val="1000"/>
              </a:spcAft>
            </a:pPr>
            <a:r>
              <a:rPr sz="1700">
                <a:solidFill>
                  <a:srgbClr val="D4886B"/>
                </a:solidFill>
                <a:latin typeface="Calibri"/>
              </a:rPr>
              <a:t>  –  </a:t>
            </a:r>
            <a:r>
              <a:rPr sz="1700" b="1">
                <a:solidFill>
                  <a:srgbClr val="E8D5B7"/>
                </a:solidFill>
                <a:latin typeface="Calibri"/>
              </a:rPr>
              <a:t>Zero configuration</a:t>
            </a:r>
            <a:r>
              <a:rPr sz="1700">
                <a:solidFill>
                  <a:srgbClr val="C4A882"/>
                </a:solidFill>
                <a:latin typeface="Calibri"/>
              </a:rPr>
              <a:t> — just type /team-review, auto-detects branch changes</a:t>
            </a:r>
          </a:p>
          <a:p>
            <a:pPr>
              <a:spcBef>
                <a:spcPts val="200"/>
              </a:spcBef>
              <a:spcAft>
                <a:spcPts val="1000"/>
              </a:spcAft>
            </a:pPr>
            <a:r>
              <a:rPr sz="1700">
                <a:solidFill>
                  <a:srgbClr val="D4886B"/>
                </a:solidFill>
                <a:latin typeface="Calibri"/>
              </a:rPr>
              <a:t>  –  </a:t>
            </a:r>
            <a:r>
              <a:rPr sz="1700" b="1">
                <a:solidFill>
                  <a:srgbClr val="E8D5B7"/>
                </a:solidFill>
                <a:latin typeface="Calibri"/>
              </a:rPr>
              <a:t>Synthesized report</a:t>
            </a:r>
            <a:r>
              <a:rPr sz="1700">
                <a:solidFill>
                  <a:srgbClr val="C4A882"/>
                </a:solidFill>
                <a:latin typeface="Calibri"/>
              </a:rPr>
              <a:t> — findings grouped by severity with remediation suggestions</a:t>
            </a:r>
          </a:p>
          <a:p>
            <a:pPr>
              <a:spcBef>
                <a:spcPts val="200"/>
              </a:spcBef>
              <a:spcAft>
                <a:spcPts val="1000"/>
              </a:spcAft>
            </a:pPr>
            <a:r>
              <a:rPr sz="1700">
                <a:solidFill>
                  <a:srgbClr val="D4886B"/>
                </a:solidFill>
                <a:latin typeface="Calibri"/>
              </a:rPr>
              <a:t>  –  </a:t>
            </a:r>
            <a:r>
              <a:rPr sz="1700" b="1">
                <a:solidFill>
                  <a:srgbClr val="E8D5B7"/>
                </a:solidFill>
                <a:latin typeface="Calibri"/>
              </a:rPr>
              <a:t>Part of startappdev/agents</a:t>
            </a:r>
            <a:r>
              <a:rPr sz="1700">
                <a:solidFill>
                  <a:srgbClr val="C4A882"/>
                </a:solidFill>
                <a:latin typeface="Calibri"/>
              </a:rPr>
              <a:t> — MIT licensed, pairs with /greptile-review-loop</a:t>
            </a:r>
          </a:p>
          <a:p>
            <a:pPr>
              <a:spcBef>
                <a:spcPts val="200"/>
              </a:spcBef>
              <a:spcAft>
                <a:spcPts val="1000"/>
              </a:spcAft>
            </a:pPr>
            <a:r>
              <a:rPr sz="1700">
                <a:solidFill>
                  <a:srgbClr val="D4886B"/>
                </a:solidFill>
                <a:latin typeface="Calibri"/>
              </a:rPr>
              <a:t>  –  </a:t>
            </a:r>
            <a:r>
              <a:rPr sz="1700" b="1">
                <a:solidFill>
                  <a:srgbClr val="E8D5B7"/>
                </a:solidFill>
                <a:latin typeface="Calibri"/>
              </a:rPr>
              <a:t>Multi-pass philosophy</a:t>
            </a:r>
            <a:r>
              <a:rPr sz="1700">
                <a:solidFill>
                  <a:srgbClr val="C4A882"/>
                </a:solidFill>
                <a:latin typeface="Calibri"/>
              </a:rPr>
              <a:t> — specialist depth beats single-pass breadth</a:t>
            </a:r>
          </a:p>
        </p:txBody>
      </p:sp>
      <p:sp>
        <p:nvSpPr>
          <p:cNvPr id="5" name="Rounded Rectangle 4"/>
          <p:cNvSpPr/>
          <p:nvPr/>
        </p:nvSpPr>
        <p:spPr>
          <a:xfrm>
            <a:off x="7589520" y="1737360"/>
            <a:ext cx="4114800" cy="25603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818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019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0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0" y="1810512"/>
            <a:ext cx="2926080" cy="320040"/>
          </a:xfrm>
          <a:prstGeom prst="rect">
            <a:avLst/>
          </a:prstGeom>
          <a:noFill/>
        </p:spPr>
        <p:txBody>
          <a:bodyPr wrap="square">
            <a:spAutoFit/>
          </a:bodyPr>
          <a:lstStyle/>
          <a:p>
            <a:pPr algn="ctr">
              <a:spcAft>
                <a:spcPts val="0"/>
              </a:spcAft>
              <a:defRPr sz="1100" b="0" i="0">
                <a:solidFill>
                  <a:srgbClr val="7A6E5D"/>
                </a:solidFill>
                <a:latin typeface="Calibri"/>
              </a:defRPr>
            </a:pPr>
            <a:r>
              <a:t>Key Insight</a:t>
            </a:r>
          </a:p>
        </p:txBody>
      </p:sp>
      <p:sp>
        <p:nvSpPr>
          <p:cNvPr id="10" name="TextBox 9"/>
          <p:cNvSpPr txBox="1"/>
          <p:nvPr/>
        </p:nvSpPr>
        <p:spPr>
          <a:xfrm>
            <a:off x="7863840" y="2331720"/>
            <a:ext cx="3566160" cy="1828800"/>
          </a:xfrm>
          <a:prstGeom prst="rect">
            <a:avLst/>
          </a:prstGeom>
          <a:noFill/>
        </p:spPr>
        <p:txBody>
          <a:bodyPr wrap="square">
            <a:spAutoFit/>
          </a:bodyPr>
          <a:lstStyle/>
          <a:p>
            <a:pPr algn="l">
              <a:spcAft>
                <a:spcPts val="0"/>
              </a:spcAft>
              <a:defRPr sz="1500" b="0" i="0">
                <a:solidFill>
                  <a:srgbClr val="E8D5B7"/>
                </a:solidFill>
                <a:latin typeface="Calibri"/>
              </a:defRPr>
            </a:pPr>
            <a:r>
              <a:t>/team-review deploys three focused reviewers simultaneously. Each has its own context window, preventing cross-contamination between dimensions.</a:t>
            </a:r>
          </a:p>
        </p:txBody>
      </p:sp>
      <p:sp>
        <p:nvSpPr>
          <p:cNvPr id="11" name="TextBox 1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14 / 19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/greptile-review-loop</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Episode 14  |  Autonomous Review-Fix-Merge for Every Pull Request</a:t>
            </a:r>
          </a:p>
        </p:txBody>
      </p:sp>
      <p:sp>
        <p:nvSpPr>
          <p:cNvPr id="4" name="TextBox 3"/>
          <p:cNvSpPr txBox="1"/>
          <p:nvPr/>
        </p:nvSpPr>
        <p:spPr>
          <a:xfrm>
            <a:off x="731520" y="1737360"/>
            <a:ext cx="64008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Fully autonomous closed loop</a:t>
            </a:r>
            <a:r>
              <a:rPr sz="1700">
                <a:solidFill>
                  <a:srgbClr val="C4A882"/>
                </a:solidFill>
                <a:latin typeface="Calibri"/>
              </a:rPr>
              <a:t> — review → fix → push → re-review → merge</a:t>
            </a:r>
          </a:p>
          <a:p>
            <a:pPr>
              <a:spcBef>
                <a:spcPts val="200"/>
              </a:spcBef>
              <a:spcAft>
                <a:spcPts val="1000"/>
              </a:spcAft>
            </a:pPr>
            <a:r>
              <a:rPr sz="1700">
                <a:solidFill>
                  <a:srgbClr val="D4886B"/>
                </a:solidFill>
                <a:latin typeface="Calibri"/>
              </a:rPr>
              <a:t>  –  </a:t>
            </a:r>
            <a:r>
              <a:rPr sz="1700" b="1">
                <a:solidFill>
                  <a:srgbClr val="E8D5B7"/>
                </a:solidFill>
                <a:latin typeface="Calibri"/>
              </a:rPr>
              <a:t>Parallel code-fixer agents</a:t>
            </a:r>
            <a:r>
              <a:rPr sz="1700">
                <a:solidFill>
                  <a:srgbClr val="C4A882"/>
                </a:solidFill>
                <a:latin typeface="Calibri"/>
              </a:rPr>
              <a:t> — one per affected file, running simultaneously</a:t>
            </a:r>
          </a:p>
          <a:p>
            <a:pPr>
              <a:spcBef>
                <a:spcPts val="200"/>
              </a:spcBef>
              <a:spcAft>
                <a:spcPts val="1000"/>
              </a:spcAft>
            </a:pPr>
            <a:r>
              <a:rPr sz="1700">
                <a:solidFill>
                  <a:srgbClr val="D4886B"/>
                </a:solidFill>
                <a:latin typeface="Calibri"/>
              </a:rPr>
              <a:t>  –  </a:t>
            </a:r>
            <a:r>
              <a:rPr sz="1700" b="1">
                <a:solidFill>
                  <a:srgbClr val="E8D5B7"/>
                </a:solidFill>
                <a:latin typeface="Calibri"/>
              </a:rPr>
              <a:t>Five hard stop conditions</a:t>
            </a:r>
            <a:r>
              <a:rPr sz="1700">
                <a:solidFill>
                  <a:srgbClr val="C4A882"/>
                </a:solidFill>
                <a:latin typeface="Calibri"/>
              </a:rPr>
              <a:t> — score thresholds, iteration caps, build validation</a:t>
            </a:r>
          </a:p>
          <a:p>
            <a:pPr>
              <a:spcBef>
                <a:spcPts val="200"/>
              </a:spcBef>
              <a:spcAft>
                <a:spcPts val="1000"/>
              </a:spcAft>
            </a:pPr>
            <a:r>
              <a:rPr sz="1700">
                <a:solidFill>
                  <a:srgbClr val="D4886B"/>
                </a:solidFill>
                <a:latin typeface="Calibri"/>
              </a:rPr>
              <a:t>  –  </a:t>
            </a:r>
            <a:r>
              <a:rPr sz="1700" b="1">
                <a:solidFill>
                  <a:srgbClr val="E8D5B7"/>
                </a:solidFill>
                <a:latin typeface="Calibri"/>
              </a:rPr>
              <a:t>HANDLED_IDS tracking</a:t>
            </a:r>
            <a:r>
              <a:rPr sz="1700">
                <a:solidFill>
                  <a:srgbClr val="C4A882"/>
                </a:solidFill>
                <a:latin typeface="Calibri"/>
              </a:rPr>
              <a:t> — prevents re-fixing previously addressed comments</a:t>
            </a:r>
          </a:p>
          <a:p>
            <a:pPr>
              <a:spcBef>
                <a:spcPts val="200"/>
              </a:spcBef>
              <a:spcAft>
                <a:spcPts val="1000"/>
              </a:spcAft>
            </a:pPr>
            <a:r>
              <a:rPr sz="1700">
                <a:solidFill>
                  <a:srgbClr val="D4886B"/>
                </a:solidFill>
                <a:latin typeface="Calibri"/>
              </a:rPr>
              <a:t>  –  </a:t>
            </a:r>
            <a:r>
              <a:rPr sz="1700" b="1">
                <a:solidFill>
                  <a:srgbClr val="E8D5B7"/>
                </a:solidFill>
                <a:latin typeface="Calibri"/>
              </a:rPr>
              <a:t>Auto-merge at score ≥ 4/5</a:t>
            </a:r>
            <a:r>
              <a:rPr sz="1700">
                <a:solidFill>
                  <a:srgbClr val="C4A882"/>
                </a:solidFill>
                <a:latin typeface="Calibri"/>
              </a:rPr>
              <a:t> — with squash-merge and branch cleanup</a:t>
            </a:r>
          </a:p>
          <a:p>
            <a:pPr>
              <a:spcBef>
                <a:spcPts val="200"/>
              </a:spcBef>
              <a:spcAft>
                <a:spcPts val="1000"/>
              </a:spcAft>
            </a:pPr>
            <a:r>
              <a:rPr sz="1700">
                <a:solidFill>
                  <a:srgbClr val="D4886B"/>
                </a:solidFill>
                <a:latin typeface="Calibri"/>
              </a:rPr>
              <a:t>  –  </a:t>
            </a:r>
            <a:r>
              <a:rPr sz="1700" b="1">
                <a:solidFill>
                  <a:srgbClr val="E8D5B7"/>
                </a:solidFill>
                <a:latin typeface="Calibri"/>
              </a:rPr>
              <a:t>Safety by design</a:t>
            </a:r>
            <a:r>
              <a:rPr sz="1700">
                <a:solidFill>
                  <a:srgbClr val="C4A882"/>
                </a:solidFill>
                <a:latin typeface="Calibri"/>
              </a:rPr>
              <a:t> — never merges below 3/5, never loops beyond 5 iterations</a:t>
            </a:r>
          </a:p>
        </p:txBody>
      </p:sp>
      <p:sp>
        <p:nvSpPr>
          <p:cNvPr id="5" name="Rounded Rectangle 4"/>
          <p:cNvSpPr/>
          <p:nvPr/>
        </p:nvSpPr>
        <p:spPr>
          <a:xfrm>
            <a:off x="7589520" y="1737360"/>
            <a:ext cx="4114800" cy="25603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818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019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0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0" y="1810512"/>
            <a:ext cx="2926080" cy="320040"/>
          </a:xfrm>
          <a:prstGeom prst="rect">
            <a:avLst/>
          </a:prstGeom>
          <a:noFill/>
        </p:spPr>
        <p:txBody>
          <a:bodyPr wrap="square">
            <a:spAutoFit/>
          </a:bodyPr>
          <a:lstStyle/>
          <a:p>
            <a:pPr algn="ctr">
              <a:spcAft>
                <a:spcPts val="0"/>
              </a:spcAft>
              <a:defRPr sz="1100" b="0" i="0">
                <a:solidFill>
                  <a:srgbClr val="7A6E5D"/>
                </a:solidFill>
                <a:latin typeface="Calibri"/>
              </a:defRPr>
            </a:pPr>
            <a:r>
              <a:t>Key Insight</a:t>
            </a:r>
          </a:p>
        </p:txBody>
      </p:sp>
      <p:sp>
        <p:nvSpPr>
          <p:cNvPr id="10" name="TextBox 9"/>
          <p:cNvSpPr txBox="1"/>
          <p:nvPr/>
        </p:nvSpPr>
        <p:spPr>
          <a:xfrm>
            <a:off x="7863840" y="2331720"/>
            <a:ext cx="3566160" cy="1828800"/>
          </a:xfrm>
          <a:prstGeom prst="rect">
            <a:avLst/>
          </a:prstGeom>
          <a:noFill/>
        </p:spPr>
        <p:txBody>
          <a:bodyPr wrap="square">
            <a:spAutoFit/>
          </a:bodyPr>
          <a:lstStyle/>
          <a:p>
            <a:pPr algn="l">
              <a:spcAft>
                <a:spcPts val="0"/>
              </a:spcAft>
              <a:defRPr sz="1500" b="0" i="0">
                <a:solidFill>
                  <a:srgbClr val="E8D5B7"/>
                </a:solidFill>
                <a:latin typeface="Calibri"/>
              </a:defRPr>
            </a:pPr>
            <a:r>
              <a:t>One command, zero human intervention. PR is created, reviewed, fixed, and merged automatically until quality thresholds are met.</a:t>
            </a:r>
          </a:p>
        </p:txBody>
      </p:sp>
      <p:sp>
        <p:nvSpPr>
          <p:cNvPr id="11" name="TextBox 1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15 / 19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Claude Worktrees</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Episode 15  |  Parallel Isolated Development Sessions via Git Worktrees</a:t>
            </a:r>
          </a:p>
        </p:txBody>
      </p:sp>
      <p:sp>
        <p:nvSpPr>
          <p:cNvPr id="4" name="TextBox 3"/>
          <p:cNvSpPr txBox="1"/>
          <p:nvPr/>
        </p:nvSpPr>
        <p:spPr>
          <a:xfrm>
            <a:off x="731520" y="1737360"/>
            <a:ext cx="64008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One-command isolation</a:t>
            </a:r>
            <a:r>
              <a:rPr sz="1700">
                <a:solidFill>
                  <a:srgbClr val="C4A882"/>
                </a:solidFill>
                <a:latin typeface="Calibri"/>
              </a:rPr>
              <a:t> — claude --worktree feature-name creates isolated workspace</a:t>
            </a:r>
          </a:p>
          <a:p>
            <a:pPr>
              <a:spcBef>
                <a:spcPts val="200"/>
              </a:spcBef>
              <a:spcAft>
                <a:spcPts val="1000"/>
              </a:spcAft>
            </a:pPr>
            <a:r>
              <a:rPr sz="1700">
                <a:solidFill>
                  <a:srgbClr val="D4886B"/>
                </a:solidFill>
                <a:latin typeface="Calibri"/>
              </a:rPr>
              <a:t>  –  </a:t>
            </a:r>
            <a:r>
              <a:rPr sz="1700" b="1">
                <a:solidFill>
                  <a:srgbClr val="E8D5B7"/>
                </a:solidFill>
                <a:latin typeface="Calibri"/>
              </a:rPr>
              <a:t>Built on git worktree</a:t>
            </a:r>
            <a:r>
              <a:rPr sz="1700">
                <a:solidFill>
                  <a:srgbClr val="C4A882"/>
                </a:solidFill>
                <a:latin typeface="Calibri"/>
              </a:rPr>
              <a:t> — shared .git history, separate files and branches</a:t>
            </a:r>
          </a:p>
          <a:p>
            <a:pPr>
              <a:spcBef>
                <a:spcPts val="200"/>
              </a:spcBef>
              <a:spcAft>
                <a:spcPts val="1000"/>
              </a:spcAft>
            </a:pPr>
            <a:r>
              <a:rPr sz="1700">
                <a:solidFill>
                  <a:srgbClr val="D4886B"/>
                </a:solidFill>
                <a:latin typeface="Calibri"/>
              </a:rPr>
              <a:t>  –  </a:t>
            </a:r>
            <a:r>
              <a:rPr sz="1700" b="1">
                <a:solidFill>
                  <a:srgbClr val="E8D5B7"/>
                </a:solidFill>
                <a:latin typeface="Calibri"/>
              </a:rPr>
              <a:t>Auto-cleanup</a:t>
            </a:r>
            <a:r>
              <a:rPr sz="1700">
                <a:solidFill>
                  <a:srgbClr val="C4A882"/>
                </a:solidFill>
                <a:latin typeface="Calibri"/>
              </a:rPr>
              <a:t> — worktree and branch removed if no changes on exit</a:t>
            </a:r>
          </a:p>
          <a:p>
            <a:pPr>
              <a:spcBef>
                <a:spcPts val="200"/>
              </a:spcBef>
              <a:spcAft>
                <a:spcPts val="1000"/>
              </a:spcAft>
            </a:pPr>
            <a:r>
              <a:rPr sz="1700">
                <a:solidFill>
                  <a:srgbClr val="D4886B"/>
                </a:solidFill>
                <a:latin typeface="Calibri"/>
              </a:rPr>
              <a:t>  –  </a:t>
            </a:r>
            <a:r>
              <a:rPr sz="1700" b="1">
                <a:solidFill>
                  <a:srgbClr val="E8D5B7"/>
                </a:solidFill>
                <a:latin typeface="Calibri"/>
              </a:rPr>
              <a:t>Subagent integration</a:t>
            </a:r>
            <a:r>
              <a:rPr sz="1700">
                <a:solidFill>
                  <a:srgbClr val="C4A882"/>
                </a:solidFill>
                <a:latin typeface="Calibri"/>
              </a:rPr>
              <a:t> — set isolation: worktree in agent frontmatter</a:t>
            </a:r>
          </a:p>
          <a:p>
            <a:pPr>
              <a:spcBef>
                <a:spcPts val="200"/>
              </a:spcBef>
              <a:spcAft>
                <a:spcPts val="1000"/>
              </a:spcAft>
            </a:pPr>
            <a:r>
              <a:rPr sz="1700">
                <a:solidFill>
                  <a:srgbClr val="D4886B"/>
                </a:solidFill>
                <a:latin typeface="Calibri"/>
              </a:rPr>
              <a:t>  –  </a:t>
            </a:r>
            <a:r>
              <a:rPr sz="1700" b="1">
                <a:solidFill>
                  <a:srgbClr val="E8D5B7"/>
                </a:solidFill>
                <a:latin typeface="Calibri"/>
              </a:rPr>
              <a:t>Foundation for parallelism</a:t>
            </a:r>
            <a:r>
              <a:rPr sz="1700">
                <a:solidFill>
                  <a:srgbClr val="C4A882"/>
                </a:solidFill>
                <a:latin typeface="Calibri"/>
              </a:rPr>
              <a:t> — enables safe file editing across sub-agents and teams</a:t>
            </a:r>
          </a:p>
          <a:p>
            <a:pPr>
              <a:spcBef>
                <a:spcPts val="200"/>
              </a:spcBef>
              <a:spcAft>
                <a:spcPts val="1000"/>
              </a:spcAft>
            </a:pPr>
            <a:r>
              <a:rPr sz="1700">
                <a:solidFill>
                  <a:srgbClr val="D4886B"/>
                </a:solidFill>
                <a:latin typeface="Calibri"/>
              </a:rPr>
              <a:t>  –  </a:t>
            </a:r>
            <a:r>
              <a:rPr sz="1700" b="1">
                <a:solidFill>
                  <a:srgbClr val="E8D5B7"/>
                </a:solidFill>
                <a:latin typeface="Calibri"/>
              </a:rPr>
              <a:t>Cross-platform</a:t>
            </a:r>
            <a:r>
              <a:rPr sz="1700">
                <a:solidFill>
                  <a:srgbClr val="C4A882"/>
                </a:solidFill>
                <a:latin typeface="Calibri"/>
              </a:rPr>
              <a:t> — CLI, Desktop, VS Code, JetBrains, web, and mobile</a:t>
            </a:r>
          </a:p>
        </p:txBody>
      </p:sp>
      <p:sp>
        <p:nvSpPr>
          <p:cNvPr id="5" name="Rounded Rectangle 4"/>
          <p:cNvSpPr/>
          <p:nvPr/>
        </p:nvSpPr>
        <p:spPr>
          <a:xfrm>
            <a:off x="7589520" y="1737360"/>
            <a:ext cx="4114800" cy="25603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818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019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0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0" y="1810512"/>
            <a:ext cx="2926080" cy="320040"/>
          </a:xfrm>
          <a:prstGeom prst="rect">
            <a:avLst/>
          </a:prstGeom>
          <a:noFill/>
        </p:spPr>
        <p:txBody>
          <a:bodyPr wrap="square">
            <a:spAutoFit/>
          </a:bodyPr>
          <a:lstStyle/>
          <a:p>
            <a:pPr algn="ctr">
              <a:spcAft>
                <a:spcPts val="0"/>
              </a:spcAft>
              <a:defRPr sz="1100" b="0" i="0">
                <a:solidFill>
                  <a:srgbClr val="7A6E5D"/>
                </a:solidFill>
                <a:latin typeface="Calibri"/>
              </a:defRPr>
            </a:pPr>
            <a:r>
              <a:t>Key Insight</a:t>
            </a:r>
          </a:p>
        </p:txBody>
      </p:sp>
      <p:sp>
        <p:nvSpPr>
          <p:cNvPr id="10" name="TextBox 9"/>
          <p:cNvSpPr txBox="1"/>
          <p:nvPr/>
        </p:nvSpPr>
        <p:spPr>
          <a:xfrm>
            <a:off x="7863840" y="2331720"/>
            <a:ext cx="3566160" cy="1828800"/>
          </a:xfrm>
          <a:prstGeom prst="rect">
            <a:avLst/>
          </a:prstGeom>
          <a:noFill/>
        </p:spPr>
        <p:txBody>
          <a:bodyPr wrap="square">
            <a:spAutoFit/>
          </a:bodyPr>
          <a:lstStyle/>
          <a:p>
            <a:pPr algn="l">
              <a:spcAft>
                <a:spcPts val="0"/>
              </a:spcAft>
              <a:defRPr sz="1500" b="0" i="0">
                <a:solidFill>
                  <a:srgbClr val="E8D5B7"/>
                </a:solidFill>
                <a:latin typeface="Calibri"/>
              </a:defRPr>
            </a:pPr>
            <a:r>
              <a:t>Worktrees are the file-isolation layer that makes all other parallelism safe. Both sub-agents and agent teams use worktrees under the hood.</a:t>
            </a:r>
          </a:p>
        </p:txBody>
      </p:sp>
      <p:sp>
        <p:nvSpPr>
          <p:cNvPr id="11" name="TextBox 1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16 / 19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Portless: Named URLs for Local Dev</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Episode 16  |  Stable .localhost URLs for Humans and AI Agents</a:t>
            </a:r>
          </a:p>
        </p:txBody>
      </p:sp>
      <p:sp>
        <p:nvSpPr>
          <p:cNvPr id="4" name="TextBox 3"/>
          <p:cNvSpPr txBox="1"/>
          <p:nvPr/>
        </p:nvSpPr>
        <p:spPr>
          <a:xfrm>
            <a:off x="731520" y="1737360"/>
            <a:ext cx="64008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Named .localhost URLs</a:t>
            </a:r>
            <a:r>
              <a:rPr sz="1700">
                <a:solidFill>
                  <a:srgbClr val="C4A882"/>
                </a:solidFill>
                <a:latin typeface="Calibri"/>
              </a:rPr>
              <a:t> — myapp.localhost:1355 instead of localhost:3000</a:t>
            </a:r>
          </a:p>
          <a:p>
            <a:pPr>
              <a:spcBef>
                <a:spcPts val="200"/>
              </a:spcBef>
              <a:spcAft>
                <a:spcPts val="1000"/>
              </a:spcAft>
            </a:pPr>
            <a:r>
              <a:rPr sz="1700">
                <a:solidFill>
                  <a:srgbClr val="D4886B"/>
                </a:solidFill>
                <a:latin typeface="Calibri"/>
              </a:rPr>
              <a:t>  –  </a:t>
            </a:r>
            <a:r>
              <a:rPr sz="1700" b="1">
                <a:solidFill>
                  <a:srgbClr val="E8D5B7"/>
                </a:solidFill>
                <a:latin typeface="Calibri"/>
              </a:rPr>
              <a:t>Proxy-based routing</a:t>
            </a:r>
            <a:r>
              <a:rPr sz="1700">
                <a:solidFill>
                  <a:srgbClr val="C4A882"/>
                </a:solidFill>
                <a:latin typeface="Calibri"/>
              </a:rPr>
              <a:t> — single entry point on port 1355, random backend ports</a:t>
            </a:r>
          </a:p>
          <a:p>
            <a:pPr>
              <a:spcBef>
                <a:spcPts val="200"/>
              </a:spcBef>
              <a:spcAft>
                <a:spcPts val="1000"/>
              </a:spcAft>
            </a:pPr>
            <a:r>
              <a:rPr sz="1700">
                <a:solidFill>
                  <a:srgbClr val="D4886B"/>
                </a:solidFill>
                <a:latin typeface="Calibri"/>
              </a:rPr>
              <a:t>  –  </a:t>
            </a:r>
            <a:r>
              <a:rPr sz="1700" b="1">
                <a:solidFill>
                  <a:srgbClr val="E8D5B7"/>
                </a:solidFill>
                <a:latin typeface="Calibri"/>
              </a:rPr>
              <a:t>11 frameworks tested</a:t>
            </a:r>
            <a:r>
              <a:rPr sz="1700">
                <a:solidFill>
                  <a:srgbClr val="C4A882"/>
                </a:solidFill>
                <a:latin typeface="Calibri"/>
              </a:rPr>
              <a:t> — Next.js, Vite, Nuxt, Astro, Angular, and more</a:t>
            </a:r>
          </a:p>
          <a:p>
            <a:pPr>
              <a:spcBef>
                <a:spcPts val="200"/>
              </a:spcBef>
              <a:spcAft>
                <a:spcPts val="1000"/>
              </a:spcAft>
            </a:pPr>
            <a:r>
              <a:rPr sz="1700">
                <a:solidFill>
                  <a:srgbClr val="D4886B"/>
                </a:solidFill>
                <a:latin typeface="Calibri"/>
              </a:rPr>
              <a:t>  –  </a:t>
            </a:r>
            <a:r>
              <a:rPr sz="1700" b="1">
                <a:solidFill>
                  <a:srgbClr val="E8D5B7"/>
                </a:solidFill>
                <a:latin typeface="Calibri"/>
              </a:rPr>
              <a:t>HTTPS / HTTP2</a:t>
            </a:r>
            <a:r>
              <a:rPr sz="1700">
                <a:solidFill>
                  <a:srgbClr val="C4A882"/>
                </a:solidFill>
                <a:latin typeface="Calibri"/>
              </a:rPr>
              <a:t> — auto-generated TLS certificates with local CA</a:t>
            </a:r>
          </a:p>
          <a:p>
            <a:pPr>
              <a:spcBef>
                <a:spcPts val="200"/>
              </a:spcBef>
              <a:spcAft>
                <a:spcPts val="1000"/>
              </a:spcAft>
            </a:pPr>
            <a:r>
              <a:rPr sz="1700">
                <a:solidFill>
                  <a:srgbClr val="D4886B"/>
                </a:solidFill>
                <a:latin typeface="Calibri"/>
              </a:rPr>
              <a:t>  –  </a:t>
            </a:r>
            <a:r>
              <a:rPr sz="1700" b="1">
                <a:solidFill>
                  <a:srgbClr val="E8D5B7"/>
                </a:solidFill>
                <a:latin typeface="Calibri"/>
              </a:rPr>
              <a:t>AI agent ready</a:t>
            </a:r>
            <a:r>
              <a:rPr sz="1700">
                <a:solidFill>
                  <a:srgbClr val="C4A882"/>
                </a:solidFill>
                <a:latin typeface="Calibri"/>
              </a:rPr>
              <a:t> — stable semantic endpoints agents can reliably target</a:t>
            </a:r>
          </a:p>
          <a:p>
            <a:pPr>
              <a:spcBef>
                <a:spcPts val="200"/>
              </a:spcBef>
              <a:spcAft>
                <a:spcPts val="1000"/>
              </a:spcAft>
            </a:pPr>
            <a:r>
              <a:rPr sz="1700">
                <a:solidFill>
                  <a:srgbClr val="D4886B"/>
                </a:solidFill>
                <a:latin typeface="Calibri"/>
              </a:rPr>
              <a:t>  –  </a:t>
            </a:r>
            <a:r>
              <a:rPr sz="1700" b="1">
                <a:solidFill>
                  <a:srgbClr val="E8D5B7"/>
                </a:solidFill>
                <a:latin typeface="Calibri"/>
              </a:rPr>
              <a:t>2,400+ stars in 10 days</a:t>
            </a:r>
            <a:r>
              <a:rPr sz="1700">
                <a:solidFill>
                  <a:srgbClr val="C4A882"/>
                </a:solidFill>
                <a:latin typeface="Calibri"/>
              </a:rPr>
              <a:t> — from Vercel Labs, Apache-2.0 licensed</a:t>
            </a:r>
          </a:p>
        </p:txBody>
      </p:sp>
      <p:sp>
        <p:nvSpPr>
          <p:cNvPr id="5" name="Rounded Rectangle 4"/>
          <p:cNvSpPr/>
          <p:nvPr/>
        </p:nvSpPr>
        <p:spPr>
          <a:xfrm>
            <a:off x="7589520" y="1737360"/>
            <a:ext cx="4114800" cy="25603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818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019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0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0" y="1810512"/>
            <a:ext cx="2926080" cy="320040"/>
          </a:xfrm>
          <a:prstGeom prst="rect">
            <a:avLst/>
          </a:prstGeom>
          <a:noFill/>
        </p:spPr>
        <p:txBody>
          <a:bodyPr wrap="square">
            <a:spAutoFit/>
          </a:bodyPr>
          <a:lstStyle/>
          <a:p>
            <a:pPr algn="ctr">
              <a:spcAft>
                <a:spcPts val="0"/>
              </a:spcAft>
              <a:defRPr sz="1100" b="0" i="0">
                <a:solidFill>
                  <a:srgbClr val="7A6E5D"/>
                </a:solidFill>
                <a:latin typeface="Calibri"/>
              </a:defRPr>
            </a:pPr>
            <a:r>
              <a:t>Key Insight</a:t>
            </a:r>
          </a:p>
        </p:txBody>
      </p:sp>
      <p:sp>
        <p:nvSpPr>
          <p:cNvPr id="10" name="TextBox 9"/>
          <p:cNvSpPr txBox="1"/>
          <p:nvPr/>
        </p:nvSpPr>
        <p:spPr>
          <a:xfrm>
            <a:off x="7863840" y="2331720"/>
            <a:ext cx="3566160" cy="1828800"/>
          </a:xfrm>
          <a:prstGeom prst="rect">
            <a:avLst/>
          </a:prstGeom>
          <a:noFill/>
        </p:spPr>
        <p:txBody>
          <a:bodyPr wrap="square">
            <a:spAutoFit/>
          </a:bodyPr>
          <a:lstStyle/>
          <a:p>
            <a:pPr algn="l">
              <a:spcAft>
                <a:spcPts val="0"/>
              </a:spcAft>
              <a:defRPr sz="1500" b="0" i="0">
                <a:solidFill>
                  <a:srgbClr val="E8D5B7"/>
                </a:solidFill>
                <a:latin typeface="Calibri"/>
              </a:defRPr>
            </a:pPr>
            <a:r>
              <a:t>As AI coding agents become standard, they need stable semantic URLs for local services. Portless gives them -- and humans -- exactly that.</a:t>
            </a:r>
          </a:p>
        </p:txBody>
      </p:sp>
      <p:sp>
        <p:nvSpPr>
          <p:cNvPr id="11" name="TextBox 1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17 / 19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Handy: Offline Speech-to-Text</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Episode 17  |  Free, Private, Local Transcription for Developers</a:t>
            </a:r>
          </a:p>
        </p:txBody>
      </p:sp>
      <p:sp>
        <p:nvSpPr>
          <p:cNvPr id="4" name="TextBox 3"/>
          <p:cNvSpPr txBox="1"/>
          <p:nvPr/>
        </p:nvSpPr>
        <p:spPr>
          <a:xfrm>
            <a:off x="731520" y="1737360"/>
            <a:ext cx="64008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100% offline speech-to-text</a:t>
            </a:r>
            <a:r>
              <a:rPr sz="1700">
                <a:solidFill>
                  <a:srgbClr val="C4A882"/>
                </a:solidFill>
                <a:latin typeface="Calibri"/>
              </a:rPr>
              <a:t> — no audio ever leaves your machine</a:t>
            </a:r>
          </a:p>
          <a:p>
            <a:pPr>
              <a:spcBef>
                <a:spcPts val="200"/>
              </a:spcBef>
              <a:spcAft>
                <a:spcPts val="1000"/>
              </a:spcAft>
            </a:pPr>
            <a:r>
              <a:rPr sz="1700">
                <a:solidFill>
                  <a:srgbClr val="D4886B"/>
                </a:solidFill>
                <a:latin typeface="Calibri"/>
              </a:rPr>
              <a:t>  –  </a:t>
            </a:r>
            <a:r>
              <a:rPr sz="1700" b="1">
                <a:solidFill>
                  <a:srgbClr val="E8D5B7"/>
                </a:solidFill>
                <a:latin typeface="Calibri"/>
              </a:rPr>
              <a:t>Multiple models</a:t>
            </a:r>
            <a:r>
              <a:rPr sz="1700">
                <a:solidFill>
                  <a:srgbClr val="C4A882"/>
                </a:solidFill>
                <a:latin typeface="Calibri"/>
              </a:rPr>
              <a:t> — Whisper (GPU) and Parakeet V3 (CPU, ~5x real-time)</a:t>
            </a:r>
          </a:p>
          <a:p>
            <a:pPr>
              <a:spcBef>
                <a:spcPts val="200"/>
              </a:spcBef>
              <a:spcAft>
                <a:spcPts val="1000"/>
              </a:spcAft>
            </a:pPr>
            <a:r>
              <a:rPr sz="1700">
                <a:solidFill>
                  <a:srgbClr val="D4886B"/>
                </a:solidFill>
                <a:latin typeface="Calibri"/>
              </a:rPr>
              <a:t>  –  </a:t>
            </a:r>
            <a:r>
              <a:rPr sz="1700" b="1">
                <a:solidFill>
                  <a:srgbClr val="E8D5B7"/>
                </a:solidFill>
                <a:latin typeface="Calibri"/>
              </a:rPr>
              <a:t>Voice-to-AI workflow</a:t>
            </a:r>
            <a:r>
              <a:rPr sz="1700">
                <a:solidFill>
                  <a:srgbClr val="C4A882"/>
                </a:solidFill>
                <a:latin typeface="Calibri"/>
              </a:rPr>
              <a:t> — speak prompts to Claude Code across terminals</a:t>
            </a:r>
          </a:p>
          <a:p>
            <a:pPr>
              <a:spcBef>
                <a:spcPts val="200"/>
              </a:spcBef>
              <a:spcAft>
                <a:spcPts val="1000"/>
              </a:spcAft>
            </a:pPr>
            <a:r>
              <a:rPr sz="1700">
                <a:solidFill>
                  <a:srgbClr val="D4886B"/>
                </a:solidFill>
                <a:latin typeface="Calibri"/>
              </a:rPr>
              <a:t>  –  </a:t>
            </a:r>
            <a:r>
              <a:rPr sz="1700" b="1">
                <a:solidFill>
                  <a:srgbClr val="E8D5B7"/>
                </a:solidFill>
                <a:latin typeface="Calibri"/>
              </a:rPr>
              <a:t>LLM post-processing</a:t>
            </a:r>
            <a:r>
              <a:rPr sz="1700">
                <a:solidFill>
                  <a:srgbClr val="C4A882"/>
                </a:solidFill>
                <a:latin typeface="Calibri"/>
              </a:rPr>
              <a:t> — optional AI cleanup before text insertion</a:t>
            </a:r>
          </a:p>
          <a:p>
            <a:pPr>
              <a:spcBef>
                <a:spcPts val="200"/>
              </a:spcBef>
              <a:spcAft>
                <a:spcPts val="1000"/>
              </a:spcAft>
            </a:pPr>
            <a:r>
              <a:rPr sz="1700">
                <a:solidFill>
                  <a:srgbClr val="D4886B"/>
                </a:solidFill>
                <a:latin typeface="Calibri"/>
              </a:rPr>
              <a:t>  –  </a:t>
            </a:r>
            <a:r>
              <a:rPr sz="1700" b="1">
                <a:solidFill>
                  <a:srgbClr val="E8D5B7"/>
                </a:solidFill>
                <a:latin typeface="Calibri"/>
              </a:rPr>
              <a:t>16K+ stars, 900K downloads</a:t>
            </a:r>
            <a:r>
              <a:rPr sz="1700">
                <a:solidFill>
                  <a:srgbClr val="C4A882"/>
                </a:solidFill>
                <a:latin typeface="Calibri"/>
              </a:rPr>
              <a:t> — featured in WIRED, MIT licensed</a:t>
            </a:r>
          </a:p>
          <a:p>
            <a:pPr>
              <a:spcBef>
                <a:spcPts val="200"/>
              </a:spcBef>
              <a:spcAft>
                <a:spcPts val="1000"/>
              </a:spcAft>
            </a:pPr>
            <a:r>
              <a:rPr sz="1700">
                <a:solidFill>
                  <a:srgbClr val="D4886B"/>
                </a:solidFill>
                <a:latin typeface="Calibri"/>
              </a:rPr>
              <a:t>  –  </a:t>
            </a:r>
            <a:r>
              <a:rPr sz="1700" b="1">
                <a:solidFill>
                  <a:srgbClr val="E8D5B7"/>
                </a:solidFill>
                <a:latin typeface="Calibri"/>
              </a:rPr>
              <a:t>Tauri + Rust</a:t>
            </a:r>
            <a:r>
              <a:rPr sz="1700">
                <a:solidFill>
                  <a:srgbClr val="C4A882"/>
                </a:solidFill>
                <a:latin typeface="Calibri"/>
              </a:rPr>
              <a:t> — native performance, ~12.6 MB installer, not Electron</a:t>
            </a:r>
          </a:p>
        </p:txBody>
      </p:sp>
      <p:sp>
        <p:nvSpPr>
          <p:cNvPr id="5" name="Rounded Rectangle 4"/>
          <p:cNvSpPr/>
          <p:nvPr/>
        </p:nvSpPr>
        <p:spPr>
          <a:xfrm>
            <a:off x="7589520" y="1737360"/>
            <a:ext cx="4114800" cy="25603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818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019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0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0" y="1810512"/>
            <a:ext cx="2926080" cy="320040"/>
          </a:xfrm>
          <a:prstGeom prst="rect">
            <a:avLst/>
          </a:prstGeom>
          <a:noFill/>
        </p:spPr>
        <p:txBody>
          <a:bodyPr wrap="square">
            <a:spAutoFit/>
          </a:bodyPr>
          <a:lstStyle/>
          <a:p>
            <a:pPr algn="ctr">
              <a:spcAft>
                <a:spcPts val="0"/>
              </a:spcAft>
              <a:defRPr sz="1100" b="0" i="0">
                <a:solidFill>
                  <a:srgbClr val="7A6E5D"/>
                </a:solidFill>
                <a:latin typeface="Calibri"/>
              </a:defRPr>
            </a:pPr>
            <a:r>
              <a:t>Key Insight</a:t>
            </a:r>
          </a:p>
        </p:txBody>
      </p:sp>
      <p:sp>
        <p:nvSpPr>
          <p:cNvPr id="10" name="TextBox 9"/>
          <p:cNvSpPr txBox="1"/>
          <p:nvPr/>
        </p:nvSpPr>
        <p:spPr>
          <a:xfrm>
            <a:off x="7863840" y="2331720"/>
            <a:ext cx="3566160" cy="1828800"/>
          </a:xfrm>
          <a:prstGeom prst="rect">
            <a:avLst/>
          </a:prstGeom>
          <a:noFill/>
        </p:spPr>
        <p:txBody>
          <a:bodyPr wrap="square">
            <a:spAutoFit/>
          </a:bodyPr>
          <a:lstStyle/>
          <a:p>
            <a:pPr algn="l">
              <a:spcAft>
                <a:spcPts val="0"/>
              </a:spcAft>
              <a:defRPr sz="1500" b="0" i="0">
                <a:solidFill>
                  <a:srgbClr val="E8D5B7"/>
                </a:solidFill>
                <a:latin typeface="Calibri"/>
              </a:defRPr>
            </a:pPr>
            <a:r>
              <a:t>Speaking is 3-4x faster than typing. Handy turns voice into the natural interface for agentic development with Claude Code.</a:t>
            </a:r>
          </a:p>
        </p:txBody>
      </p:sp>
      <p:sp>
        <p:nvSpPr>
          <p:cNvPr id="11" name="TextBox 1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18 / 19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731520"/>
            <a:ext cx="10515600" cy="914400"/>
          </a:xfrm>
          <a:prstGeom prst="rect">
            <a:avLst/>
          </a:prstGeom>
          <a:noFill/>
        </p:spPr>
        <p:txBody>
          <a:bodyPr wrap="square">
            <a:spAutoFit/>
          </a:bodyPr>
          <a:lstStyle/>
          <a:p>
            <a:pPr algn="ctr">
              <a:spcAft>
                <a:spcPts val="0"/>
              </a:spcAft>
              <a:defRPr sz="4800" b="0" i="0">
                <a:solidFill>
                  <a:srgbClr val="E8D5B7"/>
                </a:solidFill>
                <a:latin typeface="Georgia"/>
              </a:defRPr>
            </a:pPr>
            <a:r>
              <a:t>Go Build Something Amazing</a:t>
            </a:r>
          </a:p>
        </p:txBody>
      </p:sp>
      <p:sp>
        <p:nvSpPr>
          <p:cNvPr id="3" name="Rectangle 2"/>
          <p:cNvSpPr/>
          <p:nvPr/>
        </p:nvSpPr>
        <p:spPr>
          <a:xfrm>
            <a:off x="4114800" y="1737360"/>
            <a:ext cx="393192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076960" y="2021840"/>
            <a:ext cx="9712960" cy="37388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600200" y="224028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801368" y="224028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002536" y="224028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0" y="2651760"/>
            <a:ext cx="4114800" cy="2926080"/>
          </a:xfrm>
          <a:prstGeom prst="rect">
            <a:avLst/>
          </a:prstGeom>
          <a:noFill/>
        </p:spPr>
        <p:txBody>
          <a:bodyPr wrap="square">
            <a:spAutoFit/>
          </a:bodyPr>
          <a:lstStyle/>
          <a:p>
            <a:pPr>
              <a:spcAft>
                <a:spcPts val="500"/>
              </a:spcAft>
            </a:pPr>
            <a:r>
              <a:rPr sz="1500" b="1">
                <a:solidFill>
                  <a:srgbClr val="D4886B"/>
                </a:solidFill>
                <a:latin typeface="Calibri"/>
              </a:rPr>
              <a:t>1. </a:t>
            </a:r>
            <a:r>
              <a:rPr sz="1500">
                <a:solidFill>
                  <a:srgbClr val="C4A882"/>
                </a:solidFill>
                <a:latin typeface="Calibri"/>
              </a:rPr>
              <a:t>System Prompt (CLAUDE.md)</a:t>
            </a:r>
          </a:p>
          <a:p>
            <a:pPr>
              <a:spcAft>
                <a:spcPts val="500"/>
              </a:spcAft>
            </a:pPr>
            <a:r>
              <a:rPr sz="1500" b="1">
                <a:solidFill>
                  <a:srgbClr val="D4886B"/>
                </a:solidFill>
                <a:latin typeface="Calibri"/>
              </a:rPr>
              <a:t>2. </a:t>
            </a:r>
            <a:r>
              <a:rPr sz="1500">
                <a:solidFill>
                  <a:srgbClr val="C4A882"/>
                </a:solidFill>
                <a:latin typeface="Calibri"/>
              </a:rPr>
              <a:t>PRD &amp; Requirements</a:t>
            </a:r>
          </a:p>
          <a:p>
            <a:pPr>
              <a:spcAft>
                <a:spcPts val="500"/>
              </a:spcAft>
            </a:pPr>
            <a:r>
              <a:rPr sz="1500" b="1">
                <a:solidFill>
                  <a:srgbClr val="D4886B"/>
                </a:solidFill>
                <a:latin typeface="Calibri"/>
              </a:rPr>
              <a:t>3. </a:t>
            </a:r>
            <a:r>
              <a:rPr sz="1500">
                <a:solidFill>
                  <a:srgbClr val="C4A882"/>
                </a:solidFill>
                <a:latin typeface="Calibri"/>
              </a:rPr>
              <a:t>Claude Skills</a:t>
            </a:r>
          </a:p>
          <a:p>
            <a:pPr>
              <a:spcAft>
                <a:spcPts val="500"/>
              </a:spcAft>
            </a:pPr>
            <a:r>
              <a:rPr sz="1500" b="1">
                <a:solidFill>
                  <a:srgbClr val="D4886B"/>
                </a:solidFill>
                <a:latin typeface="Calibri"/>
              </a:rPr>
              <a:t>4. </a:t>
            </a:r>
            <a:r>
              <a:rPr sz="1500">
                <a:solidFill>
                  <a:srgbClr val="C4A882"/>
                </a:solidFill>
                <a:latin typeface="Calibri"/>
              </a:rPr>
              <a:t>Claude Hooks</a:t>
            </a:r>
          </a:p>
          <a:p>
            <a:pPr>
              <a:spcAft>
                <a:spcPts val="500"/>
              </a:spcAft>
            </a:pPr>
            <a:r>
              <a:rPr sz="1500" b="1">
                <a:solidFill>
                  <a:srgbClr val="D4886B"/>
                </a:solidFill>
                <a:latin typeface="Calibri"/>
              </a:rPr>
              <a:t>5. </a:t>
            </a:r>
            <a:r>
              <a:rPr sz="1500">
                <a:solidFill>
                  <a:srgbClr val="C4A882"/>
                </a:solidFill>
                <a:latin typeface="Calibri"/>
              </a:rPr>
              <a:t>LSP Integration</a:t>
            </a:r>
          </a:p>
          <a:p>
            <a:pPr>
              <a:spcAft>
                <a:spcPts val="500"/>
              </a:spcAft>
            </a:pPr>
            <a:r>
              <a:rPr sz="1500" b="1">
                <a:solidFill>
                  <a:srgbClr val="D4886B"/>
                </a:solidFill>
                <a:latin typeface="Calibri"/>
              </a:rPr>
              <a:t>6. </a:t>
            </a:r>
            <a:r>
              <a:rPr sz="1500">
                <a:solidFill>
                  <a:srgbClr val="C4A882"/>
                </a:solidFill>
                <a:latin typeface="Calibri"/>
              </a:rPr>
              <a:t>Plan Mode</a:t>
            </a:r>
          </a:p>
          <a:p>
            <a:pPr>
              <a:spcAft>
                <a:spcPts val="500"/>
              </a:spcAft>
            </a:pPr>
            <a:r>
              <a:rPr sz="1500" b="1">
                <a:solidFill>
                  <a:srgbClr val="D4886B"/>
                </a:solidFill>
                <a:latin typeface="Calibri"/>
              </a:rPr>
              <a:t>7. </a:t>
            </a:r>
            <a:r>
              <a:rPr sz="1500">
                <a:solidFill>
                  <a:srgbClr val="C4A882"/>
                </a:solidFill>
                <a:latin typeface="Calibri"/>
              </a:rPr>
              <a:t>SuperPowers / GSD / Spec</a:t>
            </a:r>
          </a:p>
          <a:p>
            <a:pPr>
              <a:spcAft>
                <a:spcPts val="500"/>
              </a:spcAft>
            </a:pPr>
            <a:r>
              <a:rPr sz="1500" b="1">
                <a:solidFill>
                  <a:srgbClr val="D4886B"/>
                </a:solidFill>
                <a:latin typeface="Calibri"/>
              </a:rPr>
              <a:t>8. </a:t>
            </a:r>
            <a:r>
              <a:rPr sz="1500">
                <a:solidFill>
                  <a:srgbClr val="C4A882"/>
                </a:solidFill>
                <a:latin typeface="Calibri"/>
              </a:rPr>
              <a:t>EXA MCP Search</a:t>
            </a:r>
          </a:p>
          <a:p>
            <a:pPr>
              <a:spcAft>
                <a:spcPts val="500"/>
              </a:spcAft>
            </a:pPr>
            <a:r>
              <a:rPr sz="1500" b="1">
                <a:solidFill>
                  <a:srgbClr val="D4886B"/>
                </a:solidFill>
                <a:latin typeface="Calibri"/>
              </a:rPr>
              <a:t>9. </a:t>
            </a:r>
            <a:r>
              <a:rPr sz="1500">
                <a:solidFill>
                  <a:srgbClr val="C4A882"/>
                </a:solidFill>
                <a:latin typeface="Calibri"/>
              </a:rPr>
              <a:t>Atlassian MCP</a:t>
            </a:r>
          </a:p>
        </p:txBody>
      </p:sp>
      <p:sp>
        <p:nvSpPr>
          <p:cNvPr id="9" name="TextBox 8"/>
          <p:cNvSpPr txBox="1"/>
          <p:nvPr/>
        </p:nvSpPr>
        <p:spPr>
          <a:xfrm>
            <a:off x="6583680" y="2651760"/>
            <a:ext cx="4114800" cy="2926080"/>
          </a:xfrm>
          <a:prstGeom prst="rect">
            <a:avLst/>
          </a:prstGeom>
          <a:noFill/>
        </p:spPr>
        <p:txBody>
          <a:bodyPr wrap="square">
            <a:spAutoFit/>
          </a:bodyPr>
          <a:lstStyle/>
          <a:p>
            <a:pPr>
              <a:spcAft>
                <a:spcPts val="500"/>
              </a:spcAft>
            </a:pPr>
            <a:r>
              <a:rPr sz="1500" b="1">
                <a:solidFill>
                  <a:srgbClr val="D4886B"/>
                </a:solidFill>
                <a:latin typeface="Calibri"/>
              </a:rPr>
              <a:t>10. </a:t>
            </a:r>
            <a:r>
              <a:rPr sz="1500">
                <a:solidFill>
                  <a:srgbClr val="C4A882"/>
                </a:solidFill>
                <a:latin typeface="Calibri"/>
              </a:rPr>
              <a:t>Sub Agents</a:t>
            </a:r>
          </a:p>
          <a:p>
            <a:pPr>
              <a:spcAft>
                <a:spcPts val="500"/>
              </a:spcAft>
            </a:pPr>
            <a:r>
              <a:rPr sz="1500" b="1">
                <a:solidFill>
                  <a:srgbClr val="D4886B"/>
                </a:solidFill>
                <a:latin typeface="Calibri"/>
              </a:rPr>
              <a:t>11. </a:t>
            </a:r>
            <a:r>
              <a:rPr sz="1500">
                <a:solidFill>
                  <a:srgbClr val="C4A882"/>
                </a:solidFill>
                <a:latin typeface="Calibri"/>
              </a:rPr>
              <a:t>Agent Teams</a:t>
            </a:r>
          </a:p>
          <a:p>
            <a:pPr>
              <a:spcAft>
                <a:spcPts val="500"/>
              </a:spcAft>
            </a:pPr>
            <a:r>
              <a:rPr sz="1500" b="1">
                <a:solidFill>
                  <a:srgbClr val="D4886B"/>
                </a:solidFill>
                <a:latin typeface="Calibri"/>
              </a:rPr>
              <a:t>12. </a:t>
            </a:r>
            <a:r>
              <a:rPr sz="1500">
                <a:solidFill>
                  <a:srgbClr val="C4A882"/>
                </a:solidFill>
                <a:latin typeface="Calibri"/>
              </a:rPr>
              <a:t>Greptile Code Review</a:t>
            </a:r>
          </a:p>
          <a:p>
            <a:pPr>
              <a:spcAft>
                <a:spcPts val="500"/>
              </a:spcAft>
            </a:pPr>
            <a:r>
              <a:rPr sz="1500" b="1">
                <a:solidFill>
                  <a:srgbClr val="D4886B"/>
                </a:solidFill>
                <a:latin typeface="Calibri"/>
              </a:rPr>
              <a:t>13. </a:t>
            </a:r>
            <a:r>
              <a:rPr sz="1500">
                <a:solidFill>
                  <a:srgbClr val="C4A882"/>
                </a:solidFill>
                <a:latin typeface="Calibri"/>
              </a:rPr>
              <a:t>/team-review</a:t>
            </a:r>
          </a:p>
          <a:p>
            <a:pPr>
              <a:spcAft>
                <a:spcPts val="500"/>
              </a:spcAft>
            </a:pPr>
            <a:r>
              <a:rPr sz="1500" b="1">
                <a:solidFill>
                  <a:srgbClr val="D4886B"/>
                </a:solidFill>
                <a:latin typeface="Calibri"/>
              </a:rPr>
              <a:t>14. </a:t>
            </a:r>
            <a:r>
              <a:rPr sz="1500">
                <a:solidFill>
                  <a:srgbClr val="C4A882"/>
                </a:solidFill>
                <a:latin typeface="Calibri"/>
              </a:rPr>
              <a:t>/greptile-review-loop</a:t>
            </a:r>
          </a:p>
          <a:p>
            <a:pPr>
              <a:spcAft>
                <a:spcPts val="500"/>
              </a:spcAft>
            </a:pPr>
            <a:r>
              <a:rPr sz="1500" b="1">
                <a:solidFill>
                  <a:srgbClr val="D4886B"/>
                </a:solidFill>
                <a:latin typeface="Calibri"/>
              </a:rPr>
              <a:t>15. </a:t>
            </a:r>
            <a:r>
              <a:rPr sz="1500">
                <a:solidFill>
                  <a:srgbClr val="C4A882"/>
                </a:solidFill>
                <a:latin typeface="Calibri"/>
              </a:rPr>
              <a:t>Claude Worktrees</a:t>
            </a:r>
          </a:p>
          <a:p>
            <a:pPr>
              <a:spcAft>
                <a:spcPts val="500"/>
              </a:spcAft>
            </a:pPr>
            <a:r>
              <a:rPr sz="1500" b="1">
                <a:solidFill>
                  <a:srgbClr val="D4886B"/>
                </a:solidFill>
                <a:latin typeface="Calibri"/>
              </a:rPr>
              <a:t>16. </a:t>
            </a:r>
            <a:r>
              <a:rPr sz="1500">
                <a:solidFill>
                  <a:srgbClr val="C4A882"/>
                </a:solidFill>
                <a:latin typeface="Calibri"/>
              </a:rPr>
              <a:t>Portless</a:t>
            </a:r>
          </a:p>
          <a:p>
            <a:pPr>
              <a:spcAft>
                <a:spcPts val="500"/>
              </a:spcAft>
            </a:pPr>
            <a:r>
              <a:rPr sz="1500" b="1">
                <a:solidFill>
                  <a:srgbClr val="D4886B"/>
                </a:solidFill>
                <a:latin typeface="Calibri"/>
              </a:rPr>
              <a:t>17. </a:t>
            </a:r>
            <a:r>
              <a:rPr sz="1500">
                <a:solidFill>
                  <a:srgbClr val="C4A882"/>
                </a:solidFill>
                <a:latin typeface="Calibri"/>
              </a:rPr>
              <a:t>Handy STT</a:t>
            </a:r>
          </a:p>
        </p:txBody>
      </p:sp>
      <p:sp>
        <p:nvSpPr>
          <p:cNvPr id="10" name="TextBox 9"/>
          <p:cNvSpPr txBox="1"/>
          <p:nvPr/>
        </p:nvSpPr>
        <p:spPr>
          <a:xfrm>
            <a:off x="731520" y="6035040"/>
            <a:ext cx="10515600" cy="457200"/>
          </a:xfrm>
          <a:prstGeom prst="rect">
            <a:avLst/>
          </a:prstGeom>
          <a:noFill/>
        </p:spPr>
        <p:txBody>
          <a:bodyPr wrap="square">
            <a:spAutoFit/>
          </a:bodyPr>
          <a:lstStyle/>
          <a:p>
            <a:pPr algn="ctr">
              <a:spcAft>
                <a:spcPts val="0"/>
              </a:spcAft>
              <a:defRPr sz="1400" b="0" i="0">
                <a:solidFill>
                  <a:srgbClr val="7A6E5D"/>
                </a:solidFill>
                <a:latin typeface="JetBrains Mono"/>
              </a:defRPr>
            </a:pPr>
            <a:r>
              <a:t>The Claude Beast  |  start.io Agentic Hackathons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4154</Words>
  <Application>Microsoft Macintosh PowerPoint</Application>
  <PresentationFormat>Widescreen</PresentationFormat>
  <Paragraphs>229</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Haim Ari</cp:lastModifiedBy>
  <cp:revision>2</cp:revision>
  <dcterms:created xsi:type="dcterms:W3CDTF">2013-01-27T09:14:16Z</dcterms:created>
  <dcterms:modified xsi:type="dcterms:W3CDTF">2026-02-25T14:25:00Z</dcterms:modified>
  <cp:category/>
</cp:coreProperties>
</file>