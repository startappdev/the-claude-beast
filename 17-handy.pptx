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252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Title</a:t>
            </a:r>
          </a:p>
          <a:p>
            <a:endParaRPr/>
          </a:p>
          <a:p>
            <a:r>
              <a:t>Opening: Welcome to The Claude Beast series. Today we're covering Handy -- a free, open-source, offline speech-to-text application that's become the fastest way for developers to interact with AI coding agents.</a:t>
            </a:r>
          </a:p>
          <a:p>
            <a:endParaRPr/>
          </a:p>
          <a:p>
            <a:r>
              <a:t>Key points:</a:t>
            </a:r>
          </a:p>
          <a:p>
            <a:r>
              <a:t>- 16,000+ GitHub stars and nearly 900,000 downloads in about 12 months</a:t>
            </a:r>
          </a:p>
          <a:p>
            <a:r>
              <a:t>- Featured in WIRED magazine</a:t>
            </a:r>
          </a:p>
          <a:p>
            <a:r>
              <a:t>- Fully offline -- no audio ever leaves your machine</a:t>
            </a:r>
          </a:p>
          <a:p>
            <a:r>
              <a:t>- Built with Tauri and Rust, not Electron</a:t>
            </a:r>
          </a:p>
          <a:p>
            <a:r>
              <a:t>- MIT licensed and designed to be forked and customized</a:t>
            </a:r>
          </a:p>
          <a:p>
            <a:endParaRPr/>
          </a:p>
          <a:p>
            <a:r>
              <a:t>Transition: Let's start with what makes Handy unique.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What Is Handy?</a:t>
            </a:r>
          </a:p>
          <a:p>
            <a:endParaRPr/>
          </a:p>
          <a:p>
            <a:r>
              <a:t>Opening: Handy is a desktop speech-to-text application with a simple workflow: press a shortcut, speak, text appears. All processing happens locally.</a:t>
            </a:r>
          </a:p>
          <a:p>
            <a:endParaRPr/>
          </a:p>
          <a:p>
            <a:r>
              <a:t>Key features include global keyboard shortcuts, voice activity detection, multiple transcription models, LLM post-processing, replacement rules, CLI remote control, and cross-platform support.</a:t>
            </a:r>
          </a:p>
          <a:p>
            <a:endParaRPr/>
          </a:p>
          <a:p>
            <a:r>
              <a:t>The origin story is compelling: CJ Pais built it after breaking a finger. Existing STT tools were proprietary, cloud-dependent, or not extensible. His philosophy is "the most forkable STT app" -- not aiming to be the best, but the most extensible.</a:t>
            </a:r>
          </a:p>
          <a:p>
            <a:endParaRPr/>
          </a:p>
          <a:p>
            <a:r>
              <a:t>It's now used by developers with various mobility limitations, making it both a productivity tool and an accessibility tool.</a:t>
            </a:r>
          </a:p>
          <a:p>
            <a:endParaRPr/>
          </a:p>
          <a:p>
            <a:r>
              <a:t>Transition: Let's look at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Architecture</a:t>
            </a:r>
          </a:p>
          <a:p>
            <a:endParaRPr/>
          </a:p>
          <a:p>
            <a:r>
              <a:t>Opening: Handy is built on Tauri 2.x with a Rust backend and React/TypeScript frontend. The installer is only about 12.6 megabytes.</a:t>
            </a:r>
          </a:p>
          <a:p>
            <a:endParaRPr/>
          </a:p>
          <a:p>
            <a:r>
              <a:t>The processing pipeline has 7 steps: global shortcut triggers recording, cpal captures audio, Silero VAD filters silence, rubato resamples if needed, Whisper or Parakeet transcribes, optional LLM post-processing cleans up, and text is pasted via clipboard.</a:t>
            </a:r>
          </a:p>
          <a:p>
            <a:endParaRPr/>
          </a:p>
          <a:p>
            <a:r>
              <a:t>Core libraries include whisper-rs for GPU-accelerated Whisper inference, transcription-rs for CPU-optimized Parakeet, cpal for cross-platform audio, and vad-rs for voice activity detection.</a:t>
            </a:r>
          </a:p>
          <a:p>
            <a:endParaRPr/>
          </a:p>
          <a:p>
            <a:r>
              <a:t>GPU acceleration uses Metal on macOS, Vulkan on Windows and Linux, with OpenBLAS as a Linux fallback.</a:t>
            </a:r>
          </a:p>
          <a:p>
            <a:endParaRPr/>
          </a:p>
          <a:p>
            <a:r>
              <a:t>Transition: Let's look at the transcription models.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Models</a:t>
            </a:r>
          </a:p>
          <a:p>
            <a:endParaRPr/>
          </a:p>
          <a:p>
            <a:r>
              <a:t>Opening: Handy supports multiple transcription models, letting you choose between GPU-accelerated accuracy and CPU-optimized speed.</a:t>
            </a:r>
          </a:p>
          <a:p>
            <a:endParaRPr/>
          </a:p>
          <a:p>
            <a:r>
              <a:t>Whisper models range from Small at 487 megabytes to Large at 1.1 gigabytes, all requiring GPU acceleration. Whisper Turbo at 1.6 gigs is the fastest with GPU.</a:t>
            </a:r>
          </a:p>
          <a:p>
            <a:endParaRPr/>
          </a:p>
          <a:p>
            <a:r>
              <a:t>The community favorite is Parakeet V3. It's CPU-optimized, so it works without a GPU, provides automatic language detection, and runs at about 5x real-time speed on mid-range hardware. Multiple Hacker News users reported switching from paid tools like VoiceInk and SuperWhisper specifically because of Parakeet's speed.</a:t>
            </a:r>
          </a:p>
          <a:p>
            <a:endParaRPr/>
          </a:p>
          <a:p>
            <a:r>
              <a:t>You can also drop any custom GGML model into the models directory. And for Chinese language support, Breeze ASR and SenseVoice Small are available.</a:t>
            </a:r>
          </a:p>
          <a:p>
            <a:endParaRPr/>
          </a:p>
          <a:p>
            <a:r>
              <a:t>Transition: Let's see the developer workflow.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6: Post-Processing &amp; Customization</a:t>
            </a:r>
          </a:p>
          <a:p>
            <a:endParaRPr/>
          </a:p>
          <a:p>
            <a:r>
              <a:t>Opening: Two powerful customization features: LLM post-processing and replacement rules.</a:t>
            </a:r>
          </a:p>
          <a:p>
            <a:endParaRPr/>
          </a:p>
          <a:p>
            <a:r>
              <a:t>LLM post-processing sends your transcript through a local or remote LLM before inserting it. Custom system prompts define cleanup rules. Context variables like $currentApp tell the LLM what application you're targeting. Access it via the debug menu.</a:t>
            </a:r>
          </a:p>
          <a:p>
            <a:endParaRPr/>
          </a:p>
          <a:p>
            <a:r>
              <a:t>Replacement rules are pattern-based find-and-replace with JSON import/export. Pre-built templates handle English and French punctuation. N-gram matching handles multi-word corrections.</a:t>
            </a:r>
          </a:p>
          <a:p>
            <a:endParaRPr/>
          </a:p>
          <a:p>
            <a:r>
              <a:t>For scripting: CLI flags let you control Handy from scripts and automation tools. Unix signals integrate with window managers like Sway, i3, Hyprland, and KDE.</a:t>
            </a:r>
          </a:p>
          <a:p>
            <a:endParaRPr/>
          </a:p>
          <a:p>
            <a:r>
              <a:t>Transition: Let's look at the adoption numbers.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7: Adoption</a:t>
            </a:r>
          </a:p>
          <a:p>
            <a:endParaRPr/>
          </a:p>
          <a:p>
            <a:r>
              <a:t>Opening: The adoption numbers are impressive. 16,000+ stars, nearly 900,000 downloads, 80 contributors, and 30 releases in about 12 months.</a:t>
            </a:r>
          </a:p>
          <a:p>
            <a:endParaRPr/>
          </a:p>
          <a:p>
            <a:r>
              <a:t>WIRED featured Handy with the headline "Stop Using Your Keyboard." The Hacker News discussion had 247 points and praised the tool for simplicity, speed, and privacy. GIGAZINE, Japan's leading tech publication, also covered it.</a:t>
            </a:r>
          </a:p>
          <a:p>
            <a:endParaRPr/>
          </a:p>
          <a:p>
            <a:r>
              <a:t>It's available via Homebrew for easy Mac installation. The development pace is rapid: 5 releases in February 2026 alone.</a:t>
            </a:r>
          </a:p>
          <a:p>
            <a:endParaRPr/>
          </a:p>
          <a:p>
            <a:r>
              <a:t>Multiple users on Hacker News reported switching from paid alternatives like VoiceInk and SuperWhisper to Handy.</a:t>
            </a:r>
          </a:p>
          <a:p>
            <a:endParaRPr/>
          </a:p>
          <a:p>
            <a:r>
              <a:t>Transition: How does Handy compare to alternatives?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8: Alternatives</a:t>
            </a:r>
          </a:p>
          <a:p>
            <a:endParaRPr/>
          </a:p>
          <a:p>
            <a:r>
              <a:t>Opening: Let's compare Handy against the paid alternatives.</a:t>
            </a:r>
          </a:p>
          <a:p>
            <a:endParaRPr/>
          </a:p>
          <a:p>
            <a:r>
              <a:t>SuperWhisper is $10 per month, Mac only, with cloud and local options. VoiceInk is a $29 one-time purchase, Mac only, Apple Silicon optimized. WisprFlow is a subscription service, multi-platform but cloud-dependent.</a:t>
            </a:r>
          </a:p>
          <a:p>
            <a:endParaRPr/>
          </a:p>
          <a:p>
            <a:r>
              <a:t>Handy's differentiators: 100% offline with zero cloud dependency. Truly free under MIT license with no feature gating. AI-agent friendly with Claude Code configuration files. CLI-controllable for scripting. And philosophically designed to be forked and modified, not to create vendor lock-in.</a:t>
            </a:r>
          </a:p>
          <a:p>
            <a:endParaRPr/>
          </a:p>
          <a:p>
            <a:r>
              <a:t>Transition: Let's see the Claude Code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9: Claude Code Integration</a:t>
            </a:r>
          </a:p>
          <a:p>
            <a:endParaRPr/>
          </a:p>
          <a:p>
            <a:r>
              <a:t>Opening: Handy is one of the most AI-agent-friendly open source projects. It includes both CLAUDE.md and AGENTS.md files with full architecture documentation for AI tools.</a:t>
            </a:r>
          </a:p>
          <a:p>
            <a:endParaRPr/>
          </a:p>
          <a:p>
            <a:r>
              <a:t>The project's about page says you might customize Handy without any programming experience using Claude Code. That's a powerful statement about the quality of the agent configuration.</a:t>
            </a:r>
          </a:p>
          <a:p>
            <a:endParaRPr/>
          </a:p>
          <a:p>
            <a:r>
              <a:t>Integration patterns: speak prompts to Claude Code, speak across multiple worktrees for fast context switching, orchestrate agent teams via speech, use LLM post-processing with Claude for technical speech cleanup, and connect via hooks.</a:t>
            </a:r>
          </a:p>
          <a:p>
            <a:endParaRPr/>
          </a:p>
          <a:p>
            <a:r>
              <a:t>The complete stack: Handy for speech input, Claude Code for execution, worktrees for isolation, agent teams for coordination. Voice becomes the natural interface for agentic development.</a:t>
            </a:r>
          </a:p>
          <a:p>
            <a:endParaRPr/>
          </a:p>
          <a:p>
            <a:r>
              <a:t>Transition: Let's close.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10: Closing</a:t>
            </a:r>
          </a:p>
          <a:p>
            <a:endParaRPr/>
          </a:p>
          <a:p>
            <a:r>
              <a:t>Opening: Three key takeaways.</a:t>
            </a:r>
          </a:p>
          <a:p>
            <a:endParaRPr/>
          </a:p>
          <a:p>
            <a:r>
              <a:t>First, voice is the fastest input. Speaking is 3 to 4 times faster than typing. For complex AI prompts, voice input is a genuine productivity multiplier.</a:t>
            </a:r>
          </a:p>
          <a:p>
            <a:endParaRPr/>
          </a:p>
          <a:p>
            <a:r>
              <a:t>Second, privacy without compromise. 100% offline, no cloud, no subscriptions. Nearly 900,000 downloads prove developers want privacy when quality is good enough. Parakeet V3 delivers.</a:t>
            </a:r>
          </a:p>
          <a:p>
            <a:endParaRPr/>
          </a:p>
          <a:p>
            <a:r>
              <a:t>Third, the agent-native future. Handy plus Claude Code plus worktrees plus agent teams equals a voice-driven development environment. Speak your intent. Agents handle the rest.</a:t>
            </a:r>
          </a:p>
          <a:p>
            <a:endParaRPr/>
          </a:p>
          <a:p>
            <a:r>
              <a:t>Handy is free, MIT licensed, and available via Homebrew. Try it with Claude Code.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Handy: Offline Speech-to-Text</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Free, Private, Local Transcription for Developers and AI Agents</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16K+ Stars  |  900K Downloads  |  Featured in WIRED  |  MIT License</a:t>
            </a:r>
          </a:p>
        </p:txBody>
      </p:sp>
      <p:sp>
        <p:nvSpPr>
          <p:cNvPr id="7" name="TextBox 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Is Handy?</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Press a shortcut. Speak. Text appears. All local.</a:t>
            </a:r>
          </a:p>
        </p:txBody>
      </p:sp>
      <p:sp>
        <p:nvSpPr>
          <p:cNvPr id="4" name="Rounded Rectangle 3"/>
          <p:cNvSpPr/>
          <p:nvPr/>
        </p:nvSpPr>
        <p:spPr>
          <a:xfrm>
            <a:off x="731520" y="173736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Core Concept</a:t>
            </a:r>
          </a:p>
        </p:txBody>
      </p:sp>
      <p:sp>
        <p:nvSpPr>
          <p:cNvPr id="9" name="TextBox 8"/>
          <p:cNvSpPr txBox="1"/>
          <p:nvPr/>
        </p:nvSpPr>
        <p:spPr>
          <a:xfrm>
            <a:off x="1097280" y="2240280"/>
            <a:ext cx="9875520" cy="640080"/>
          </a:xfrm>
          <a:prstGeom prst="rect">
            <a:avLst/>
          </a:prstGeom>
          <a:noFill/>
        </p:spPr>
        <p:txBody>
          <a:bodyPr wrap="square">
            <a:spAutoFit/>
          </a:bodyPr>
          <a:lstStyle/>
          <a:p>
            <a:pPr algn="l">
              <a:spcAft>
                <a:spcPts val="0"/>
              </a:spcAft>
              <a:defRPr sz="1600" b="0" i="0">
                <a:solidFill>
                  <a:srgbClr val="E8D5B7"/>
                </a:solidFill>
                <a:latin typeface="Calibri"/>
              </a:defRPr>
            </a:pPr>
            <a:r>
              <a:t>A desktop application that converts speech to text using local AI models. Press a global keyboard shortcut, speak, and your words appear in whatever application is active -- all processed on-device with zero cloud dependency.</a:t>
            </a:r>
          </a:p>
        </p:txBody>
      </p:sp>
      <p:sp>
        <p:nvSpPr>
          <p:cNvPr id="10" name="Rounded Rectangle 9"/>
          <p:cNvSpPr/>
          <p:nvPr/>
        </p:nvSpPr>
        <p:spPr>
          <a:xfrm>
            <a:off x="731520" y="3108960"/>
            <a:ext cx="5120640" cy="3017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60120" y="3246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61288" y="3246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62456" y="3246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31821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Key Features</a:t>
            </a:r>
          </a:p>
        </p:txBody>
      </p:sp>
      <p:sp>
        <p:nvSpPr>
          <p:cNvPr id="15" name="TextBox 14"/>
          <p:cNvSpPr txBox="1"/>
          <p:nvPr/>
        </p:nvSpPr>
        <p:spPr>
          <a:xfrm>
            <a:off x="1005840" y="3657600"/>
            <a:ext cx="4572000" cy="228600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Global keyboard shortcuts (push-to-talk or toggle)</a:t>
            </a:r>
          </a:p>
          <a:p>
            <a:pPr>
              <a:spcBef>
                <a:spcPts val="200"/>
              </a:spcBef>
              <a:spcAft>
                <a:spcPts val="800"/>
              </a:spcAft>
            </a:pPr>
            <a:r>
              <a:rPr sz="1400">
                <a:solidFill>
                  <a:srgbClr val="D4886B"/>
                </a:solidFill>
                <a:latin typeface="Calibri"/>
              </a:rPr>
              <a:t>–  </a:t>
            </a:r>
            <a:r>
              <a:rPr sz="1400">
                <a:solidFill>
                  <a:srgbClr val="C4A882"/>
                </a:solidFill>
                <a:latin typeface="Calibri"/>
              </a:rPr>
              <a:t>Voice Activity Detection (Silero VAD v4)</a:t>
            </a:r>
          </a:p>
          <a:p>
            <a:pPr>
              <a:spcBef>
                <a:spcPts val="200"/>
              </a:spcBef>
              <a:spcAft>
                <a:spcPts val="800"/>
              </a:spcAft>
            </a:pPr>
            <a:r>
              <a:rPr sz="1400">
                <a:solidFill>
                  <a:srgbClr val="D4886B"/>
                </a:solidFill>
                <a:latin typeface="Calibri"/>
              </a:rPr>
              <a:t>–  </a:t>
            </a:r>
            <a:r>
              <a:rPr sz="1400">
                <a:solidFill>
                  <a:srgbClr val="C4A882"/>
                </a:solidFill>
                <a:latin typeface="Calibri"/>
              </a:rPr>
              <a:t>Multiple transcription models (Whisper + Parakeet)</a:t>
            </a:r>
          </a:p>
          <a:p>
            <a:pPr>
              <a:spcBef>
                <a:spcPts val="200"/>
              </a:spcBef>
              <a:spcAft>
                <a:spcPts val="800"/>
              </a:spcAft>
            </a:pPr>
            <a:r>
              <a:rPr sz="1400">
                <a:solidFill>
                  <a:srgbClr val="D4886B"/>
                </a:solidFill>
                <a:latin typeface="Calibri"/>
              </a:rPr>
              <a:t>–  </a:t>
            </a:r>
            <a:r>
              <a:rPr sz="1400">
                <a:solidFill>
                  <a:srgbClr val="C4A882"/>
                </a:solidFill>
                <a:latin typeface="Calibri"/>
              </a:rPr>
              <a:t>LLM post-processing for cleanup and formatting</a:t>
            </a:r>
          </a:p>
          <a:p>
            <a:pPr>
              <a:spcBef>
                <a:spcPts val="200"/>
              </a:spcBef>
              <a:spcAft>
                <a:spcPts val="800"/>
              </a:spcAft>
            </a:pPr>
            <a:r>
              <a:rPr sz="1400">
                <a:solidFill>
                  <a:srgbClr val="D4886B"/>
                </a:solidFill>
                <a:latin typeface="Calibri"/>
              </a:rPr>
              <a:t>–  </a:t>
            </a:r>
            <a:r>
              <a:rPr sz="1400">
                <a:solidFill>
                  <a:srgbClr val="C4A882"/>
                </a:solidFill>
                <a:latin typeface="Calibri"/>
              </a:rPr>
              <a:t>Replacement rules with import/export</a:t>
            </a:r>
          </a:p>
          <a:p>
            <a:pPr>
              <a:spcBef>
                <a:spcPts val="200"/>
              </a:spcBef>
              <a:spcAft>
                <a:spcPts val="800"/>
              </a:spcAft>
            </a:pPr>
            <a:r>
              <a:rPr sz="1400">
                <a:solidFill>
                  <a:srgbClr val="D4886B"/>
                </a:solidFill>
                <a:latin typeface="Calibri"/>
              </a:rPr>
              <a:t>–  </a:t>
            </a:r>
            <a:r>
              <a:rPr sz="1400">
                <a:solidFill>
                  <a:srgbClr val="C4A882"/>
                </a:solidFill>
                <a:latin typeface="Calibri"/>
              </a:rPr>
              <a:t>CLI remote control for scripting</a:t>
            </a:r>
          </a:p>
          <a:p>
            <a:pPr>
              <a:spcBef>
                <a:spcPts val="200"/>
              </a:spcBef>
              <a:spcAft>
                <a:spcPts val="800"/>
              </a:spcAft>
            </a:pPr>
            <a:r>
              <a:rPr sz="1400">
                <a:solidFill>
                  <a:srgbClr val="D4886B"/>
                </a:solidFill>
                <a:latin typeface="Calibri"/>
              </a:rPr>
              <a:t>–  </a:t>
            </a:r>
            <a:r>
              <a:rPr sz="1400">
                <a:solidFill>
                  <a:srgbClr val="C4A882"/>
                </a:solidFill>
                <a:latin typeface="Calibri"/>
              </a:rPr>
              <a:t>Cross-platform: macOS, Windows, Linux</a:t>
            </a:r>
          </a:p>
        </p:txBody>
      </p:sp>
      <p:sp>
        <p:nvSpPr>
          <p:cNvPr id="16" name="Rounded Rectangle 15"/>
          <p:cNvSpPr/>
          <p:nvPr/>
        </p:nvSpPr>
        <p:spPr>
          <a:xfrm>
            <a:off x="6309360" y="3108960"/>
            <a:ext cx="5120640" cy="3017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37960" y="3246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39128" y="3246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940296" y="3246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23760" y="31821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Origin Story</a:t>
            </a:r>
          </a:p>
        </p:txBody>
      </p:sp>
      <p:sp>
        <p:nvSpPr>
          <p:cNvPr id="21" name="TextBox 20"/>
          <p:cNvSpPr txBox="1"/>
          <p:nvPr/>
        </p:nvSpPr>
        <p:spPr>
          <a:xfrm>
            <a:off x="6583680" y="3657600"/>
            <a:ext cx="4572000" cy="914400"/>
          </a:xfrm>
          <a:prstGeom prst="rect">
            <a:avLst/>
          </a:prstGeom>
          <a:noFill/>
        </p:spPr>
        <p:txBody>
          <a:bodyPr wrap="square">
            <a:spAutoFit/>
          </a:bodyPr>
          <a:lstStyle/>
          <a:p>
            <a:pPr algn="l">
              <a:spcAft>
                <a:spcPts val="0"/>
              </a:spcAft>
              <a:defRPr sz="1400" b="0" i="0">
                <a:solidFill>
                  <a:srgbClr val="C4A882"/>
                </a:solidFill>
                <a:latin typeface="Calibri"/>
              </a:defRPr>
            </a:pPr>
            <a:r>
              <a:t>CJ Pais built Handy after breaking a finger and needing one-handed computer operation. Existing STT tools were either proprietary, cloud-dependent, or not extensible.</a:t>
            </a:r>
          </a:p>
        </p:txBody>
      </p:sp>
      <p:sp>
        <p:nvSpPr>
          <p:cNvPr id="22" name="TextBox 21"/>
          <p:cNvSpPr txBox="1"/>
          <p:nvPr/>
        </p:nvSpPr>
        <p:spPr>
          <a:xfrm>
            <a:off x="6583680" y="4663440"/>
            <a:ext cx="4572000" cy="731520"/>
          </a:xfrm>
          <a:prstGeom prst="rect">
            <a:avLst/>
          </a:prstGeom>
          <a:noFill/>
        </p:spPr>
        <p:txBody>
          <a:bodyPr wrap="square">
            <a:spAutoFit/>
          </a:bodyPr>
          <a:lstStyle/>
          <a:p>
            <a:pPr algn="l">
              <a:spcAft>
                <a:spcPts val="0"/>
              </a:spcAft>
              <a:defRPr sz="1400" b="0" i="1">
                <a:solidFill>
                  <a:srgbClr val="E8D5B7"/>
                </a:solidFill>
                <a:latin typeface="Calibri"/>
              </a:defRPr>
            </a:pPr>
            <a:r>
              <a:t>Philosophy: "The Most Forkable Speech-to-Text App" -- not the best, but the most extensible and modifiable.</a:t>
            </a:r>
          </a:p>
        </p:txBody>
      </p:sp>
      <p:sp>
        <p:nvSpPr>
          <p:cNvPr id="23" name="TextBox 22"/>
          <p:cNvSpPr txBox="1"/>
          <p:nvPr/>
        </p:nvSpPr>
        <p:spPr>
          <a:xfrm>
            <a:off x="6583680" y="5486400"/>
            <a:ext cx="4572000" cy="457200"/>
          </a:xfrm>
          <a:prstGeom prst="rect">
            <a:avLst/>
          </a:prstGeom>
          <a:noFill/>
        </p:spPr>
        <p:txBody>
          <a:bodyPr wrap="square">
            <a:spAutoFit/>
          </a:bodyPr>
          <a:lstStyle/>
          <a:p>
            <a:pPr algn="l">
              <a:spcAft>
                <a:spcPts val="0"/>
              </a:spcAft>
              <a:defRPr sz="1300" b="0" i="0">
                <a:solidFill>
                  <a:srgbClr val="7A6E5D"/>
                </a:solidFill>
                <a:latin typeface="Calibri"/>
              </a:defRPr>
            </a:pPr>
            <a:r>
              <a:t>Now used by developers with dystonia and other mobility limitations worldwide.</a:t>
            </a:r>
          </a:p>
        </p:txBody>
      </p:sp>
      <p:sp>
        <p:nvSpPr>
          <p:cNvPr id="24" name="TextBox 23"/>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Architecture: Tauri + Rust + React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Native performance, cross-platform, ~12.6 MB installer</a:t>
            </a:r>
          </a:p>
        </p:txBody>
      </p:sp>
      <p:sp>
        <p:nvSpPr>
          <p:cNvPr id="4" name="TextBox 3"/>
          <p:cNvSpPr txBox="1"/>
          <p:nvPr/>
        </p:nvSpPr>
        <p:spPr>
          <a:xfrm>
            <a:off x="731520" y="1554480"/>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t>Processing Pipeline</a:t>
            </a:r>
          </a:p>
        </p:txBody>
      </p:sp>
      <p:sp>
        <p:nvSpPr>
          <p:cNvPr id="5" name="Rounded Rectangle 4"/>
          <p:cNvSpPr/>
          <p:nvPr/>
        </p:nvSpPr>
        <p:spPr>
          <a:xfrm>
            <a:off x="274320"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029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040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052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77240"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1</a:t>
            </a:r>
          </a:p>
        </p:txBody>
      </p:sp>
      <p:sp>
        <p:nvSpPr>
          <p:cNvPr id="10" name="TextBox 9"/>
          <p:cNvSpPr txBox="1"/>
          <p:nvPr/>
        </p:nvSpPr>
        <p:spPr>
          <a:xfrm>
            <a:off x="320040"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Shortcut</a:t>
            </a:r>
          </a:p>
        </p:txBody>
      </p:sp>
      <p:sp>
        <p:nvSpPr>
          <p:cNvPr id="11" name="TextBox 10"/>
          <p:cNvSpPr txBox="1"/>
          <p:nvPr/>
        </p:nvSpPr>
        <p:spPr>
          <a:xfrm>
            <a:off x="320040"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Global key</a:t>
            </a:r>
            <a:br/>
            <a:r>
              <a:t>triggers record</a:t>
            </a:r>
          </a:p>
        </p:txBody>
      </p:sp>
      <p:sp>
        <p:nvSpPr>
          <p:cNvPr id="12" name="TextBox 11"/>
          <p:cNvSpPr txBox="1"/>
          <p:nvPr/>
        </p:nvSpPr>
        <p:spPr>
          <a:xfrm>
            <a:off x="1645920"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13" name="Rounded Rectangle 12"/>
          <p:cNvSpPr/>
          <p:nvPr/>
        </p:nvSpPr>
        <p:spPr>
          <a:xfrm>
            <a:off x="1810512"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039112"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240280"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441448"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313432"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2</a:t>
            </a:r>
          </a:p>
        </p:txBody>
      </p:sp>
      <p:sp>
        <p:nvSpPr>
          <p:cNvPr id="18" name="TextBox 17"/>
          <p:cNvSpPr txBox="1"/>
          <p:nvPr/>
        </p:nvSpPr>
        <p:spPr>
          <a:xfrm>
            <a:off x="1856232"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Capture</a:t>
            </a:r>
          </a:p>
        </p:txBody>
      </p:sp>
      <p:sp>
        <p:nvSpPr>
          <p:cNvPr id="19" name="TextBox 18"/>
          <p:cNvSpPr txBox="1"/>
          <p:nvPr/>
        </p:nvSpPr>
        <p:spPr>
          <a:xfrm>
            <a:off x="1856232"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cpal audio</a:t>
            </a:r>
            <a:br/>
            <a:r>
              <a:t>from mic</a:t>
            </a:r>
          </a:p>
        </p:txBody>
      </p:sp>
      <p:sp>
        <p:nvSpPr>
          <p:cNvPr id="20" name="TextBox 19"/>
          <p:cNvSpPr txBox="1"/>
          <p:nvPr/>
        </p:nvSpPr>
        <p:spPr>
          <a:xfrm>
            <a:off x="3182112"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21" name="Rounded Rectangle 20"/>
          <p:cNvSpPr/>
          <p:nvPr/>
        </p:nvSpPr>
        <p:spPr>
          <a:xfrm>
            <a:off x="3346704"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575304"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776472"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977640"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49624"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3</a:t>
            </a:r>
          </a:p>
        </p:txBody>
      </p:sp>
      <p:sp>
        <p:nvSpPr>
          <p:cNvPr id="26" name="TextBox 25"/>
          <p:cNvSpPr txBox="1"/>
          <p:nvPr/>
        </p:nvSpPr>
        <p:spPr>
          <a:xfrm>
            <a:off x="3392424"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VAD</a:t>
            </a:r>
          </a:p>
        </p:txBody>
      </p:sp>
      <p:sp>
        <p:nvSpPr>
          <p:cNvPr id="27" name="TextBox 26"/>
          <p:cNvSpPr txBox="1"/>
          <p:nvPr/>
        </p:nvSpPr>
        <p:spPr>
          <a:xfrm>
            <a:off x="3392424"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Silero filters</a:t>
            </a:r>
            <a:br/>
            <a:r>
              <a:t>silence</a:t>
            </a:r>
          </a:p>
        </p:txBody>
      </p:sp>
      <p:sp>
        <p:nvSpPr>
          <p:cNvPr id="28" name="TextBox 27"/>
          <p:cNvSpPr txBox="1"/>
          <p:nvPr/>
        </p:nvSpPr>
        <p:spPr>
          <a:xfrm>
            <a:off x="4718304"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29" name="Rounded Rectangle 28"/>
          <p:cNvSpPr/>
          <p:nvPr/>
        </p:nvSpPr>
        <p:spPr>
          <a:xfrm>
            <a:off x="4882896"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111496"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312664"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513832"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385816"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4</a:t>
            </a:r>
          </a:p>
        </p:txBody>
      </p:sp>
      <p:sp>
        <p:nvSpPr>
          <p:cNvPr id="34" name="TextBox 33"/>
          <p:cNvSpPr txBox="1"/>
          <p:nvPr/>
        </p:nvSpPr>
        <p:spPr>
          <a:xfrm>
            <a:off x="4928616"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Resample</a:t>
            </a:r>
          </a:p>
        </p:txBody>
      </p:sp>
      <p:sp>
        <p:nvSpPr>
          <p:cNvPr id="35" name="TextBox 34"/>
          <p:cNvSpPr txBox="1"/>
          <p:nvPr/>
        </p:nvSpPr>
        <p:spPr>
          <a:xfrm>
            <a:off x="4928616"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rubato adjusts</a:t>
            </a:r>
            <a:br/>
            <a:r>
              <a:t>sample rate</a:t>
            </a:r>
          </a:p>
        </p:txBody>
      </p:sp>
      <p:sp>
        <p:nvSpPr>
          <p:cNvPr id="36" name="TextBox 35"/>
          <p:cNvSpPr txBox="1"/>
          <p:nvPr/>
        </p:nvSpPr>
        <p:spPr>
          <a:xfrm>
            <a:off x="6254496"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37" name="Rounded Rectangle 36"/>
          <p:cNvSpPr/>
          <p:nvPr/>
        </p:nvSpPr>
        <p:spPr>
          <a:xfrm>
            <a:off x="6419088"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647688"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848856"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050024"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922008"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5</a:t>
            </a:r>
          </a:p>
        </p:txBody>
      </p:sp>
      <p:sp>
        <p:nvSpPr>
          <p:cNvPr id="42" name="TextBox 41"/>
          <p:cNvSpPr txBox="1"/>
          <p:nvPr/>
        </p:nvSpPr>
        <p:spPr>
          <a:xfrm>
            <a:off x="6464808"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Transcribe</a:t>
            </a:r>
          </a:p>
        </p:txBody>
      </p:sp>
      <p:sp>
        <p:nvSpPr>
          <p:cNvPr id="43" name="TextBox 42"/>
          <p:cNvSpPr txBox="1"/>
          <p:nvPr/>
        </p:nvSpPr>
        <p:spPr>
          <a:xfrm>
            <a:off x="6464808"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Whisper/Parakeet</a:t>
            </a:r>
            <a:br/>
            <a:r>
              <a:t>inference</a:t>
            </a:r>
          </a:p>
        </p:txBody>
      </p:sp>
      <p:sp>
        <p:nvSpPr>
          <p:cNvPr id="44" name="TextBox 43"/>
          <p:cNvSpPr txBox="1"/>
          <p:nvPr/>
        </p:nvSpPr>
        <p:spPr>
          <a:xfrm>
            <a:off x="7790688"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45" name="Rounded Rectangle 44"/>
          <p:cNvSpPr/>
          <p:nvPr/>
        </p:nvSpPr>
        <p:spPr>
          <a:xfrm>
            <a:off x="7955280"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18388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38504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58621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458200"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6</a:t>
            </a:r>
          </a:p>
        </p:txBody>
      </p:sp>
      <p:sp>
        <p:nvSpPr>
          <p:cNvPr id="50" name="TextBox 49"/>
          <p:cNvSpPr txBox="1"/>
          <p:nvPr/>
        </p:nvSpPr>
        <p:spPr>
          <a:xfrm>
            <a:off x="8001000"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Post-Process</a:t>
            </a:r>
          </a:p>
        </p:txBody>
      </p:sp>
      <p:sp>
        <p:nvSpPr>
          <p:cNvPr id="51" name="TextBox 50"/>
          <p:cNvSpPr txBox="1"/>
          <p:nvPr/>
        </p:nvSpPr>
        <p:spPr>
          <a:xfrm>
            <a:off x="8001000"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LLM cleanup</a:t>
            </a:r>
            <a:br/>
            <a:r>
              <a:t>(optional)</a:t>
            </a:r>
          </a:p>
        </p:txBody>
      </p:sp>
      <p:sp>
        <p:nvSpPr>
          <p:cNvPr id="52" name="TextBox 51"/>
          <p:cNvSpPr txBox="1"/>
          <p:nvPr/>
        </p:nvSpPr>
        <p:spPr>
          <a:xfrm>
            <a:off x="9326880" y="2743200"/>
            <a:ext cx="164592" cy="274320"/>
          </a:xfrm>
          <a:prstGeom prst="rect">
            <a:avLst/>
          </a:prstGeom>
          <a:noFill/>
        </p:spPr>
        <p:txBody>
          <a:bodyPr wrap="square">
            <a:spAutoFit/>
          </a:bodyPr>
          <a:lstStyle/>
          <a:p>
            <a:pPr algn="ctr">
              <a:spcAft>
                <a:spcPts val="0"/>
              </a:spcAft>
              <a:defRPr sz="1000" b="0" i="0">
                <a:solidFill>
                  <a:srgbClr val="D4886B"/>
                </a:solidFill>
                <a:latin typeface="Calibri"/>
              </a:defRPr>
            </a:pPr>
            <a:r>
              <a:t>▶</a:t>
            </a:r>
          </a:p>
        </p:txBody>
      </p:sp>
      <p:sp>
        <p:nvSpPr>
          <p:cNvPr id="53" name="Rounded Rectangle 52"/>
          <p:cNvSpPr/>
          <p:nvPr/>
        </p:nvSpPr>
        <p:spPr>
          <a:xfrm>
            <a:off x="9491472" y="1920240"/>
            <a:ext cx="13716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720072"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921240"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122408"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9994392" y="2331720"/>
            <a:ext cx="274320" cy="274320"/>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7</a:t>
            </a:r>
          </a:p>
        </p:txBody>
      </p:sp>
      <p:sp>
        <p:nvSpPr>
          <p:cNvPr id="58" name="TextBox 57"/>
          <p:cNvSpPr txBox="1"/>
          <p:nvPr/>
        </p:nvSpPr>
        <p:spPr>
          <a:xfrm>
            <a:off x="9537192" y="2697480"/>
            <a:ext cx="1280160" cy="274320"/>
          </a:xfrm>
          <a:prstGeom prst="rect">
            <a:avLst/>
          </a:prstGeom>
          <a:noFill/>
        </p:spPr>
        <p:txBody>
          <a:bodyPr wrap="square">
            <a:spAutoFit/>
          </a:bodyPr>
          <a:lstStyle/>
          <a:p>
            <a:pPr algn="ctr">
              <a:spcAft>
                <a:spcPts val="0"/>
              </a:spcAft>
              <a:defRPr sz="1200" b="1" i="0">
                <a:solidFill>
                  <a:srgbClr val="E8D5B7"/>
                </a:solidFill>
                <a:latin typeface="Calibri"/>
              </a:defRPr>
            </a:pPr>
            <a:r>
              <a:t>Paste</a:t>
            </a:r>
          </a:p>
        </p:txBody>
      </p:sp>
      <p:sp>
        <p:nvSpPr>
          <p:cNvPr id="59" name="TextBox 58"/>
          <p:cNvSpPr txBox="1"/>
          <p:nvPr/>
        </p:nvSpPr>
        <p:spPr>
          <a:xfrm>
            <a:off x="9537192" y="3017520"/>
            <a:ext cx="1280160" cy="548640"/>
          </a:xfrm>
          <a:prstGeom prst="rect">
            <a:avLst/>
          </a:prstGeom>
          <a:noFill/>
        </p:spPr>
        <p:txBody>
          <a:bodyPr wrap="square">
            <a:spAutoFit/>
          </a:bodyPr>
          <a:lstStyle/>
          <a:p>
            <a:pPr algn="ctr">
              <a:spcAft>
                <a:spcPts val="0"/>
              </a:spcAft>
              <a:defRPr sz="1000" b="0" i="0">
                <a:solidFill>
                  <a:srgbClr val="C4A882"/>
                </a:solidFill>
                <a:latin typeface="Calibri"/>
              </a:defRPr>
            </a:pPr>
            <a:r>
              <a:t>Text inserted</a:t>
            </a:r>
            <a:br/>
            <a:r>
              <a:t>via clipboard</a:t>
            </a:r>
          </a:p>
        </p:txBody>
      </p:sp>
      <p:sp>
        <p:nvSpPr>
          <p:cNvPr id="60" name="TextBox 59"/>
          <p:cNvSpPr txBox="1"/>
          <p:nvPr/>
        </p:nvSpPr>
        <p:spPr>
          <a:xfrm>
            <a:off x="813816" y="3950208"/>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rPr dirty="0"/>
              <a:t>Core Libraries</a:t>
            </a:r>
          </a:p>
        </p:txBody>
      </p:sp>
      <p:sp>
        <p:nvSpPr>
          <p:cNvPr id="61" name="Rounded Rectangle 60"/>
          <p:cNvSpPr/>
          <p:nvPr/>
        </p:nvSpPr>
        <p:spPr>
          <a:xfrm>
            <a:off x="50292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8580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88696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08813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436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whisper-rs</a:t>
            </a:r>
          </a:p>
        </p:txBody>
      </p:sp>
      <p:sp>
        <p:nvSpPr>
          <p:cNvPr id="66" name="TextBox 65"/>
          <p:cNvSpPr txBox="1"/>
          <p:nvPr/>
        </p:nvSpPr>
        <p:spPr>
          <a:xfrm>
            <a:off x="59436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Local Whisper inference</a:t>
            </a:r>
            <a:br/>
            <a:r>
              <a:t>with GPU acceleration</a:t>
            </a:r>
          </a:p>
        </p:txBody>
      </p:sp>
      <p:sp>
        <p:nvSpPr>
          <p:cNvPr id="67" name="Rounded Rectangle 66"/>
          <p:cNvSpPr/>
          <p:nvPr/>
        </p:nvSpPr>
        <p:spPr>
          <a:xfrm>
            <a:off x="237744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56032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76148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96265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46888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transcription-rs</a:t>
            </a:r>
          </a:p>
        </p:txBody>
      </p:sp>
      <p:sp>
        <p:nvSpPr>
          <p:cNvPr id="72" name="TextBox 71"/>
          <p:cNvSpPr txBox="1"/>
          <p:nvPr/>
        </p:nvSpPr>
        <p:spPr>
          <a:xfrm>
            <a:off x="246888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CPU-optimized Parakeet</a:t>
            </a:r>
            <a:br/>
            <a:r>
              <a:t>model inference</a:t>
            </a:r>
          </a:p>
        </p:txBody>
      </p:sp>
      <p:sp>
        <p:nvSpPr>
          <p:cNvPr id="73" name="Rounded Rectangle 72"/>
          <p:cNvSpPr/>
          <p:nvPr/>
        </p:nvSpPr>
        <p:spPr>
          <a:xfrm>
            <a:off x="425196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443484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463600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483717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34340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cpal</a:t>
            </a:r>
          </a:p>
        </p:txBody>
      </p:sp>
      <p:sp>
        <p:nvSpPr>
          <p:cNvPr id="78" name="TextBox 77"/>
          <p:cNvSpPr txBox="1"/>
          <p:nvPr/>
        </p:nvSpPr>
        <p:spPr>
          <a:xfrm>
            <a:off x="434340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Cross-platform</a:t>
            </a:r>
            <a:br/>
            <a:r>
              <a:t>audio I/O</a:t>
            </a:r>
          </a:p>
        </p:txBody>
      </p:sp>
      <p:sp>
        <p:nvSpPr>
          <p:cNvPr id="79" name="Rounded Rectangle 78"/>
          <p:cNvSpPr/>
          <p:nvPr/>
        </p:nvSpPr>
        <p:spPr>
          <a:xfrm>
            <a:off x="612648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630936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651052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671169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21792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vad-rs</a:t>
            </a:r>
          </a:p>
        </p:txBody>
      </p:sp>
      <p:sp>
        <p:nvSpPr>
          <p:cNvPr id="84" name="TextBox 83"/>
          <p:cNvSpPr txBox="1"/>
          <p:nvPr/>
        </p:nvSpPr>
        <p:spPr>
          <a:xfrm>
            <a:off x="621792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Voice Activity Detection</a:t>
            </a:r>
            <a:br/>
            <a:r>
              <a:t>(Silero VAD)</a:t>
            </a:r>
          </a:p>
        </p:txBody>
      </p:sp>
      <p:sp>
        <p:nvSpPr>
          <p:cNvPr id="85" name="Rounded Rectangle 84"/>
          <p:cNvSpPr/>
          <p:nvPr/>
        </p:nvSpPr>
        <p:spPr>
          <a:xfrm>
            <a:off x="800100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818388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838504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858621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09244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tauri-specta</a:t>
            </a:r>
          </a:p>
        </p:txBody>
      </p:sp>
      <p:sp>
        <p:nvSpPr>
          <p:cNvPr id="90" name="TextBox 89"/>
          <p:cNvSpPr txBox="1"/>
          <p:nvPr/>
        </p:nvSpPr>
        <p:spPr>
          <a:xfrm>
            <a:off x="809244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Auto-generated TypeScript</a:t>
            </a:r>
            <a:br/>
            <a:r>
              <a:t>bindings from Rust</a:t>
            </a:r>
          </a:p>
        </p:txBody>
      </p:sp>
      <p:sp>
        <p:nvSpPr>
          <p:cNvPr id="91" name="Rounded Rectangle 90"/>
          <p:cNvSpPr/>
          <p:nvPr/>
        </p:nvSpPr>
        <p:spPr>
          <a:xfrm>
            <a:off x="9875520" y="4434840"/>
            <a:ext cx="1600200" cy="12618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10058400" y="45720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10259568" y="45720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0460736" y="45720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966960" y="4846320"/>
            <a:ext cx="1371600" cy="274320"/>
          </a:xfrm>
          <a:prstGeom prst="rect">
            <a:avLst/>
          </a:prstGeom>
          <a:noFill/>
        </p:spPr>
        <p:txBody>
          <a:bodyPr wrap="square">
            <a:spAutoFit/>
          </a:bodyPr>
          <a:lstStyle/>
          <a:p>
            <a:pPr algn="l">
              <a:spcAft>
                <a:spcPts val="0"/>
              </a:spcAft>
              <a:defRPr sz="1100" b="0" i="0">
                <a:solidFill>
                  <a:srgbClr val="D4886B"/>
                </a:solidFill>
                <a:latin typeface="JetBrains Mono"/>
              </a:defRPr>
            </a:pPr>
            <a:r>
              <a:t>rodio</a:t>
            </a:r>
          </a:p>
        </p:txBody>
      </p:sp>
      <p:sp>
        <p:nvSpPr>
          <p:cNvPr id="96" name="TextBox 95"/>
          <p:cNvSpPr txBox="1"/>
          <p:nvPr/>
        </p:nvSpPr>
        <p:spPr>
          <a:xfrm>
            <a:off x="9966960" y="5120640"/>
            <a:ext cx="1371600" cy="457200"/>
          </a:xfrm>
          <a:prstGeom prst="rect">
            <a:avLst/>
          </a:prstGeom>
          <a:noFill/>
        </p:spPr>
        <p:txBody>
          <a:bodyPr wrap="square">
            <a:spAutoFit/>
          </a:bodyPr>
          <a:lstStyle/>
          <a:p>
            <a:pPr algn="l">
              <a:spcAft>
                <a:spcPts val="0"/>
              </a:spcAft>
              <a:defRPr sz="1000" b="0" i="0">
                <a:solidFill>
                  <a:srgbClr val="C4A882"/>
                </a:solidFill>
                <a:latin typeface="Calibri"/>
              </a:defRPr>
            </a:pPr>
            <a:r>
              <a:t>Audio playback for</a:t>
            </a:r>
            <a:br/>
            <a:r>
              <a:t>feedback sounds</a:t>
            </a:r>
          </a:p>
        </p:txBody>
      </p:sp>
      <p:sp>
        <p:nvSpPr>
          <p:cNvPr id="97" name="TextBox 96"/>
          <p:cNvSpPr txBox="1"/>
          <p:nvPr/>
        </p:nvSpPr>
        <p:spPr>
          <a:xfrm>
            <a:off x="731520" y="5852160"/>
            <a:ext cx="10515600" cy="365760"/>
          </a:xfrm>
          <a:prstGeom prst="rect">
            <a:avLst/>
          </a:prstGeom>
          <a:noFill/>
        </p:spPr>
        <p:txBody>
          <a:bodyPr wrap="square">
            <a:spAutoFit/>
          </a:bodyPr>
          <a:lstStyle/>
          <a:p>
            <a:pPr algn="ctr">
              <a:spcAft>
                <a:spcPts val="0"/>
              </a:spcAft>
              <a:defRPr sz="1100" b="0" i="0">
                <a:solidFill>
                  <a:srgbClr val="7A6E5D"/>
                </a:solidFill>
                <a:latin typeface="JetBrains Mono"/>
              </a:defRPr>
            </a:pPr>
            <a:r>
              <a:t>GPU: Metal (macOS)  |  Vulkan (Windows/Linux)  |  OpenBLAS (Linux fallback)  |  Language: Rust 49% + TypeScript 49%</a:t>
            </a:r>
          </a:p>
        </p:txBody>
      </p:sp>
      <p:sp>
        <p:nvSpPr>
          <p:cNvPr id="98" name="TextBox 9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Transcription Models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Choose between GPU-accelerated accuracy or CPU-optimized speed</a:t>
            </a:r>
          </a:p>
        </p:txBody>
      </p:sp>
      <p:sp>
        <p:nvSpPr>
          <p:cNvPr id="4" name="Rounded Rectangle 3"/>
          <p:cNvSpPr/>
          <p:nvPr/>
        </p:nvSpPr>
        <p:spPr>
          <a:xfrm>
            <a:off x="457200"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813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Whisper Small</a:t>
            </a:r>
          </a:p>
        </p:txBody>
      </p:sp>
      <p:sp>
        <p:nvSpPr>
          <p:cNvPr id="9" name="TextBox 8"/>
          <p:cNvSpPr txBox="1"/>
          <p:nvPr/>
        </p:nvSpPr>
        <p:spPr>
          <a:xfrm>
            <a:off x="548640"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487 MB</a:t>
            </a:r>
          </a:p>
        </p:txBody>
      </p:sp>
      <p:sp>
        <p:nvSpPr>
          <p:cNvPr id="10" name="TextBox 9"/>
          <p:cNvSpPr txBox="1"/>
          <p:nvPr/>
        </p:nvSpPr>
        <p:spPr>
          <a:xfrm>
            <a:off x="548640"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GPU</a:t>
            </a:r>
          </a:p>
        </p:txBody>
      </p:sp>
      <p:sp>
        <p:nvSpPr>
          <p:cNvPr id="11" name="TextBox 10"/>
          <p:cNvSpPr txBox="1"/>
          <p:nvPr/>
        </p:nvSpPr>
        <p:spPr>
          <a:xfrm>
            <a:off x="548640"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Good accuracy,</a:t>
            </a:r>
            <a:br/>
            <a:r>
              <a:t>smaller footprint</a:t>
            </a:r>
          </a:p>
        </p:txBody>
      </p:sp>
      <p:sp>
        <p:nvSpPr>
          <p:cNvPr id="12" name="Rounded Rectangle 11"/>
          <p:cNvSpPr/>
          <p:nvPr/>
        </p:nvSpPr>
        <p:spPr>
          <a:xfrm>
            <a:off x="2304288"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532888"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34056"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35224"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95728"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Whisper Medium</a:t>
            </a:r>
          </a:p>
        </p:txBody>
      </p:sp>
      <p:sp>
        <p:nvSpPr>
          <p:cNvPr id="17" name="TextBox 16"/>
          <p:cNvSpPr txBox="1"/>
          <p:nvPr/>
        </p:nvSpPr>
        <p:spPr>
          <a:xfrm>
            <a:off x="2395728"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492 MB</a:t>
            </a:r>
          </a:p>
        </p:txBody>
      </p:sp>
      <p:sp>
        <p:nvSpPr>
          <p:cNvPr id="18" name="TextBox 17"/>
          <p:cNvSpPr txBox="1"/>
          <p:nvPr/>
        </p:nvSpPr>
        <p:spPr>
          <a:xfrm>
            <a:off x="2395728"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GPU</a:t>
            </a:r>
          </a:p>
        </p:txBody>
      </p:sp>
      <p:sp>
        <p:nvSpPr>
          <p:cNvPr id="19" name="TextBox 18"/>
          <p:cNvSpPr txBox="1"/>
          <p:nvPr/>
        </p:nvSpPr>
        <p:spPr>
          <a:xfrm>
            <a:off x="2395728"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Balanced accuracy</a:t>
            </a:r>
            <a:br/>
            <a:r>
              <a:t>and size</a:t>
            </a:r>
          </a:p>
        </p:txBody>
      </p:sp>
      <p:sp>
        <p:nvSpPr>
          <p:cNvPr id="20" name="Rounded Rectangle 19"/>
          <p:cNvSpPr/>
          <p:nvPr/>
        </p:nvSpPr>
        <p:spPr>
          <a:xfrm>
            <a:off x="4151376"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379976"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581144"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82312"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42816"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Whisper Turbo</a:t>
            </a:r>
          </a:p>
        </p:txBody>
      </p:sp>
      <p:sp>
        <p:nvSpPr>
          <p:cNvPr id="25" name="TextBox 24"/>
          <p:cNvSpPr txBox="1"/>
          <p:nvPr/>
        </p:nvSpPr>
        <p:spPr>
          <a:xfrm>
            <a:off x="4242816"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1.6 GB</a:t>
            </a:r>
          </a:p>
        </p:txBody>
      </p:sp>
      <p:sp>
        <p:nvSpPr>
          <p:cNvPr id="26" name="TextBox 25"/>
          <p:cNvSpPr txBox="1"/>
          <p:nvPr/>
        </p:nvSpPr>
        <p:spPr>
          <a:xfrm>
            <a:off x="4242816"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GPU</a:t>
            </a:r>
          </a:p>
        </p:txBody>
      </p:sp>
      <p:sp>
        <p:nvSpPr>
          <p:cNvPr id="27" name="TextBox 26"/>
          <p:cNvSpPr txBox="1"/>
          <p:nvPr/>
        </p:nvSpPr>
        <p:spPr>
          <a:xfrm>
            <a:off x="4242816"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Fast inference</a:t>
            </a:r>
            <a:br/>
            <a:r>
              <a:t>with GPU</a:t>
            </a:r>
          </a:p>
        </p:txBody>
      </p:sp>
      <p:sp>
        <p:nvSpPr>
          <p:cNvPr id="28" name="Rounded Rectangle 27"/>
          <p:cNvSpPr/>
          <p:nvPr/>
        </p:nvSpPr>
        <p:spPr>
          <a:xfrm>
            <a:off x="5998464"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227064"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28232"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629400"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89904"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Whisper Large</a:t>
            </a:r>
          </a:p>
        </p:txBody>
      </p:sp>
      <p:sp>
        <p:nvSpPr>
          <p:cNvPr id="33" name="TextBox 32"/>
          <p:cNvSpPr txBox="1"/>
          <p:nvPr/>
        </p:nvSpPr>
        <p:spPr>
          <a:xfrm>
            <a:off x="6089904"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1.1 GB</a:t>
            </a:r>
          </a:p>
        </p:txBody>
      </p:sp>
      <p:sp>
        <p:nvSpPr>
          <p:cNvPr id="34" name="TextBox 33"/>
          <p:cNvSpPr txBox="1"/>
          <p:nvPr/>
        </p:nvSpPr>
        <p:spPr>
          <a:xfrm>
            <a:off x="6089904"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GPU</a:t>
            </a:r>
          </a:p>
        </p:txBody>
      </p:sp>
      <p:sp>
        <p:nvSpPr>
          <p:cNvPr id="35" name="TextBox 34"/>
          <p:cNvSpPr txBox="1"/>
          <p:nvPr/>
        </p:nvSpPr>
        <p:spPr>
          <a:xfrm>
            <a:off x="6089904"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Highest accuracy</a:t>
            </a:r>
            <a:br/>
            <a:r>
              <a:t>(multilingual)</a:t>
            </a:r>
          </a:p>
        </p:txBody>
      </p:sp>
      <p:sp>
        <p:nvSpPr>
          <p:cNvPr id="36" name="Rounded Rectangle 35"/>
          <p:cNvSpPr/>
          <p:nvPr/>
        </p:nvSpPr>
        <p:spPr>
          <a:xfrm>
            <a:off x="7845552"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074152"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275320"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476488"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36992"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Parakeet V3</a:t>
            </a:r>
          </a:p>
        </p:txBody>
      </p:sp>
      <p:sp>
        <p:nvSpPr>
          <p:cNvPr id="41" name="TextBox 40"/>
          <p:cNvSpPr txBox="1"/>
          <p:nvPr/>
        </p:nvSpPr>
        <p:spPr>
          <a:xfrm>
            <a:off x="7936992"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CPU-opt</a:t>
            </a:r>
          </a:p>
        </p:txBody>
      </p:sp>
      <p:sp>
        <p:nvSpPr>
          <p:cNvPr id="42" name="TextBox 41"/>
          <p:cNvSpPr txBox="1"/>
          <p:nvPr/>
        </p:nvSpPr>
        <p:spPr>
          <a:xfrm>
            <a:off x="7936992"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CPU</a:t>
            </a:r>
          </a:p>
        </p:txBody>
      </p:sp>
      <p:sp>
        <p:nvSpPr>
          <p:cNvPr id="43" name="TextBox 42"/>
          <p:cNvSpPr txBox="1"/>
          <p:nvPr/>
        </p:nvSpPr>
        <p:spPr>
          <a:xfrm>
            <a:off x="7936992"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~5x real-time on</a:t>
            </a:r>
            <a:br/>
            <a:r>
              <a:t>mid-range hardware</a:t>
            </a:r>
          </a:p>
        </p:txBody>
      </p:sp>
      <p:sp>
        <p:nvSpPr>
          <p:cNvPr id="44" name="Rounded Rectangle 43"/>
          <p:cNvSpPr/>
          <p:nvPr/>
        </p:nvSpPr>
        <p:spPr>
          <a:xfrm>
            <a:off x="9692640" y="1737360"/>
            <a:ext cx="16459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92124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12240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32357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784080" y="2148840"/>
            <a:ext cx="1463040" cy="274320"/>
          </a:xfrm>
          <a:prstGeom prst="rect">
            <a:avLst/>
          </a:prstGeom>
          <a:noFill/>
        </p:spPr>
        <p:txBody>
          <a:bodyPr wrap="square">
            <a:spAutoFit/>
          </a:bodyPr>
          <a:lstStyle/>
          <a:p>
            <a:pPr algn="ctr">
              <a:spcAft>
                <a:spcPts val="0"/>
              </a:spcAft>
              <a:defRPr sz="1200" b="1" i="0">
                <a:solidFill>
                  <a:srgbClr val="E8D5B7"/>
                </a:solidFill>
                <a:latin typeface="Calibri"/>
              </a:defRPr>
            </a:pPr>
            <a:r>
              <a:t>Custom GGML</a:t>
            </a:r>
          </a:p>
        </p:txBody>
      </p:sp>
      <p:sp>
        <p:nvSpPr>
          <p:cNvPr id="49" name="TextBox 48"/>
          <p:cNvSpPr txBox="1"/>
          <p:nvPr/>
        </p:nvSpPr>
        <p:spPr>
          <a:xfrm>
            <a:off x="9784080" y="2468880"/>
            <a:ext cx="1463040" cy="228600"/>
          </a:xfrm>
          <a:prstGeom prst="rect">
            <a:avLst/>
          </a:prstGeom>
          <a:noFill/>
        </p:spPr>
        <p:txBody>
          <a:bodyPr wrap="square">
            <a:spAutoFit/>
          </a:bodyPr>
          <a:lstStyle/>
          <a:p>
            <a:pPr algn="ctr">
              <a:spcAft>
                <a:spcPts val="0"/>
              </a:spcAft>
              <a:defRPr sz="1400" b="1" i="0">
                <a:solidFill>
                  <a:srgbClr val="D4886B"/>
                </a:solidFill>
                <a:latin typeface="Calibri"/>
              </a:defRPr>
            </a:pPr>
            <a:r>
              <a:t>Variable</a:t>
            </a:r>
          </a:p>
        </p:txBody>
      </p:sp>
      <p:sp>
        <p:nvSpPr>
          <p:cNvPr id="50" name="TextBox 49"/>
          <p:cNvSpPr txBox="1"/>
          <p:nvPr/>
        </p:nvSpPr>
        <p:spPr>
          <a:xfrm>
            <a:off x="9784080" y="2697480"/>
            <a:ext cx="1463040" cy="228600"/>
          </a:xfrm>
          <a:prstGeom prst="rect">
            <a:avLst/>
          </a:prstGeom>
          <a:noFill/>
        </p:spPr>
        <p:txBody>
          <a:bodyPr wrap="square">
            <a:spAutoFit/>
          </a:bodyPr>
          <a:lstStyle/>
          <a:p>
            <a:pPr algn="ctr">
              <a:spcAft>
                <a:spcPts val="0"/>
              </a:spcAft>
              <a:defRPr sz="1100" b="0" i="0">
                <a:solidFill>
                  <a:srgbClr val="7A6E5D"/>
                </a:solidFill>
                <a:latin typeface="Calibri"/>
              </a:defRPr>
            </a:pPr>
            <a:r>
              <a:t>GPU/CPU</a:t>
            </a:r>
          </a:p>
        </p:txBody>
      </p:sp>
      <p:sp>
        <p:nvSpPr>
          <p:cNvPr id="51" name="TextBox 50"/>
          <p:cNvSpPr txBox="1"/>
          <p:nvPr/>
        </p:nvSpPr>
        <p:spPr>
          <a:xfrm>
            <a:off x="9784080" y="2971800"/>
            <a:ext cx="1463040" cy="457200"/>
          </a:xfrm>
          <a:prstGeom prst="rect">
            <a:avLst/>
          </a:prstGeom>
          <a:noFill/>
        </p:spPr>
        <p:txBody>
          <a:bodyPr wrap="square">
            <a:spAutoFit/>
          </a:bodyPr>
          <a:lstStyle/>
          <a:p>
            <a:pPr algn="ctr">
              <a:spcAft>
                <a:spcPts val="0"/>
              </a:spcAft>
              <a:defRPr sz="1100" b="0" i="0">
                <a:solidFill>
                  <a:srgbClr val="C4A882"/>
                </a:solidFill>
                <a:latin typeface="Calibri"/>
              </a:defRPr>
            </a:pPr>
            <a:r>
              <a:t>Drop any .bin file</a:t>
            </a:r>
            <a:br/>
            <a:r>
              <a:t>into models dir</a:t>
            </a:r>
          </a:p>
        </p:txBody>
      </p:sp>
      <p:sp>
        <p:nvSpPr>
          <p:cNvPr id="52" name="Rounded Rectangle 51"/>
          <p:cNvSpPr/>
          <p:nvPr/>
        </p:nvSpPr>
        <p:spPr>
          <a:xfrm>
            <a:off x="731520" y="3840480"/>
            <a:ext cx="1069848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60120" y="39776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61288" y="39776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362456" y="39776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645920" y="391363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Community Favorite: Parakeet V3</a:t>
            </a:r>
          </a:p>
        </p:txBody>
      </p:sp>
      <p:sp>
        <p:nvSpPr>
          <p:cNvPr id="57" name="TextBox 56"/>
          <p:cNvSpPr txBox="1"/>
          <p:nvPr/>
        </p:nvSpPr>
        <p:spPr>
          <a:xfrm>
            <a:off x="909881" y="4169979"/>
            <a:ext cx="10241280" cy="640080"/>
          </a:xfrm>
          <a:prstGeom prst="rect">
            <a:avLst/>
          </a:prstGeom>
          <a:noFill/>
        </p:spPr>
        <p:txBody>
          <a:bodyPr wrap="square">
            <a:spAutoFit/>
          </a:bodyPr>
          <a:lstStyle/>
          <a:p>
            <a:pPr algn="l">
              <a:spcAft>
                <a:spcPts val="0"/>
              </a:spcAft>
              <a:defRPr sz="1500" b="0" i="0">
                <a:solidFill>
                  <a:srgbClr val="E8D5B7"/>
                </a:solidFill>
                <a:latin typeface="Calibri"/>
              </a:defRPr>
            </a:pPr>
            <a:r>
              <a:rPr dirty="0"/>
              <a:t>Parakeet V3 is the standout model for developers. CPU-optimized (no GPU needed), automatic language detection, and near-instant transcription at ~5x real-time speed. Multiple Hacker News users switched from paid tools specifically because of Parakeet's speed.</a:t>
            </a:r>
          </a:p>
        </p:txBody>
      </p:sp>
      <p:sp>
        <p:nvSpPr>
          <p:cNvPr id="58" name="TextBox 57"/>
          <p:cNvSpPr txBox="1"/>
          <p:nvPr/>
        </p:nvSpPr>
        <p:spPr>
          <a:xfrm>
            <a:off x="731520" y="5212080"/>
            <a:ext cx="10515600" cy="365760"/>
          </a:xfrm>
          <a:prstGeom prst="rect">
            <a:avLst/>
          </a:prstGeom>
          <a:noFill/>
        </p:spPr>
        <p:txBody>
          <a:bodyPr wrap="square">
            <a:spAutoFit/>
          </a:bodyPr>
          <a:lstStyle/>
          <a:p>
            <a:pPr algn="l">
              <a:spcAft>
                <a:spcPts val="0"/>
              </a:spcAft>
              <a:defRPr sz="2000" b="0" i="0">
                <a:solidFill>
                  <a:srgbClr val="E8D5B7"/>
                </a:solidFill>
                <a:latin typeface="Georgia"/>
              </a:defRPr>
            </a:pPr>
            <a:r>
              <a:t>Additional Language Support</a:t>
            </a:r>
          </a:p>
        </p:txBody>
      </p:sp>
      <p:sp>
        <p:nvSpPr>
          <p:cNvPr id="59" name="TextBox 58"/>
          <p:cNvSpPr txBox="1"/>
          <p:nvPr/>
        </p:nvSpPr>
        <p:spPr>
          <a:xfrm>
            <a:off x="731520" y="5577840"/>
            <a:ext cx="10515600" cy="914400"/>
          </a:xfrm>
          <a:prstGeom prst="rect">
            <a:avLst/>
          </a:prstGeom>
          <a:noFill/>
        </p:spPr>
        <p:txBody>
          <a:bodyPr wrap="square">
            <a:spAutoFit/>
          </a:bodyPr>
          <a:lstStyle/>
          <a:p>
            <a:pPr>
              <a:spcBef>
                <a:spcPts val="200"/>
              </a:spcBef>
              <a:spcAft>
                <a:spcPts val="800"/>
              </a:spcAft>
            </a:pPr>
            <a:r>
              <a:rPr sz="1300">
                <a:solidFill>
                  <a:srgbClr val="D4886B"/>
                </a:solidFill>
                <a:latin typeface="Calibri"/>
              </a:rPr>
              <a:t>–  </a:t>
            </a:r>
            <a:r>
              <a:rPr sz="1300">
                <a:solidFill>
                  <a:srgbClr val="C4A882"/>
                </a:solidFill>
                <a:latin typeface="Calibri"/>
              </a:rPr>
              <a:t>Breeze ASR and SenseVoice Small for Chinese language transcription</a:t>
            </a:r>
          </a:p>
          <a:p>
            <a:pPr>
              <a:spcBef>
                <a:spcPts val="200"/>
              </a:spcBef>
              <a:spcAft>
                <a:spcPts val="800"/>
              </a:spcAft>
            </a:pPr>
            <a:r>
              <a:rPr sz="1300">
                <a:solidFill>
                  <a:srgbClr val="D4886B"/>
                </a:solidFill>
                <a:latin typeface="Calibri"/>
              </a:rPr>
              <a:t>–  </a:t>
            </a:r>
            <a:r>
              <a:rPr sz="1300">
                <a:solidFill>
                  <a:srgbClr val="C4A882"/>
                </a:solidFill>
                <a:latin typeface="Calibri"/>
              </a:rPr>
              <a:t>Translate-to-English setting for automatic translation from any language</a:t>
            </a:r>
          </a:p>
          <a:p>
            <a:pPr>
              <a:spcBef>
                <a:spcPts val="200"/>
              </a:spcBef>
              <a:spcAft>
                <a:spcPts val="800"/>
              </a:spcAft>
            </a:pPr>
            <a:r>
              <a:rPr sz="1300">
                <a:solidFill>
                  <a:srgbClr val="D4886B"/>
                </a:solidFill>
                <a:latin typeface="Calibri"/>
              </a:rPr>
              <a:t>–  </a:t>
            </a:r>
            <a:r>
              <a:rPr sz="1300">
                <a:solidFill>
                  <a:srgbClr val="C4A882"/>
                </a:solidFill>
                <a:latin typeface="Calibri"/>
              </a:rPr>
              <a:t>N-gram matching for multi-word custom word correction</a:t>
            </a:r>
          </a:p>
        </p:txBody>
      </p:sp>
      <p:sp>
        <p:nvSpPr>
          <p:cNvPr id="60" name="TextBox 5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LLM Post-Processing &amp; Customization</a:t>
            </a:r>
          </a:p>
        </p:txBody>
      </p:sp>
      <p:sp>
        <p:nvSpPr>
          <p:cNvPr id="3" name="Rounded Rectangle 2"/>
          <p:cNvSpPr/>
          <p:nvPr/>
        </p:nvSpPr>
        <p:spPr>
          <a:xfrm>
            <a:off x="731520" y="1371600"/>
            <a:ext cx="51206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4447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LLM Post-Processing (Debug Menu)</a:t>
            </a:r>
          </a:p>
        </p:txBody>
      </p:sp>
      <p:sp>
        <p:nvSpPr>
          <p:cNvPr id="8" name="TextBox 7"/>
          <p:cNvSpPr txBox="1"/>
          <p:nvPr/>
        </p:nvSpPr>
        <p:spPr>
          <a:xfrm>
            <a:off x="1005840" y="1920240"/>
            <a:ext cx="4572000" cy="16459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Send transcripts through local or remote LLM</a:t>
            </a:r>
          </a:p>
          <a:p>
            <a:pPr>
              <a:spcBef>
                <a:spcPts val="200"/>
              </a:spcBef>
              <a:spcAft>
                <a:spcPts val="800"/>
              </a:spcAft>
            </a:pPr>
            <a:r>
              <a:rPr sz="1400">
                <a:solidFill>
                  <a:srgbClr val="D4886B"/>
                </a:solidFill>
                <a:latin typeface="Calibri"/>
              </a:rPr>
              <a:t>–  </a:t>
            </a:r>
            <a:r>
              <a:rPr sz="1400">
                <a:solidFill>
                  <a:srgbClr val="C4A882"/>
                </a:solidFill>
                <a:latin typeface="Calibri"/>
              </a:rPr>
              <a:t>Custom system prompts for cleanup rules</a:t>
            </a:r>
          </a:p>
          <a:p>
            <a:pPr>
              <a:spcBef>
                <a:spcPts val="200"/>
              </a:spcBef>
              <a:spcAft>
                <a:spcPts val="800"/>
              </a:spcAft>
            </a:pPr>
            <a:r>
              <a:rPr sz="1400">
                <a:solidFill>
                  <a:srgbClr val="D4886B"/>
                </a:solidFill>
                <a:latin typeface="Calibri"/>
              </a:rPr>
              <a:t>–  </a:t>
            </a:r>
            <a:r>
              <a:rPr sz="1400">
                <a:solidFill>
                  <a:srgbClr val="C4A882"/>
                </a:solidFill>
                <a:latin typeface="Calibri"/>
              </a:rPr>
              <a:t>Context variables: $currentApp, $shortPrevTranscript</a:t>
            </a:r>
          </a:p>
          <a:p>
            <a:pPr>
              <a:spcBef>
                <a:spcPts val="200"/>
              </a:spcBef>
              <a:spcAft>
                <a:spcPts val="800"/>
              </a:spcAft>
            </a:pPr>
            <a:r>
              <a:rPr sz="1400">
                <a:solidFill>
                  <a:srgbClr val="D4886B"/>
                </a:solidFill>
                <a:latin typeface="Calibri"/>
              </a:rPr>
              <a:t>–  </a:t>
            </a:r>
            <a:r>
              <a:rPr sz="1400">
                <a:solidFill>
                  <a:srgbClr val="C4A882"/>
                </a:solidFill>
                <a:latin typeface="Calibri"/>
              </a:rPr>
              <a:t>Toggle via keyboard shortcut (--toggle-post-process)</a:t>
            </a:r>
          </a:p>
          <a:p>
            <a:pPr>
              <a:spcBef>
                <a:spcPts val="200"/>
              </a:spcBef>
              <a:spcAft>
                <a:spcPts val="800"/>
              </a:spcAft>
            </a:pPr>
            <a:r>
              <a:rPr sz="1400">
                <a:solidFill>
                  <a:srgbClr val="D4886B"/>
                </a:solidFill>
                <a:latin typeface="Calibri"/>
              </a:rPr>
              <a:t>–  </a:t>
            </a:r>
            <a:r>
              <a:rPr sz="1400">
                <a:solidFill>
                  <a:srgbClr val="C4A882"/>
                </a:solidFill>
                <a:latin typeface="Calibri"/>
              </a:rPr>
              <a:t>Accessible via Cmd/Ctrl+Shift+D debug menu</a:t>
            </a:r>
          </a:p>
        </p:txBody>
      </p:sp>
      <p:sp>
        <p:nvSpPr>
          <p:cNvPr id="9" name="Rounded Rectangle 8"/>
          <p:cNvSpPr/>
          <p:nvPr/>
        </p:nvSpPr>
        <p:spPr>
          <a:xfrm>
            <a:off x="6309360" y="1371600"/>
            <a:ext cx="51206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53796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73912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94029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4447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Replacement Rules</a:t>
            </a:r>
          </a:p>
        </p:txBody>
      </p:sp>
      <p:sp>
        <p:nvSpPr>
          <p:cNvPr id="14" name="TextBox 13"/>
          <p:cNvSpPr txBox="1"/>
          <p:nvPr/>
        </p:nvSpPr>
        <p:spPr>
          <a:xfrm>
            <a:off x="6583680" y="1920240"/>
            <a:ext cx="4572000" cy="16459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Pattern-based find-and-replace</a:t>
            </a:r>
          </a:p>
          <a:p>
            <a:pPr>
              <a:spcBef>
                <a:spcPts val="200"/>
              </a:spcBef>
              <a:spcAft>
                <a:spcPts val="800"/>
              </a:spcAft>
            </a:pPr>
            <a:r>
              <a:rPr sz="1400">
                <a:solidFill>
                  <a:srgbClr val="D4886B"/>
                </a:solidFill>
                <a:latin typeface="Calibri"/>
              </a:rPr>
              <a:t>–  </a:t>
            </a:r>
            <a:r>
              <a:rPr sz="1400">
                <a:solidFill>
                  <a:srgbClr val="C4A882"/>
                </a:solidFill>
                <a:latin typeface="Calibri"/>
              </a:rPr>
              <a:t>Import/export via JSON</a:t>
            </a:r>
          </a:p>
          <a:p>
            <a:pPr>
              <a:spcBef>
                <a:spcPts val="200"/>
              </a:spcBef>
              <a:spcAft>
                <a:spcPts val="800"/>
              </a:spcAft>
            </a:pPr>
            <a:r>
              <a:rPr sz="1400">
                <a:solidFill>
                  <a:srgbClr val="D4886B"/>
                </a:solidFill>
                <a:latin typeface="Calibri"/>
              </a:rPr>
              <a:t>–  </a:t>
            </a:r>
            <a:r>
              <a:rPr sz="1400">
                <a:solidFill>
                  <a:srgbClr val="C4A882"/>
                </a:solidFill>
                <a:latin typeface="Calibri"/>
              </a:rPr>
              <a:t>Pre-built templates: English, French punctuation</a:t>
            </a:r>
          </a:p>
          <a:p>
            <a:pPr>
              <a:spcBef>
                <a:spcPts val="200"/>
              </a:spcBef>
              <a:spcAft>
                <a:spcPts val="800"/>
              </a:spcAft>
            </a:pPr>
            <a:r>
              <a:rPr sz="1400">
                <a:solidFill>
                  <a:srgbClr val="D4886B"/>
                </a:solidFill>
                <a:latin typeface="Calibri"/>
              </a:rPr>
              <a:t>–  </a:t>
            </a:r>
            <a:r>
              <a:rPr sz="1400">
                <a:solidFill>
                  <a:srgbClr val="C4A882"/>
                </a:solidFill>
                <a:latin typeface="Calibri"/>
              </a:rPr>
              <a:t>N-gram matching for multi-word corrections</a:t>
            </a:r>
          </a:p>
          <a:p>
            <a:pPr>
              <a:spcBef>
                <a:spcPts val="200"/>
              </a:spcBef>
              <a:spcAft>
                <a:spcPts val="800"/>
              </a:spcAft>
            </a:pPr>
            <a:r>
              <a:rPr sz="1400">
                <a:solidFill>
                  <a:srgbClr val="D4886B"/>
                </a:solidFill>
                <a:latin typeface="Calibri"/>
              </a:rPr>
              <a:t>–  </a:t>
            </a:r>
            <a:r>
              <a:rPr sz="1400">
                <a:solidFill>
                  <a:srgbClr val="C4A882"/>
                </a:solidFill>
                <a:latin typeface="Calibri"/>
              </a:rPr>
              <a:t>Custom technical vocabulary handling</a:t>
            </a:r>
          </a:p>
        </p:txBody>
      </p:sp>
      <p:sp>
        <p:nvSpPr>
          <p:cNvPr id="15" name="TextBox 14"/>
          <p:cNvSpPr txBox="1"/>
          <p:nvPr/>
        </p:nvSpPr>
        <p:spPr>
          <a:xfrm>
            <a:off x="731520" y="3931920"/>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t>CLI &amp; Scripting Integration</a:t>
            </a:r>
          </a:p>
        </p:txBody>
      </p:sp>
      <p:sp>
        <p:nvSpPr>
          <p:cNvPr id="16" name="TextBox 15"/>
          <p:cNvSpPr txBox="1"/>
          <p:nvPr/>
        </p:nvSpPr>
        <p:spPr>
          <a:xfrm>
            <a:off x="914400" y="4389120"/>
            <a:ext cx="3200400" cy="274320"/>
          </a:xfrm>
          <a:prstGeom prst="rect">
            <a:avLst/>
          </a:prstGeom>
          <a:noFill/>
        </p:spPr>
        <p:txBody>
          <a:bodyPr wrap="square">
            <a:spAutoFit/>
          </a:bodyPr>
          <a:lstStyle/>
          <a:p>
            <a:pPr algn="l">
              <a:spcAft>
                <a:spcPts val="0"/>
              </a:spcAft>
              <a:defRPr sz="1100" b="0" i="0">
                <a:solidFill>
                  <a:srgbClr val="D4886B"/>
                </a:solidFill>
                <a:latin typeface="JetBrains Mono"/>
              </a:defRPr>
            </a:pPr>
            <a:r>
              <a:t>--toggle-transcription</a:t>
            </a:r>
          </a:p>
        </p:txBody>
      </p:sp>
      <p:sp>
        <p:nvSpPr>
          <p:cNvPr id="17" name="TextBox 16"/>
          <p:cNvSpPr txBox="1"/>
          <p:nvPr/>
        </p:nvSpPr>
        <p:spPr>
          <a:xfrm>
            <a:off x="4389120" y="4389120"/>
            <a:ext cx="6858000" cy="274320"/>
          </a:xfrm>
          <a:prstGeom prst="rect">
            <a:avLst/>
          </a:prstGeom>
          <a:noFill/>
        </p:spPr>
        <p:txBody>
          <a:bodyPr wrap="square">
            <a:spAutoFit/>
          </a:bodyPr>
          <a:lstStyle/>
          <a:p>
            <a:pPr algn="l">
              <a:spcAft>
                <a:spcPts val="0"/>
              </a:spcAft>
              <a:defRPr sz="1200" b="0" i="0">
                <a:solidFill>
                  <a:srgbClr val="C4A882"/>
                </a:solidFill>
                <a:latin typeface="Calibri"/>
              </a:defRPr>
            </a:pPr>
            <a:r>
              <a:t>Start/stop recording from scripts</a:t>
            </a:r>
          </a:p>
        </p:txBody>
      </p:sp>
      <p:sp>
        <p:nvSpPr>
          <p:cNvPr id="18" name="TextBox 17"/>
          <p:cNvSpPr txBox="1"/>
          <p:nvPr/>
        </p:nvSpPr>
        <p:spPr>
          <a:xfrm>
            <a:off x="914400" y="4773168"/>
            <a:ext cx="3200400" cy="274320"/>
          </a:xfrm>
          <a:prstGeom prst="rect">
            <a:avLst/>
          </a:prstGeom>
          <a:noFill/>
        </p:spPr>
        <p:txBody>
          <a:bodyPr wrap="square">
            <a:spAutoFit/>
          </a:bodyPr>
          <a:lstStyle/>
          <a:p>
            <a:pPr algn="l">
              <a:spcAft>
                <a:spcPts val="0"/>
              </a:spcAft>
              <a:defRPr sz="1100" b="0" i="0">
                <a:solidFill>
                  <a:srgbClr val="D4886B"/>
                </a:solidFill>
                <a:latin typeface="JetBrains Mono"/>
              </a:defRPr>
            </a:pPr>
            <a:r>
              <a:t>--toggle-post-process</a:t>
            </a:r>
          </a:p>
        </p:txBody>
      </p:sp>
      <p:sp>
        <p:nvSpPr>
          <p:cNvPr id="19" name="TextBox 18"/>
          <p:cNvSpPr txBox="1"/>
          <p:nvPr/>
        </p:nvSpPr>
        <p:spPr>
          <a:xfrm>
            <a:off x="4389120" y="4773168"/>
            <a:ext cx="6858000" cy="274320"/>
          </a:xfrm>
          <a:prstGeom prst="rect">
            <a:avLst/>
          </a:prstGeom>
          <a:noFill/>
        </p:spPr>
        <p:txBody>
          <a:bodyPr wrap="square">
            <a:spAutoFit/>
          </a:bodyPr>
          <a:lstStyle/>
          <a:p>
            <a:pPr algn="l">
              <a:spcAft>
                <a:spcPts val="0"/>
              </a:spcAft>
              <a:defRPr sz="1200" b="0" i="0">
                <a:solidFill>
                  <a:srgbClr val="C4A882"/>
                </a:solidFill>
                <a:latin typeface="Calibri"/>
              </a:defRPr>
            </a:pPr>
            <a:r>
              <a:t>Enable/disable LLM post-processing</a:t>
            </a:r>
          </a:p>
        </p:txBody>
      </p:sp>
      <p:sp>
        <p:nvSpPr>
          <p:cNvPr id="20" name="TextBox 19"/>
          <p:cNvSpPr txBox="1"/>
          <p:nvPr/>
        </p:nvSpPr>
        <p:spPr>
          <a:xfrm>
            <a:off x="914400" y="5157216"/>
            <a:ext cx="3200400" cy="274320"/>
          </a:xfrm>
          <a:prstGeom prst="rect">
            <a:avLst/>
          </a:prstGeom>
          <a:noFill/>
        </p:spPr>
        <p:txBody>
          <a:bodyPr wrap="square">
            <a:spAutoFit/>
          </a:bodyPr>
          <a:lstStyle/>
          <a:p>
            <a:pPr algn="l">
              <a:spcAft>
                <a:spcPts val="0"/>
              </a:spcAft>
              <a:defRPr sz="1100" b="0" i="0">
                <a:solidFill>
                  <a:srgbClr val="D4886B"/>
                </a:solidFill>
                <a:latin typeface="JetBrains Mono"/>
              </a:defRPr>
            </a:pPr>
            <a:r>
              <a:t>--cancel</a:t>
            </a:r>
          </a:p>
        </p:txBody>
      </p:sp>
      <p:sp>
        <p:nvSpPr>
          <p:cNvPr id="21" name="TextBox 20"/>
          <p:cNvSpPr txBox="1"/>
          <p:nvPr/>
        </p:nvSpPr>
        <p:spPr>
          <a:xfrm>
            <a:off x="4389120" y="5157216"/>
            <a:ext cx="6858000" cy="274320"/>
          </a:xfrm>
          <a:prstGeom prst="rect">
            <a:avLst/>
          </a:prstGeom>
          <a:noFill/>
        </p:spPr>
        <p:txBody>
          <a:bodyPr wrap="square">
            <a:spAutoFit/>
          </a:bodyPr>
          <a:lstStyle/>
          <a:p>
            <a:pPr algn="l">
              <a:spcAft>
                <a:spcPts val="0"/>
              </a:spcAft>
              <a:defRPr sz="1200" b="0" i="0">
                <a:solidFill>
                  <a:srgbClr val="C4A882"/>
                </a:solidFill>
                <a:latin typeface="Calibri"/>
              </a:defRPr>
            </a:pPr>
            <a:r>
              <a:t>Cancel current transcription</a:t>
            </a:r>
          </a:p>
        </p:txBody>
      </p:sp>
      <p:sp>
        <p:nvSpPr>
          <p:cNvPr id="22" name="TextBox 21"/>
          <p:cNvSpPr txBox="1"/>
          <p:nvPr/>
        </p:nvSpPr>
        <p:spPr>
          <a:xfrm>
            <a:off x="914400" y="5541264"/>
            <a:ext cx="3200400" cy="274320"/>
          </a:xfrm>
          <a:prstGeom prst="rect">
            <a:avLst/>
          </a:prstGeom>
          <a:noFill/>
        </p:spPr>
        <p:txBody>
          <a:bodyPr wrap="square">
            <a:spAutoFit/>
          </a:bodyPr>
          <a:lstStyle/>
          <a:p>
            <a:pPr algn="l">
              <a:spcAft>
                <a:spcPts val="0"/>
              </a:spcAft>
              <a:defRPr sz="1100" b="0" i="0">
                <a:solidFill>
                  <a:srgbClr val="D4886B"/>
                </a:solidFill>
                <a:latin typeface="JetBrains Mono"/>
              </a:defRPr>
            </a:pPr>
            <a:r>
              <a:t>--start-hidden --no-tray</a:t>
            </a:r>
          </a:p>
        </p:txBody>
      </p:sp>
      <p:sp>
        <p:nvSpPr>
          <p:cNvPr id="23" name="TextBox 22"/>
          <p:cNvSpPr txBox="1"/>
          <p:nvPr/>
        </p:nvSpPr>
        <p:spPr>
          <a:xfrm>
            <a:off x="4389120" y="5541264"/>
            <a:ext cx="6858000" cy="274320"/>
          </a:xfrm>
          <a:prstGeom prst="rect">
            <a:avLst/>
          </a:prstGeom>
          <a:noFill/>
        </p:spPr>
        <p:txBody>
          <a:bodyPr wrap="square">
            <a:spAutoFit/>
          </a:bodyPr>
          <a:lstStyle/>
          <a:p>
            <a:pPr algn="l">
              <a:spcAft>
                <a:spcPts val="0"/>
              </a:spcAft>
              <a:defRPr sz="1200" b="0" i="0">
                <a:solidFill>
                  <a:srgbClr val="C4A882"/>
                </a:solidFill>
                <a:latin typeface="Calibri"/>
              </a:defRPr>
            </a:pPr>
            <a:r>
              <a:t>Autostart without visible UI</a:t>
            </a:r>
          </a:p>
        </p:txBody>
      </p:sp>
      <p:sp>
        <p:nvSpPr>
          <p:cNvPr id="24" name="TextBox 23"/>
          <p:cNvSpPr txBox="1"/>
          <p:nvPr/>
        </p:nvSpPr>
        <p:spPr>
          <a:xfrm>
            <a:off x="914400" y="5925312"/>
            <a:ext cx="3200400" cy="274320"/>
          </a:xfrm>
          <a:prstGeom prst="rect">
            <a:avLst/>
          </a:prstGeom>
          <a:noFill/>
        </p:spPr>
        <p:txBody>
          <a:bodyPr wrap="square">
            <a:spAutoFit/>
          </a:bodyPr>
          <a:lstStyle/>
          <a:p>
            <a:pPr algn="l">
              <a:spcAft>
                <a:spcPts val="0"/>
              </a:spcAft>
              <a:defRPr sz="1100" b="0" i="0">
                <a:solidFill>
                  <a:srgbClr val="D4886B"/>
                </a:solidFill>
                <a:latin typeface="JetBrains Mono"/>
              </a:defRPr>
            </a:pPr>
            <a:r>
              <a:t>SIGUSR1 / SIGUSR2</a:t>
            </a:r>
          </a:p>
        </p:txBody>
      </p:sp>
      <p:sp>
        <p:nvSpPr>
          <p:cNvPr id="25" name="TextBox 24"/>
          <p:cNvSpPr txBox="1"/>
          <p:nvPr/>
        </p:nvSpPr>
        <p:spPr>
          <a:xfrm>
            <a:off x="4389120" y="5925312"/>
            <a:ext cx="6858000" cy="274320"/>
          </a:xfrm>
          <a:prstGeom prst="rect">
            <a:avLst/>
          </a:prstGeom>
          <a:noFill/>
        </p:spPr>
        <p:txBody>
          <a:bodyPr wrap="square">
            <a:spAutoFit/>
          </a:bodyPr>
          <a:lstStyle/>
          <a:p>
            <a:pPr algn="l">
              <a:spcAft>
                <a:spcPts val="0"/>
              </a:spcAft>
              <a:defRPr sz="1200" b="0" i="0">
                <a:solidFill>
                  <a:srgbClr val="C4A882"/>
                </a:solidFill>
                <a:latin typeface="Calibri"/>
              </a:defRPr>
            </a:pPr>
            <a:r>
              <a:t>Unix signals for window managers (Sway, i3, KDE)</a:t>
            </a:r>
          </a:p>
        </p:txBody>
      </p:sp>
      <p:sp>
        <p:nvSpPr>
          <p:cNvPr id="26" name="TextBox 2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Adoption: 16K Stars, 900K Downloads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One of the fastest-growing open-source desktop apps in the STT space</a:t>
            </a:r>
          </a:p>
        </p:txBody>
      </p:sp>
      <p:sp>
        <p:nvSpPr>
          <p:cNvPr id="4" name="Rounded Rectangle 3"/>
          <p:cNvSpPr/>
          <p:nvPr/>
        </p:nvSpPr>
        <p:spPr>
          <a:xfrm>
            <a:off x="731520" y="1737360"/>
            <a:ext cx="237744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194560"/>
            <a:ext cx="2011680" cy="457200"/>
          </a:xfrm>
          <a:prstGeom prst="rect">
            <a:avLst/>
          </a:prstGeom>
          <a:noFill/>
        </p:spPr>
        <p:txBody>
          <a:bodyPr wrap="square">
            <a:spAutoFit/>
          </a:bodyPr>
          <a:lstStyle/>
          <a:p>
            <a:pPr algn="l">
              <a:spcAft>
                <a:spcPts val="0"/>
              </a:spcAft>
              <a:defRPr sz="2800" b="1" i="0">
                <a:solidFill>
                  <a:srgbClr val="D4886B"/>
                </a:solidFill>
                <a:latin typeface="Georgia"/>
              </a:defRPr>
            </a:pPr>
            <a:r>
              <a:t>16,037</a:t>
            </a:r>
          </a:p>
        </p:txBody>
      </p:sp>
      <p:sp>
        <p:nvSpPr>
          <p:cNvPr id="9" name="TextBox 8"/>
          <p:cNvSpPr txBox="1"/>
          <p:nvPr/>
        </p:nvSpPr>
        <p:spPr>
          <a:xfrm>
            <a:off x="914400" y="2651760"/>
            <a:ext cx="2011680" cy="274320"/>
          </a:xfrm>
          <a:prstGeom prst="rect">
            <a:avLst/>
          </a:prstGeom>
          <a:noFill/>
        </p:spPr>
        <p:txBody>
          <a:bodyPr wrap="square">
            <a:spAutoFit/>
          </a:bodyPr>
          <a:lstStyle/>
          <a:p>
            <a:pPr algn="l">
              <a:spcAft>
                <a:spcPts val="0"/>
              </a:spcAft>
              <a:defRPr sz="1400" b="0" i="0">
                <a:solidFill>
                  <a:srgbClr val="C4A882"/>
                </a:solidFill>
                <a:latin typeface="Calibri"/>
              </a:defRPr>
            </a:pPr>
            <a:r>
              <a:t>GitHub Stars</a:t>
            </a:r>
          </a:p>
        </p:txBody>
      </p:sp>
      <p:sp>
        <p:nvSpPr>
          <p:cNvPr id="10" name="Rounded Rectangle 9"/>
          <p:cNvSpPr/>
          <p:nvPr/>
        </p:nvSpPr>
        <p:spPr>
          <a:xfrm>
            <a:off x="3474720" y="1737360"/>
            <a:ext cx="237744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7033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9044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1056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194560"/>
            <a:ext cx="2011680" cy="457200"/>
          </a:xfrm>
          <a:prstGeom prst="rect">
            <a:avLst/>
          </a:prstGeom>
          <a:noFill/>
        </p:spPr>
        <p:txBody>
          <a:bodyPr wrap="square">
            <a:spAutoFit/>
          </a:bodyPr>
          <a:lstStyle/>
          <a:p>
            <a:pPr algn="l">
              <a:spcAft>
                <a:spcPts val="0"/>
              </a:spcAft>
              <a:defRPr sz="2800" b="1" i="0">
                <a:solidFill>
                  <a:srgbClr val="D4886B"/>
                </a:solidFill>
                <a:latin typeface="Georgia"/>
              </a:defRPr>
            </a:pPr>
            <a:r>
              <a:t>886K+</a:t>
            </a:r>
          </a:p>
        </p:txBody>
      </p:sp>
      <p:sp>
        <p:nvSpPr>
          <p:cNvPr id="15" name="TextBox 14"/>
          <p:cNvSpPr txBox="1"/>
          <p:nvPr/>
        </p:nvSpPr>
        <p:spPr>
          <a:xfrm>
            <a:off x="3657600" y="2651760"/>
            <a:ext cx="2011680" cy="274320"/>
          </a:xfrm>
          <a:prstGeom prst="rect">
            <a:avLst/>
          </a:prstGeom>
          <a:noFill/>
        </p:spPr>
        <p:txBody>
          <a:bodyPr wrap="square">
            <a:spAutoFit/>
          </a:bodyPr>
          <a:lstStyle/>
          <a:p>
            <a:pPr algn="l">
              <a:spcAft>
                <a:spcPts val="0"/>
              </a:spcAft>
              <a:defRPr sz="1400" b="0" i="0">
                <a:solidFill>
                  <a:srgbClr val="C4A882"/>
                </a:solidFill>
                <a:latin typeface="Calibri"/>
              </a:defRPr>
            </a:pPr>
            <a:r>
              <a:t>Total Downloads</a:t>
            </a:r>
          </a:p>
        </p:txBody>
      </p:sp>
      <p:sp>
        <p:nvSpPr>
          <p:cNvPr id="16" name="Rounded Rectangle 15"/>
          <p:cNvSpPr/>
          <p:nvPr/>
        </p:nvSpPr>
        <p:spPr>
          <a:xfrm>
            <a:off x="6217920" y="1737360"/>
            <a:ext cx="237744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465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6476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8488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194560"/>
            <a:ext cx="2011680" cy="457200"/>
          </a:xfrm>
          <a:prstGeom prst="rect">
            <a:avLst/>
          </a:prstGeom>
          <a:noFill/>
        </p:spPr>
        <p:txBody>
          <a:bodyPr wrap="square">
            <a:spAutoFit/>
          </a:bodyPr>
          <a:lstStyle/>
          <a:p>
            <a:pPr algn="l">
              <a:spcAft>
                <a:spcPts val="0"/>
              </a:spcAft>
              <a:defRPr sz="2800" b="1" i="0">
                <a:solidFill>
                  <a:srgbClr val="D4886B"/>
                </a:solidFill>
                <a:latin typeface="Georgia"/>
              </a:defRPr>
            </a:pPr>
            <a:r>
              <a:t>80</a:t>
            </a:r>
          </a:p>
        </p:txBody>
      </p:sp>
      <p:sp>
        <p:nvSpPr>
          <p:cNvPr id="21" name="TextBox 20"/>
          <p:cNvSpPr txBox="1"/>
          <p:nvPr/>
        </p:nvSpPr>
        <p:spPr>
          <a:xfrm>
            <a:off x="6400800" y="2651760"/>
            <a:ext cx="2011680" cy="274320"/>
          </a:xfrm>
          <a:prstGeom prst="rect">
            <a:avLst/>
          </a:prstGeom>
          <a:noFill/>
        </p:spPr>
        <p:txBody>
          <a:bodyPr wrap="square">
            <a:spAutoFit/>
          </a:bodyPr>
          <a:lstStyle/>
          <a:p>
            <a:pPr algn="l">
              <a:spcAft>
                <a:spcPts val="0"/>
              </a:spcAft>
              <a:defRPr sz="1400" b="0" i="0">
                <a:solidFill>
                  <a:srgbClr val="C4A882"/>
                </a:solidFill>
                <a:latin typeface="Calibri"/>
              </a:defRPr>
            </a:pPr>
            <a:r>
              <a:t>Contributors</a:t>
            </a:r>
          </a:p>
        </p:txBody>
      </p:sp>
      <p:sp>
        <p:nvSpPr>
          <p:cNvPr id="22" name="Rounded Rectangle 21"/>
          <p:cNvSpPr/>
          <p:nvPr/>
        </p:nvSpPr>
        <p:spPr>
          <a:xfrm>
            <a:off x="8961120" y="1737360"/>
            <a:ext cx="237744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1897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908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5920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0" y="2194560"/>
            <a:ext cx="2011680" cy="457200"/>
          </a:xfrm>
          <a:prstGeom prst="rect">
            <a:avLst/>
          </a:prstGeom>
          <a:noFill/>
        </p:spPr>
        <p:txBody>
          <a:bodyPr wrap="square">
            <a:spAutoFit/>
          </a:bodyPr>
          <a:lstStyle/>
          <a:p>
            <a:pPr algn="l">
              <a:spcAft>
                <a:spcPts val="0"/>
              </a:spcAft>
              <a:defRPr sz="2800" b="1" i="0">
                <a:solidFill>
                  <a:srgbClr val="D4886B"/>
                </a:solidFill>
                <a:latin typeface="Georgia"/>
              </a:defRPr>
            </a:pPr>
            <a:r>
              <a:t>30</a:t>
            </a:r>
          </a:p>
        </p:txBody>
      </p:sp>
      <p:sp>
        <p:nvSpPr>
          <p:cNvPr id="27" name="TextBox 26"/>
          <p:cNvSpPr txBox="1"/>
          <p:nvPr/>
        </p:nvSpPr>
        <p:spPr>
          <a:xfrm>
            <a:off x="9144000" y="2651760"/>
            <a:ext cx="2011680" cy="274320"/>
          </a:xfrm>
          <a:prstGeom prst="rect">
            <a:avLst/>
          </a:prstGeom>
          <a:noFill/>
        </p:spPr>
        <p:txBody>
          <a:bodyPr wrap="square">
            <a:spAutoFit/>
          </a:bodyPr>
          <a:lstStyle/>
          <a:p>
            <a:pPr algn="l">
              <a:spcAft>
                <a:spcPts val="0"/>
              </a:spcAft>
              <a:defRPr sz="1400" b="0" i="0">
                <a:solidFill>
                  <a:srgbClr val="C4A882"/>
                </a:solidFill>
                <a:latin typeface="Calibri"/>
              </a:defRPr>
            </a:pPr>
            <a:r>
              <a:t>Releases</a:t>
            </a:r>
          </a:p>
        </p:txBody>
      </p:sp>
      <p:sp>
        <p:nvSpPr>
          <p:cNvPr id="28" name="TextBox 27"/>
          <p:cNvSpPr txBox="1"/>
          <p:nvPr/>
        </p:nvSpPr>
        <p:spPr>
          <a:xfrm>
            <a:off x="731520" y="3383280"/>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t>Press &amp; Community</a:t>
            </a:r>
          </a:p>
        </p:txBody>
      </p:sp>
      <p:sp>
        <p:nvSpPr>
          <p:cNvPr id="29" name="Rounded Rectangle 28"/>
          <p:cNvSpPr/>
          <p:nvPr/>
        </p:nvSpPr>
        <p:spPr>
          <a:xfrm>
            <a:off x="731520" y="3840480"/>
            <a:ext cx="10698480" cy="4114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3886200"/>
            <a:ext cx="1371600" cy="320040"/>
          </a:xfrm>
          <a:prstGeom prst="rect">
            <a:avLst/>
          </a:prstGeom>
          <a:noFill/>
        </p:spPr>
        <p:txBody>
          <a:bodyPr wrap="square">
            <a:spAutoFit/>
          </a:bodyPr>
          <a:lstStyle/>
          <a:p>
            <a:pPr algn="l">
              <a:spcAft>
                <a:spcPts val="0"/>
              </a:spcAft>
              <a:defRPr sz="1300" b="1" i="0">
                <a:solidFill>
                  <a:srgbClr val="E8D5B7"/>
                </a:solidFill>
                <a:latin typeface="Calibri"/>
              </a:defRPr>
            </a:pPr>
            <a:r>
              <a:t>WIRED</a:t>
            </a:r>
          </a:p>
        </p:txBody>
      </p:sp>
      <p:sp>
        <p:nvSpPr>
          <p:cNvPr id="31" name="TextBox 30"/>
          <p:cNvSpPr txBox="1"/>
          <p:nvPr/>
        </p:nvSpPr>
        <p:spPr>
          <a:xfrm>
            <a:off x="2560320" y="3886200"/>
            <a:ext cx="8595360" cy="320040"/>
          </a:xfrm>
          <a:prstGeom prst="rect">
            <a:avLst/>
          </a:prstGeom>
          <a:noFill/>
        </p:spPr>
        <p:txBody>
          <a:bodyPr wrap="square">
            <a:spAutoFit/>
          </a:bodyPr>
          <a:lstStyle/>
          <a:p>
            <a:pPr algn="l">
              <a:spcAft>
                <a:spcPts val="0"/>
              </a:spcAft>
              <a:defRPr sz="1200" b="0" i="0">
                <a:solidFill>
                  <a:srgbClr val="C4A882"/>
                </a:solidFill>
                <a:latin typeface="Calibri"/>
              </a:defRPr>
            </a:pPr>
            <a:r>
              <a:t>"Stop Using Your Keyboard and Start Using This Simple, Free Speech-to-Text App"</a:t>
            </a:r>
          </a:p>
        </p:txBody>
      </p:sp>
      <p:sp>
        <p:nvSpPr>
          <p:cNvPr id="32" name="Rounded Rectangle 31"/>
          <p:cNvSpPr/>
          <p:nvPr/>
        </p:nvSpPr>
        <p:spPr>
          <a:xfrm>
            <a:off x="731520" y="4343400"/>
            <a:ext cx="10698480" cy="4114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4389120"/>
            <a:ext cx="1371600" cy="320040"/>
          </a:xfrm>
          <a:prstGeom prst="rect">
            <a:avLst/>
          </a:prstGeom>
          <a:noFill/>
        </p:spPr>
        <p:txBody>
          <a:bodyPr wrap="square">
            <a:spAutoFit/>
          </a:bodyPr>
          <a:lstStyle/>
          <a:p>
            <a:pPr algn="l">
              <a:spcAft>
                <a:spcPts val="0"/>
              </a:spcAft>
              <a:defRPr sz="1300" b="1" i="0">
                <a:solidFill>
                  <a:srgbClr val="E8D5B7"/>
                </a:solidFill>
                <a:latin typeface="Calibri"/>
              </a:defRPr>
            </a:pPr>
            <a:r>
              <a:t>Hacker News</a:t>
            </a:r>
          </a:p>
        </p:txBody>
      </p:sp>
      <p:sp>
        <p:nvSpPr>
          <p:cNvPr id="34" name="TextBox 33"/>
          <p:cNvSpPr txBox="1"/>
          <p:nvPr/>
        </p:nvSpPr>
        <p:spPr>
          <a:xfrm>
            <a:off x="2560320" y="4389120"/>
            <a:ext cx="8595360" cy="320040"/>
          </a:xfrm>
          <a:prstGeom prst="rect">
            <a:avLst/>
          </a:prstGeom>
          <a:noFill/>
        </p:spPr>
        <p:txBody>
          <a:bodyPr wrap="square">
            <a:spAutoFit/>
          </a:bodyPr>
          <a:lstStyle/>
          <a:p>
            <a:pPr algn="l">
              <a:spcAft>
                <a:spcPts val="0"/>
              </a:spcAft>
              <a:defRPr sz="1200" b="0" i="0">
                <a:solidFill>
                  <a:srgbClr val="C4A882"/>
                </a:solidFill>
                <a:latin typeface="Calibri"/>
              </a:defRPr>
            </a:pPr>
            <a:r>
              <a:t>247 points, 110 comments -- praised for simplicity, speed, and privacy</a:t>
            </a:r>
          </a:p>
        </p:txBody>
      </p:sp>
      <p:sp>
        <p:nvSpPr>
          <p:cNvPr id="35" name="Rounded Rectangle 34"/>
          <p:cNvSpPr/>
          <p:nvPr/>
        </p:nvSpPr>
        <p:spPr>
          <a:xfrm>
            <a:off x="731520" y="4846320"/>
            <a:ext cx="10698480" cy="4114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4892040"/>
            <a:ext cx="1371600" cy="320040"/>
          </a:xfrm>
          <a:prstGeom prst="rect">
            <a:avLst/>
          </a:prstGeom>
          <a:noFill/>
        </p:spPr>
        <p:txBody>
          <a:bodyPr wrap="square">
            <a:spAutoFit/>
          </a:bodyPr>
          <a:lstStyle/>
          <a:p>
            <a:pPr algn="l">
              <a:spcAft>
                <a:spcPts val="0"/>
              </a:spcAft>
              <a:defRPr sz="1300" b="1" i="0">
                <a:solidFill>
                  <a:srgbClr val="E8D5B7"/>
                </a:solidFill>
                <a:latin typeface="Calibri"/>
              </a:defRPr>
            </a:pPr>
            <a:r>
              <a:t>GIGAZINE</a:t>
            </a:r>
          </a:p>
        </p:txBody>
      </p:sp>
      <p:sp>
        <p:nvSpPr>
          <p:cNvPr id="37" name="TextBox 36"/>
          <p:cNvSpPr txBox="1"/>
          <p:nvPr/>
        </p:nvSpPr>
        <p:spPr>
          <a:xfrm>
            <a:off x="2560320" y="4892040"/>
            <a:ext cx="8595360" cy="320040"/>
          </a:xfrm>
          <a:prstGeom prst="rect">
            <a:avLst/>
          </a:prstGeom>
          <a:noFill/>
        </p:spPr>
        <p:txBody>
          <a:bodyPr wrap="square">
            <a:spAutoFit/>
          </a:bodyPr>
          <a:lstStyle/>
          <a:p>
            <a:pPr algn="l">
              <a:spcAft>
                <a:spcPts val="0"/>
              </a:spcAft>
              <a:defRPr sz="1200" b="0" i="0">
                <a:solidFill>
                  <a:srgbClr val="C4A882"/>
                </a:solidFill>
                <a:latin typeface="Calibri"/>
              </a:defRPr>
            </a:pPr>
            <a:r>
              <a:t>Featured in Japan's leading tech publication</a:t>
            </a:r>
          </a:p>
        </p:txBody>
      </p:sp>
      <p:sp>
        <p:nvSpPr>
          <p:cNvPr id="38" name="Rounded Rectangle 37"/>
          <p:cNvSpPr/>
          <p:nvPr/>
        </p:nvSpPr>
        <p:spPr>
          <a:xfrm>
            <a:off x="731520" y="5349240"/>
            <a:ext cx="10698480" cy="4114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05840" y="5394960"/>
            <a:ext cx="1371600" cy="320040"/>
          </a:xfrm>
          <a:prstGeom prst="rect">
            <a:avLst/>
          </a:prstGeom>
          <a:noFill/>
        </p:spPr>
        <p:txBody>
          <a:bodyPr wrap="square">
            <a:spAutoFit/>
          </a:bodyPr>
          <a:lstStyle/>
          <a:p>
            <a:pPr algn="l">
              <a:spcAft>
                <a:spcPts val="0"/>
              </a:spcAft>
              <a:defRPr sz="1300" b="1" i="0">
                <a:solidFill>
                  <a:srgbClr val="E8D5B7"/>
                </a:solidFill>
                <a:latin typeface="Calibri"/>
              </a:defRPr>
            </a:pPr>
            <a:r>
              <a:t>Homebrew</a:t>
            </a:r>
          </a:p>
        </p:txBody>
      </p:sp>
      <p:sp>
        <p:nvSpPr>
          <p:cNvPr id="40" name="TextBox 39"/>
          <p:cNvSpPr txBox="1"/>
          <p:nvPr/>
        </p:nvSpPr>
        <p:spPr>
          <a:xfrm>
            <a:off x="2560320" y="5394960"/>
            <a:ext cx="8595360" cy="320040"/>
          </a:xfrm>
          <a:prstGeom prst="rect">
            <a:avLst/>
          </a:prstGeom>
          <a:noFill/>
        </p:spPr>
        <p:txBody>
          <a:bodyPr wrap="square">
            <a:spAutoFit/>
          </a:bodyPr>
          <a:lstStyle/>
          <a:p>
            <a:pPr algn="l">
              <a:spcAft>
                <a:spcPts val="0"/>
              </a:spcAft>
              <a:defRPr sz="1200" b="0" i="0">
                <a:solidFill>
                  <a:srgbClr val="C4A882"/>
                </a:solidFill>
                <a:latin typeface="Calibri"/>
              </a:defRPr>
            </a:pPr>
            <a:r>
              <a:t>Available via: brew install --cask handy</a:t>
            </a:r>
          </a:p>
        </p:txBody>
      </p:sp>
      <p:sp>
        <p:nvSpPr>
          <p:cNvPr id="41" name="TextBox 40"/>
          <p:cNvSpPr txBox="1"/>
          <p:nvPr/>
        </p:nvSpPr>
        <p:spPr>
          <a:xfrm>
            <a:off x="731520" y="6035040"/>
            <a:ext cx="10515600" cy="320040"/>
          </a:xfrm>
          <a:prstGeom prst="rect">
            <a:avLst/>
          </a:prstGeom>
          <a:noFill/>
        </p:spPr>
        <p:txBody>
          <a:bodyPr wrap="square">
            <a:spAutoFit/>
          </a:bodyPr>
          <a:lstStyle/>
          <a:p>
            <a:pPr algn="ctr">
              <a:spcAft>
                <a:spcPts val="0"/>
              </a:spcAft>
              <a:defRPr sz="1100" b="0" i="0">
                <a:solidFill>
                  <a:srgbClr val="7A6E5D"/>
                </a:solidFill>
                <a:latin typeface="JetBrains Mono"/>
              </a:defRPr>
            </a:pPr>
            <a:r>
              <a:t>Sponsors: Wordcab  |  Epicenter  |  BoltAI  |  v0.7.8 latest (Feb 25, 2026)  |  5 releases in Feb 2026</a:t>
            </a:r>
          </a:p>
        </p:txBody>
      </p:sp>
      <p:sp>
        <p:nvSpPr>
          <p:cNvPr id="42" name="TextBox 4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Handy vs. Alternatives</a:t>
            </a:r>
          </a:p>
        </p:txBody>
      </p:sp>
      <p:sp>
        <p:nvSpPr>
          <p:cNvPr id="3" name="Rounded Rectangle 2"/>
          <p:cNvSpPr/>
          <p:nvPr/>
        </p:nvSpPr>
        <p:spPr>
          <a:xfrm>
            <a:off x="457200" y="1371600"/>
            <a:ext cx="2316482"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783080"/>
            <a:ext cx="2194560" cy="320040"/>
          </a:xfrm>
          <a:prstGeom prst="rect">
            <a:avLst/>
          </a:prstGeom>
          <a:noFill/>
        </p:spPr>
        <p:txBody>
          <a:bodyPr wrap="square">
            <a:spAutoFit/>
          </a:bodyPr>
          <a:lstStyle/>
          <a:p>
            <a:pPr algn="ctr">
              <a:spcAft>
                <a:spcPts val="0"/>
              </a:spcAft>
              <a:defRPr sz="1600" b="1" i="0">
                <a:solidFill>
                  <a:srgbClr val="E8A07A"/>
                </a:solidFill>
                <a:latin typeface="Calibri"/>
              </a:defRPr>
            </a:pPr>
            <a:r>
              <a:t>Handy</a:t>
            </a:r>
          </a:p>
        </p:txBody>
      </p:sp>
      <p:sp>
        <p:nvSpPr>
          <p:cNvPr id="8" name="TextBox 7"/>
          <p:cNvSpPr txBox="1"/>
          <p:nvPr/>
        </p:nvSpPr>
        <p:spPr>
          <a:xfrm>
            <a:off x="640080" y="2194560"/>
            <a:ext cx="2194560" cy="1645920"/>
          </a:xfrm>
          <a:prstGeom prst="rect">
            <a:avLst/>
          </a:prstGeom>
          <a:noFill/>
        </p:spPr>
        <p:txBody>
          <a:bodyPr wrap="square">
            <a:spAutoFit/>
          </a:bodyPr>
          <a:lstStyle/>
          <a:p>
            <a:pPr algn="l">
              <a:spcAft>
                <a:spcPts val="0"/>
              </a:spcAft>
              <a:defRPr sz="1200" b="0" i="0">
                <a:solidFill>
                  <a:srgbClr val="C4A882"/>
                </a:solidFill>
                <a:latin typeface="Calibri"/>
              </a:defRPr>
            </a:pPr>
            <a:r>
              <a:t>Free, open-source, offline</a:t>
            </a:r>
            <a:br/>
            <a:r>
              <a:t>MIT license, 16K+ stars</a:t>
            </a:r>
            <a:br/>
            <a:r>
              <a:t>Tauri + Rust (small footprint)</a:t>
            </a:r>
            <a:br/>
            <a:r>
              <a:t>Multiple models, extensible</a:t>
            </a:r>
          </a:p>
        </p:txBody>
      </p:sp>
      <p:sp>
        <p:nvSpPr>
          <p:cNvPr id="9" name="Rounded Rectangle 8"/>
          <p:cNvSpPr/>
          <p:nvPr/>
        </p:nvSpPr>
        <p:spPr>
          <a:xfrm>
            <a:off x="3264408" y="1371600"/>
            <a:ext cx="2316482"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93008"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94176"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895344"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47288" y="1783080"/>
            <a:ext cx="2194560" cy="320040"/>
          </a:xfrm>
          <a:prstGeom prst="rect">
            <a:avLst/>
          </a:prstGeom>
          <a:noFill/>
        </p:spPr>
        <p:txBody>
          <a:bodyPr wrap="square">
            <a:spAutoFit/>
          </a:bodyPr>
          <a:lstStyle/>
          <a:p>
            <a:pPr algn="ctr">
              <a:spcAft>
                <a:spcPts val="0"/>
              </a:spcAft>
              <a:defRPr sz="1600" b="1" i="0">
                <a:solidFill>
                  <a:srgbClr val="E8D5B7"/>
                </a:solidFill>
                <a:latin typeface="Calibri"/>
              </a:defRPr>
            </a:pPr>
            <a:r>
              <a:t>SuperWhisper</a:t>
            </a:r>
          </a:p>
        </p:txBody>
      </p:sp>
      <p:sp>
        <p:nvSpPr>
          <p:cNvPr id="14" name="TextBox 13"/>
          <p:cNvSpPr txBox="1"/>
          <p:nvPr/>
        </p:nvSpPr>
        <p:spPr>
          <a:xfrm>
            <a:off x="3447288" y="2194560"/>
            <a:ext cx="2194560" cy="1645920"/>
          </a:xfrm>
          <a:prstGeom prst="rect">
            <a:avLst/>
          </a:prstGeom>
          <a:noFill/>
        </p:spPr>
        <p:txBody>
          <a:bodyPr wrap="square">
            <a:spAutoFit/>
          </a:bodyPr>
          <a:lstStyle/>
          <a:p>
            <a:pPr algn="l">
              <a:spcAft>
                <a:spcPts val="0"/>
              </a:spcAft>
              <a:defRPr sz="1200" b="0" i="0">
                <a:solidFill>
                  <a:srgbClr val="C4A882"/>
                </a:solidFill>
                <a:latin typeface="Calibri"/>
              </a:defRPr>
            </a:pPr>
            <a:r>
              <a:t>Paid ($9.99+/month)</a:t>
            </a:r>
            <a:br/>
            <a:r>
              <a:t>Mac only, closed source</a:t>
            </a:r>
            <a:br/>
            <a:r>
              <a:t>Cloud + local options</a:t>
            </a:r>
            <a:br/>
            <a:r>
              <a:t>Polished UI</a:t>
            </a:r>
          </a:p>
        </p:txBody>
      </p:sp>
      <p:sp>
        <p:nvSpPr>
          <p:cNvPr id="15" name="Rounded Rectangle 14"/>
          <p:cNvSpPr/>
          <p:nvPr/>
        </p:nvSpPr>
        <p:spPr>
          <a:xfrm>
            <a:off x="6071616" y="1371600"/>
            <a:ext cx="2316482"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0216"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01384"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02552"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4496" y="1783080"/>
            <a:ext cx="2194560" cy="320040"/>
          </a:xfrm>
          <a:prstGeom prst="rect">
            <a:avLst/>
          </a:prstGeom>
          <a:noFill/>
        </p:spPr>
        <p:txBody>
          <a:bodyPr wrap="square">
            <a:spAutoFit/>
          </a:bodyPr>
          <a:lstStyle/>
          <a:p>
            <a:pPr algn="ctr">
              <a:spcAft>
                <a:spcPts val="0"/>
              </a:spcAft>
              <a:defRPr sz="1600" b="1" i="0">
                <a:solidFill>
                  <a:srgbClr val="E8D5B7"/>
                </a:solidFill>
                <a:latin typeface="Calibri"/>
              </a:defRPr>
            </a:pPr>
            <a:r>
              <a:t>VoiceInk</a:t>
            </a:r>
          </a:p>
        </p:txBody>
      </p:sp>
      <p:sp>
        <p:nvSpPr>
          <p:cNvPr id="20" name="TextBox 19"/>
          <p:cNvSpPr txBox="1"/>
          <p:nvPr/>
        </p:nvSpPr>
        <p:spPr>
          <a:xfrm>
            <a:off x="6254496" y="2194560"/>
            <a:ext cx="2194560" cy="1645920"/>
          </a:xfrm>
          <a:prstGeom prst="rect">
            <a:avLst/>
          </a:prstGeom>
          <a:noFill/>
        </p:spPr>
        <p:txBody>
          <a:bodyPr wrap="square">
            <a:spAutoFit/>
          </a:bodyPr>
          <a:lstStyle/>
          <a:p>
            <a:pPr algn="l">
              <a:spcAft>
                <a:spcPts val="0"/>
              </a:spcAft>
              <a:defRPr sz="1200" b="0" i="0">
                <a:solidFill>
                  <a:srgbClr val="C4A882"/>
                </a:solidFill>
                <a:latin typeface="Calibri"/>
              </a:defRPr>
            </a:pPr>
            <a:r>
              <a:t>Paid ($29 one-time)</a:t>
            </a:r>
            <a:br/>
            <a:r>
              <a:t>Mac only, closed source</a:t>
            </a:r>
            <a:br/>
            <a:r>
              <a:t>Local processing</a:t>
            </a:r>
            <a:br/>
            <a:r>
              <a:t>Apple Silicon optimized</a:t>
            </a:r>
          </a:p>
        </p:txBody>
      </p:sp>
      <p:sp>
        <p:nvSpPr>
          <p:cNvPr id="21" name="Rounded Rectangle 20"/>
          <p:cNvSpPr/>
          <p:nvPr/>
        </p:nvSpPr>
        <p:spPr>
          <a:xfrm>
            <a:off x="8878824" y="1371600"/>
            <a:ext cx="2316482"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07424"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308592"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509760"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61704" y="1783080"/>
            <a:ext cx="2194560" cy="320040"/>
          </a:xfrm>
          <a:prstGeom prst="rect">
            <a:avLst/>
          </a:prstGeom>
          <a:noFill/>
        </p:spPr>
        <p:txBody>
          <a:bodyPr wrap="square">
            <a:spAutoFit/>
          </a:bodyPr>
          <a:lstStyle/>
          <a:p>
            <a:pPr algn="ctr">
              <a:spcAft>
                <a:spcPts val="0"/>
              </a:spcAft>
              <a:defRPr sz="1600" b="1" i="0">
                <a:solidFill>
                  <a:srgbClr val="E8D5B7"/>
                </a:solidFill>
                <a:latin typeface="Calibri"/>
              </a:defRPr>
            </a:pPr>
            <a:r>
              <a:t>WisprFlow</a:t>
            </a:r>
          </a:p>
        </p:txBody>
      </p:sp>
      <p:sp>
        <p:nvSpPr>
          <p:cNvPr id="26" name="TextBox 25"/>
          <p:cNvSpPr txBox="1"/>
          <p:nvPr/>
        </p:nvSpPr>
        <p:spPr>
          <a:xfrm>
            <a:off x="9061704" y="2194560"/>
            <a:ext cx="2194560" cy="1645920"/>
          </a:xfrm>
          <a:prstGeom prst="rect">
            <a:avLst/>
          </a:prstGeom>
          <a:noFill/>
        </p:spPr>
        <p:txBody>
          <a:bodyPr wrap="square">
            <a:spAutoFit/>
          </a:bodyPr>
          <a:lstStyle/>
          <a:p>
            <a:pPr algn="l">
              <a:spcAft>
                <a:spcPts val="0"/>
              </a:spcAft>
              <a:defRPr sz="1200" b="0" i="0">
                <a:solidFill>
                  <a:srgbClr val="C4A882"/>
                </a:solidFill>
                <a:latin typeface="Calibri"/>
              </a:defRPr>
            </a:pPr>
            <a:r>
              <a:t>Paid subscription</a:t>
            </a:r>
            <a:br/>
            <a:r>
              <a:t>Multi-platform</a:t>
            </a:r>
            <a:br/>
            <a:r>
              <a:t>Cloud-dependent</a:t>
            </a:r>
            <a:br/>
            <a:r>
              <a:t>Integrations focused</a:t>
            </a:r>
          </a:p>
        </p:txBody>
      </p:sp>
      <p:sp>
        <p:nvSpPr>
          <p:cNvPr id="27" name="Rounded Rectangle 26"/>
          <p:cNvSpPr/>
          <p:nvPr/>
        </p:nvSpPr>
        <p:spPr>
          <a:xfrm>
            <a:off x="731520" y="4389120"/>
            <a:ext cx="10707624" cy="2103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60120" y="45262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61288" y="45262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362456" y="45262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45920" y="446227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Handy's Key Differentiators</a:t>
            </a:r>
          </a:p>
        </p:txBody>
      </p:sp>
      <p:sp>
        <p:nvSpPr>
          <p:cNvPr id="32" name="TextBox 31"/>
          <p:cNvSpPr txBox="1"/>
          <p:nvPr/>
        </p:nvSpPr>
        <p:spPr>
          <a:xfrm>
            <a:off x="1005840" y="4892040"/>
            <a:ext cx="10058400" cy="1188720"/>
          </a:xfrm>
          <a:prstGeom prst="rect">
            <a:avLst/>
          </a:prstGeom>
          <a:noFill/>
        </p:spPr>
        <p:txBody>
          <a:bodyPr wrap="square">
            <a:spAutoFit/>
          </a:bodyPr>
          <a:lstStyle/>
          <a:p>
            <a:pPr>
              <a:spcBef>
                <a:spcPts val="200"/>
              </a:spcBef>
              <a:spcAft>
                <a:spcPts val="800"/>
              </a:spcAft>
            </a:pPr>
            <a:r>
              <a:rPr sz="1300">
                <a:solidFill>
                  <a:srgbClr val="D4886B"/>
                </a:solidFill>
                <a:latin typeface="Calibri"/>
              </a:rPr>
              <a:t>–  </a:t>
            </a:r>
            <a:r>
              <a:rPr sz="1300">
                <a:solidFill>
                  <a:srgbClr val="C4A882"/>
                </a:solidFill>
                <a:latin typeface="Calibri"/>
              </a:rPr>
              <a:t>100% offline: no audio ever leaves your machine. No cloud, no subscriptions, no internet required.</a:t>
            </a:r>
          </a:p>
          <a:p>
            <a:pPr>
              <a:spcBef>
                <a:spcPts val="200"/>
              </a:spcBef>
              <a:spcAft>
                <a:spcPts val="800"/>
              </a:spcAft>
            </a:pPr>
            <a:r>
              <a:rPr sz="1300">
                <a:solidFill>
                  <a:srgbClr val="D4886B"/>
                </a:solidFill>
                <a:latin typeface="Calibri"/>
              </a:rPr>
              <a:t>–  </a:t>
            </a:r>
            <a:r>
              <a:rPr sz="1300">
                <a:solidFill>
                  <a:srgbClr val="C4A882"/>
                </a:solidFill>
                <a:latin typeface="Calibri"/>
              </a:rPr>
              <a:t>Truly free and open source (MIT): no feature gating, no freemium limits</a:t>
            </a:r>
          </a:p>
          <a:p>
            <a:pPr>
              <a:spcBef>
                <a:spcPts val="200"/>
              </a:spcBef>
              <a:spcAft>
                <a:spcPts val="800"/>
              </a:spcAft>
            </a:pPr>
            <a:r>
              <a:rPr sz="1300">
                <a:solidFill>
                  <a:srgbClr val="D4886B"/>
                </a:solidFill>
                <a:latin typeface="Calibri"/>
              </a:rPr>
              <a:t>–  </a:t>
            </a:r>
            <a:r>
              <a:rPr sz="1300">
                <a:solidFill>
                  <a:srgbClr val="C4A882"/>
                </a:solidFill>
                <a:latin typeface="Calibri"/>
              </a:rPr>
              <a:t>AI-agent friendly: includes CLAUDE.md and AGENTS.md for Claude Code modification</a:t>
            </a:r>
          </a:p>
          <a:p>
            <a:pPr>
              <a:spcBef>
                <a:spcPts val="200"/>
              </a:spcBef>
              <a:spcAft>
                <a:spcPts val="800"/>
              </a:spcAft>
            </a:pPr>
            <a:r>
              <a:rPr sz="1300">
                <a:solidFill>
                  <a:srgbClr val="D4886B"/>
                </a:solidFill>
                <a:latin typeface="Calibri"/>
              </a:rPr>
              <a:t>–  </a:t>
            </a:r>
            <a:r>
              <a:rPr sz="1300">
                <a:solidFill>
                  <a:srgbClr val="C4A882"/>
                </a:solidFill>
                <a:latin typeface="Calibri"/>
              </a:rPr>
              <a:t>CLI-controllable: scriptable from window managers, automation tools, and hooks</a:t>
            </a:r>
          </a:p>
          <a:p>
            <a:pPr>
              <a:spcBef>
                <a:spcPts val="200"/>
              </a:spcBef>
              <a:spcAft>
                <a:spcPts val="800"/>
              </a:spcAft>
            </a:pPr>
            <a:r>
              <a:rPr sz="1300">
                <a:solidFill>
                  <a:srgbClr val="D4886B"/>
                </a:solidFill>
                <a:latin typeface="Calibri"/>
              </a:rPr>
              <a:t>–  </a:t>
            </a:r>
            <a:r>
              <a:rPr sz="1300">
                <a:solidFill>
                  <a:srgbClr val="C4A882"/>
                </a:solidFill>
                <a:latin typeface="Calibri"/>
              </a:rPr>
              <a:t>"The most forkable STT app": designed for modification, not vendor lock-in</a:t>
            </a:r>
          </a:p>
        </p:txBody>
      </p:sp>
      <p:sp>
        <p:nvSpPr>
          <p:cNvPr id="33" name="TextBox 3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Claude Code Integration</a:t>
            </a:r>
          </a:p>
        </p:txBody>
      </p:sp>
      <p:sp>
        <p:nvSpPr>
          <p:cNvPr id="3" name="Rounded Rectangle 2"/>
          <p:cNvSpPr/>
          <p:nvPr/>
        </p:nvSpPr>
        <p:spPr>
          <a:xfrm>
            <a:off x="731520" y="1371600"/>
            <a:ext cx="51206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4447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Agent-Native Codebase</a:t>
            </a:r>
          </a:p>
        </p:txBody>
      </p:sp>
      <p:sp>
        <p:nvSpPr>
          <p:cNvPr id="8" name="TextBox 7"/>
          <p:cNvSpPr txBox="1"/>
          <p:nvPr/>
        </p:nvSpPr>
        <p:spPr>
          <a:xfrm>
            <a:off x="1005840" y="1920240"/>
            <a:ext cx="4572000" cy="16459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CLAUDE.md in repo root for Claude Code guidance</a:t>
            </a:r>
          </a:p>
          <a:p>
            <a:pPr>
              <a:spcBef>
                <a:spcPts val="200"/>
              </a:spcBef>
              <a:spcAft>
                <a:spcPts val="800"/>
              </a:spcAft>
            </a:pPr>
            <a:r>
              <a:rPr sz="1400">
                <a:solidFill>
                  <a:srgbClr val="D4886B"/>
                </a:solidFill>
                <a:latin typeface="Calibri"/>
              </a:rPr>
              <a:t>–  </a:t>
            </a:r>
            <a:r>
              <a:rPr sz="1400">
                <a:solidFill>
                  <a:srgbClr val="C4A882"/>
                </a:solidFill>
                <a:latin typeface="Calibri"/>
              </a:rPr>
              <a:t>AGENTS.md for cross-tool compatibility</a:t>
            </a:r>
          </a:p>
          <a:p>
            <a:pPr>
              <a:spcBef>
                <a:spcPts val="200"/>
              </a:spcBef>
              <a:spcAft>
                <a:spcPts val="800"/>
              </a:spcAft>
            </a:pPr>
            <a:r>
              <a:rPr sz="1400">
                <a:solidFill>
                  <a:srgbClr val="D4886B"/>
                </a:solidFill>
                <a:latin typeface="Calibri"/>
              </a:rPr>
              <a:t>–  </a:t>
            </a:r>
            <a:r>
              <a:rPr sz="1400">
                <a:solidFill>
                  <a:srgbClr val="C4A882"/>
                </a:solidFill>
                <a:latin typeface="Calibri"/>
              </a:rPr>
              <a:t>Full architecture documented for AI modification</a:t>
            </a:r>
          </a:p>
          <a:p>
            <a:pPr>
              <a:spcBef>
                <a:spcPts val="200"/>
              </a:spcBef>
              <a:spcAft>
                <a:spcPts val="800"/>
              </a:spcAft>
            </a:pPr>
            <a:r>
              <a:rPr sz="1400">
                <a:solidFill>
                  <a:srgbClr val="D4886B"/>
                </a:solidFill>
                <a:latin typeface="Calibri"/>
              </a:rPr>
              <a:t>–  </a:t>
            </a:r>
            <a:r>
              <a:rPr sz="1400">
                <a:solidFill>
                  <a:srgbClr val="C4A882"/>
                </a:solidFill>
                <a:latin typeface="Calibri"/>
              </a:rPr>
              <a:t>Code style and commit conventions specified</a:t>
            </a:r>
          </a:p>
          <a:p>
            <a:pPr>
              <a:spcBef>
                <a:spcPts val="200"/>
              </a:spcBef>
              <a:spcAft>
                <a:spcPts val="800"/>
              </a:spcAft>
            </a:pPr>
            <a:r>
              <a:rPr sz="1400">
                <a:solidFill>
                  <a:srgbClr val="D4886B"/>
                </a:solidFill>
                <a:latin typeface="Calibri"/>
              </a:rPr>
              <a:t>–  </a:t>
            </a:r>
            <a:r>
              <a:rPr sz="1400">
                <a:solidFill>
                  <a:srgbClr val="C4A882"/>
                </a:solidFill>
                <a:latin typeface="Calibri"/>
              </a:rPr>
              <a:t>Platform-specific notes for AI understanding</a:t>
            </a:r>
          </a:p>
        </p:txBody>
      </p:sp>
      <p:sp>
        <p:nvSpPr>
          <p:cNvPr id="10" name="Rounded Rectangle 9"/>
          <p:cNvSpPr/>
          <p:nvPr/>
        </p:nvSpPr>
        <p:spPr>
          <a:xfrm>
            <a:off x="6309360" y="1371600"/>
            <a:ext cx="51206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53796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73912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94029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23760" y="14447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Integration Patterns</a:t>
            </a:r>
          </a:p>
        </p:txBody>
      </p:sp>
      <p:sp>
        <p:nvSpPr>
          <p:cNvPr id="15" name="TextBox 14"/>
          <p:cNvSpPr txBox="1"/>
          <p:nvPr/>
        </p:nvSpPr>
        <p:spPr>
          <a:xfrm>
            <a:off x="6583680" y="1920240"/>
            <a:ext cx="4572000" cy="16459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Voice → Claude Code: speak prompts to terminal</a:t>
            </a:r>
          </a:p>
          <a:p>
            <a:pPr>
              <a:spcBef>
                <a:spcPts val="200"/>
              </a:spcBef>
              <a:spcAft>
                <a:spcPts val="800"/>
              </a:spcAft>
            </a:pPr>
            <a:r>
              <a:rPr sz="1400">
                <a:solidFill>
                  <a:srgbClr val="D4886B"/>
                </a:solidFill>
                <a:latin typeface="Calibri"/>
              </a:rPr>
              <a:t>–  </a:t>
            </a:r>
            <a:r>
              <a:rPr sz="1400">
                <a:solidFill>
                  <a:srgbClr val="C4A882"/>
                </a:solidFill>
                <a:latin typeface="Calibri"/>
              </a:rPr>
              <a:t>Voice → Multiple worktrees: fast context switching</a:t>
            </a:r>
          </a:p>
          <a:p>
            <a:pPr>
              <a:spcBef>
                <a:spcPts val="200"/>
              </a:spcBef>
              <a:spcAft>
                <a:spcPts val="800"/>
              </a:spcAft>
            </a:pPr>
            <a:r>
              <a:rPr sz="1400">
                <a:solidFill>
                  <a:srgbClr val="D4886B"/>
                </a:solidFill>
                <a:latin typeface="Calibri"/>
              </a:rPr>
              <a:t>–  </a:t>
            </a:r>
            <a:r>
              <a:rPr sz="1400">
                <a:solidFill>
                  <a:srgbClr val="C4A882"/>
                </a:solidFill>
                <a:latin typeface="Calibri"/>
              </a:rPr>
              <a:t>Voice → Agent teams: orchestrate via speech</a:t>
            </a:r>
          </a:p>
          <a:p>
            <a:pPr>
              <a:spcBef>
                <a:spcPts val="200"/>
              </a:spcBef>
              <a:spcAft>
                <a:spcPts val="800"/>
              </a:spcAft>
            </a:pPr>
            <a:r>
              <a:rPr sz="1400">
                <a:solidFill>
                  <a:srgbClr val="D4886B"/>
                </a:solidFill>
                <a:latin typeface="Calibri"/>
              </a:rPr>
              <a:t>–  </a:t>
            </a:r>
            <a:r>
              <a:rPr sz="1400">
                <a:solidFill>
                  <a:srgbClr val="C4A882"/>
                </a:solidFill>
                <a:latin typeface="Calibri"/>
              </a:rPr>
              <a:t>Post-process → Claude: clean up technical speech</a:t>
            </a:r>
          </a:p>
          <a:p>
            <a:pPr>
              <a:spcBef>
                <a:spcPts val="200"/>
              </a:spcBef>
              <a:spcAft>
                <a:spcPts val="800"/>
              </a:spcAft>
            </a:pPr>
            <a:r>
              <a:rPr sz="1400">
                <a:solidFill>
                  <a:srgbClr val="D4886B"/>
                </a:solidFill>
                <a:latin typeface="Calibri"/>
              </a:rPr>
              <a:t>–  </a:t>
            </a:r>
            <a:r>
              <a:rPr sz="1400">
                <a:solidFill>
                  <a:srgbClr val="C4A882"/>
                </a:solidFill>
                <a:latin typeface="Calibri"/>
              </a:rPr>
              <a:t>Hooks → Handy: trigger via Claude Code events</a:t>
            </a:r>
          </a:p>
        </p:txBody>
      </p:sp>
      <p:sp>
        <p:nvSpPr>
          <p:cNvPr id="16" name="TextBox 15"/>
          <p:cNvSpPr txBox="1"/>
          <p:nvPr/>
        </p:nvSpPr>
        <p:spPr>
          <a:xfrm>
            <a:off x="731520" y="3931920"/>
            <a:ext cx="10515600" cy="457200"/>
          </a:xfrm>
          <a:prstGeom prst="rect">
            <a:avLst/>
          </a:prstGeom>
          <a:noFill/>
        </p:spPr>
        <p:txBody>
          <a:bodyPr wrap="square">
            <a:spAutoFit/>
          </a:bodyPr>
          <a:lstStyle/>
          <a:p>
            <a:pPr algn="l">
              <a:spcAft>
                <a:spcPts val="0"/>
              </a:spcAft>
              <a:defRPr sz="2400" b="0" i="0">
                <a:solidFill>
                  <a:srgbClr val="E8D5B7"/>
                </a:solidFill>
                <a:latin typeface="Georgia"/>
              </a:defRPr>
            </a:pPr>
            <a:r>
              <a:t>The Complete Developer Voice Stack</a:t>
            </a:r>
          </a:p>
        </p:txBody>
      </p:sp>
      <p:sp>
        <p:nvSpPr>
          <p:cNvPr id="17" name="Rounded Rectangle 16"/>
          <p:cNvSpPr/>
          <p:nvPr/>
        </p:nvSpPr>
        <p:spPr>
          <a:xfrm>
            <a:off x="731520" y="4480560"/>
            <a:ext cx="10698480" cy="1645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60120" y="46177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61288" y="46177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362456" y="46177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846320"/>
            <a:ext cx="10241280" cy="1371600"/>
          </a:xfrm>
          <a:prstGeom prst="rect">
            <a:avLst/>
          </a:prstGeom>
          <a:noFill/>
        </p:spPr>
        <p:txBody>
          <a:bodyPr wrap="square">
            <a:spAutoFit/>
          </a:bodyPr>
          <a:lstStyle/>
          <a:p>
            <a:pPr algn="l">
              <a:spcAft>
                <a:spcPts val="0"/>
              </a:spcAft>
              <a:defRPr sz="1500" b="0" i="0">
                <a:solidFill>
                  <a:srgbClr val="E8D5B7"/>
                </a:solidFill>
                <a:latin typeface="Calibri"/>
              </a:defRPr>
            </a:pPr>
            <a:r>
              <a:t>Handy (speech input)  →  Claude Code (execution)  →  Worktrees (isolation)  →  Agent Teams (coordination)</a:t>
            </a:r>
            <a:br/>
            <a:br/>
            <a:r>
              <a:t>The developer speaks intent. The system translates to text, routes to the right terminal, and Claude Code executes. Voice becomes the natural interface for agentic development.</a:t>
            </a:r>
          </a:p>
        </p:txBody>
      </p:sp>
      <p:sp>
        <p:nvSpPr>
          <p:cNvPr id="22" name="TextBox 2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5156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188720"/>
            <a:ext cx="10515600" cy="731520"/>
          </a:xfrm>
          <a:prstGeom prst="rect">
            <a:avLst/>
          </a:prstGeom>
          <a:noFill/>
        </p:spPr>
        <p:txBody>
          <a:bodyPr wrap="square">
            <a:spAutoFit/>
          </a:bodyPr>
          <a:lstStyle/>
          <a:p>
            <a:pPr algn="l">
              <a:spcAft>
                <a:spcPts val="0"/>
              </a:spcAft>
              <a:defRPr sz="4400" b="0" i="0">
                <a:solidFill>
                  <a:srgbClr val="E8D5B7"/>
                </a:solidFill>
                <a:latin typeface="Georgia"/>
              </a:defRPr>
            </a:pPr>
            <a:r>
              <a:t>Why Handy Matters</a:t>
            </a:r>
          </a:p>
        </p:txBody>
      </p:sp>
      <p:sp>
        <p:nvSpPr>
          <p:cNvPr id="4" name="Rectangle 3"/>
          <p:cNvSpPr/>
          <p:nvPr/>
        </p:nvSpPr>
        <p:spPr>
          <a:xfrm>
            <a:off x="731520" y="2011680"/>
            <a:ext cx="27432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237744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33172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Voice Is the Fastest Input</a:t>
            </a:r>
          </a:p>
        </p:txBody>
      </p:sp>
      <p:sp>
        <p:nvSpPr>
          <p:cNvPr id="7" name="TextBox 6"/>
          <p:cNvSpPr txBox="1"/>
          <p:nvPr/>
        </p:nvSpPr>
        <p:spPr>
          <a:xfrm>
            <a:off x="1188720" y="274320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Speaking is 3-4x faster than typing. For complex multi-step AI prompts, voice input is a genuine productivity multiplier across multiple terminals and worktrees.</a:t>
            </a:r>
          </a:p>
        </p:txBody>
      </p:sp>
      <p:sp>
        <p:nvSpPr>
          <p:cNvPr id="8" name="Rectangle 7"/>
          <p:cNvSpPr/>
          <p:nvPr/>
        </p:nvSpPr>
        <p:spPr>
          <a:xfrm>
            <a:off x="914400" y="342900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338328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Privacy Without Compromise</a:t>
            </a:r>
          </a:p>
        </p:txBody>
      </p:sp>
      <p:sp>
        <p:nvSpPr>
          <p:cNvPr id="10" name="TextBox 9"/>
          <p:cNvSpPr txBox="1"/>
          <p:nvPr/>
        </p:nvSpPr>
        <p:spPr>
          <a:xfrm>
            <a:off x="1188720" y="379476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100% offline, no cloud, no subscriptions. 900K downloads prove that developers will choose privacy when the quality is good enough -- and Parakeet V3 is very good.</a:t>
            </a:r>
          </a:p>
        </p:txBody>
      </p:sp>
      <p:sp>
        <p:nvSpPr>
          <p:cNvPr id="11" name="Rectangle 10"/>
          <p:cNvSpPr/>
          <p:nvPr/>
        </p:nvSpPr>
        <p:spPr>
          <a:xfrm>
            <a:off x="914400" y="448056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443484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The Agent-Native Future</a:t>
            </a:r>
          </a:p>
        </p:txBody>
      </p:sp>
      <p:sp>
        <p:nvSpPr>
          <p:cNvPr id="13" name="TextBox 12"/>
          <p:cNvSpPr txBox="1"/>
          <p:nvPr/>
        </p:nvSpPr>
        <p:spPr>
          <a:xfrm>
            <a:off x="1188720" y="484632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Handy + Claude Code + Worktrees + Agent Teams = a voice-driven development environment. Speak your intent. Agents handle the rest.</a:t>
            </a:r>
          </a:p>
        </p:txBody>
      </p:sp>
      <p:sp>
        <p:nvSpPr>
          <p:cNvPr id="14" name="Rectangle 13"/>
          <p:cNvSpPr/>
          <p:nvPr/>
        </p:nvSpPr>
        <p:spPr>
          <a:xfrm>
            <a:off x="914400" y="5486400"/>
            <a:ext cx="100584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623560"/>
            <a:ext cx="10241280" cy="548640"/>
          </a:xfrm>
          <a:prstGeom prst="rect">
            <a:avLst/>
          </a:prstGeom>
          <a:noFill/>
        </p:spPr>
        <p:txBody>
          <a:bodyPr wrap="square">
            <a:spAutoFit/>
          </a:bodyPr>
          <a:lstStyle/>
          <a:p>
            <a:pPr algn="l">
              <a:spcAft>
                <a:spcPts val="0"/>
              </a:spcAft>
              <a:defRPr sz="1400" b="0" i="1">
                <a:solidFill>
                  <a:srgbClr val="D4886B"/>
                </a:solidFill>
                <a:latin typeface="Calibri"/>
              </a:defRPr>
            </a:pPr>
            <a:r>
              <a:t>github.com/cjpais/Handy  |  handy.computer  |  MIT License  |  brew install --cask handy</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2371</Words>
  <Application>Microsoft Macintosh PowerPoint</Application>
  <PresentationFormat>Widescreen</PresentationFormat>
  <Paragraphs>286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5</cp:revision>
  <dcterms:created xsi:type="dcterms:W3CDTF">2013-01-27T09:14:16Z</dcterms:created>
  <dcterms:modified xsi:type="dcterms:W3CDTF">2026-02-27T08:42:32Z</dcterms:modified>
  <cp:category/>
</cp:coreProperties>
</file>