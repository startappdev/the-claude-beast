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7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Episode 3 of The Claude Beast series. Today we are covering Claude Skills -- one of the most significant developments in how we work with AI coding agents.</a:t>
            </a:r>
          </a:p>
          <a:p>
            <a:endParaRPr/>
          </a:p>
          <a:p>
            <a:r>
              <a:t>Skills solve a fundamental problem: every time you start a new conversation with Claude, you lose all the context about your preferences, processes, and domain expertise. Skills let you teach Claude once and benefit every time.</a:t>
            </a:r>
          </a:p>
          <a:p>
            <a:endParaRPr/>
          </a:p>
          <a:p>
            <a:r>
              <a:t>By the end of this session, you will understand what skills are, how they work architecturally, how to install and create them, and why the open standard behind them may be as impactful as MCP itself. Let's dive 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exactly are skills? At their simplest, a skill is just a folder containing a SKILL.md file. That file has YAML frontmatter at the top -- things like the skill name and description -- followed by markdown instructions that tell Claude how to perform a specific task.</a:t>
            </a:r>
          </a:p>
          <a:p>
            <a:endParaRPr/>
          </a:p>
          <a:p>
            <a:r>
              <a:t>The key insight is that skills work through prompt expansion. They modify how Claude processes your subsequent requests, without writing any executable code. It is pure natural language.</a:t>
            </a:r>
          </a:p>
          <a:p>
            <a:endParaRPr/>
          </a:p>
          <a:p>
            <a:r>
              <a:t>Anthropic gives us a great analogy: if MCP provides the professional kitchen -- giving Claude access to tools like file editing, git, and browser control -- then skills provide the recipes. They are the step-by-step instructions for creating something valuable with those tools.</a:t>
            </a:r>
          </a:p>
          <a:p>
            <a:endParaRPr/>
          </a:p>
          <a:p>
            <a:r>
              <a:t>The problem this solves is fundamental. Without skills, you have to re-explain your preferences, processes, and domain expertise in every single conversation. Skills let you teach Claude once and benefit every time you work together.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architectural insight behind skills: progressive disclosure. It is a three-level system designed to minimize token usage while maintaining specialized expertise.</a:t>
            </a:r>
          </a:p>
          <a:p>
            <a:endParaRPr/>
          </a:p>
          <a:p>
            <a:r>
              <a:t>Level 1 loads only the YAML frontmatter -- the name and description -- at startup. This costs roughly 100 tokens per skill and happens for every installed skill. The description budget scales at 2 percent of the context window.</a:t>
            </a:r>
          </a:p>
          <a:p>
            <a:endParaRPr/>
          </a:p>
          <a:p>
            <a:r>
              <a:t>Level 2 loads the full SKILL.md body when Claude determines a skill is relevant to your request. This is recommended to stay under 5,000 tokens and contains all the actual instructions, templates, and workflow steps.</a:t>
            </a:r>
          </a:p>
          <a:p>
            <a:endParaRPr/>
          </a:p>
          <a:p>
            <a:r>
              <a:t>Level 3 loads linked files only on demand -- reference documents, scripts, assets, example outputs. These are loaded only when the skill explicitly needs them during execution.</a:t>
            </a:r>
          </a:p>
          <a:p>
            <a:endParaRPr/>
          </a:p>
          <a:p>
            <a:r>
              <a:t>This tiered approach means you can have dozens of skills installed without bloating your context. Only what is needed gets loaded, and only when it is needed.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four ways to install skills, each suited to different use cases.</a:t>
            </a:r>
          </a:p>
          <a:p>
            <a:endParaRPr/>
          </a:p>
          <a:p>
            <a:r>
              <a:t>First, manual creation. You simply create a directory with a SKILL.md file -- either in your home directory for personal skills that work across all projects, or in the project's .claude directory for project-specific skills. This is perfect for quick experiments and personal workflows.</a:t>
            </a:r>
          </a:p>
          <a:p>
            <a:endParaRPr/>
          </a:p>
          <a:p>
            <a:r>
              <a:t>Second, the add-skill CLI by Vercel Labs. Run npx add-skill with a GitHub repo, and it installs skills across multiple AI coding agents -- not just Claude Code, but also Codex, Cursor, Amp, and others.</a:t>
            </a:r>
          </a:p>
          <a:p>
            <a:endParaRPr/>
          </a:p>
          <a:p>
            <a:r>
              <a:t>Third, the native plugin marketplace in Claude Code. You can browse, install, and update skills directly from within the tool.</a:t>
            </a:r>
          </a:p>
          <a:p>
            <a:endParaRPr/>
          </a:p>
          <a:p>
            <a:r>
              <a:t>Fourth, for Claude.ai users who do not use the CLI, you can upload zipped skill folders through the web interface.</a:t>
            </a:r>
          </a:p>
          <a:p>
            <a:endParaRPr/>
          </a:p>
          <a:p>
            <a:r>
              <a:t>The barrier to entry is intentionally low. At minimum, you just need a folder and a text file.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December 18, 2025, Anthropic published Agent Skills as an open standard at agentskills.io. And this may be one of the most strategically significant moves in the AI tooling space.</a:t>
            </a:r>
          </a:p>
          <a:p>
            <a:endParaRPr/>
          </a:p>
          <a:p>
            <a:r>
              <a:t>The specification is intentionally minimal -- you can read the entire thing in just a few minutes. A skill is a directory containing a SKILL.md file with YAML frontmatter. That is it. Progressive disclosure is built right into the spec.</a:t>
            </a:r>
          </a:p>
          <a:p>
            <a:endParaRPr/>
          </a:p>
          <a:p>
            <a:r>
              <a:t>What makes this remarkable is the adoption. Over 26 platforms have adopted the standard, including direct competitors. OpenAI's Codex, Google's Gemini CLI, Microsoft's GitHub Copilot, Cursor -- they all support Agent Skills format. This means skills you write for Claude Code work in Codex, Cursor, and more.</a:t>
            </a:r>
          </a:p>
          <a:p>
            <a:endParaRPr/>
          </a:p>
          <a:p>
            <a:r>
              <a:t>Simon Willison, one of the most respected voices in developer tools, called it 'maybe a bigger deal than MCP.' The adoption numbers back it up.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popular community skills library is Superpowers by Jesse Vincent, with nearly 60,000 GitHub stars. It is a complete software development workflow built on composable skills.</a:t>
            </a:r>
          </a:p>
          <a:p>
            <a:endParaRPr/>
          </a:p>
          <a:p>
            <a:r>
              <a:t>Here is what makes it special: it enforces a structured, mandatory workflow. When you ask Claude to build something, it does not just jump into writing code.</a:t>
            </a:r>
          </a:p>
          <a:p>
            <a:endParaRPr/>
          </a:p>
          <a:p>
            <a:r>
              <a:t>Step 1, Brainstorming: Claude asks clarifying questions, explores alternatives, and presents the design for your validation.</a:t>
            </a:r>
          </a:p>
          <a:p>
            <a:endParaRPr/>
          </a:p>
          <a:p>
            <a:r>
              <a:t>Step 2, Git Worktree: After approval, it creates an isolated branch workspace and verifies a clean test baseline.</a:t>
            </a:r>
          </a:p>
          <a:p>
            <a:endParaRPr/>
          </a:p>
          <a:p>
            <a:r>
              <a:t>Step 3, Write Plan: Breaks work into 2 to 5 minute tasks with exact file paths, complete code, and verification steps.</a:t>
            </a:r>
          </a:p>
          <a:p>
            <a:endParaRPr/>
          </a:p>
          <a:p>
            <a:r>
              <a:t>Step 4, TDD Execution: Strict RED-GREEN-REFACTOR. Code written before tests actually gets deleted.</a:t>
            </a:r>
          </a:p>
          <a:p>
            <a:endParaRPr/>
          </a:p>
          <a:p>
            <a:r>
              <a:t>Step 5, Code Review: Reviews against the plan. Critical issues block progress.</a:t>
            </a:r>
          </a:p>
          <a:p>
            <a:endParaRPr/>
          </a:p>
          <a:p>
            <a:r>
              <a:t>Step 6, Finish: Verifies all tests, presents options, cleans up the worktree.</a:t>
            </a:r>
          </a:p>
          <a:p>
            <a:endParaRPr/>
          </a:p>
          <a:p>
            <a:r>
              <a:t>The key principle is 'mandatory workflows, not suggestions.' The agent can work autonomously for hours without deviating from the plan.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Beyond Superpowers, there are several other notable skills worth highlighting.</a:t>
            </a:r>
          </a:p>
          <a:p>
            <a:endParaRPr/>
          </a:p>
          <a:p>
            <a:r>
              <a:t>Frontend Design is an official Anthropic skill that tackles what developers call 'AI slop.' When you ask Claude to build a landing page without guidance, it defaults to Inter fonts, purple gradients on white backgrounds, and minimal animations. This happens because LLMs sample from high-probability design choices. The frontend-design skill -- just about 42 lines -- guides Claude to commit to a bold aesthetic direction.</a:t>
            </a:r>
          </a:p>
          <a:p>
            <a:endParaRPr/>
          </a:p>
          <a:p>
            <a:r>
              <a:t>React Best Practices from Vercel Labs encapsulates over 10 years of React and Next.js optimization knowledge into 57 rules across 8 categories, ranked by impact. It works across Claude Code, Codex, Cursor, and others.</a:t>
            </a:r>
          </a:p>
          <a:p>
            <a:endParaRPr/>
          </a:p>
          <a:p>
            <a:r>
              <a:t>Document Skills powers Claude's built-in document generation -- PDF, PPTX, DOCX, XLSX.</a:t>
            </a:r>
          </a:p>
          <a:p>
            <a:endParaRPr/>
          </a:p>
          <a:p>
            <a:r>
              <a:t>And the Skill Creator is a meta-skill that walks you through building your own skills interactively -- from idea to tested skill in 15 to 30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us talk about building your own skills. Anthropic's official guide says you can build and test a functional skill in a single sitting -- 15 to 30 minutes using the skill-creator.</a:t>
            </a:r>
          </a:p>
          <a:p>
            <a:endParaRPr/>
          </a:p>
          <a:p>
            <a:r>
              <a:t>The process starts with identifying 2 to 3 concrete use cases. Then you choose a category: Document and Asset Creation for consistent outputs, Workflow Automation for multi-step processes, or MCP Enhancement for adding workflow guidance on top of tool access.</a:t>
            </a:r>
          </a:p>
          <a:p>
            <a:endParaRPr/>
          </a:p>
          <a:p>
            <a:r>
              <a:t>From there, create a directory in kebab-case, write your SKILL.md with frontmatter and instructions, then test it thoroughly.</a:t>
            </a:r>
          </a:p>
          <a:p>
            <a:endParaRPr/>
          </a:p>
          <a:p>
            <a:r>
              <a:t>The best practices from Anthropic's guide are crucial. Keep SKILL.md under 500 lines. The description field is the most important -- it is what Claude uses to decide when to load the skill.</a:t>
            </a:r>
          </a:p>
          <a:p>
            <a:endParaRPr/>
          </a:p>
          <a:p>
            <a:r>
              <a:t>Key mindset shift: the context window is a public good. Your skill shares it with everything else. Be efficient, be specific, use progressive disclosure.</a:t>
            </a:r>
          </a:p>
          <a:p>
            <a:endParaRPr/>
          </a:p>
          <a:p>
            <a:r>
              <a:t>Your success metric should be a 90 percent auto-trigger rate -- meaning your skill activates on 9 out of 10 relevant queries without manual invocation.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marketplace ecosystem is maturing rapidly. In Claude Code, the marketplace is a native feature of the plugin system. You add a marketplace by pointing to a GitHub repository, then browse and install skills directly.</a:t>
            </a:r>
          </a:p>
          <a:p>
            <a:endParaRPr/>
          </a:p>
          <a:p>
            <a:r>
              <a:t>The main marketplaces are Anthropic's official skills repo with 75,000 stars, the Claude Code plugins repo for things like frontend design, the Superpowers marketplace, and Vercel's Agent Skills repo using the npx add-skill CLI.</a:t>
            </a:r>
          </a:p>
          <a:p>
            <a:endParaRPr/>
          </a:p>
          <a:p>
            <a:r>
              <a:t>Beyond official channels, there is a growing ecosystem of community platforms. Skills.sh is Vercel's web directory. Playbooks.com offers a browser with its own installer. Claude-plugins.dev is community-driven. And mcpservers.org has added skills listings alongside MCP servers.</a:t>
            </a:r>
          </a:p>
          <a:p>
            <a:endParaRPr/>
          </a:p>
          <a:p>
            <a:r>
              <a:t>One important distinction: standalone skills use simple slash command names like /hello, while plugin skills use namespaced names like /plugin-name:hello to avoid conflicts. Plugins are better for sharing and distribution, while standalone skills are faster for personal experiments.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close with four key takeaways.</a:t>
            </a:r>
          </a:p>
          <a:p>
            <a:endParaRPr/>
          </a:p>
          <a:p>
            <a:r>
              <a:t>First, skills are the knowledge layer on top of tools. MCP gives Claude access to tools -- file editing, git, browser control. Skills teach Claude HOW to use those tools effectively. Together, they enable complex autonomous workflows.</a:t>
            </a:r>
          </a:p>
          <a:p>
            <a:endParaRPr/>
          </a:p>
          <a:p>
            <a:r>
              <a:t>Second, the open standard is achieving something remarkable. Over 26 platforms, including direct competitors like OpenAI's Codex and Google's Gemini CLI, have adopted the Agent Skills format. Write once, run everywhere.</a:t>
            </a:r>
          </a:p>
          <a:p>
            <a:endParaRPr/>
          </a:p>
          <a:p>
            <a:r>
              <a:t>Third, progressive disclosure is the key engineering insight. The three-level loading system preserves your context window while maintaining deep, specialized expertise on demand.</a:t>
            </a:r>
          </a:p>
          <a:p>
            <a:endParaRPr/>
          </a:p>
          <a:p>
            <a:r>
              <a:t>Fourth, skills enforce discipline. Superpowers demonstrates this perfectly -- mandatory brainstorming, planning, TDD, and code review happen automatically, every time. The agent works autonomously for hours without deviating.</a:t>
            </a:r>
          </a:p>
          <a:p>
            <a:endParaRPr/>
          </a:p>
          <a:p>
            <a:r>
              <a:t>The call to action: start building a skill today. Create a directory, write a SKILL.md file, and test it. You can go from idea to working skill in 15 to 30 minutes. Thank you. I am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  |  EPISODE 03</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Claude Skills</a:t>
            </a:r>
          </a:p>
        </p:txBody>
      </p:sp>
      <p:sp>
        <p:nvSpPr>
          <p:cNvPr id="4" name="TextBox 3"/>
          <p:cNvSpPr txBox="1"/>
          <p:nvPr/>
        </p:nvSpPr>
        <p:spPr>
          <a:xfrm>
            <a:off x="822960" y="28346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Teaching AI agents repeatable workflows</a:t>
            </a:r>
            <a:br/>
            <a:r>
              <a:t>through markdown instruction templates</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February 2026  |  Agentic Development Series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01  |  DEFINITION</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Skills are markdown workflow templates that teach</a:t>
            </a:r>
            <a:br/>
            <a:r>
              <a:t>Claude how to complete tasks repeatably</a:t>
            </a:r>
          </a:p>
        </p:txBody>
      </p:sp>
      <p:sp>
        <p:nvSpPr>
          <p:cNvPr id="5" name="Rounded Rectangle 4"/>
          <p:cNvSpPr/>
          <p:nvPr/>
        </p:nvSpPr>
        <p:spPr>
          <a:xfrm>
            <a:off x="641131" y="1912883"/>
            <a:ext cx="5119589" cy="4030717"/>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0120" y="21488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1288" y="21488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62456" y="21488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208483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The Core Concept</a:t>
            </a:r>
          </a:p>
        </p:txBody>
      </p:sp>
      <p:sp>
        <p:nvSpPr>
          <p:cNvPr id="10" name="TextBox 9"/>
          <p:cNvSpPr txBox="1"/>
          <p:nvPr/>
        </p:nvSpPr>
        <p:spPr>
          <a:xfrm>
            <a:off x="1005840" y="2560320"/>
            <a:ext cx="4389120" cy="3017520"/>
          </a:xfrm>
          <a:prstGeom prst="rect">
            <a:avLst/>
          </a:prstGeom>
          <a:noFill/>
        </p:spPr>
        <p:txBody>
          <a:bodyPr wrap="square">
            <a:spAutoFit/>
          </a:bodyPr>
          <a:lstStyle/>
          <a:p>
            <a:pPr>
              <a:spcBef>
                <a:spcPts val="200"/>
              </a:spcBef>
              <a:spcAft>
                <a:spcPts val="1000"/>
              </a:spcAft>
            </a:pPr>
            <a:r>
              <a:rPr sz="1500">
                <a:solidFill>
                  <a:srgbClr val="D4886B"/>
                </a:solidFill>
                <a:latin typeface="Calibri"/>
              </a:rPr>
              <a:t>  –  </a:t>
            </a:r>
            <a:r>
              <a:rPr sz="1500">
                <a:solidFill>
                  <a:srgbClr val="C4A882"/>
                </a:solidFill>
                <a:latin typeface="Calibri"/>
              </a:rPr>
              <a:t>A folder with a SKILL.md file containing
YAML frontmatter + markdown instructions</a:t>
            </a:r>
          </a:p>
          <a:p>
            <a:pPr>
              <a:spcBef>
                <a:spcPts val="200"/>
              </a:spcBef>
              <a:spcAft>
                <a:spcPts val="1000"/>
              </a:spcAft>
            </a:pPr>
            <a:r>
              <a:rPr sz="1500">
                <a:solidFill>
                  <a:srgbClr val="D4886B"/>
                </a:solidFill>
                <a:latin typeface="Calibri"/>
              </a:rPr>
              <a:t>  –  </a:t>
            </a:r>
            <a:r>
              <a:rPr sz="1500">
                <a:solidFill>
                  <a:srgbClr val="C4A882"/>
                </a:solidFill>
                <a:latin typeface="Calibri"/>
              </a:rPr>
              <a:t>Operates through prompt expansion --
modifies how Claude processes requests</a:t>
            </a:r>
          </a:p>
          <a:p>
            <a:pPr>
              <a:spcBef>
                <a:spcPts val="200"/>
              </a:spcBef>
              <a:spcAft>
                <a:spcPts val="1000"/>
              </a:spcAft>
            </a:pPr>
            <a:r>
              <a:rPr sz="1500">
                <a:solidFill>
                  <a:srgbClr val="D4886B"/>
                </a:solidFill>
                <a:latin typeface="Calibri"/>
              </a:rPr>
              <a:t>  –  </a:t>
            </a:r>
            <a:r>
              <a:rPr sz="1500">
                <a:solidFill>
                  <a:srgbClr val="C4A882"/>
                </a:solidFill>
                <a:latin typeface="Calibri"/>
              </a:rPr>
              <a:t>Works across Claude.ai, Claude Code,
and the API identically</a:t>
            </a:r>
          </a:p>
          <a:p>
            <a:pPr>
              <a:spcBef>
                <a:spcPts val="200"/>
              </a:spcBef>
              <a:spcAft>
                <a:spcPts val="1000"/>
              </a:spcAft>
            </a:pPr>
            <a:r>
              <a:rPr sz="1500">
                <a:solidFill>
                  <a:srgbClr val="D4886B"/>
                </a:solidFill>
                <a:latin typeface="Calibri"/>
              </a:rPr>
              <a:t>  –  </a:t>
            </a:r>
            <a:r>
              <a:rPr sz="1500" b="1">
                <a:solidFill>
                  <a:srgbClr val="E8D5B7"/>
                </a:solidFill>
                <a:latin typeface="Calibri"/>
              </a:rPr>
              <a:t>No executable code required</a:t>
            </a:r>
            <a:r>
              <a:rPr sz="1500">
                <a:solidFill>
                  <a:srgbClr val="C4A882"/>
                </a:solidFill>
                <a:latin typeface="Calibri"/>
              </a:rPr>
              <a:t> — pure
natural language instructions</a:t>
            </a:r>
          </a:p>
        </p:txBody>
      </p:sp>
      <p:sp>
        <p:nvSpPr>
          <p:cNvPr id="11" name="Rounded Rectangle 10"/>
          <p:cNvSpPr/>
          <p:nvPr/>
        </p:nvSpPr>
        <p:spPr>
          <a:xfrm>
            <a:off x="6127531" y="1912883"/>
            <a:ext cx="5119589" cy="4030717"/>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46520" y="21488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647688" y="21488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848856" y="21488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0" y="208483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MCP + Skills Analogy</a:t>
            </a:r>
          </a:p>
        </p:txBody>
      </p:sp>
      <p:sp>
        <p:nvSpPr>
          <p:cNvPr id="16" name="TextBox 15"/>
          <p:cNvSpPr txBox="1"/>
          <p:nvPr/>
        </p:nvSpPr>
        <p:spPr>
          <a:xfrm>
            <a:off x="6583680" y="2606040"/>
            <a:ext cx="4389120" cy="1645920"/>
          </a:xfrm>
          <a:prstGeom prst="rect">
            <a:avLst/>
          </a:prstGeom>
          <a:noFill/>
        </p:spPr>
        <p:txBody>
          <a:bodyPr wrap="square">
            <a:spAutoFit/>
          </a:bodyPr>
          <a:lstStyle/>
          <a:p>
            <a:pPr algn="l">
              <a:spcAft>
                <a:spcPts val="0"/>
              </a:spcAft>
              <a:defRPr sz="1600" b="0" i="0">
                <a:solidFill>
                  <a:srgbClr val="E8D5B7"/>
                </a:solidFill>
                <a:latin typeface="Calibri"/>
              </a:defRPr>
            </a:pPr>
            <a:r>
              <a:t>MCP provides the professional kitchen:</a:t>
            </a:r>
            <a:br/>
            <a:r>
              <a:t>access to tools, ingredients, and equipment.</a:t>
            </a:r>
            <a:br/>
            <a:br/>
            <a:r>
              <a:t>Skills provide the recipes:</a:t>
            </a:r>
            <a:br/>
            <a:r>
              <a:t>step-by-step instructions on how to create</a:t>
            </a:r>
            <a:br/>
            <a:r>
              <a:t>something valuable.</a:t>
            </a:r>
          </a:p>
        </p:txBody>
      </p:sp>
      <p:sp>
        <p:nvSpPr>
          <p:cNvPr id="17" name="Rounded Rectangle 16"/>
          <p:cNvSpPr/>
          <p:nvPr/>
        </p:nvSpPr>
        <p:spPr>
          <a:xfrm>
            <a:off x="6583680" y="4754880"/>
            <a:ext cx="4389120" cy="8229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0" y="4846320"/>
            <a:ext cx="4023360" cy="640080"/>
          </a:xfrm>
          <a:prstGeom prst="rect">
            <a:avLst/>
          </a:prstGeom>
          <a:noFill/>
        </p:spPr>
        <p:txBody>
          <a:bodyPr wrap="square">
            <a:spAutoFit/>
          </a:bodyPr>
          <a:lstStyle/>
          <a:p>
            <a:pPr algn="l">
              <a:spcAft>
                <a:spcPts val="0"/>
              </a:spcAft>
              <a:defRPr sz="1400" b="1" i="0">
                <a:solidFill>
                  <a:srgbClr val="E8A07A"/>
                </a:solidFill>
                <a:latin typeface="Calibri"/>
              </a:defRPr>
            </a:pPr>
            <a:r>
              <a:t>Teach Claude once, benefit every time.</a:t>
            </a:r>
            <a:br/>
            <a:r>
              <a:t>No more re-explaining preferences per session.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02  |  ARCHITECTURE</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Progressive disclosure minimizes token usage</a:t>
            </a:r>
            <a:br/>
            <a:r>
              <a:t>while maintaining specialized expertise</a:t>
            </a:r>
          </a:p>
        </p:txBody>
      </p:sp>
      <p:sp>
        <p:nvSpPr>
          <p:cNvPr id="5" name="Rounded Rectangle 4"/>
          <p:cNvSpPr/>
          <p:nvPr/>
        </p:nvSpPr>
        <p:spPr>
          <a:xfrm>
            <a:off x="651641" y="2280745"/>
            <a:ext cx="3290789" cy="345054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0630" y="2485171"/>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1798" y="2485171"/>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72966" y="2485171"/>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56430" y="2421163"/>
            <a:ext cx="2194560" cy="320040"/>
          </a:xfrm>
          <a:prstGeom prst="rect">
            <a:avLst/>
          </a:prstGeom>
          <a:noFill/>
        </p:spPr>
        <p:txBody>
          <a:bodyPr wrap="square">
            <a:spAutoFit/>
          </a:bodyPr>
          <a:lstStyle/>
          <a:p>
            <a:pPr algn="ctr">
              <a:spcAft>
                <a:spcPts val="0"/>
              </a:spcAft>
              <a:defRPr sz="1100" b="0" i="0">
                <a:solidFill>
                  <a:srgbClr val="7A6E5D"/>
                </a:solidFill>
                <a:latin typeface="Calibri"/>
              </a:defRPr>
            </a:pPr>
            <a:r>
              <a:t>Level 1</a:t>
            </a:r>
          </a:p>
        </p:txBody>
      </p:sp>
      <p:sp>
        <p:nvSpPr>
          <p:cNvPr id="10" name="TextBox 9"/>
          <p:cNvSpPr txBox="1"/>
          <p:nvPr/>
        </p:nvSpPr>
        <p:spPr>
          <a:xfrm>
            <a:off x="1016350" y="2850931"/>
            <a:ext cx="2834640" cy="365760"/>
          </a:xfrm>
          <a:prstGeom prst="rect">
            <a:avLst/>
          </a:prstGeom>
          <a:noFill/>
        </p:spPr>
        <p:txBody>
          <a:bodyPr wrap="square">
            <a:spAutoFit/>
          </a:bodyPr>
          <a:lstStyle/>
          <a:p>
            <a:pPr algn="l">
              <a:spcAft>
                <a:spcPts val="0"/>
              </a:spcAft>
              <a:defRPr sz="1900" b="0" i="0">
                <a:solidFill>
                  <a:srgbClr val="E8D5B7"/>
                </a:solidFill>
                <a:latin typeface="Georgia"/>
              </a:defRPr>
            </a:pPr>
            <a:r>
              <a:t>YAML Frontmatter</a:t>
            </a:r>
          </a:p>
        </p:txBody>
      </p:sp>
      <p:sp>
        <p:nvSpPr>
          <p:cNvPr id="11" name="Rounded Rectangle 10"/>
          <p:cNvSpPr/>
          <p:nvPr/>
        </p:nvSpPr>
        <p:spPr>
          <a:xfrm>
            <a:off x="1016350" y="3262411"/>
            <a:ext cx="1645920" cy="320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16350" y="3280699"/>
            <a:ext cx="1645920" cy="320040"/>
          </a:xfrm>
          <a:prstGeom prst="rect">
            <a:avLst/>
          </a:prstGeom>
          <a:noFill/>
        </p:spPr>
        <p:txBody>
          <a:bodyPr wrap="square">
            <a:spAutoFit/>
          </a:bodyPr>
          <a:lstStyle/>
          <a:p>
            <a:pPr algn="ctr">
              <a:spcAft>
                <a:spcPts val="0"/>
              </a:spcAft>
              <a:defRPr sz="1200" b="1" i="0">
                <a:solidFill>
                  <a:srgbClr val="E8A07A"/>
                </a:solidFill>
                <a:latin typeface="JetBrains Mono"/>
              </a:defRPr>
            </a:pPr>
            <a:r>
              <a:t>~100 tokens</a:t>
            </a:r>
          </a:p>
        </p:txBody>
      </p:sp>
      <p:sp>
        <p:nvSpPr>
          <p:cNvPr id="13" name="TextBox 12"/>
          <p:cNvSpPr txBox="1"/>
          <p:nvPr/>
        </p:nvSpPr>
        <p:spPr>
          <a:xfrm>
            <a:off x="1016350" y="3765331"/>
            <a:ext cx="2834640" cy="228600"/>
          </a:xfrm>
          <a:prstGeom prst="rect">
            <a:avLst/>
          </a:prstGeom>
          <a:noFill/>
        </p:spPr>
        <p:txBody>
          <a:bodyPr wrap="square">
            <a:spAutoFit/>
          </a:bodyPr>
          <a:lstStyle/>
          <a:p>
            <a:pPr algn="l">
              <a:spcAft>
                <a:spcPts val="0"/>
              </a:spcAft>
              <a:defRPr sz="1000" b="0" i="0">
                <a:solidFill>
                  <a:srgbClr val="D4886B"/>
                </a:solidFill>
                <a:latin typeface="JetBrains Mono"/>
              </a:defRPr>
            </a:pPr>
            <a:r>
              <a:t>WHEN</a:t>
            </a:r>
          </a:p>
        </p:txBody>
      </p:sp>
      <p:sp>
        <p:nvSpPr>
          <p:cNvPr id="14" name="TextBox 13"/>
          <p:cNvSpPr txBox="1"/>
          <p:nvPr/>
        </p:nvSpPr>
        <p:spPr>
          <a:xfrm>
            <a:off x="1016350" y="3993931"/>
            <a:ext cx="2834640" cy="731520"/>
          </a:xfrm>
          <a:prstGeom prst="rect">
            <a:avLst/>
          </a:prstGeom>
          <a:noFill/>
        </p:spPr>
        <p:txBody>
          <a:bodyPr wrap="square">
            <a:spAutoFit/>
          </a:bodyPr>
          <a:lstStyle/>
          <a:p>
            <a:pPr algn="l">
              <a:spcAft>
                <a:spcPts val="0"/>
              </a:spcAft>
              <a:defRPr sz="1400" b="0" i="0">
                <a:solidFill>
                  <a:srgbClr val="E8D5B7"/>
                </a:solidFill>
                <a:latin typeface="Calibri"/>
              </a:defRPr>
            </a:pPr>
            <a:r>
              <a:t>Always loaded at startup</a:t>
            </a:r>
            <a:br/>
            <a:r>
              <a:t>for all installed skills</a:t>
            </a:r>
          </a:p>
        </p:txBody>
      </p:sp>
      <p:sp>
        <p:nvSpPr>
          <p:cNvPr id="15" name="TextBox 14"/>
          <p:cNvSpPr txBox="1"/>
          <p:nvPr/>
        </p:nvSpPr>
        <p:spPr>
          <a:xfrm>
            <a:off x="1016350" y="4771171"/>
            <a:ext cx="2834640" cy="228600"/>
          </a:xfrm>
          <a:prstGeom prst="rect">
            <a:avLst/>
          </a:prstGeom>
          <a:noFill/>
        </p:spPr>
        <p:txBody>
          <a:bodyPr wrap="square">
            <a:spAutoFit/>
          </a:bodyPr>
          <a:lstStyle/>
          <a:p>
            <a:pPr algn="l">
              <a:spcAft>
                <a:spcPts val="0"/>
              </a:spcAft>
              <a:defRPr sz="1000" b="0" i="0">
                <a:solidFill>
                  <a:srgbClr val="D4886B"/>
                </a:solidFill>
                <a:latin typeface="JetBrains Mono"/>
              </a:defRPr>
            </a:pPr>
            <a:r>
              <a:t>WHAT</a:t>
            </a:r>
          </a:p>
        </p:txBody>
      </p:sp>
      <p:sp>
        <p:nvSpPr>
          <p:cNvPr id="16" name="TextBox 15"/>
          <p:cNvSpPr txBox="1"/>
          <p:nvPr/>
        </p:nvSpPr>
        <p:spPr>
          <a:xfrm>
            <a:off x="1016350" y="4999771"/>
            <a:ext cx="2834640" cy="731520"/>
          </a:xfrm>
          <a:prstGeom prst="rect">
            <a:avLst/>
          </a:prstGeom>
          <a:noFill/>
        </p:spPr>
        <p:txBody>
          <a:bodyPr wrap="square">
            <a:spAutoFit/>
          </a:bodyPr>
          <a:lstStyle/>
          <a:p>
            <a:pPr algn="l">
              <a:spcAft>
                <a:spcPts val="0"/>
              </a:spcAft>
              <a:defRPr sz="1400" b="0" i="0">
                <a:solidFill>
                  <a:srgbClr val="E8D5B7"/>
                </a:solidFill>
                <a:latin typeface="Calibri"/>
              </a:defRPr>
            </a:pPr>
            <a:r>
              <a:t>name + description fields</a:t>
            </a:r>
            <a:br/>
            <a:r>
              <a:t>only -- minimal footprint</a:t>
            </a:r>
          </a:p>
        </p:txBody>
      </p:sp>
      <p:sp>
        <p:nvSpPr>
          <p:cNvPr id="17" name="Rounded Rectangle 16"/>
          <p:cNvSpPr/>
          <p:nvPr/>
        </p:nvSpPr>
        <p:spPr>
          <a:xfrm>
            <a:off x="4400680" y="2280745"/>
            <a:ext cx="3290789" cy="345054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719669" y="2485171"/>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920837" y="2485171"/>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122005" y="2485171"/>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05469" y="2421163"/>
            <a:ext cx="2194560" cy="320040"/>
          </a:xfrm>
          <a:prstGeom prst="rect">
            <a:avLst/>
          </a:prstGeom>
          <a:noFill/>
        </p:spPr>
        <p:txBody>
          <a:bodyPr wrap="square">
            <a:spAutoFit/>
          </a:bodyPr>
          <a:lstStyle/>
          <a:p>
            <a:pPr algn="ctr">
              <a:spcAft>
                <a:spcPts val="0"/>
              </a:spcAft>
              <a:defRPr sz="1100" b="0" i="0">
                <a:solidFill>
                  <a:srgbClr val="7A6E5D"/>
                </a:solidFill>
                <a:latin typeface="Calibri"/>
              </a:defRPr>
            </a:pPr>
            <a:r>
              <a:t>Level 2</a:t>
            </a:r>
          </a:p>
        </p:txBody>
      </p:sp>
      <p:sp>
        <p:nvSpPr>
          <p:cNvPr id="22" name="TextBox 21"/>
          <p:cNvSpPr txBox="1"/>
          <p:nvPr/>
        </p:nvSpPr>
        <p:spPr>
          <a:xfrm>
            <a:off x="4765389" y="2850931"/>
            <a:ext cx="2834640" cy="365760"/>
          </a:xfrm>
          <a:prstGeom prst="rect">
            <a:avLst/>
          </a:prstGeom>
          <a:noFill/>
        </p:spPr>
        <p:txBody>
          <a:bodyPr wrap="square">
            <a:spAutoFit/>
          </a:bodyPr>
          <a:lstStyle/>
          <a:p>
            <a:pPr algn="l">
              <a:spcAft>
                <a:spcPts val="0"/>
              </a:spcAft>
              <a:defRPr sz="1900" b="0" i="0">
                <a:solidFill>
                  <a:srgbClr val="E8D5B7"/>
                </a:solidFill>
                <a:latin typeface="Georgia"/>
              </a:defRPr>
            </a:pPr>
            <a:r>
              <a:t>SKILL.md Body</a:t>
            </a:r>
          </a:p>
        </p:txBody>
      </p:sp>
      <p:sp>
        <p:nvSpPr>
          <p:cNvPr id="23" name="Rounded Rectangle 22"/>
          <p:cNvSpPr/>
          <p:nvPr/>
        </p:nvSpPr>
        <p:spPr>
          <a:xfrm>
            <a:off x="4765389" y="3262411"/>
            <a:ext cx="1645920" cy="320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65389" y="3280699"/>
            <a:ext cx="1645920" cy="320040"/>
          </a:xfrm>
          <a:prstGeom prst="rect">
            <a:avLst/>
          </a:prstGeom>
          <a:noFill/>
        </p:spPr>
        <p:txBody>
          <a:bodyPr wrap="square">
            <a:spAutoFit/>
          </a:bodyPr>
          <a:lstStyle/>
          <a:p>
            <a:pPr algn="ctr">
              <a:spcAft>
                <a:spcPts val="0"/>
              </a:spcAft>
              <a:defRPr sz="1200" b="1" i="0">
                <a:solidFill>
                  <a:srgbClr val="E8A07A"/>
                </a:solidFill>
                <a:latin typeface="JetBrains Mono"/>
              </a:defRPr>
            </a:pPr>
            <a:r>
              <a:t>&lt; 5,000 tokens</a:t>
            </a:r>
          </a:p>
        </p:txBody>
      </p:sp>
      <p:sp>
        <p:nvSpPr>
          <p:cNvPr id="25" name="TextBox 24"/>
          <p:cNvSpPr txBox="1"/>
          <p:nvPr/>
        </p:nvSpPr>
        <p:spPr>
          <a:xfrm>
            <a:off x="4765389" y="3765331"/>
            <a:ext cx="2834640" cy="228600"/>
          </a:xfrm>
          <a:prstGeom prst="rect">
            <a:avLst/>
          </a:prstGeom>
          <a:noFill/>
        </p:spPr>
        <p:txBody>
          <a:bodyPr wrap="square">
            <a:spAutoFit/>
          </a:bodyPr>
          <a:lstStyle/>
          <a:p>
            <a:pPr algn="l">
              <a:spcAft>
                <a:spcPts val="0"/>
              </a:spcAft>
              <a:defRPr sz="1000" b="0" i="0">
                <a:solidFill>
                  <a:srgbClr val="D4886B"/>
                </a:solidFill>
                <a:latin typeface="JetBrains Mono"/>
              </a:defRPr>
            </a:pPr>
            <a:r>
              <a:t>WHEN</a:t>
            </a:r>
          </a:p>
        </p:txBody>
      </p:sp>
      <p:sp>
        <p:nvSpPr>
          <p:cNvPr id="26" name="TextBox 25"/>
          <p:cNvSpPr txBox="1"/>
          <p:nvPr/>
        </p:nvSpPr>
        <p:spPr>
          <a:xfrm>
            <a:off x="4765389" y="3993931"/>
            <a:ext cx="2834640" cy="731520"/>
          </a:xfrm>
          <a:prstGeom prst="rect">
            <a:avLst/>
          </a:prstGeom>
          <a:noFill/>
        </p:spPr>
        <p:txBody>
          <a:bodyPr wrap="square">
            <a:spAutoFit/>
          </a:bodyPr>
          <a:lstStyle/>
          <a:p>
            <a:pPr algn="l">
              <a:spcAft>
                <a:spcPts val="0"/>
              </a:spcAft>
              <a:defRPr sz="1400" b="0" i="0">
                <a:solidFill>
                  <a:srgbClr val="E8D5B7"/>
                </a:solidFill>
                <a:latin typeface="Calibri"/>
              </a:defRPr>
            </a:pPr>
            <a:r>
              <a:t>Loaded when Claude deems</a:t>
            </a:r>
            <a:br/>
            <a:r>
              <a:t>the skill is relevant</a:t>
            </a:r>
          </a:p>
        </p:txBody>
      </p:sp>
      <p:sp>
        <p:nvSpPr>
          <p:cNvPr id="27" name="TextBox 26"/>
          <p:cNvSpPr txBox="1"/>
          <p:nvPr/>
        </p:nvSpPr>
        <p:spPr>
          <a:xfrm>
            <a:off x="4765389" y="4771171"/>
            <a:ext cx="2834640" cy="228600"/>
          </a:xfrm>
          <a:prstGeom prst="rect">
            <a:avLst/>
          </a:prstGeom>
          <a:noFill/>
        </p:spPr>
        <p:txBody>
          <a:bodyPr wrap="square">
            <a:spAutoFit/>
          </a:bodyPr>
          <a:lstStyle/>
          <a:p>
            <a:pPr algn="l">
              <a:spcAft>
                <a:spcPts val="0"/>
              </a:spcAft>
              <a:defRPr sz="1000" b="0" i="0">
                <a:solidFill>
                  <a:srgbClr val="D4886B"/>
                </a:solidFill>
                <a:latin typeface="JetBrains Mono"/>
              </a:defRPr>
            </a:pPr>
            <a:r>
              <a:t>WHAT</a:t>
            </a:r>
          </a:p>
        </p:txBody>
      </p:sp>
      <p:sp>
        <p:nvSpPr>
          <p:cNvPr id="28" name="TextBox 27"/>
          <p:cNvSpPr txBox="1"/>
          <p:nvPr/>
        </p:nvSpPr>
        <p:spPr>
          <a:xfrm>
            <a:off x="4765389" y="4999771"/>
            <a:ext cx="2834640" cy="731520"/>
          </a:xfrm>
          <a:prstGeom prst="rect">
            <a:avLst/>
          </a:prstGeom>
          <a:noFill/>
        </p:spPr>
        <p:txBody>
          <a:bodyPr wrap="square">
            <a:spAutoFit/>
          </a:bodyPr>
          <a:lstStyle/>
          <a:p>
            <a:pPr algn="l">
              <a:spcAft>
                <a:spcPts val="0"/>
              </a:spcAft>
              <a:defRPr sz="1400" b="0" i="0">
                <a:solidFill>
                  <a:srgbClr val="E8D5B7"/>
                </a:solidFill>
                <a:latin typeface="Calibri"/>
              </a:defRPr>
            </a:pPr>
            <a:r>
              <a:t>Full instructions, templates,</a:t>
            </a:r>
            <a:br/>
            <a:r>
              <a:t>and workflow steps</a:t>
            </a:r>
          </a:p>
        </p:txBody>
      </p:sp>
      <p:sp>
        <p:nvSpPr>
          <p:cNvPr id="29" name="Rounded Rectangle 28"/>
          <p:cNvSpPr/>
          <p:nvPr/>
        </p:nvSpPr>
        <p:spPr>
          <a:xfrm>
            <a:off x="8149721" y="2280745"/>
            <a:ext cx="3290789" cy="345054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468710" y="2485171"/>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669878" y="2485171"/>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871046" y="2485171"/>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54510" y="2421163"/>
            <a:ext cx="2194560" cy="320040"/>
          </a:xfrm>
          <a:prstGeom prst="rect">
            <a:avLst/>
          </a:prstGeom>
          <a:noFill/>
        </p:spPr>
        <p:txBody>
          <a:bodyPr wrap="square">
            <a:spAutoFit/>
          </a:bodyPr>
          <a:lstStyle/>
          <a:p>
            <a:pPr algn="ctr">
              <a:spcAft>
                <a:spcPts val="0"/>
              </a:spcAft>
              <a:defRPr sz="1100" b="0" i="0">
                <a:solidFill>
                  <a:srgbClr val="7A6E5D"/>
                </a:solidFill>
                <a:latin typeface="Calibri"/>
              </a:defRPr>
            </a:pPr>
            <a:r>
              <a:t>Level 3</a:t>
            </a:r>
          </a:p>
        </p:txBody>
      </p:sp>
      <p:sp>
        <p:nvSpPr>
          <p:cNvPr id="34" name="TextBox 33"/>
          <p:cNvSpPr txBox="1"/>
          <p:nvPr/>
        </p:nvSpPr>
        <p:spPr>
          <a:xfrm>
            <a:off x="8514430" y="2850931"/>
            <a:ext cx="2834640" cy="365760"/>
          </a:xfrm>
          <a:prstGeom prst="rect">
            <a:avLst/>
          </a:prstGeom>
          <a:noFill/>
        </p:spPr>
        <p:txBody>
          <a:bodyPr wrap="square">
            <a:spAutoFit/>
          </a:bodyPr>
          <a:lstStyle/>
          <a:p>
            <a:pPr algn="l">
              <a:spcAft>
                <a:spcPts val="0"/>
              </a:spcAft>
              <a:defRPr sz="1900" b="0" i="0">
                <a:solidFill>
                  <a:srgbClr val="E8D5B7"/>
                </a:solidFill>
                <a:latin typeface="Georgia"/>
              </a:defRPr>
            </a:pPr>
            <a:r>
              <a:t>Linked Files</a:t>
            </a:r>
          </a:p>
        </p:txBody>
      </p:sp>
      <p:sp>
        <p:nvSpPr>
          <p:cNvPr id="35" name="Rounded Rectangle 34"/>
          <p:cNvSpPr/>
          <p:nvPr/>
        </p:nvSpPr>
        <p:spPr>
          <a:xfrm>
            <a:off x="8514430" y="3262411"/>
            <a:ext cx="1645920" cy="320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14430" y="3280699"/>
            <a:ext cx="1645920" cy="320040"/>
          </a:xfrm>
          <a:prstGeom prst="rect">
            <a:avLst/>
          </a:prstGeom>
          <a:noFill/>
        </p:spPr>
        <p:txBody>
          <a:bodyPr wrap="square">
            <a:spAutoFit/>
          </a:bodyPr>
          <a:lstStyle/>
          <a:p>
            <a:pPr algn="ctr">
              <a:spcAft>
                <a:spcPts val="0"/>
              </a:spcAft>
              <a:defRPr sz="1200" b="1" i="0">
                <a:solidFill>
                  <a:srgbClr val="E8A07A"/>
                </a:solidFill>
                <a:latin typeface="JetBrains Mono"/>
              </a:defRPr>
            </a:pPr>
            <a:r>
              <a:t>On demand</a:t>
            </a:r>
          </a:p>
        </p:txBody>
      </p:sp>
      <p:sp>
        <p:nvSpPr>
          <p:cNvPr id="37" name="TextBox 36"/>
          <p:cNvSpPr txBox="1"/>
          <p:nvPr/>
        </p:nvSpPr>
        <p:spPr>
          <a:xfrm>
            <a:off x="8514430" y="3765331"/>
            <a:ext cx="2834640" cy="228600"/>
          </a:xfrm>
          <a:prstGeom prst="rect">
            <a:avLst/>
          </a:prstGeom>
          <a:noFill/>
        </p:spPr>
        <p:txBody>
          <a:bodyPr wrap="square">
            <a:spAutoFit/>
          </a:bodyPr>
          <a:lstStyle/>
          <a:p>
            <a:pPr algn="l">
              <a:spcAft>
                <a:spcPts val="0"/>
              </a:spcAft>
              <a:defRPr sz="1000" b="0" i="0">
                <a:solidFill>
                  <a:srgbClr val="D4886B"/>
                </a:solidFill>
                <a:latin typeface="JetBrains Mono"/>
              </a:defRPr>
            </a:pPr>
            <a:r>
              <a:t>WHEN</a:t>
            </a:r>
          </a:p>
        </p:txBody>
      </p:sp>
      <p:sp>
        <p:nvSpPr>
          <p:cNvPr id="38" name="TextBox 37"/>
          <p:cNvSpPr txBox="1"/>
          <p:nvPr/>
        </p:nvSpPr>
        <p:spPr>
          <a:xfrm>
            <a:off x="8514430" y="3993931"/>
            <a:ext cx="2834640" cy="731520"/>
          </a:xfrm>
          <a:prstGeom prst="rect">
            <a:avLst/>
          </a:prstGeom>
          <a:noFill/>
        </p:spPr>
        <p:txBody>
          <a:bodyPr wrap="square">
            <a:spAutoFit/>
          </a:bodyPr>
          <a:lstStyle/>
          <a:p>
            <a:pPr algn="l">
              <a:spcAft>
                <a:spcPts val="0"/>
              </a:spcAft>
              <a:defRPr sz="1400" b="0" i="0">
                <a:solidFill>
                  <a:srgbClr val="E8D5B7"/>
                </a:solidFill>
                <a:latin typeface="Calibri"/>
              </a:defRPr>
            </a:pPr>
            <a:r>
              <a:t>Loaded only when</a:t>
            </a:r>
            <a:br/>
            <a:r>
              <a:t>specifically needed</a:t>
            </a:r>
          </a:p>
        </p:txBody>
      </p:sp>
      <p:sp>
        <p:nvSpPr>
          <p:cNvPr id="39" name="TextBox 38"/>
          <p:cNvSpPr txBox="1"/>
          <p:nvPr/>
        </p:nvSpPr>
        <p:spPr>
          <a:xfrm>
            <a:off x="8514430" y="4771171"/>
            <a:ext cx="2834640" cy="228600"/>
          </a:xfrm>
          <a:prstGeom prst="rect">
            <a:avLst/>
          </a:prstGeom>
          <a:noFill/>
        </p:spPr>
        <p:txBody>
          <a:bodyPr wrap="square">
            <a:spAutoFit/>
          </a:bodyPr>
          <a:lstStyle/>
          <a:p>
            <a:pPr algn="l">
              <a:spcAft>
                <a:spcPts val="0"/>
              </a:spcAft>
              <a:defRPr sz="1000" b="0" i="0">
                <a:solidFill>
                  <a:srgbClr val="D4886B"/>
                </a:solidFill>
                <a:latin typeface="JetBrains Mono"/>
              </a:defRPr>
            </a:pPr>
            <a:r>
              <a:t>WHAT</a:t>
            </a:r>
          </a:p>
        </p:txBody>
      </p:sp>
      <p:sp>
        <p:nvSpPr>
          <p:cNvPr id="40" name="TextBox 39"/>
          <p:cNvSpPr txBox="1"/>
          <p:nvPr/>
        </p:nvSpPr>
        <p:spPr>
          <a:xfrm>
            <a:off x="8514430" y="4999771"/>
            <a:ext cx="2834640" cy="731520"/>
          </a:xfrm>
          <a:prstGeom prst="rect">
            <a:avLst/>
          </a:prstGeom>
          <a:noFill/>
        </p:spPr>
        <p:txBody>
          <a:bodyPr wrap="square">
            <a:spAutoFit/>
          </a:bodyPr>
          <a:lstStyle/>
          <a:p>
            <a:pPr algn="l">
              <a:spcAft>
                <a:spcPts val="0"/>
              </a:spcAft>
              <a:defRPr sz="1400" b="0" i="0">
                <a:solidFill>
                  <a:srgbClr val="E8D5B7"/>
                </a:solidFill>
                <a:latin typeface="Calibri"/>
              </a:defRPr>
            </a:pPr>
            <a:r>
              <a:t>References, scripts, assets,</a:t>
            </a:r>
            <a:br/>
            <a:r>
              <a:t>and example outputs</a:t>
            </a:r>
          </a:p>
        </p:txBody>
      </p:sp>
      <p:sp>
        <p:nvSpPr>
          <p:cNvPr id="41" name="Right Arrow 40"/>
          <p:cNvSpPr/>
          <p:nvPr/>
        </p:nvSpPr>
        <p:spPr>
          <a:xfrm>
            <a:off x="3942430" y="4085370"/>
            <a:ext cx="365760" cy="228600"/>
          </a:xfrm>
          <a:prstGeom prst="rightArrow">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ight Arrow 41"/>
          <p:cNvSpPr/>
          <p:nvPr/>
        </p:nvSpPr>
        <p:spPr>
          <a:xfrm>
            <a:off x="7691469" y="4085370"/>
            <a:ext cx="365760" cy="228600"/>
          </a:xfrm>
          <a:prstGeom prst="rightArrow">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03  |  INSTALLATION</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Four paths from discovery to working skill,</a:t>
            </a:r>
            <a:br/>
            <a:r>
              <a:t>each suited to different use cases</a:t>
            </a:r>
          </a:p>
        </p:txBody>
      </p:sp>
      <p:sp>
        <p:nvSpPr>
          <p:cNvPr id="5" name="Rounded Rectangle 4"/>
          <p:cNvSpPr/>
          <p:nvPr/>
        </p:nvSpPr>
        <p:spPr>
          <a:xfrm>
            <a:off x="731520" y="1920240"/>
            <a:ext cx="5143763"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01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12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624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199339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Manual Creation</a:t>
            </a:r>
          </a:p>
        </p:txBody>
      </p:sp>
      <p:sp>
        <p:nvSpPr>
          <p:cNvPr id="10" name="TextBox 9"/>
          <p:cNvSpPr txBox="1"/>
          <p:nvPr/>
        </p:nvSpPr>
        <p:spPr>
          <a:xfrm>
            <a:off x="4114800" y="1993392"/>
            <a:ext cx="1554480" cy="274320"/>
          </a:xfrm>
          <a:prstGeom prst="rect">
            <a:avLst/>
          </a:prstGeom>
          <a:noFill/>
        </p:spPr>
        <p:txBody>
          <a:bodyPr wrap="square">
            <a:spAutoFit/>
          </a:bodyPr>
          <a:lstStyle/>
          <a:p>
            <a:pPr algn="r">
              <a:spcAft>
                <a:spcPts val="0"/>
              </a:spcAft>
              <a:defRPr sz="1000" b="0" i="0">
                <a:solidFill>
                  <a:srgbClr val="D4886B"/>
                </a:solidFill>
                <a:latin typeface="JetBrains Mono"/>
              </a:defRPr>
            </a:pPr>
            <a:r>
              <a:t>Quick experiments</a:t>
            </a:r>
          </a:p>
        </p:txBody>
      </p:sp>
      <p:sp>
        <p:nvSpPr>
          <p:cNvPr id="11" name="TextBox 10"/>
          <p:cNvSpPr txBox="1"/>
          <p:nvPr/>
        </p:nvSpPr>
        <p:spPr>
          <a:xfrm>
            <a:off x="1005840" y="2468880"/>
            <a:ext cx="4663440" cy="320040"/>
          </a:xfrm>
          <a:prstGeom prst="rect">
            <a:avLst/>
          </a:prstGeom>
          <a:noFill/>
        </p:spPr>
        <p:txBody>
          <a:bodyPr wrap="square">
            <a:spAutoFit/>
          </a:bodyPr>
          <a:lstStyle/>
          <a:p>
            <a:pPr algn="l">
              <a:spcAft>
                <a:spcPts val="0"/>
              </a:spcAft>
              <a:defRPr sz="1200" b="0" i="0">
                <a:solidFill>
                  <a:srgbClr val="D4886B"/>
                </a:solidFill>
                <a:latin typeface="JetBrains Mono"/>
              </a:defRPr>
            </a:pPr>
            <a:r>
              <a:t>mkdir -p .claude/skills/my-skill</a:t>
            </a:r>
          </a:p>
        </p:txBody>
      </p:sp>
      <p:sp>
        <p:nvSpPr>
          <p:cNvPr id="12" name="TextBox 11"/>
          <p:cNvSpPr txBox="1"/>
          <p:nvPr/>
        </p:nvSpPr>
        <p:spPr>
          <a:xfrm>
            <a:off x="1005840" y="2926080"/>
            <a:ext cx="4663440" cy="822960"/>
          </a:xfrm>
          <a:prstGeom prst="rect">
            <a:avLst/>
          </a:prstGeom>
          <a:noFill/>
        </p:spPr>
        <p:txBody>
          <a:bodyPr wrap="square">
            <a:spAutoFit/>
          </a:bodyPr>
          <a:lstStyle/>
          <a:p>
            <a:pPr algn="l">
              <a:spcAft>
                <a:spcPts val="0"/>
              </a:spcAft>
              <a:defRPr sz="1400" b="0" i="0">
                <a:solidFill>
                  <a:srgbClr val="E8D5B7"/>
                </a:solidFill>
                <a:latin typeface="Calibri"/>
              </a:defRPr>
            </a:pPr>
            <a:r>
              <a:t>Create SKILL.md directly in your</a:t>
            </a:r>
            <a:br/>
            <a:r>
              <a:t>project or home directory</a:t>
            </a:r>
          </a:p>
        </p:txBody>
      </p:sp>
      <p:sp>
        <p:nvSpPr>
          <p:cNvPr id="13" name="Rounded Rectangle 12"/>
          <p:cNvSpPr/>
          <p:nvPr/>
        </p:nvSpPr>
        <p:spPr>
          <a:xfrm>
            <a:off x="6309359" y="1920240"/>
            <a:ext cx="5143763"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37959"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739127"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940295"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59" y="199339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Vercel add-skill CLI</a:t>
            </a:r>
          </a:p>
        </p:txBody>
      </p:sp>
      <p:sp>
        <p:nvSpPr>
          <p:cNvPr id="18" name="TextBox 17"/>
          <p:cNvSpPr txBox="1"/>
          <p:nvPr/>
        </p:nvSpPr>
        <p:spPr>
          <a:xfrm>
            <a:off x="9692639" y="1993392"/>
            <a:ext cx="1554480" cy="274320"/>
          </a:xfrm>
          <a:prstGeom prst="rect">
            <a:avLst/>
          </a:prstGeom>
          <a:noFill/>
        </p:spPr>
        <p:txBody>
          <a:bodyPr wrap="square">
            <a:spAutoFit/>
          </a:bodyPr>
          <a:lstStyle/>
          <a:p>
            <a:pPr algn="r">
              <a:spcAft>
                <a:spcPts val="0"/>
              </a:spcAft>
              <a:defRPr sz="1000" b="0" i="0">
                <a:solidFill>
                  <a:srgbClr val="D4886B"/>
                </a:solidFill>
                <a:latin typeface="JetBrains Mono"/>
              </a:defRPr>
            </a:pPr>
            <a:r>
              <a:t>Multi-agent teams</a:t>
            </a:r>
          </a:p>
        </p:txBody>
      </p:sp>
      <p:sp>
        <p:nvSpPr>
          <p:cNvPr id="19" name="TextBox 18"/>
          <p:cNvSpPr txBox="1"/>
          <p:nvPr/>
        </p:nvSpPr>
        <p:spPr>
          <a:xfrm>
            <a:off x="6583679" y="2468880"/>
            <a:ext cx="4663440" cy="320040"/>
          </a:xfrm>
          <a:prstGeom prst="rect">
            <a:avLst/>
          </a:prstGeom>
          <a:noFill/>
        </p:spPr>
        <p:txBody>
          <a:bodyPr wrap="square">
            <a:spAutoFit/>
          </a:bodyPr>
          <a:lstStyle/>
          <a:p>
            <a:pPr algn="l">
              <a:spcAft>
                <a:spcPts val="0"/>
              </a:spcAft>
              <a:defRPr sz="1200" b="0" i="0">
                <a:solidFill>
                  <a:srgbClr val="D4886B"/>
                </a:solidFill>
                <a:latin typeface="JetBrains Mono"/>
              </a:defRPr>
            </a:pPr>
            <a:r>
              <a:t>npx add-skill vercel-labs/agent-skills</a:t>
            </a:r>
          </a:p>
        </p:txBody>
      </p:sp>
      <p:sp>
        <p:nvSpPr>
          <p:cNvPr id="20" name="TextBox 19"/>
          <p:cNvSpPr txBox="1"/>
          <p:nvPr/>
        </p:nvSpPr>
        <p:spPr>
          <a:xfrm>
            <a:off x="6583679" y="2926080"/>
            <a:ext cx="4663440" cy="822960"/>
          </a:xfrm>
          <a:prstGeom prst="rect">
            <a:avLst/>
          </a:prstGeom>
          <a:noFill/>
        </p:spPr>
        <p:txBody>
          <a:bodyPr wrap="square">
            <a:spAutoFit/>
          </a:bodyPr>
          <a:lstStyle/>
          <a:p>
            <a:pPr algn="l">
              <a:spcAft>
                <a:spcPts val="0"/>
              </a:spcAft>
              <a:defRPr sz="1400" b="0" i="0">
                <a:solidFill>
                  <a:srgbClr val="E8D5B7"/>
                </a:solidFill>
                <a:latin typeface="Calibri"/>
              </a:defRPr>
            </a:pPr>
            <a:r>
              <a:t>Cross-agent installer supporting</a:t>
            </a:r>
            <a:br/>
            <a:r>
              <a:t>6+ AI coding tools</a:t>
            </a:r>
          </a:p>
        </p:txBody>
      </p:sp>
      <p:sp>
        <p:nvSpPr>
          <p:cNvPr id="21" name="Rounded Rectangle 20"/>
          <p:cNvSpPr/>
          <p:nvPr/>
        </p:nvSpPr>
        <p:spPr>
          <a:xfrm>
            <a:off x="731520" y="4297680"/>
            <a:ext cx="5143763"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60120" y="44348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61288" y="44348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62456" y="44348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45920" y="437083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rPr dirty="0"/>
              <a:t>Plugin Marketplace</a:t>
            </a:r>
          </a:p>
        </p:txBody>
      </p:sp>
      <p:sp>
        <p:nvSpPr>
          <p:cNvPr id="26" name="TextBox 25"/>
          <p:cNvSpPr txBox="1"/>
          <p:nvPr/>
        </p:nvSpPr>
        <p:spPr>
          <a:xfrm>
            <a:off x="4114800" y="4370832"/>
            <a:ext cx="1554480" cy="274320"/>
          </a:xfrm>
          <a:prstGeom prst="rect">
            <a:avLst/>
          </a:prstGeom>
          <a:noFill/>
        </p:spPr>
        <p:txBody>
          <a:bodyPr wrap="square">
            <a:spAutoFit/>
          </a:bodyPr>
          <a:lstStyle/>
          <a:p>
            <a:pPr algn="r">
              <a:spcAft>
                <a:spcPts val="0"/>
              </a:spcAft>
              <a:defRPr sz="1000" b="0" i="0">
                <a:solidFill>
                  <a:srgbClr val="D4886B"/>
                </a:solidFill>
                <a:latin typeface="JetBrains Mono"/>
              </a:defRPr>
            </a:pPr>
            <a:r>
              <a:t>Curated &amp; versioned</a:t>
            </a:r>
          </a:p>
        </p:txBody>
      </p:sp>
      <p:sp>
        <p:nvSpPr>
          <p:cNvPr id="27" name="TextBox 26"/>
          <p:cNvSpPr txBox="1"/>
          <p:nvPr/>
        </p:nvSpPr>
        <p:spPr>
          <a:xfrm>
            <a:off x="1005840" y="4846320"/>
            <a:ext cx="4663440" cy="320040"/>
          </a:xfrm>
          <a:prstGeom prst="rect">
            <a:avLst/>
          </a:prstGeom>
          <a:noFill/>
        </p:spPr>
        <p:txBody>
          <a:bodyPr wrap="square">
            <a:spAutoFit/>
          </a:bodyPr>
          <a:lstStyle/>
          <a:p>
            <a:pPr algn="l">
              <a:spcAft>
                <a:spcPts val="0"/>
              </a:spcAft>
              <a:defRPr sz="1200" b="0" i="0">
                <a:solidFill>
                  <a:srgbClr val="D4886B"/>
                </a:solidFill>
                <a:latin typeface="JetBrains Mono"/>
              </a:defRPr>
            </a:pPr>
            <a:r>
              <a:t>/plugin install superpowers@marketplace</a:t>
            </a:r>
          </a:p>
        </p:txBody>
      </p:sp>
      <p:sp>
        <p:nvSpPr>
          <p:cNvPr id="28" name="TextBox 27"/>
          <p:cNvSpPr txBox="1"/>
          <p:nvPr/>
        </p:nvSpPr>
        <p:spPr>
          <a:xfrm>
            <a:off x="1005840" y="5303520"/>
            <a:ext cx="4663440" cy="822960"/>
          </a:xfrm>
          <a:prstGeom prst="rect">
            <a:avLst/>
          </a:prstGeom>
          <a:noFill/>
        </p:spPr>
        <p:txBody>
          <a:bodyPr wrap="square">
            <a:spAutoFit/>
          </a:bodyPr>
          <a:lstStyle/>
          <a:p>
            <a:pPr algn="l">
              <a:spcAft>
                <a:spcPts val="0"/>
              </a:spcAft>
              <a:defRPr sz="1400" b="0" i="0">
                <a:solidFill>
                  <a:srgbClr val="E8D5B7"/>
                </a:solidFill>
                <a:latin typeface="Calibri"/>
              </a:defRPr>
            </a:pPr>
            <a:r>
              <a:t>Native Claude Code discovery,</a:t>
            </a:r>
            <a:br/>
            <a:r>
              <a:t>install, and update system</a:t>
            </a:r>
          </a:p>
        </p:txBody>
      </p:sp>
      <p:sp>
        <p:nvSpPr>
          <p:cNvPr id="29" name="Rounded Rectangle 28"/>
          <p:cNvSpPr/>
          <p:nvPr/>
        </p:nvSpPr>
        <p:spPr>
          <a:xfrm>
            <a:off x="6309359" y="4297680"/>
            <a:ext cx="5143763"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537959" y="44348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739127" y="44348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940295" y="44348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59" y="437083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Claude.ai Upload</a:t>
            </a:r>
          </a:p>
        </p:txBody>
      </p:sp>
      <p:sp>
        <p:nvSpPr>
          <p:cNvPr id="34" name="TextBox 33"/>
          <p:cNvSpPr txBox="1"/>
          <p:nvPr/>
        </p:nvSpPr>
        <p:spPr>
          <a:xfrm>
            <a:off x="9692639" y="4370832"/>
            <a:ext cx="1554480" cy="274320"/>
          </a:xfrm>
          <a:prstGeom prst="rect">
            <a:avLst/>
          </a:prstGeom>
          <a:noFill/>
        </p:spPr>
        <p:txBody>
          <a:bodyPr wrap="square">
            <a:spAutoFit/>
          </a:bodyPr>
          <a:lstStyle/>
          <a:p>
            <a:pPr algn="r">
              <a:spcAft>
                <a:spcPts val="0"/>
              </a:spcAft>
              <a:defRPr sz="1000" b="0" i="0">
                <a:solidFill>
                  <a:srgbClr val="D4886B"/>
                </a:solidFill>
                <a:latin typeface="JetBrains Mono"/>
              </a:defRPr>
            </a:pPr>
            <a:r>
              <a:t>Non-CLI users</a:t>
            </a:r>
          </a:p>
        </p:txBody>
      </p:sp>
      <p:sp>
        <p:nvSpPr>
          <p:cNvPr id="35" name="TextBox 34"/>
          <p:cNvSpPr txBox="1"/>
          <p:nvPr/>
        </p:nvSpPr>
        <p:spPr>
          <a:xfrm>
            <a:off x="6583679" y="4846320"/>
            <a:ext cx="4663440" cy="320040"/>
          </a:xfrm>
          <a:prstGeom prst="rect">
            <a:avLst/>
          </a:prstGeom>
          <a:noFill/>
        </p:spPr>
        <p:txBody>
          <a:bodyPr wrap="square">
            <a:spAutoFit/>
          </a:bodyPr>
          <a:lstStyle/>
          <a:p>
            <a:pPr algn="l">
              <a:spcAft>
                <a:spcPts val="0"/>
              </a:spcAft>
              <a:defRPr sz="1200" b="0" i="0">
                <a:solidFill>
                  <a:srgbClr val="D4886B"/>
                </a:solidFill>
                <a:latin typeface="JetBrains Mono"/>
              </a:defRPr>
            </a:pPr>
            <a:r>
              <a:t>Settings &gt; Capabilities &gt; Skills</a:t>
            </a:r>
          </a:p>
        </p:txBody>
      </p:sp>
      <p:sp>
        <p:nvSpPr>
          <p:cNvPr id="36" name="TextBox 35"/>
          <p:cNvSpPr txBox="1"/>
          <p:nvPr/>
        </p:nvSpPr>
        <p:spPr>
          <a:xfrm>
            <a:off x="6583679" y="5303520"/>
            <a:ext cx="4663440" cy="822960"/>
          </a:xfrm>
          <a:prstGeom prst="rect">
            <a:avLst/>
          </a:prstGeom>
          <a:noFill/>
        </p:spPr>
        <p:txBody>
          <a:bodyPr wrap="square">
            <a:spAutoFit/>
          </a:bodyPr>
          <a:lstStyle/>
          <a:p>
            <a:pPr algn="l">
              <a:spcAft>
                <a:spcPts val="0"/>
              </a:spcAft>
              <a:defRPr sz="1400" b="0" i="0">
                <a:solidFill>
                  <a:srgbClr val="E8D5B7"/>
                </a:solidFill>
                <a:latin typeface="Calibri"/>
              </a:defRPr>
            </a:pPr>
            <a:r>
              <a:t>Upload zipped skill folders</a:t>
            </a:r>
            <a:br/>
            <a:r>
              <a:t>via the web interface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04  |  OPEN STANDARD</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The Agent Skills open standard has been adopted</a:t>
            </a:r>
            <a:br/>
            <a:r>
              <a:t>by 26+ platforms -- including direct competitors</a:t>
            </a:r>
          </a:p>
        </p:txBody>
      </p:sp>
      <p:sp>
        <p:nvSpPr>
          <p:cNvPr id="5" name="Rounded Rectangle 4"/>
          <p:cNvSpPr/>
          <p:nvPr/>
        </p:nvSpPr>
        <p:spPr>
          <a:xfrm>
            <a:off x="731520" y="2423160"/>
            <a:ext cx="4834759" cy="3383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39999" y="2651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241167" y="2651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442335" y="2651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725799" y="258775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Standard Highlights</a:t>
            </a:r>
          </a:p>
        </p:txBody>
      </p:sp>
      <p:sp>
        <p:nvSpPr>
          <p:cNvPr id="10" name="TextBox 9"/>
          <p:cNvSpPr txBox="1"/>
          <p:nvPr/>
        </p:nvSpPr>
        <p:spPr>
          <a:xfrm>
            <a:off x="1085719" y="3063240"/>
            <a:ext cx="4389120" cy="1682512"/>
          </a:xfrm>
          <a:prstGeom prst="rect">
            <a:avLst/>
          </a:prstGeom>
          <a:noFill/>
        </p:spPr>
        <p:txBody>
          <a:bodyPr wrap="square">
            <a:spAutoFit/>
          </a:bodyPr>
          <a:lstStyle/>
          <a:p>
            <a:pPr>
              <a:spcBef>
                <a:spcPts val="200"/>
              </a:spcBef>
              <a:spcAft>
                <a:spcPts val="800"/>
              </a:spcAft>
            </a:pPr>
            <a:r>
              <a:rPr sz="1400" dirty="0">
                <a:solidFill>
                  <a:srgbClr val="D4886B"/>
                </a:solidFill>
                <a:latin typeface="Calibri"/>
              </a:rPr>
              <a:t>–  </a:t>
            </a:r>
            <a:r>
              <a:rPr sz="1400" b="1" dirty="0">
                <a:solidFill>
                  <a:srgbClr val="E8D5B7"/>
                </a:solidFill>
                <a:latin typeface="Calibri"/>
              </a:rPr>
              <a:t>Minimal spec</a:t>
            </a:r>
            <a:r>
              <a:rPr sz="1400" dirty="0">
                <a:solidFill>
                  <a:srgbClr val="C4A882"/>
                </a:solidFill>
                <a:latin typeface="Calibri"/>
              </a:rPr>
              <a:t> — readable in a few minutes</a:t>
            </a:r>
          </a:p>
          <a:p>
            <a:pPr>
              <a:spcBef>
                <a:spcPts val="200"/>
              </a:spcBef>
              <a:spcAft>
                <a:spcPts val="800"/>
              </a:spcAft>
            </a:pPr>
            <a:r>
              <a:rPr sz="1400" dirty="0">
                <a:solidFill>
                  <a:srgbClr val="D4886B"/>
                </a:solidFill>
                <a:latin typeface="Calibri"/>
              </a:rPr>
              <a:t>–  </a:t>
            </a:r>
            <a:r>
              <a:rPr sz="1400" dirty="0">
                <a:solidFill>
                  <a:srgbClr val="C4A882"/>
                </a:solidFill>
                <a:latin typeface="Calibri"/>
              </a:rPr>
              <a:t>A directory with </a:t>
            </a:r>
            <a:r>
              <a:rPr sz="1400" dirty="0" err="1">
                <a:solidFill>
                  <a:srgbClr val="C4A882"/>
                </a:solidFill>
                <a:latin typeface="Calibri"/>
              </a:rPr>
              <a:t>SKILL.md</a:t>
            </a:r>
            <a:r>
              <a:rPr sz="1400" dirty="0">
                <a:solidFill>
                  <a:srgbClr val="C4A882"/>
                </a:solidFill>
                <a:latin typeface="Calibri"/>
              </a:rPr>
              <a:t> is the only requirement</a:t>
            </a:r>
            <a:endParaRPr lang="en-US" sz="1400" dirty="0">
              <a:solidFill>
                <a:srgbClr val="C4A882"/>
              </a:solidFill>
              <a:latin typeface="Calibri"/>
            </a:endParaRPr>
          </a:p>
          <a:p>
            <a:pPr>
              <a:spcBef>
                <a:spcPts val="200"/>
              </a:spcBef>
              <a:spcAft>
                <a:spcPts val="800"/>
              </a:spcAft>
            </a:pPr>
            <a:r>
              <a:rPr lang="en-US" sz="1400" dirty="0">
                <a:solidFill>
                  <a:srgbClr val="D4886B"/>
                </a:solidFill>
                <a:latin typeface="Calibri"/>
              </a:rPr>
              <a:t>–  </a:t>
            </a:r>
            <a:r>
              <a:rPr lang="en-US" sz="1400" dirty="0">
                <a:solidFill>
                  <a:srgbClr val="C4A882"/>
                </a:solidFill>
                <a:latin typeface="Calibri"/>
              </a:rPr>
              <a:t>YAML frontmatter: name + description (required)</a:t>
            </a:r>
          </a:p>
          <a:p>
            <a:pPr>
              <a:spcBef>
                <a:spcPts val="200"/>
              </a:spcBef>
              <a:spcAft>
                <a:spcPts val="800"/>
              </a:spcAft>
            </a:pPr>
            <a:r>
              <a:rPr sz="1400" dirty="0">
                <a:solidFill>
                  <a:srgbClr val="D4886B"/>
                </a:solidFill>
                <a:latin typeface="Calibri"/>
              </a:rPr>
              <a:t>–  </a:t>
            </a:r>
            <a:r>
              <a:rPr sz="1400" dirty="0">
                <a:solidFill>
                  <a:srgbClr val="C4A882"/>
                </a:solidFill>
                <a:latin typeface="Calibri"/>
              </a:rPr>
              <a:t>Progressive disclosure built into the spec</a:t>
            </a:r>
          </a:p>
          <a:p>
            <a:pPr>
              <a:spcBef>
                <a:spcPts val="200"/>
              </a:spcBef>
              <a:spcAft>
                <a:spcPts val="800"/>
              </a:spcAft>
            </a:pPr>
            <a:r>
              <a:rPr sz="1400" dirty="0">
                <a:solidFill>
                  <a:srgbClr val="D4886B"/>
                </a:solidFill>
                <a:latin typeface="Calibri"/>
              </a:rPr>
              <a:t>–  </a:t>
            </a:r>
            <a:r>
              <a:rPr sz="1400" dirty="0">
                <a:solidFill>
                  <a:srgbClr val="C4A882"/>
                </a:solidFill>
                <a:latin typeface="Calibri"/>
              </a:rPr>
              <a:t>Validation: skills-ref validate ./my-skill</a:t>
            </a:r>
          </a:p>
        </p:txBody>
      </p:sp>
      <p:sp>
        <p:nvSpPr>
          <p:cNvPr id="11" name="Rounded Rectangle 10"/>
          <p:cNvSpPr/>
          <p:nvPr/>
        </p:nvSpPr>
        <p:spPr>
          <a:xfrm>
            <a:off x="6217920" y="2423160"/>
            <a:ext cx="4834759" cy="3383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526399" y="2651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727567" y="2651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928735" y="2651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12199" y="258775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Platform Adoption (26+)</a:t>
            </a:r>
          </a:p>
        </p:txBody>
      </p:sp>
      <p:sp>
        <p:nvSpPr>
          <p:cNvPr id="16" name="TextBox 15"/>
          <p:cNvSpPr txBox="1"/>
          <p:nvPr/>
        </p:nvSpPr>
        <p:spPr>
          <a:xfrm>
            <a:off x="6663559" y="3108960"/>
            <a:ext cx="1371600" cy="365760"/>
          </a:xfrm>
          <a:prstGeom prst="rect">
            <a:avLst/>
          </a:prstGeom>
          <a:noFill/>
        </p:spPr>
        <p:txBody>
          <a:bodyPr wrap="square">
            <a:spAutoFit/>
          </a:bodyPr>
          <a:lstStyle/>
          <a:p>
            <a:pPr algn="l">
              <a:spcAft>
                <a:spcPts val="0"/>
              </a:spcAft>
              <a:defRPr sz="1300" b="1" i="0">
                <a:solidFill>
                  <a:srgbClr val="D4886B"/>
                </a:solidFill>
                <a:latin typeface="Calibri"/>
              </a:defRPr>
            </a:pPr>
            <a:r>
              <a:t>Anthropic</a:t>
            </a:r>
          </a:p>
        </p:txBody>
      </p:sp>
      <p:sp>
        <p:nvSpPr>
          <p:cNvPr id="17" name="TextBox 16"/>
          <p:cNvSpPr txBox="1"/>
          <p:nvPr/>
        </p:nvSpPr>
        <p:spPr>
          <a:xfrm>
            <a:off x="7943719" y="3108960"/>
            <a:ext cx="3108960" cy="411480"/>
          </a:xfrm>
          <a:prstGeom prst="rect">
            <a:avLst/>
          </a:prstGeom>
          <a:noFill/>
        </p:spPr>
        <p:txBody>
          <a:bodyPr wrap="square">
            <a:spAutoFit/>
          </a:bodyPr>
          <a:lstStyle/>
          <a:p>
            <a:pPr algn="l">
              <a:spcAft>
                <a:spcPts val="0"/>
              </a:spcAft>
              <a:defRPr sz="1200" b="0" i="0">
                <a:solidFill>
                  <a:srgbClr val="E8D5B7"/>
                </a:solidFill>
                <a:latin typeface="Calibri"/>
              </a:defRPr>
            </a:pPr>
            <a:r>
              <a:t>Claude, Claude Code, Claude API</a:t>
            </a:r>
          </a:p>
        </p:txBody>
      </p:sp>
      <p:sp>
        <p:nvSpPr>
          <p:cNvPr id="18" name="TextBox 17"/>
          <p:cNvSpPr txBox="1"/>
          <p:nvPr/>
        </p:nvSpPr>
        <p:spPr>
          <a:xfrm>
            <a:off x="6663559" y="3547872"/>
            <a:ext cx="1371600" cy="365760"/>
          </a:xfrm>
          <a:prstGeom prst="rect">
            <a:avLst/>
          </a:prstGeom>
          <a:noFill/>
        </p:spPr>
        <p:txBody>
          <a:bodyPr wrap="square">
            <a:spAutoFit/>
          </a:bodyPr>
          <a:lstStyle/>
          <a:p>
            <a:pPr algn="l">
              <a:spcAft>
                <a:spcPts val="0"/>
              </a:spcAft>
              <a:defRPr sz="1300" b="1" i="0">
                <a:solidFill>
                  <a:srgbClr val="D4886B"/>
                </a:solidFill>
                <a:latin typeface="Calibri"/>
              </a:defRPr>
            </a:pPr>
            <a:r>
              <a:t>OpenAI</a:t>
            </a:r>
          </a:p>
        </p:txBody>
      </p:sp>
      <p:sp>
        <p:nvSpPr>
          <p:cNvPr id="19" name="TextBox 18"/>
          <p:cNvSpPr txBox="1"/>
          <p:nvPr/>
        </p:nvSpPr>
        <p:spPr>
          <a:xfrm>
            <a:off x="7943719" y="3547872"/>
            <a:ext cx="3108960" cy="411480"/>
          </a:xfrm>
          <a:prstGeom prst="rect">
            <a:avLst/>
          </a:prstGeom>
          <a:noFill/>
        </p:spPr>
        <p:txBody>
          <a:bodyPr wrap="square">
            <a:spAutoFit/>
          </a:bodyPr>
          <a:lstStyle/>
          <a:p>
            <a:pPr algn="l">
              <a:spcAft>
                <a:spcPts val="0"/>
              </a:spcAft>
              <a:defRPr sz="1200" b="0" i="0">
                <a:solidFill>
                  <a:srgbClr val="E8D5B7"/>
                </a:solidFill>
                <a:latin typeface="Calibri"/>
              </a:defRPr>
            </a:pPr>
            <a:r>
              <a:t>Codex</a:t>
            </a:r>
          </a:p>
        </p:txBody>
      </p:sp>
      <p:sp>
        <p:nvSpPr>
          <p:cNvPr id="20" name="TextBox 19"/>
          <p:cNvSpPr txBox="1"/>
          <p:nvPr/>
        </p:nvSpPr>
        <p:spPr>
          <a:xfrm>
            <a:off x="6663559" y="3986784"/>
            <a:ext cx="1371600" cy="365760"/>
          </a:xfrm>
          <a:prstGeom prst="rect">
            <a:avLst/>
          </a:prstGeom>
          <a:noFill/>
        </p:spPr>
        <p:txBody>
          <a:bodyPr wrap="square">
            <a:spAutoFit/>
          </a:bodyPr>
          <a:lstStyle/>
          <a:p>
            <a:pPr algn="l">
              <a:spcAft>
                <a:spcPts val="0"/>
              </a:spcAft>
              <a:defRPr sz="1300" b="1" i="0">
                <a:solidFill>
                  <a:srgbClr val="D4886B"/>
                </a:solidFill>
                <a:latin typeface="Calibri"/>
              </a:defRPr>
            </a:pPr>
            <a:r>
              <a:t>Google</a:t>
            </a:r>
          </a:p>
        </p:txBody>
      </p:sp>
      <p:sp>
        <p:nvSpPr>
          <p:cNvPr id="21" name="TextBox 20"/>
          <p:cNvSpPr txBox="1"/>
          <p:nvPr/>
        </p:nvSpPr>
        <p:spPr>
          <a:xfrm>
            <a:off x="7943719" y="3986784"/>
            <a:ext cx="3108960" cy="411480"/>
          </a:xfrm>
          <a:prstGeom prst="rect">
            <a:avLst/>
          </a:prstGeom>
          <a:noFill/>
        </p:spPr>
        <p:txBody>
          <a:bodyPr wrap="square">
            <a:spAutoFit/>
          </a:bodyPr>
          <a:lstStyle/>
          <a:p>
            <a:pPr algn="l">
              <a:spcAft>
                <a:spcPts val="0"/>
              </a:spcAft>
              <a:defRPr sz="1200" b="0" i="0">
                <a:solidFill>
                  <a:srgbClr val="E8D5B7"/>
                </a:solidFill>
                <a:latin typeface="Calibri"/>
              </a:defRPr>
            </a:pPr>
            <a:r>
              <a:t>Gemini CLI</a:t>
            </a:r>
          </a:p>
        </p:txBody>
      </p:sp>
      <p:sp>
        <p:nvSpPr>
          <p:cNvPr id="22" name="TextBox 21"/>
          <p:cNvSpPr txBox="1"/>
          <p:nvPr/>
        </p:nvSpPr>
        <p:spPr>
          <a:xfrm>
            <a:off x="6663559" y="4425696"/>
            <a:ext cx="1371600" cy="365760"/>
          </a:xfrm>
          <a:prstGeom prst="rect">
            <a:avLst/>
          </a:prstGeom>
          <a:noFill/>
        </p:spPr>
        <p:txBody>
          <a:bodyPr wrap="square">
            <a:spAutoFit/>
          </a:bodyPr>
          <a:lstStyle/>
          <a:p>
            <a:pPr algn="l">
              <a:spcAft>
                <a:spcPts val="0"/>
              </a:spcAft>
              <a:defRPr sz="1300" b="1" i="0">
                <a:solidFill>
                  <a:srgbClr val="D4886B"/>
                </a:solidFill>
                <a:latin typeface="Calibri"/>
              </a:defRPr>
            </a:pPr>
            <a:r>
              <a:t>Microsoft</a:t>
            </a:r>
          </a:p>
        </p:txBody>
      </p:sp>
      <p:sp>
        <p:nvSpPr>
          <p:cNvPr id="23" name="TextBox 22"/>
          <p:cNvSpPr txBox="1"/>
          <p:nvPr/>
        </p:nvSpPr>
        <p:spPr>
          <a:xfrm>
            <a:off x="7943719" y="4425696"/>
            <a:ext cx="3108960" cy="411480"/>
          </a:xfrm>
          <a:prstGeom prst="rect">
            <a:avLst/>
          </a:prstGeom>
          <a:noFill/>
        </p:spPr>
        <p:txBody>
          <a:bodyPr wrap="square">
            <a:spAutoFit/>
          </a:bodyPr>
          <a:lstStyle/>
          <a:p>
            <a:pPr algn="l">
              <a:spcAft>
                <a:spcPts val="0"/>
              </a:spcAft>
              <a:defRPr sz="1200" b="0" i="0">
                <a:solidFill>
                  <a:srgbClr val="E8D5B7"/>
                </a:solidFill>
                <a:latin typeface="Calibri"/>
              </a:defRPr>
            </a:pPr>
            <a:r>
              <a:t>GitHub Copilot, VS Code</a:t>
            </a:r>
          </a:p>
        </p:txBody>
      </p:sp>
      <p:sp>
        <p:nvSpPr>
          <p:cNvPr id="24" name="TextBox 23"/>
          <p:cNvSpPr txBox="1"/>
          <p:nvPr/>
        </p:nvSpPr>
        <p:spPr>
          <a:xfrm>
            <a:off x="6663559" y="4864608"/>
            <a:ext cx="1371600" cy="365760"/>
          </a:xfrm>
          <a:prstGeom prst="rect">
            <a:avLst/>
          </a:prstGeom>
          <a:noFill/>
        </p:spPr>
        <p:txBody>
          <a:bodyPr wrap="square">
            <a:spAutoFit/>
          </a:bodyPr>
          <a:lstStyle/>
          <a:p>
            <a:pPr algn="l">
              <a:spcAft>
                <a:spcPts val="0"/>
              </a:spcAft>
              <a:defRPr sz="1300" b="1" i="0">
                <a:solidFill>
                  <a:srgbClr val="D4886B"/>
                </a:solidFill>
                <a:latin typeface="Calibri"/>
              </a:defRPr>
            </a:pPr>
            <a:r>
              <a:t>Cursor</a:t>
            </a:r>
          </a:p>
        </p:txBody>
      </p:sp>
      <p:sp>
        <p:nvSpPr>
          <p:cNvPr id="25" name="TextBox 24"/>
          <p:cNvSpPr txBox="1"/>
          <p:nvPr/>
        </p:nvSpPr>
        <p:spPr>
          <a:xfrm>
            <a:off x="7943719" y="4864608"/>
            <a:ext cx="3108960" cy="411480"/>
          </a:xfrm>
          <a:prstGeom prst="rect">
            <a:avLst/>
          </a:prstGeom>
          <a:noFill/>
        </p:spPr>
        <p:txBody>
          <a:bodyPr wrap="square">
            <a:spAutoFit/>
          </a:bodyPr>
          <a:lstStyle/>
          <a:p>
            <a:pPr algn="l">
              <a:spcAft>
                <a:spcPts val="0"/>
              </a:spcAft>
              <a:defRPr sz="1200" b="0" i="0">
                <a:solidFill>
                  <a:srgbClr val="E8D5B7"/>
                </a:solidFill>
                <a:latin typeface="Calibri"/>
              </a:defRPr>
            </a:pPr>
            <a:r>
              <a:t>Cursor IDE</a:t>
            </a:r>
          </a:p>
        </p:txBody>
      </p:sp>
      <p:sp>
        <p:nvSpPr>
          <p:cNvPr id="26" name="TextBox 25"/>
          <p:cNvSpPr txBox="1"/>
          <p:nvPr/>
        </p:nvSpPr>
        <p:spPr>
          <a:xfrm>
            <a:off x="6663559" y="5303520"/>
            <a:ext cx="1371600" cy="365760"/>
          </a:xfrm>
          <a:prstGeom prst="rect">
            <a:avLst/>
          </a:prstGeom>
          <a:noFill/>
        </p:spPr>
        <p:txBody>
          <a:bodyPr wrap="square">
            <a:spAutoFit/>
          </a:bodyPr>
          <a:lstStyle/>
          <a:p>
            <a:pPr algn="l">
              <a:spcAft>
                <a:spcPts val="0"/>
              </a:spcAft>
              <a:defRPr sz="1300" b="1" i="0">
                <a:solidFill>
                  <a:srgbClr val="D4886B"/>
                </a:solidFill>
                <a:latin typeface="Calibri"/>
              </a:defRPr>
            </a:pPr>
            <a:r>
              <a:t>Others</a:t>
            </a:r>
          </a:p>
        </p:txBody>
      </p:sp>
      <p:sp>
        <p:nvSpPr>
          <p:cNvPr id="27" name="TextBox 26"/>
          <p:cNvSpPr txBox="1"/>
          <p:nvPr/>
        </p:nvSpPr>
        <p:spPr>
          <a:xfrm>
            <a:off x="7943719" y="5303520"/>
            <a:ext cx="3108960" cy="411480"/>
          </a:xfrm>
          <a:prstGeom prst="rect">
            <a:avLst/>
          </a:prstGeom>
          <a:noFill/>
        </p:spPr>
        <p:txBody>
          <a:bodyPr wrap="square">
            <a:spAutoFit/>
          </a:bodyPr>
          <a:lstStyle/>
          <a:p>
            <a:pPr algn="l">
              <a:spcAft>
                <a:spcPts val="0"/>
              </a:spcAft>
              <a:defRPr sz="1200" b="0" i="0">
                <a:solidFill>
                  <a:srgbClr val="E8D5B7"/>
                </a:solidFill>
                <a:latin typeface="Calibri"/>
              </a:defRPr>
            </a:pPr>
            <a:r>
              <a:t>Roo Code, Amp, Goose, Mistral AI,</a:t>
            </a:r>
            <a:br/>
            <a:r>
              <a:t>Databricks, and more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05  |  SUPERPOWERS</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Superpowers transforms Claude from ad-hoc code</a:t>
            </a:r>
            <a:br/>
            <a:r>
              <a:t>generator into a disciplined engineering partner</a:t>
            </a:r>
          </a:p>
        </p:txBody>
      </p:sp>
      <p:sp>
        <p:nvSpPr>
          <p:cNvPr id="5" name="TextBox 4"/>
          <p:cNvSpPr txBox="1"/>
          <p:nvPr/>
        </p:nvSpPr>
        <p:spPr>
          <a:xfrm>
            <a:off x="731520" y="1828800"/>
            <a:ext cx="2011680" cy="457200"/>
          </a:xfrm>
          <a:prstGeom prst="rect">
            <a:avLst/>
          </a:prstGeom>
          <a:noFill/>
        </p:spPr>
        <p:txBody>
          <a:bodyPr wrap="square">
            <a:spAutoFit/>
          </a:bodyPr>
          <a:lstStyle/>
          <a:p>
            <a:pPr algn="l">
              <a:spcAft>
                <a:spcPts val="0"/>
              </a:spcAft>
              <a:defRPr sz="2400" b="0" i="0">
                <a:solidFill>
                  <a:srgbClr val="E8A07A"/>
                </a:solidFill>
                <a:latin typeface="Georgia"/>
              </a:defRPr>
            </a:pPr>
            <a:r>
              <a:t>59,873</a:t>
            </a:r>
          </a:p>
        </p:txBody>
      </p:sp>
      <p:sp>
        <p:nvSpPr>
          <p:cNvPr id="6" name="TextBox 5"/>
          <p:cNvSpPr txBox="1"/>
          <p:nvPr/>
        </p:nvSpPr>
        <p:spPr>
          <a:xfrm>
            <a:off x="731520" y="2286000"/>
            <a:ext cx="2011680" cy="274320"/>
          </a:xfrm>
          <a:prstGeom prst="rect">
            <a:avLst/>
          </a:prstGeom>
          <a:noFill/>
        </p:spPr>
        <p:txBody>
          <a:bodyPr wrap="square">
            <a:spAutoFit/>
          </a:bodyPr>
          <a:lstStyle/>
          <a:p>
            <a:pPr algn="l">
              <a:spcAft>
                <a:spcPts val="0"/>
              </a:spcAft>
              <a:defRPr sz="1100" b="0" i="0">
                <a:solidFill>
                  <a:srgbClr val="7A6E5D"/>
                </a:solidFill>
                <a:latin typeface="JetBrains Mono"/>
              </a:defRPr>
            </a:pPr>
            <a:r>
              <a:t>GitHub Stars</a:t>
            </a:r>
          </a:p>
        </p:txBody>
      </p:sp>
      <p:sp>
        <p:nvSpPr>
          <p:cNvPr id="7" name="TextBox 6"/>
          <p:cNvSpPr txBox="1"/>
          <p:nvPr/>
        </p:nvSpPr>
        <p:spPr>
          <a:xfrm>
            <a:off x="3017520" y="1828800"/>
            <a:ext cx="2011680" cy="457200"/>
          </a:xfrm>
          <a:prstGeom prst="rect">
            <a:avLst/>
          </a:prstGeom>
          <a:noFill/>
        </p:spPr>
        <p:txBody>
          <a:bodyPr wrap="square">
            <a:spAutoFit/>
          </a:bodyPr>
          <a:lstStyle/>
          <a:p>
            <a:pPr algn="l">
              <a:spcAft>
                <a:spcPts val="0"/>
              </a:spcAft>
              <a:defRPr sz="2400" b="0" i="0">
                <a:solidFill>
                  <a:srgbClr val="E8A07A"/>
                </a:solidFill>
                <a:latin typeface="Georgia"/>
              </a:defRPr>
            </a:pPr>
            <a:r>
              <a:t>obra/superpowers</a:t>
            </a:r>
          </a:p>
        </p:txBody>
      </p:sp>
      <p:sp>
        <p:nvSpPr>
          <p:cNvPr id="8" name="TextBox 7"/>
          <p:cNvSpPr txBox="1"/>
          <p:nvPr/>
        </p:nvSpPr>
        <p:spPr>
          <a:xfrm>
            <a:off x="3017520" y="2286000"/>
            <a:ext cx="2011680" cy="274320"/>
          </a:xfrm>
          <a:prstGeom prst="rect">
            <a:avLst/>
          </a:prstGeom>
          <a:noFill/>
        </p:spPr>
        <p:txBody>
          <a:bodyPr wrap="square">
            <a:spAutoFit/>
          </a:bodyPr>
          <a:lstStyle/>
          <a:p>
            <a:pPr algn="l">
              <a:spcAft>
                <a:spcPts val="0"/>
              </a:spcAft>
              <a:defRPr sz="1100" b="0" i="0">
                <a:solidFill>
                  <a:srgbClr val="7A6E5D"/>
                </a:solidFill>
                <a:latin typeface="JetBrains Mono"/>
              </a:defRPr>
            </a:pPr>
            <a:r>
              <a:t>by Jesse Vincent</a:t>
            </a:r>
          </a:p>
        </p:txBody>
      </p:sp>
      <p:sp>
        <p:nvSpPr>
          <p:cNvPr id="9" name="TextBox 8"/>
          <p:cNvSpPr txBox="1"/>
          <p:nvPr/>
        </p:nvSpPr>
        <p:spPr>
          <a:xfrm>
            <a:off x="5303520" y="1828800"/>
            <a:ext cx="2011680" cy="457200"/>
          </a:xfrm>
          <a:prstGeom prst="rect">
            <a:avLst/>
          </a:prstGeom>
          <a:noFill/>
        </p:spPr>
        <p:txBody>
          <a:bodyPr wrap="square">
            <a:spAutoFit/>
          </a:bodyPr>
          <a:lstStyle/>
          <a:p>
            <a:pPr algn="l">
              <a:spcAft>
                <a:spcPts val="0"/>
              </a:spcAft>
              <a:defRPr sz="2400" b="0" i="0">
                <a:solidFill>
                  <a:srgbClr val="E8A07A"/>
                </a:solidFill>
                <a:latin typeface="Georgia"/>
              </a:defRPr>
            </a:pPr>
            <a:r>
              <a:t>12</a:t>
            </a:r>
          </a:p>
        </p:txBody>
      </p:sp>
      <p:sp>
        <p:nvSpPr>
          <p:cNvPr id="10" name="TextBox 9"/>
          <p:cNvSpPr txBox="1"/>
          <p:nvPr/>
        </p:nvSpPr>
        <p:spPr>
          <a:xfrm>
            <a:off x="5303520" y="2286000"/>
            <a:ext cx="2011680" cy="274320"/>
          </a:xfrm>
          <a:prstGeom prst="rect">
            <a:avLst/>
          </a:prstGeom>
          <a:noFill/>
        </p:spPr>
        <p:txBody>
          <a:bodyPr wrap="square">
            <a:spAutoFit/>
          </a:bodyPr>
          <a:lstStyle/>
          <a:p>
            <a:pPr algn="l">
              <a:spcAft>
                <a:spcPts val="0"/>
              </a:spcAft>
              <a:defRPr sz="1100" b="0" i="0">
                <a:solidFill>
                  <a:srgbClr val="7A6E5D"/>
                </a:solidFill>
                <a:latin typeface="JetBrains Mono"/>
              </a:defRPr>
            </a:pPr>
            <a:r>
              <a:t>Composable Skills</a:t>
            </a:r>
          </a:p>
        </p:txBody>
      </p:sp>
      <p:sp>
        <p:nvSpPr>
          <p:cNvPr id="11" name="Rounded Rectangle 10"/>
          <p:cNvSpPr/>
          <p:nvPr/>
        </p:nvSpPr>
        <p:spPr>
          <a:xfrm>
            <a:off x="731520" y="2834640"/>
            <a:ext cx="1691640" cy="26517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60120" y="2971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61288" y="2971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362456" y="2971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3246120"/>
            <a:ext cx="365760" cy="320040"/>
          </a:xfrm>
          <a:prstGeom prst="rect">
            <a:avLst/>
          </a:prstGeom>
          <a:noFill/>
        </p:spPr>
        <p:txBody>
          <a:bodyPr wrap="square">
            <a:spAutoFit/>
          </a:bodyPr>
          <a:lstStyle/>
          <a:p>
            <a:pPr algn="l">
              <a:spcAft>
                <a:spcPts val="0"/>
              </a:spcAft>
              <a:defRPr sz="1800" b="1" i="0">
                <a:solidFill>
                  <a:srgbClr val="D4886B"/>
                </a:solidFill>
                <a:latin typeface="JetBrains Mono"/>
              </a:defRPr>
            </a:pPr>
            <a:r>
              <a:t>1</a:t>
            </a:r>
          </a:p>
        </p:txBody>
      </p:sp>
      <p:sp>
        <p:nvSpPr>
          <p:cNvPr id="16" name="TextBox 15"/>
          <p:cNvSpPr txBox="1"/>
          <p:nvPr/>
        </p:nvSpPr>
        <p:spPr>
          <a:xfrm>
            <a:off x="868680" y="3566160"/>
            <a:ext cx="1417320" cy="320040"/>
          </a:xfrm>
          <a:prstGeom prst="rect">
            <a:avLst/>
          </a:prstGeom>
          <a:noFill/>
        </p:spPr>
        <p:txBody>
          <a:bodyPr wrap="square">
            <a:spAutoFit/>
          </a:bodyPr>
          <a:lstStyle/>
          <a:p>
            <a:pPr algn="l">
              <a:spcAft>
                <a:spcPts val="0"/>
              </a:spcAft>
              <a:defRPr sz="1400" b="0" i="0">
                <a:solidFill>
                  <a:srgbClr val="E8D5B7"/>
                </a:solidFill>
                <a:latin typeface="Georgia"/>
              </a:defRPr>
            </a:pPr>
            <a:r>
              <a:t>Brainstorm</a:t>
            </a:r>
          </a:p>
        </p:txBody>
      </p:sp>
      <p:sp>
        <p:nvSpPr>
          <p:cNvPr id="17" name="TextBox 16"/>
          <p:cNvSpPr txBox="1"/>
          <p:nvPr/>
        </p:nvSpPr>
        <p:spPr>
          <a:xfrm>
            <a:off x="868680" y="3931920"/>
            <a:ext cx="1417320" cy="1371600"/>
          </a:xfrm>
          <a:prstGeom prst="rect">
            <a:avLst/>
          </a:prstGeom>
          <a:noFill/>
        </p:spPr>
        <p:txBody>
          <a:bodyPr wrap="square">
            <a:spAutoFit/>
          </a:bodyPr>
          <a:lstStyle/>
          <a:p>
            <a:pPr algn="l">
              <a:spcAft>
                <a:spcPts val="0"/>
              </a:spcAft>
              <a:defRPr sz="1100" b="0" i="0">
                <a:solidFill>
                  <a:srgbClr val="C4A882"/>
                </a:solidFill>
                <a:latin typeface="Calibri"/>
              </a:defRPr>
            </a:pPr>
            <a:r>
              <a:t>Socratic questioning,</a:t>
            </a:r>
            <a:br/>
            <a:r>
              <a:t>explore alternatives,</a:t>
            </a:r>
            <a:br/>
            <a:r>
              <a:t>present for validation</a:t>
            </a:r>
          </a:p>
        </p:txBody>
      </p:sp>
      <p:sp>
        <p:nvSpPr>
          <p:cNvPr id="18" name="Rounded Rectangle 17"/>
          <p:cNvSpPr/>
          <p:nvPr/>
        </p:nvSpPr>
        <p:spPr>
          <a:xfrm>
            <a:off x="2606039" y="2834640"/>
            <a:ext cx="1691640" cy="26517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834639" y="2971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035807" y="2971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236975" y="2971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43199" y="3246120"/>
            <a:ext cx="365760" cy="320040"/>
          </a:xfrm>
          <a:prstGeom prst="rect">
            <a:avLst/>
          </a:prstGeom>
          <a:noFill/>
        </p:spPr>
        <p:txBody>
          <a:bodyPr wrap="square">
            <a:spAutoFit/>
          </a:bodyPr>
          <a:lstStyle/>
          <a:p>
            <a:pPr algn="l">
              <a:spcAft>
                <a:spcPts val="0"/>
              </a:spcAft>
              <a:defRPr sz="1800" b="1" i="0">
                <a:solidFill>
                  <a:srgbClr val="D4886B"/>
                </a:solidFill>
                <a:latin typeface="JetBrains Mono"/>
              </a:defRPr>
            </a:pPr>
            <a:r>
              <a:t>2</a:t>
            </a:r>
          </a:p>
        </p:txBody>
      </p:sp>
      <p:sp>
        <p:nvSpPr>
          <p:cNvPr id="23" name="TextBox 22"/>
          <p:cNvSpPr txBox="1"/>
          <p:nvPr/>
        </p:nvSpPr>
        <p:spPr>
          <a:xfrm>
            <a:off x="2743199" y="3566160"/>
            <a:ext cx="1417320" cy="320040"/>
          </a:xfrm>
          <a:prstGeom prst="rect">
            <a:avLst/>
          </a:prstGeom>
          <a:noFill/>
        </p:spPr>
        <p:txBody>
          <a:bodyPr wrap="square">
            <a:spAutoFit/>
          </a:bodyPr>
          <a:lstStyle/>
          <a:p>
            <a:pPr algn="l">
              <a:spcAft>
                <a:spcPts val="0"/>
              </a:spcAft>
              <a:defRPr sz="1400" b="0" i="0">
                <a:solidFill>
                  <a:srgbClr val="E8D5B7"/>
                </a:solidFill>
                <a:latin typeface="Georgia"/>
              </a:defRPr>
            </a:pPr>
            <a:r>
              <a:t>Git Worktree</a:t>
            </a:r>
          </a:p>
        </p:txBody>
      </p:sp>
      <p:sp>
        <p:nvSpPr>
          <p:cNvPr id="24" name="TextBox 23"/>
          <p:cNvSpPr txBox="1"/>
          <p:nvPr/>
        </p:nvSpPr>
        <p:spPr>
          <a:xfrm>
            <a:off x="2743199" y="3931920"/>
            <a:ext cx="1417320" cy="1371600"/>
          </a:xfrm>
          <a:prstGeom prst="rect">
            <a:avLst/>
          </a:prstGeom>
          <a:noFill/>
        </p:spPr>
        <p:txBody>
          <a:bodyPr wrap="square">
            <a:spAutoFit/>
          </a:bodyPr>
          <a:lstStyle/>
          <a:p>
            <a:pPr algn="l">
              <a:spcAft>
                <a:spcPts val="0"/>
              </a:spcAft>
              <a:defRPr sz="1100" b="0" i="0">
                <a:solidFill>
                  <a:srgbClr val="C4A882"/>
                </a:solidFill>
                <a:latin typeface="Calibri"/>
              </a:defRPr>
            </a:pPr>
            <a:r>
              <a:t>Isolated branch,</a:t>
            </a:r>
            <a:br/>
            <a:r>
              <a:t>run project setup,</a:t>
            </a:r>
            <a:br/>
            <a:r>
              <a:t>clean test baseline</a:t>
            </a:r>
          </a:p>
        </p:txBody>
      </p:sp>
      <p:sp>
        <p:nvSpPr>
          <p:cNvPr id="25" name="Rounded Rectangle 24"/>
          <p:cNvSpPr/>
          <p:nvPr/>
        </p:nvSpPr>
        <p:spPr>
          <a:xfrm>
            <a:off x="4480559" y="2834640"/>
            <a:ext cx="1691640" cy="26517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709159" y="2971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910327" y="2971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111495" y="2971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17719" y="3246120"/>
            <a:ext cx="365760" cy="320040"/>
          </a:xfrm>
          <a:prstGeom prst="rect">
            <a:avLst/>
          </a:prstGeom>
          <a:noFill/>
        </p:spPr>
        <p:txBody>
          <a:bodyPr wrap="square">
            <a:spAutoFit/>
          </a:bodyPr>
          <a:lstStyle/>
          <a:p>
            <a:pPr algn="l">
              <a:spcAft>
                <a:spcPts val="0"/>
              </a:spcAft>
              <a:defRPr sz="1800" b="1" i="0">
                <a:solidFill>
                  <a:srgbClr val="D4886B"/>
                </a:solidFill>
                <a:latin typeface="JetBrains Mono"/>
              </a:defRPr>
            </a:pPr>
            <a:r>
              <a:t>3</a:t>
            </a:r>
          </a:p>
        </p:txBody>
      </p:sp>
      <p:sp>
        <p:nvSpPr>
          <p:cNvPr id="30" name="TextBox 29"/>
          <p:cNvSpPr txBox="1"/>
          <p:nvPr/>
        </p:nvSpPr>
        <p:spPr>
          <a:xfrm>
            <a:off x="4617719" y="3566160"/>
            <a:ext cx="1417320" cy="320040"/>
          </a:xfrm>
          <a:prstGeom prst="rect">
            <a:avLst/>
          </a:prstGeom>
          <a:noFill/>
        </p:spPr>
        <p:txBody>
          <a:bodyPr wrap="square">
            <a:spAutoFit/>
          </a:bodyPr>
          <a:lstStyle/>
          <a:p>
            <a:pPr algn="l">
              <a:spcAft>
                <a:spcPts val="0"/>
              </a:spcAft>
              <a:defRPr sz="1400" b="0" i="0">
                <a:solidFill>
                  <a:srgbClr val="E8D5B7"/>
                </a:solidFill>
                <a:latin typeface="Georgia"/>
              </a:defRPr>
            </a:pPr>
            <a:r>
              <a:t>Write Plan</a:t>
            </a:r>
          </a:p>
        </p:txBody>
      </p:sp>
      <p:sp>
        <p:nvSpPr>
          <p:cNvPr id="31" name="TextBox 30"/>
          <p:cNvSpPr txBox="1"/>
          <p:nvPr/>
        </p:nvSpPr>
        <p:spPr>
          <a:xfrm>
            <a:off x="4617719" y="3931920"/>
            <a:ext cx="1417320" cy="1371600"/>
          </a:xfrm>
          <a:prstGeom prst="rect">
            <a:avLst/>
          </a:prstGeom>
          <a:noFill/>
        </p:spPr>
        <p:txBody>
          <a:bodyPr wrap="square">
            <a:spAutoFit/>
          </a:bodyPr>
          <a:lstStyle/>
          <a:p>
            <a:pPr algn="l">
              <a:spcAft>
                <a:spcPts val="0"/>
              </a:spcAft>
              <a:defRPr sz="1100" b="0" i="0">
                <a:solidFill>
                  <a:srgbClr val="C4A882"/>
                </a:solidFill>
                <a:latin typeface="Calibri"/>
              </a:defRPr>
            </a:pPr>
            <a:r>
              <a:t>2-5 min bite-sized</a:t>
            </a:r>
            <a:br/>
            <a:r>
              <a:t>tasks with exact</a:t>
            </a:r>
            <a:br/>
            <a:r>
              <a:t>file paths &amp; code</a:t>
            </a:r>
          </a:p>
        </p:txBody>
      </p:sp>
      <p:sp>
        <p:nvSpPr>
          <p:cNvPr id="32" name="Rounded Rectangle 31"/>
          <p:cNvSpPr/>
          <p:nvPr/>
        </p:nvSpPr>
        <p:spPr>
          <a:xfrm>
            <a:off x="6355079" y="2834640"/>
            <a:ext cx="1691640" cy="26517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583679" y="2971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784847" y="2971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986015" y="2971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39" y="3246120"/>
            <a:ext cx="365760" cy="320040"/>
          </a:xfrm>
          <a:prstGeom prst="rect">
            <a:avLst/>
          </a:prstGeom>
          <a:noFill/>
        </p:spPr>
        <p:txBody>
          <a:bodyPr wrap="square">
            <a:spAutoFit/>
          </a:bodyPr>
          <a:lstStyle/>
          <a:p>
            <a:pPr algn="l">
              <a:spcAft>
                <a:spcPts val="0"/>
              </a:spcAft>
              <a:defRPr sz="1800" b="1" i="0">
                <a:solidFill>
                  <a:srgbClr val="D4886B"/>
                </a:solidFill>
                <a:latin typeface="JetBrains Mono"/>
              </a:defRPr>
            </a:pPr>
            <a:r>
              <a:t>4</a:t>
            </a:r>
          </a:p>
        </p:txBody>
      </p:sp>
      <p:sp>
        <p:nvSpPr>
          <p:cNvPr id="37" name="TextBox 36"/>
          <p:cNvSpPr txBox="1"/>
          <p:nvPr/>
        </p:nvSpPr>
        <p:spPr>
          <a:xfrm>
            <a:off x="6492239" y="3566160"/>
            <a:ext cx="1417320" cy="320040"/>
          </a:xfrm>
          <a:prstGeom prst="rect">
            <a:avLst/>
          </a:prstGeom>
          <a:noFill/>
        </p:spPr>
        <p:txBody>
          <a:bodyPr wrap="square">
            <a:spAutoFit/>
          </a:bodyPr>
          <a:lstStyle/>
          <a:p>
            <a:pPr algn="l">
              <a:spcAft>
                <a:spcPts val="0"/>
              </a:spcAft>
              <a:defRPr sz="1400" b="0" i="0">
                <a:solidFill>
                  <a:srgbClr val="E8D5B7"/>
                </a:solidFill>
                <a:latin typeface="Georgia"/>
              </a:defRPr>
            </a:pPr>
            <a:r>
              <a:t>TDD Execute</a:t>
            </a:r>
          </a:p>
        </p:txBody>
      </p:sp>
      <p:sp>
        <p:nvSpPr>
          <p:cNvPr id="38" name="TextBox 37"/>
          <p:cNvSpPr txBox="1"/>
          <p:nvPr/>
        </p:nvSpPr>
        <p:spPr>
          <a:xfrm>
            <a:off x="6492239" y="3931920"/>
            <a:ext cx="1417320" cy="1371600"/>
          </a:xfrm>
          <a:prstGeom prst="rect">
            <a:avLst/>
          </a:prstGeom>
          <a:noFill/>
        </p:spPr>
        <p:txBody>
          <a:bodyPr wrap="square">
            <a:spAutoFit/>
          </a:bodyPr>
          <a:lstStyle/>
          <a:p>
            <a:pPr algn="l">
              <a:spcAft>
                <a:spcPts val="0"/>
              </a:spcAft>
              <a:defRPr sz="1100" b="0" i="0">
                <a:solidFill>
                  <a:srgbClr val="C4A882"/>
                </a:solidFill>
                <a:latin typeface="Calibri"/>
              </a:defRPr>
            </a:pPr>
            <a:r>
              <a:t>RED-GREEN-REFACTOR</a:t>
            </a:r>
            <a:br/>
            <a:r>
              <a:t>per task. Code before</a:t>
            </a:r>
            <a:br/>
            <a:r>
              <a:t>tests gets deleted</a:t>
            </a:r>
          </a:p>
        </p:txBody>
      </p:sp>
      <p:sp>
        <p:nvSpPr>
          <p:cNvPr id="39" name="Rounded Rectangle 38"/>
          <p:cNvSpPr/>
          <p:nvPr/>
        </p:nvSpPr>
        <p:spPr>
          <a:xfrm>
            <a:off x="8229600" y="2834640"/>
            <a:ext cx="1691640" cy="26517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458200" y="2971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659368" y="2971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860536" y="2971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66760" y="3246120"/>
            <a:ext cx="365760" cy="320040"/>
          </a:xfrm>
          <a:prstGeom prst="rect">
            <a:avLst/>
          </a:prstGeom>
          <a:noFill/>
        </p:spPr>
        <p:txBody>
          <a:bodyPr wrap="square">
            <a:spAutoFit/>
          </a:bodyPr>
          <a:lstStyle/>
          <a:p>
            <a:pPr algn="l">
              <a:spcAft>
                <a:spcPts val="0"/>
              </a:spcAft>
              <a:defRPr sz="1800" b="1" i="0">
                <a:solidFill>
                  <a:srgbClr val="D4886B"/>
                </a:solidFill>
                <a:latin typeface="JetBrains Mono"/>
              </a:defRPr>
            </a:pPr>
            <a:r>
              <a:t>5</a:t>
            </a:r>
          </a:p>
        </p:txBody>
      </p:sp>
      <p:sp>
        <p:nvSpPr>
          <p:cNvPr id="44" name="TextBox 43"/>
          <p:cNvSpPr txBox="1"/>
          <p:nvPr/>
        </p:nvSpPr>
        <p:spPr>
          <a:xfrm>
            <a:off x="8366760" y="3566160"/>
            <a:ext cx="1417320" cy="320040"/>
          </a:xfrm>
          <a:prstGeom prst="rect">
            <a:avLst/>
          </a:prstGeom>
          <a:noFill/>
        </p:spPr>
        <p:txBody>
          <a:bodyPr wrap="square">
            <a:spAutoFit/>
          </a:bodyPr>
          <a:lstStyle/>
          <a:p>
            <a:pPr algn="l">
              <a:spcAft>
                <a:spcPts val="0"/>
              </a:spcAft>
              <a:defRPr sz="1400" b="0" i="0">
                <a:solidFill>
                  <a:srgbClr val="E8D5B7"/>
                </a:solidFill>
                <a:latin typeface="Georgia"/>
              </a:defRPr>
            </a:pPr>
            <a:r>
              <a:t>Code Review</a:t>
            </a:r>
          </a:p>
        </p:txBody>
      </p:sp>
      <p:sp>
        <p:nvSpPr>
          <p:cNvPr id="45" name="TextBox 44"/>
          <p:cNvSpPr txBox="1"/>
          <p:nvPr/>
        </p:nvSpPr>
        <p:spPr>
          <a:xfrm>
            <a:off x="8366760" y="3931920"/>
            <a:ext cx="1417320" cy="1371600"/>
          </a:xfrm>
          <a:prstGeom prst="rect">
            <a:avLst/>
          </a:prstGeom>
          <a:noFill/>
        </p:spPr>
        <p:txBody>
          <a:bodyPr wrap="square">
            <a:spAutoFit/>
          </a:bodyPr>
          <a:lstStyle/>
          <a:p>
            <a:pPr algn="l">
              <a:spcAft>
                <a:spcPts val="0"/>
              </a:spcAft>
              <a:defRPr sz="1100" b="0" i="0">
                <a:solidFill>
                  <a:srgbClr val="C4A882"/>
                </a:solidFill>
                <a:latin typeface="Calibri"/>
              </a:defRPr>
            </a:pPr>
            <a:r>
              <a:t>Review against plan.</a:t>
            </a:r>
            <a:br/>
            <a:r>
              <a:t>Critical issues block</a:t>
            </a:r>
            <a:br/>
            <a:r>
              <a:t>all progress</a:t>
            </a:r>
          </a:p>
        </p:txBody>
      </p:sp>
      <p:sp>
        <p:nvSpPr>
          <p:cNvPr id="46" name="Rounded Rectangle 45"/>
          <p:cNvSpPr/>
          <p:nvPr/>
        </p:nvSpPr>
        <p:spPr>
          <a:xfrm>
            <a:off x="10104120" y="2834640"/>
            <a:ext cx="1691640" cy="26517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0332720" y="2971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0533888" y="2971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0735056" y="2971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241280" y="3246120"/>
            <a:ext cx="365760" cy="320040"/>
          </a:xfrm>
          <a:prstGeom prst="rect">
            <a:avLst/>
          </a:prstGeom>
          <a:noFill/>
        </p:spPr>
        <p:txBody>
          <a:bodyPr wrap="square">
            <a:spAutoFit/>
          </a:bodyPr>
          <a:lstStyle/>
          <a:p>
            <a:pPr algn="l">
              <a:spcAft>
                <a:spcPts val="0"/>
              </a:spcAft>
              <a:defRPr sz="1800" b="1" i="0">
                <a:solidFill>
                  <a:srgbClr val="D4886B"/>
                </a:solidFill>
                <a:latin typeface="JetBrains Mono"/>
              </a:defRPr>
            </a:pPr>
            <a:r>
              <a:t>6</a:t>
            </a:r>
          </a:p>
        </p:txBody>
      </p:sp>
      <p:sp>
        <p:nvSpPr>
          <p:cNvPr id="51" name="TextBox 50"/>
          <p:cNvSpPr txBox="1"/>
          <p:nvPr/>
        </p:nvSpPr>
        <p:spPr>
          <a:xfrm>
            <a:off x="10241280" y="3566160"/>
            <a:ext cx="1417320" cy="320040"/>
          </a:xfrm>
          <a:prstGeom prst="rect">
            <a:avLst/>
          </a:prstGeom>
          <a:noFill/>
        </p:spPr>
        <p:txBody>
          <a:bodyPr wrap="square">
            <a:spAutoFit/>
          </a:bodyPr>
          <a:lstStyle/>
          <a:p>
            <a:pPr algn="l">
              <a:spcAft>
                <a:spcPts val="0"/>
              </a:spcAft>
              <a:defRPr sz="1400" b="0" i="0">
                <a:solidFill>
                  <a:srgbClr val="E8D5B7"/>
                </a:solidFill>
                <a:latin typeface="Georgia"/>
              </a:defRPr>
            </a:pPr>
            <a:r>
              <a:t>Finish Branch</a:t>
            </a:r>
          </a:p>
        </p:txBody>
      </p:sp>
      <p:sp>
        <p:nvSpPr>
          <p:cNvPr id="52" name="TextBox 51"/>
          <p:cNvSpPr txBox="1"/>
          <p:nvPr/>
        </p:nvSpPr>
        <p:spPr>
          <a:xfrm>
            <a:off x="10241280" y="3931920"/>
            <a:ext cx="1417320" cy="1371600"/>
          </a:xfrm>
          <a:prstGeom prst="rect">
            <a:avLst/>
          </a:prstGeom>
          <a:noFill/>
        </p:spPr>
        <p:txBody>
          <a:bodyPr wrap="square">
            <a:spAutoFit/>
          </a:bodyPr>
          <a:lstStyle/>
          <a:p>
            <a:pPr algn="l">
              <a:spcAft>
                <a:spcPts val="0"/>
              </a:spcAft>
              <a:defRPr sz="1100" b="0" i="0">
                <a:solidFill>
                  <a:srgbClr val="C4A882"/>
                </a:solidFill>
                <a:latin typeface="Calibri"/>
              </a:defRPr>
            </a:pPr>
            <a:r>
              <a:t>Verify all tests,</a:t>
            </a:r>
            <a:br/>
            <a:r>
              <a:t>merge/PR/keep/discard,</a:t>
            </a:r>
            <a:br/>
            <a:r>
              <a:t>clean up worktree</a:t>
            </a:r>
          </a:p>
        </p:txBody>
      </p:sp>
      <p:sp>
        <p:nvSpPr>
          <p:cNvPr id="53" name="Right Arrow 52"/>
          <p:cNvSpPr/>
          <p:nvPr/>
        </p:nvSpPr>
        <p:spPr>
          <a:xfrm>
            <a:off x="2331720" y="4023360"/>
            <a:ext cx="274320" cy="182880"/>
          </a:xfrm>
          <a:prstGeom prst="rightArrow">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ight Arrow 53"/>
          <p:cNvSpPr/>
          <p:nvPr/>
        </p:nvSpPr>
        <p:spPr>
          <a:xfrm>
            <a:off x="4206240" y="4023360"/>
            <a:ext cx="274320" cy="182880"/>
          </a:xfrm>
          <a:prstGeom prst="rightArrow">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ight Arrow 54"/>
          <p:cNvSpPr/>
          <p:nvPr/>
        </p:nvSpPr>
        <p:spPr>
          <a:xfrm>
            <a:off x="6080759" y="4023360"/>
            <a:ext cx="274320" cy="182880"/>
          </a:xfrm>
          <a:prstGeom prst="rightArrow">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ight Arrow 55"/>
          <p:cNvSpPr/>
          <p:nvPr/>
        </p:nvSpPr>
        <p:spPr>
          <a:xfrm>
            <a:off x="7955279" y="4023360"/>
            <a:ext cx="274320" cy="182880"/>
          </a:xfrm>
          <a:prstGeom prst="rightArrow">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ight Arrow 56"/>
          <p:cNvSpPr/>
          <p:nvPr/>
        </p:nvSpPr>
        <p:spPr>
          <a:xfrm>
            <a:off x="9829800" y="4023360"/>
            <a:ext cx="274320" cy="182880"/>
          </a:xfrm>
          <a:prstGeom prst="rightArrow">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731520" y="5760720"/>
            <a:ext cx="10515600" cy="4572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14400" y="5788152"/>
            <a:ext cx="10058400" cy="365760"/>
          </a:xfrm>
          <a:prstGeom prst="rect">
            <a:avLst/>
          </a:prstGeom>
          <a:noFill/>
        </p:spPr>
        <p:txBody>
          <a:bodyPr wrap="square">
            <a:spAutoFit/>
          </a:bodyPr>
          <a:lstStyle/>
          <a:p>
            <a:pPr algn="ctr">
              <a:spcAft>
                <a:spcPts val="0"/>
              </a:spcAft>
              <a:defRPr sz="1300" b="0" i="0">
                <a:solidFill>
                  <a:srgbClr val="E8D5B7"/>
                </a:solidFill>
                <a:latin typeface="Calibri"/>
              </a:defRPr>
            </a:pPr>
            <a:r>
              <a:t>"Mandatory workflows, not suggestions" -- Skills trigger automatically. The agent works autonomously for hours.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06  |  SKILL SHOWCASE</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Official and community skills solve real problems</a:t>
            </a:r>
            <a:br/>
            <a:r>
              <a:t>from AI design slop to React performance</a:t>
            </a:r>
          </a:p>
        </p:txBody>
      </p:sp>
      <p:sp>
        <p:nvSpPr>
          <p:cNvPr id="5" name="Rounded Rectangle 4"/>
          <p:cNvSpPr/>
          <p:nvPr/>
        </p:nvSpPr>
        <p:spPr>
          <a:xfrm>
            <a:off x="731520" y="1920240"/>
            <a:ext cx="5212080"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01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12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624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199339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Frontend Design</a:t>
            </a:r>
          </a:p>
        </p:txBody>
      </p:sp>
      <p:sp>
        <p:nvSpPr>
          <p:cNvPr id="10" name="TextBox 9"/>
          <p:cNvSpPr txBox="1"/>
          <p:nvPr/>
        </p:nvSpPr>
        <p:spPr>
          <a:xfrm>
            <a:off x="4297680" y="1993392"/>
            <a:ext cx="1371600" cy="274320"/>
          </a:xfrm>
          <a:prstGeom prst="rect">
            <a:avLst/>
          </a:prstGeom>
          <a:noFill/>
        </p:spPr>
        <p:txBody>
          <a:bodyPr wrap="square">
            <a:spAutoFit/>
          </a:bodyPr>
          <a:lstStyle/>
          <a:p>
            <a:pPr algn="r">
              <a:spcAft>
                <a:spcPts val="0"/>
              </a:spcAft>
              <a:defRPr sz="1000" b="0" i="0">
                <a:solidFill>
                  <a:srgbClr val="D4886B"/>
                </a:solidFill>
                <a:latin typeface="JetBrains Mono"/>
              </a:defRPr>
            </a:pPr>
            <a:r>
              <a:t>Anthropic</a:t>
            </a:r>
          </a:p>
        </p:txBody>
      </p:sp>
      <p:sp>
        <p:nvSpPr>
          <p:cNvPr id="11" name="TextBox 10"/>
          <p:cNvSpPr txBox="1"/>
          <p:nvPr/>
        </p:nvSpPr>
        <p:spPr>
          <a:xfrm>
            <a:off x="1005840" y="2468880"/>
            <a:ext cx="4572000" cy="1005840"/>
          </a:xfrm>
          <a:prstGeom prst="rect">
            <a:avLst/>
          </a:prstGeom>
          <a:noFill/>
        </p:spPr>
        <p:txBody>
          <a:bodyPr wrap="square">
            <a:spAutoFit/>
          </a:bodyPr>
          <a:lstStyle/>
          <a:p>
            <a:pPr algn="l">
              <a:spcAft>
                <a:spcPts val="0"/>
              </a:spcAft>
              <a:defRPr sz="1300" b="0" i="0">
                <a:solidFill>
                  <a:srgbClr val="E8D5B7"/>
                </a:solidFill>
                <a:latin typeface="Calibri"/>
              </a:defRPr>
            </a:pPr>
            <a:r>
              <a:t>Combats generic 'AI slop' aesthetics.</a:t>
            </a:r>
            <a:br/>
            <a:r>
              <a:t>Guides bold design choices: brutalist,</a:t>
            </a:r>
            <a:br/>
            <a:r>
              <a:t>maximalist, retro-futuristic, luxury.</a:t>
            </a:r>
          </a:p>
        </p:txBody>
      </p:sp>
      <p:sp>
        <p:nvSpPr>
          <p:cNvPr id="12" name="TextBox 11"/>
          <p:cNvSpPr txBox="1"/>
          <p:nvPr/>
        </p:nvSpPr>
        <p:spPr>
          <a:xfrm>
            <a:off x="1005840" y="3474720"/>
            <a:ext cx="4572000" cy="274320"/>
          </a:xfrm>
          <a:prstGeom prst="rect">
            <a:avLst/>
          </a:prstGeom>
          <a:noFill/>
        </p:spPr>
        <p:txBody>
          <a:bodyPr wrap="square">
            <a:spAutoFit/>
          </a:bodyPr>
          <a:lstStyle/>
          <a:p>
            <a:pPr algn="l">
              <a:spcAft>
                <a:spcPts val="0"/>
              </a:spcAft>
              <a:defRPr sz="1100" b="0" i="0">
                <a:solidFill>
                  <a:srgbClr val="7A6E5D"/>
                </a:solidFill>
                <a:latin typeface="JetBrains Mono"/>
              </a:defRPr>
            </a:pPr>
            <a:r>
              <a:t>~42 lines of instructions</a:t>
            </a:r>
          </a:p>
        </p:txBody>
      </p:sp>
      <p:sp>
        <p:nvSpPr>
          <p:cNvPr id="13" name="Rounded Rectangle 12"/>
          <p:cNvSpPr/>
          <p:nvPr/>
        </p:nvSpPr>
        <p:spPr>
          <a:xfrm>
            <a:off x="6309359" y="1920240"/>
            <a:ext cx="5212080"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537959"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739127"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940295"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59" y="199339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React Best Practices</a:t>
            </a:r>
          </a:p>
        </p:txBody>
      </p:sp>
      <p:sp>
        <p:nvSpPr>
          <p:cNvPr id="18" name="TextBox 17"/>
          <p:cNvSpPr txBox="1"/>
          <p:nvPr/>
        </p:nvSpPr>
        <p:spPr>
          <a:xfrm>
            <a:off x="9875519" y="1993392"/>
            <a:ext cx="1371600" cy="274320"/>
          </a:xfrm>
          <a:prstGeom prst="rect">
            <a:avLst/>
          </a:prstGeom>
          <a:noFill/>
        </p:spPr>
        <p:txBody>
          <a:bodyPr wrap="square">
            <a:spAutoFit/>
          </a:bodyPr>
          <a:lstStyle/>
          <a:p>
            <a:pPr algn="r">
              <a:spcAft>
                <a:spcPts val="0"/>
              </a:spcAft>
              <a:defRPr sz="1000" b="0" i="0">
                <a:solidFill>
                  <a:srgbClr val="D4886B"/>
                </a:solidFill>
                <a:latin typeface="JetBrains Mono"/>
              </a:defRPr>
            </a:pPr>
            <a:r>
              <a:t>Vercel Labs</a:t>
            </a:r>
          </a:p>
        </p:txBody>
      </p:sp>
      <p:sp>
        <p:nvSpPr>
          <p:cNvPr id="19" name="TextBox 18"/>
          <p:cNvSpPr txBox="1"/>
          <p:nvPr/>
        </p:nvSpPr>
        <p:spPr>
          <a:xfrm>
            <a:off x="6583679" y="2468880"/>
            <a:ext cx="4572000" cy="1005840"/>
          </a:xfrm>
          <a:prstGeom prst="rect">
            <a:avLst/>
          </a:prstGeom>
          <a:noFill/>
        </p:spPr>
        <p:txBody>
          <a:bodyPr wrap="square">
            <a:spAutoFit/>
          </a:bodyPr>
          <a:lstStyle/>
          <a:p>
            <a:pPr algn="l">
              <a:spcAft>
                <a:spcPts val="0"/>
              </a:spcAft>
              <a:defRPr sz="1300" b="0" i="0">
                <a:solidFill>
                  <a:srgbClr val="E8D5B7"/>
                </a:solidFill>
                <a:latin typeface="Calibri"/>
              </a:defRPr>
            </a:pPr>
            <a:r>
              <a:t>57 rules across 8 categories of React</a:t>
            </a:r>
            <a:br/>
            <a:r>
              <a:t>&amp; Next.js optimization, ranked by impact.</a:t>
            </a:r>
            <a:br/>
            <a:r>
              <a:t>10+ years of knowledge encoded.</a:t>
            </a:r>
          </a:p>
        </p:txBody>
      </p:sp>
      <p:sp>
        <p:nvSpPr>
          <p:cNvPr id="20" name="TextBox 19"/>
          <p:cNvSpPr txBox="1"/>
          <p:nvPr/>
        </p:nvSpPr>
        <p:spPr>
          <a:xfrm>
            <a:off x="6583679" y="3474720"/>
            <a:ext cx="4572000" cy="274320"/>
          </a:xfrm>
          <a:prstGeom prst="rect">
            <a:avLst/>
          </a:prstGeom>
          <a:noFill/>
        </p:spPr>
        <p:txBody>
          <a:bodyPr wrap="square">
            <a:spAutoFit/>
          </a:bodyPr>
          <a:lstStyle/>
          <a:p>
            <a:pPr algn="l">
              <a:spcAft>
                <a:spcPts val="0"/>
              </a:spcAft>
              <a:defRPr sz="1100" b="0" i="0">
                <a:solidFill>
                  <a:srgbClr val="7A6E5D"/>
                </a:solidFill>
                <a:latin typeface="JetBrains Mono"/>
              </a:defRPr>
            </a:pPr>
            <a:r>
              <a:t>Cross-agent compatible</a:t>
            </a:r>
          </a:p>
        </p:txBody>
      </p:sp>
      <p:sp>
        <p:nvSpPr>
          <p:cNvPr id="21" name="Rounded Rectangle 20"/>
          <p:cNvSpPr/>
          <p:nvPr/>
        </p:nvSpPr>
        <p:spPr>
          <a:xfrm>
            <a:off x="731520" y="4206240"/>
            <a:ext cx="5212080"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60120" y="4343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161288" y="4343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62456" y="4343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45920" y="427939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Document Skills</a:t>
            </a:r>
          </a:p>
        </p:txBody>
      </p:sp>
      <p:sp>
        <p:nvSpPr>
          <p:cNvPr id="26" name="TextBox 25"/>
          <p:cNvSpPr txBox="1"/>
          <p:nvPr/>
        </p:nvSpPr>
        <p:spPr>
          <a:xfrm>
            <a:off x="4297680" y="4279392"/>
            <a:ext cx="1371600" cy="274320"/>
          </a:xfrm>
          <a:prstGeom prst="rect">
            <a:avLst/>
          </a:prstGeom>
          <a:noFill/>
        </p:spPr>
        <p:txBody>
          <a:bodyPr wrap="square">
            <a:spAutoFit/>
          </a:bodyPr>
          <a:lstStyle/>
          <a:p>
            <a:pPr algn="r">
              <a:spcAft>
                <a:spcPts val="0"/>
              </a:spcAft>
              <a:defRPr sz="1000" b="0" i="0">
                <a:solidFill>
                  <a:srgbClr val="D4886B"/>
                </a:solidFill>
                <a:latin typeface="JetBrains Mono"/>
              </a:defRPr>
            </a:pPr>
            <a:r>
              <a:t>Anthropic</a:t>
            </a:r>
          </a:p>
        </p:txBody>
      </p:sp>
      <p:sp>
        <p:nvSpPr>
          <p:cNvPr id="27" name="TextBox 26"/>
          <p:cNvSpPr txBox="1"/>
          <p:nvPr/>
        </p:nvSpPr>
        <p:spPr>
          <a:xfrm>
            <a:off x="1005840" y="4754880"/>
            <a:ext cx="4572000" cy="1005840"/>
          </a:xfrm>
          <a:prstGeom prst="rect">
            <a:avLst/>
          </a:prstGeom>
          <a:noFill/>
        </p:spPr>
        <p:txBody>
          <a:bodyPr wrap="square">
            <a:spAutoFit/>
          </a:bodyPr>
          <a:lstStyle/>
          <a:p>
            <a:pPr algn="l">
              <a:spcAft>
                <a:spcPts val="0"/>
              </a:spcAft>
              <a:defRPr sz="1300" b="0" i="0">
                <a:solidFill>
                  <a:srgbClr val="E8D5B7"/>
                </a:solidFill>
                <a:latin typeface="Calibri"/>
              </a:defRPr>
            </a:pPr>
            <a:r>
              <a:t>PDF, DOCX, PPTX, XLSX creation.</a:t>
            </a:r>
            <a:br/>
            <a:r>
              <a:t>Powers Claude's native document</a:t>
            </a:r>
            <a:br/>
            <a:r>
              <a:t>generation capabilities.</a:t>
            </a:r>
          </a:p>
        </p:txBody>
      </p:sp>
      <p:sp>
        <p:nvSpPr>
          <p:cNvPr id="28" name="TextBox 27"/>
          <p:cNvSpPr txBox="1"/>
          <p:nvPr/>
        </p:nvSpPr>
        <p:spPr>
          <a:xfrm>
            <a:off x="1005840" y="5760720"/>
            <a:ext cx="4572000" cy="274320"/>
          </a:xfrm>
          <a:prstGeom prst="rect">
            <a:avLst/>
          </a:prstGeom>
          <a:noFill/>
        </p:spPr>
        <p:txBody>
          <a:bodyPr wrap="square">
            <a:spAutoFit/>
          </a:bodyPr>
          <a:lstStyle/>
          <a:p>
            <a:pPr algn="l">
              <a:spcAft>
                <a:spcPts val="0"/>
              </a:spcAft>
              <a:defRPr sz="1100" b="0" i="0">
                <a:solidFill>
                  <a:srgbClr val="7A6E5D"/>
                </a:solidFill>
                <a:latin typeface="JetBrains Mono"/>
              </a:defRPr>
            </a:pPr>
            <a:r>
              <a:t>Built-in to Claude</a:t>
            </a:r>
          </a:p>
        </p:txBody>
      </p:sp>
      <p:sp>
        <p:nvSpPr>
          <p:cNvPr id="29" name="Rounded Rectangle 28"/>
          <p:cNvSpPr/>
          <p:nvPr/>
        </p:nvSpPr>
        <p:spPr>
          <a:xfrm>
            <a:off x="6309359" y="4206240"/>
            <a:ext cx="5212080" cy="2011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537959" y="4343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739127" y="4343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940295" y="4343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59" y="427939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Skill Creator</a:t>
            </a:r>
          </a:p>
        </p:txBody>
      </p:sp>
      <p:sp>
        <p:nvSpPr>
          <p:cNvPr id="34" name="TextBox 33"/>
          <p:cNvSpPr txBox="1"/>
          <p:nvPr/>
        </p:nvSpPr>
        <p:spPr>
          <a:xfrm>
            <a:off x="9875519" y="4279392"/>
            <a:ext cx="1371600" cy="274320"/>
          </a:xfrm>
          <a:prstGeom prst="rect">
            <a:avLst/>
          </a:prstGeom>
          <a:noFill/>
        </p:spPr>
        <p:txBody>
          <a:bodyPr wrap="square">
            <a:spAutoFit/>
          </a:bodyPr>
          <a:lstStyle/>
          <a:p>
            <a:pPr algn="r">
              <a:spcAft>
                <a:spcPts val="0"/>
              </a:spcAft>
              <a:defRPr sz="1000" b="0" i="0">
                <a:solidFill>
                  <a:srgbClr val="D4886B"/>
                </a:solidFill>
                <a:latin typeface="JetBrains Mono"/>
              </a:defRPr>
            </a:pPr>
            <a:r>
              <a:t>Anthropic</a:t>
            </a:r>
          </a:p>
        </p:txBody>
      </p:sp>
      <p:sp>
        <p:nvSpPr>
          <p:cNvPr id="35" name="TextBox 34"/>
          <p:cNvSpPr txBox="1"/>
          <p:nvPr/>
        </p:nvSpPr>
        <p:spPr>
          <a:xfrm>
            <a:off x="6583679" y="4754880"/>
            <a:ext cx="4572000" cy="1005840"/>
          </a:xfrm>
          <a:prstGeom prst="rect">
            <a:avLst/>
          </a:prstGeom>
          <a:noFill/>
        </p:spPr>
        <p:txBody>
          <a:bodyPr wrap="square">
            <a:spAutoFit/>
          </a:bodyPr>
          <a:lstStyle/>
          <a:p>
            <a:pPr algn="l">
              <a:spcAft>
                <a:spcPts val="0"/>
              </a:spcAft>
              <a:defRPr sz="1300" b="0" i="0">
                <a:solidFill>
                  <a:srgbClr val="E8D5B7"/>
                </a:solidFill>
                <a:latin typeface="Calibri"/>
              </a:defRPr>
            </a:pPr>
            <a:r>
              <a:t>Meta-skill: interactive guide for</a:t>
            </a:r>
            <a:br/>
            <a:r>
              <a:t>building new skills. From idea to</a:t>
            </a:r>
            <a:br/>
            <a:r>
              <a:t>tested skill in 15-30 minutes.</a:t>
            </a:r>
          </a:p>
        </p:txBody>
      </p:sp>
      <p:sp>
        <p:nvSpPr>
          <p:cNvPr id="36" name="TextBox 35"/>
          <p:cNvSpPr txBox="1"/>
          <p:nvPr/>
        </p:nvSpPr>
        <p:spPr>
          <a:xfrm>
            <a:off x="6583679" y="5760720"/>
            <a:ext cx="4572000" cy="274320"/>
          </a:xfrm>
          <a:prstGeom prst="rect">
            <a:avLst/>
          </a:prstGeom>
          <a:noFill/>
        </p:spPr>
        <p:txBody>
          <a:bodyPr wrap="square">
            <a:spAutoFit/>
          </a:bodyPr>
          <a:lstStyle/>
          <a:p>
            <a:pPr algn="l">
              <a:spcAft>
                <a:spcPts val="0"/>
              </a:spcAft>
              <a:defRPr sz="1100" b="0" i="0">
                <a:solidFill>
                  <a:srgbClr val="7A6E5D"/>
                </a:solidFill>
                <a:latin typeface="JetBrains Mono"/>
              </a:defRPr>
            </a:pPr>
            <a:r>
              <a:t>Bootstrap new skills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07  |  BUILD YOUR OWN</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Building a custom skill takes 15-30 minutes</a:t>
            </a:r>
            <a:br/>
            <a:r>
              <a:t>and requires only a folder and a markdown file</a:t>
            </a:r>
          </a:p>
        </p:txBody>
      </p:sp>
      <p:sp>
        <p:nvSpPr>
          <p:cNvPr id="5" name="Rounded Rectangle 4"/>
          <p:cNvSpPr/>
          <p:nvPr/>
        </p:nvSpPr>
        <p:spPr>
          <a:xfrm>
            <a:off x="731520" y="1920240"/>
            <a:ext cx="5029200" cy="3657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01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12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624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199339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Creation Process</a:t>
            </a:r>
          </a:p>
        </p:txBody>
      </p:sp>
      <p:sp>
        <p:nvSpPr>
          <p:cNvPr id="10" name="TextBox 9"/>
          <p:cNvSpPr txBox="1"/>
          <p:nvPr/>
        </p:nvSpPr>
        <p:spPr>
          <a:xfrm>
            <a:off x="1005840" y="2468880"/>
            <a:ext cx="4389120" cy="2743200"/>
          </a:xfrm>
          <a:prstGeom prst="rect">
            <a:avLst/>
          </a:prstGeom>
          <a:noFill/>
        </p:spPr>
        <p:txBody>
          <a:bodyPr wrap="square">
            <a:spAutoFit/>
          </a:bodyPr>
          <a:lstStyle/>
          <a:p>
            <a:pPr>
              <a:spcBef>
                <a:spcPts val="200"/>
              </a:spcBef>
              <a:spcAft>
                <a:spcPts val="800"/>
              </a:spcAft>
            </a:pPr>
            <a:r>
              <a:rPr sz="1400">
                <a:solidFill>
                  <a:srgbClr val="D4886B"/>
                </a:solidFill>
                <a:latin typeface="Calibri"/>
              </a:rPr>
              <a:t>  –  </a:t>
            </a:r>
            <a:r>
              <a:rPr sz="1400">
                <a:solidFill>
                  <a:srgbClr val="C4A882"/>
                </a:solidFill>
                <a:latin typeface="Calibri"/>
              </a:rPr>
              <a:t>Identify 2-3 concrete use cases</a:t>
            </a:r>
          </a:p>
          <a:p>
            <a:pPr>
              <a:spcBef>
                <a:spcPts val="200"/>
              </a:spcBef>
              <a:spcAft>
                <a:spcPts val="800"/>
              </a:spcAft>
            </a:pPr>
            <a:r>
              <a:rPr sz="1400">
                <a:solidFill>
                  <a:srgbClr val="D4886B"/>
                </a:solidFill>
                <a:latin typeface="Calibri"/>
              </a:rPr>
              <a:t>  –  </a:t>
            </a:r>
            <a:r>
              <a:rPr sz="1400">
                <a:solidFill>
                  <a:srgbClr val="C4A882"/>
                </a:solidFill>
                <a:latin typeface="Calibri"/>
              </a:rPr>
              <a:t>Choose category: Document Creation,
Workflow Automation, or MCP Enhancement</a:t>
            </a:r>
          </a:p>
          <a:p>
            <a:pPr>
              <a:spcBef>
                <a:spcPts val="200"/>
              </a:spcBef>
              <a:spcAft>
                <a:spcPts val="800"/>
              </a:spcAft>
            </a:pPr>
            <a:r>
              <a:rPr sz="1400">
                <a:solidFill>
                  <a:srgbClr val="D4886B"/>
                </a:solidFill>
                <a:latin typeface="Calibri"/>
              </a:rPr>
              <a:t>  –  </a:t>
            </a:r>
            <a:r>
              <a:rPr sz="1400">
                <a:solidFill>
                  <a:srgbClr val="C4A882"/>
                </a:solidFill>
                <a:latin typeface="Calibri"/>
              </a:rPr>
              <a:t>Create directory + SKILL.md with
YAML frontmatter and instructions</a:t>
            </a:r>
          </a:p>
          <a:p>
            <a:pPr>
              <a:spcBef>
                <a:spcPts val="200"/>
              </a:spcBef>
              <a:spcAft>
                <a:spcPts val="800"/>
              </a:spcAft>
            </a:pPr>
            <a:r>
              <a:rPr sz="1400">
                <a:solidFill>
                  <a:srgbClr val="D4886B"/>
                </a:solidFill>
                <a:latin typeface="Calibri"/>
              </a:rPr>
              <a:t>  –  </a:t>
            </a:r>
            <a:r>
              <a:rPr sz="1400">
                <a:solidFill>
                  <a:srgbClr val="C4A882"/>
                </a:solidFill>
                <a:latin typeface="Calibri"/>
              </a:rPr>
              <a:t>Test triggering on obvious and
paraphrased requests</a:t>
            </a:r>
          </a:p>
          <a:p>
            <a:pPr>
              <a:spcBef>
                <a:spcPts val="200"/>
              </a:spcBef>
              <a:spcAft>
                <a:spcPts val="800"/>
              </a:spcAft>
            </a:pPr>
            <a:r>
              <a:rPr sz="1400">
                <a:solidFill>
                  <a:srgbClr val="D4886B"/>
                </a:solidFill>
                <a:latin typeface="Calibri"/>
              </a:rPr>
              <a:t>  –  </a:t>
            </a:r>
            <a:r>
              <a:rPr sz="1400">
                <a:solidFill>
                  <a:srgbClr val="C4A882"/>
                </a:solidFill>
                <a:latin typeface="Calibri"/>
              </a:rPr>
              <a:t>Iterate on under/over-triggering signals</a:t>
            </a:r>
          </a:p>
        </p:txBody>
      </p:sp>
      <p:sp>
        <p:nvSpPr>
          <p:cNvPr id="11" name="Rounded Rectangle 10"/>
          <p:cNvSpPr/>
          <p:nvPr/>
        </p:nvSpPr>
        <p:spPr>
          <a:xfrm>
            <a:off x="6217920" y="1920240"/>
            <a:ext cx="5029200" cy="3657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465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6476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8488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0" y="199339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Best Practices</a:t>
            </a:r>
          </a:p>
        </p:txBody>
      </p:sp>
      <p:sp>
        <p:nvSpPr>
          <p:cNvPr id="16" name="TextBox 15"/>
          <p:cNvSpPr txBox="1"/>
          <p:nvPr/>
        </p:nvSpPr>
        <p:spPr>
          <a:xfrm>
            <a:off x="6492240" y="2468880"/>
            <a:ext cx="4389120" cy="2743200"/>
          </a:xfrm>
          <a:prstGeom prst="rect">
            <a:avLst/>
          </a:prstGeom>
          <a:noFill/>
        </p:spPr>
        <p:txBody>
          <a:bodyPr wrap="square">
            <a:spAutoFit/>
          </a:bodyPr>
          <a:lstStyle/>
          <a:p>
            <a:pPr>
              <a:spcBef>
                <a:spcPts val="200"/>
              </a:spcBef>
              <a:spcAft>
                <a:spcPts val="800"/>
              </a:spcAft>
            </a:pPr>
            <a:r>
              <a:rPr sz="1400">
                <a:solidFill>
                  <a:srgbClr val="D4886B"/>
                </a:solidFill>
                <a:latin typeface="Calibri"/>
              </a:rPr>
              <a:t>  –  </a:t>
            </a:r>
            <a:r>
              <a:rPr sz="1400" b="1">
                <a:solidFill>
                  <a:srgbClr val="E8D5B7"/>
                </a:solidFill>
                <a:latin typeface="Calibri"/>
              </a:rPr>
              <a:t>SKILL.md under 500 lines</a:t>
            </a:r>
            <a:r>
              <a:rPr sz="1400">
                <a:solidFill>
                  <a:srgbClr val="C4A882"/>
                </a:solidFill>
                <a:latin typeface="Calibri"/>
              </a:rPr>
              <a:t> — move
detailed reference to separate files</a:t>
            </a:r>
          </a:p>
          <a:p>
            <a:pPr>
              <a:spcBef>
                <a:spcPts val="200"/>
              </a:spcBef>
              <a:spcAft>
                <a:spcPts val="800"/>
              </a:spcAft>
            </a:pPr>
            <a:r>
              <a:rPr sz="1400">
                <a:solidFill>
                  <a:srgbClr val="D4886B"/>
                </a:solidFill>
                <a:latin typeface="Calibri"/>
              </a:rPr>
              <a:t>  –  </a:t>
            </a:r>
            <a:r>
              <a:rPr sz="1400">
                <a:solidFill>
                  <a:srgbClr val="C4A882"/>
                </a:solidFill>
                <a:latin typeface="Calibri"/>
              </a:rPr>
              <a:t>Description is the most important field
(include WHAT + WHEN to use it)</a:t>
            </a:r>
          </a:p>
          <a:p>
            <a:pPr>
              <a:spcBef>
                <a:spcPts val="200"/>
              </a:spcBef>
              <a:spcAft>
                <a:spcPts val="800"/>
              </a:spcAft>
            </a:pPr>
            <a:r>
              <a:rPr sz="1400">
                <a:solidFill>
                  <a:srgbClr val="D4886B"/>
                </a:solidFill>
                <a:latin typeface="Calibri"/>
              </a:rPr>
              <a:t>  –  </a:t>
            </a:r>
            <a:r>
              <a:rPr sz="1400">
                <a:solidFill>
                  <a:srgbClr val="C4A882"/>
                </a:solidFill>
                <a:latin typeface="Calibri"/>
              </a:rPr>
              <a:t>Context window is a public good --
your skill shares it with everything</a:t>
            </a:r>
          </a:p>
          <a:p>
            <a:pPr>
              <a:spcBef>
                <a:spcPts val="200"/>
              </a:spcBef>
              <a:spcAft>
                <a:spcPts val="800"/>
              </a:spcAft>
            </a:pPr>
            <a:r>
              <a:rPr sz="1400">
                <a:solidFill>
                  <a:srgbClr val="D4886B"/>
                </a:solidFill>
                <a:latin typeface="Calibri"/>
              </a:rPr>
              <a:t>  –  </a:t>
            </a:r>
            <a:r>
              <a:rPr sz="1400">
                <a:solidFill>
                  <a:srgbClr val="C4A882"/>
                </a:solidFill>
                <a:latin typeface="Calibri"/>
              </a:rPr>
              <a:t>Be specific and actionable; avoid
vague language in instructions</a:t>
            </a:r>
          </a:p>
          <a:p>
            <a:pPr>
              <a:spcBef>
                <a:spcPts val="200"/>
              </a:spcBef>
              <a:spcAft>
                <a:spcPts val="800"/>
              </a:spcAft>
            </a:pPr>
            <a:r>
              <a:rPr sz="1400">
                <a:solidFill>
                  <a:srgbClr val="D4886B"/>
                </a:solidFill>
                <a:latin typeface="Calibri"/>
              </a:rPr>
              <a:t>  –  </a:t>
            </a:r>
            <a:r>
              <a:rPr sz="1400">
                <a:solidFill>
                  <a:srgbClr val="C4A882"/>
                </a:solidFill>
                <a:latin typeface="Calibri"/>
              </a:rPr>
              <a:t>Test with 10-20 queries; track the
auto-triggering rate</a:t>
            </a:r>
          </a:p>
        </p:txBody>
      </p:sp>
      <p:sp>
        <p:nvSpPr>
          <p:cNvPr id="17" name="Rounded Rectangle 16"/>
          <p:cNvSpPr/>
          <p:nvPr/>
        </p:nvSpPr>
        <p:spPr>
          <a:xfrm>
            <a:off x="731520" y="5852160"/>
            <a:ext cx="10515600" cy="4572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879592"/>
            <a:ext cx="10058400" cy="365760"/>
          </a:xfrm>
          <a:prstGeom prst="rect">
            <a:avLst/>
          </a:prstGeom>
          <a:noFill/>
        </p:spPr>
        <p:txBody>
          <a:bodyPr wrap="square">
            <a:spAutoFit/>
          </a:bodyPr>
          <a:lstStyle/>
          <a:p>
            <a:pPr algn="ctr">
              <a:spcAft>
                <a:spcPts val="0"/>
              </a:spcAft>
              <a:defRPr sz="1300" b="1" i="0">
                <a:solidFill>
                  <a:srgbClr val="E8A07A"/>
                </a:solidFill>
                <a:latin typeface="Calibri"/>
              </a:defRPr>
            </a:pPr>
            <a:r>
              <a:t>Success: 90% auto-trigger rate  |  Fewer tool calls  |  Consistent results across sessions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
        <p:nvSpPr>
          <p:cNvPr id="3" name="TextBox 2"/>
          <p:cNvSpPr txBox="1"/>
          <p:nvPr/>
        </p:nvSpPr>
        <p:spPr>
          <a:xfrm>
            <a:off x="731520" y="365760"/>
            <a:ext cx="4572000" cy="365760"/>
          </a:xfrm>
          <a:prstGeom prst="rect">
            <a:avLst/>
          </a:prstGeom>
          <a:noFill/>
        </p:spPr>
        <p:txBody>
          <a:bodyPr wrap="square">
            <a:spAutoFit/>
          </a:bodyPr>
          <a:lstStyle/>
          <a:p>
            <a:pPr algn="l">
              <a:spcAft>
                <a:spcPts val="0"/>
              </a:spcAft>
              <a:defRPr sz="1200" b="0" i="0">
                <a:solidFill>
                  <a:srgbClr val="D4886B"/>
                </a:solidFill>
                <a:latin typeface="JetBrains Mono"/>
              </a:defRPr>
            </a:pPr>
            <a:r>
              <a:t>08  |  ECOSYSTEM</a:t>
            </a:r>
          </a:p>
        </p:txBody>
      </p:sp>
      <p:sp>
        <p:nvSpPr>
          <p:cNvPr id="4" name="TextBox 3"/>
          <p:cNvSpPr txBox="1"/>
          <p:nvPr/>
        </p:nvSpPr>
        <p:spPr>
          <a:xfrm>
            <a:off x="731520" y="822960"/>
            <a:ext cx="10058400" cy="914400"/>
          </a:xfrm>
          <a:prstGeom prst="rect">
            <a:avLst/>
          </a:prstGeom>
          <a:noFill/>
        </p:spPr>
        <p:txBody>
          <a:bodyPr wrap="square">
            <a:spAutoFit/>
          </a:bodyPr>
          <a:lstStyle/>
          <a:p>
            <a:pPr algn="l">
              <a:spcAft>
                <a:spcPts val="0"/>
              </a:spcAft>
              <a:defRPr sz="3200" b="0" i="0">
                <a:solidFill>
                  <a:srgbClr val="E8D5B7"/>
                </a:solidFill>
                <a:latin typeface="Georgia"/>
              </a:defRPr>
            </a:pPr>
            <a:r>
              <a:t>A maturing marketplace ecosystem enables discovery,</a:t>
            </a:r>
            <a:br/>
            <a:r>
              <a:t>distribution, and community contribution</a:t>
            </a:r>
          </a:p>
        </p:txBody>
      </p:sp>
      <p:sp>
        <p:nvSpPr>
          <p:cNvPr id="5" name="Rounded Rectangle 4"/>
          <p:cNvSpPr/>
          <p:nvPr/>
        </p:nvSpPr>
        <p:spPr>
          <a:xfrm>
            <a:off x="731520" y="1920240"/>
            <a:ext cx="1051560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01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12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624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199339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Key Marketplaces</a:t>
            </a:r>
          </a:p>
        </p:txBody>
      </p:sp>
      <p:sp>
        <p:nvSpPr>
          <p:cNvPr id="10" name="Rectangle 9"/>
          <p:cNvSpPr/>
          <p:nvPr/>
        </p:nvSpPr>
        <p:spPr>
          <a:xfrm>
            <a:off x="914400" y="2423160"/>
            <a:ext cx="10149840" cy="39319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2468880"/>
            <a:ext cx="2103120" cy="320040"/>
          </a:xfrm>
          <a:prstGeom prst="rect">
            <a:avLst/>
          </a:prstGeom>
          <a:noFill/>
        </p:spPr>
        <p:txBody>
          <a:bodyPr wrap="square">
            <a:spAutoFit/>
          </a:bodyPr>
          <a:lstStyle/>
          <a:p>
            <a:pPr algn="l">
              <a:spcAft>
                <a:spcPts val="0"/>
              </a:spcAft>
              <a:defRPr sz="1200" b="1" i="0">
                <a:solidFill>
                  <a:srgbClr val="E8D5B7"/>
                </a:solidFill>
                <a:latin typeface="Calibri"/>
              </a:defRPr>
            </a:pPr>
            <a:r>
              <a:t>Anthropic Official</a:t>
            </a:r>
          </a:p>
        </p:txBody>
      </p:sp>
      <p:sp>
        <p:nvSpPr>
          <p:cNvPr id="12" name="TextBox 11"/>
          <p:cNvSpPr txBox="1"/>
          <p:nvPr/>
        </p:nvSpPr>
        <p:spPr>
          <a:xfrm>
            <a:off x="3383280" y="2468880"/>
            <a:ext cx="4572000" cy="320040"/>
          </a:xfrm>
          <a:prstGeom prst="rect">
            <a:avLst/>
          </a:prstGeom>
          <a:noFill/>
        </p:spPr>
        <p:txBody>
          <a:bodyPr wrap="square">
            <a:spAutoFit/>
          </a:bodyPr>
          <a:lstStyle/>
          <a:p>
            <a:pPr algn="l">
              <a:spcAft>
                <a:spcPts val="0"/>
              </a:spcAft>
              <a:defRPr sz="1100" b="0" i="0">
                <a:solidFill>
                  <a:srgbClr val="D4886B"/>
                </a:solidFill>
                <a:latin typeface="JetBrains Mono"/>
              </a:defRPr>
            </a:pPr>
            <a:r>
              <a:t>/plugin marketplace add anthropics/skills</a:t>
            </a:r>
          </a:p>
        </p:txBody>
      </p:sp>
      <p:sp>
        <p:nvSpPr>
          <p:cNvPr id="13" name="TextBox 12"/>
          <p:cNvSpPr txBox="1"/>
          <p:nvPr/>
        </p:nvSpPr>
        <p:spPr>
          <a:xfrm>
            <a:off x="8229600" y="2468880"/>
            <a:ext cx="3017520" cy="320040"/>
          </a:xfrm>
          <a:prstGeom prst="rect">
            <a:avLst/>
          </a:prstGeom>
          <a:noFill/>
        </p:spPr>
        <p:txBody>
          <a:bodyPr wrap="square">
            <a:spAutoFit/>
          </a:bodyPr>
          <a:lstStyle/>
          <a:p>
            <a:pPr algn="l">
              <a:spcAft>
                <a:spcPts val="0"/>
              </a:spcAft>
              <a:defRPr sz="1200" b="0" i="0">
                <a:solidFill>
                  <a:srgbClr val="C4A882"/>
                </a:solidFill>
                <a:latin typeface="Calibri"/>
              </a:defRPr>
            </a:pPr>
            <a:r>
              <a:t>Document skills, examples</a:t>
            </a:r>
          </a:p>
        </p:txBody>
      </p:sp>
      <p:sp>
        <p:nvSpPr>
          <p:cNvPr id="14" name="TextBox 13"/>
          <p:cNvSpPr txBox="1"/>
          <p:nvPr/>
        </p:nvSpPr>
        <p:spPr>
          <a:xfrm>
            <a:off x="1097280" y="2880360"/>
            <a:ext cx="2103120" cy="320040"/>
          </a:xfrm>
          <a:prstGeom prst="rect">
            <a:avLst/>
          </a:prstGeom>
          <a:noFill/>
        </p:spPr>
        <p:txBody>
          <a:bodyPr wrap="square">
            <a:spAutoFit/>
          </a:bodyPr>
          <a:lstStyle/>
          <a:p>
            <a:pPr algn="l">
              <a:spcAft>
                <a:spcPts val="0"/>
              </a:spcAft>
              <a:defRPr sz="1200" b="1" i="0">
                <a:solidFill>
                  <a:srgbClr val="E8D5B7"/>
                </a:solidFill>
                <a:latin typeface="Calibri"/>
              </a:defRPr>
            </a:pPr>
            <a:r>
              <a:t>Claude Code Plugins</a:t>
            </a:r>
          </a:p>
        </p:txBody>
      </p:sp>
      <p:sp>
        <p:nvSpPr>
          <p:cNvPr id="15" name="TextBox 14"/>
          <p:cNvSpPr txBox="1"/>
          <p:nvPr/>
        </p:nvSpPr>
        <p:spPr>
          <a:xfrm>
            <a:off x="3383280" y="2880360"/>
            <a:ext cx="4572000" cy="320040"/>
          </a:xfrm>
          <a:prstGeom prst="rect">
            <a:avLst/>
          </a:prstGeom>
          <a:noFill/>
        </p:spPr>
        <p:txBody>
          <a:bodyPr wrap="square">
            <a:spAutoFit/>
          </a:bodyPr>
          <a:lstStyle/>
          <a:p>
            <a:pPr algn="l">
              <a:spcAft>
                <a:spcPts val="0"/>
              </a:spcAft>
              <a:defRPr sz="1100" b="0" i="0">
                <a:solidFill>
                  <a:srgbClr val="D4886B"/>
                </a:solidFill>
                <a:latin typeface="JetBrains Mono"/>
              </a:defRPr>
            </a:pPr>
            <a:r>
              <a:t>/plugin marketplace add anthropics/claude-code</a:t>
            </a:r>
          </a:p>
        </p:txBody>
      </p:sp>
      <p:sp>
        <p:nvSpPr>
          <p:cNvPr id="16" name="TextBox 15"/>
          <p:cNvSpPr txBox="1"/>
          <p:nvPr/>
        </p:nvSpPr>
        <p:spPr>
          <a:xfrm>
            <a:off x="8229600" y="2880360"/>
            <a:ext cx="3017520" cy="320040"/>
          </a:xfrm>
          <a:prstGeom prst="rect">
            <a:avLst/>
          </a:prstGeom>
          <a:noFill/>
        </p:spPr>
        <p:txBody>
          <a:bodyPr wrap="square">
            <a:spAutoFit/>
          </a:bodyPr>
          <a:lstStyle/>
          <a:p>
            <a:pPr algn="l">
              <a:spcAft>
                <a:spcPts val="0"/>
              </a:spcAft>
              <a:defRPr sz="1200" b="0" i="0">
                <a:solidFill>
                  <a:srgbClr val="C4A882"/>
                </a:solidFill>
                <a:latin typeface="Calibri"/>
              </a:defRPr>
            </a:pPr>
            <a:r>
              <a:t>Frontend design</a:t>
            </a:r>
          </a:p>
        </p:txBody>
      </p:sp>
      <p:sp>
        <p:nvSpPr>
          <p:cNvPr id="17" name="Rectangle 16"/>
          <p:cNvSpPr/>
          <p:nvPr/>
        </p:nvSpPr>
        <p:spPr>
          <a:xfrm>
            <a:off x="914400" y="3246120"/>
            <a:ext cx="10149840" cy="39319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3291840"/>
            <a:ext cx="2103120" cy="320040"/>
          </a:xfrm>
          <a:prstGeom prst="rect">
            <a:avLst/>
          </a:prstGeom>
          <a:noFill/>
        </p:spPr>
        <p:txBody>
          <a:bodyPr wrap="square">
            <a:spAutoFit/>
          </a:bodyPr>
          <a:lstStyle/>
          <a:p>
            <a:pPr algn="l">
              <a:spcAft>
                <a:spcPts val="0"/>
              </a:spcAft>
              <a:defRPr sz="1200" b="1" i="0">
                <a:solidFill>
                  <a:srgbClr val="E8D5B7"/>
                </a:solidFill>
                <a:latin typeface="Calibri"/>
              </a:defRPr>
            </a:pPr>
            <a:r>
              <a:t>Superpowers</a:t>
            </a:r>
          </a:p>
        </p:txBody>
      </p:sp>
      <p:sp>
        <p:nvSpPr>
          <p:cNvPr id="19" name="TextBox 18"/>
          <p:cNvSpPr txBox="1"/>
          <p:nvPr/>
        </p:nvSpPr>
        <p:spPr>
          <a:xfrm>
            <a:off x="3383280" y="3291840"/>
            <a:ext cx="4572000" cy="320040"/>
          </a:xfrm>
          <a:prstGeom prst="rect">
            <a:avLst/>
          </a:prstGeom>
          <a:noFill/>
        </p:spPr>
        <p:txBody>
          <a:bodyPr wrap="square">
            <a:spAutoFit/>
          </a:bodyPr>
          <a:lstStyle/>
          <a:p>
            <a:pPr algn="l">
              <a:spcAft>
                <a:spcPts val="0"/>
              </a:spcAft>
              <a:defRPr sz="1100" b="0" i="0">
                <a:solidFill>
                  <a:srgbClr val="D4886B"/>
                </a:solidFill>
                <a:latin typeface="JetBrains Mono"/>
              </a:defRPr>
            </a:pPr>
            <a:r>
              <a:t>/plugin marketplace add obra/superpowers-...</a:t>
            </a:r>
          </a:p>
        </p:txBody>
      </p:sp>
      <p:sp>
        <p:nvSpPr>
          <p:cNvPr id="20" name="TextBox 19"/>
          <p:cNvSpPr txBox="1"/>
          <p:nvPr/>
        </p:nvSpPr>
        <p:spPr>
          <a:xfrm>
            <a:off x="8229600" y="3291840"/>
            <a:ext cx="3017520" cy="320040"/>
          </a:xfrm>
          <a:prstGeom prst="rect">
            <a:avLst/>
          </a:prstGeom>
          <a:noFill/>
        </p:spPr>
        <p:txBody>
          <a:bodyPr wrap="square">
            <a:spAutoFit/>
          </a:bodyPr>
          <a:lstStyle/>
          <a:p>
            <a:pPr algn="l">
              <a:spcAft>
                <a:spcPts val="0"/>
              </a:spcAft>
              <a:defRPr sz="1200" b="0" i="0">
                <a:solidFill>
                  <a:srgbClr val="C4A882"/>
                </a:solidFill>
                <a:latin typeface="Calibri"/>
              </a:defRPr>
            </a:pPr>
            <a:r>
              <a:t>Full dev workflow</a:t>
            </a:r>
          </a:p>
        </p:txBody>
      </p:sp>
      <p:sp>
        <p:nvSpPr>
          <p:cNvPr id="21" name="TextBox 20"/>
          <p:cNvSpPr txBox="1"/>
          <p:nvPr/>
        </p:nvSpPr>
        <p:spPr>
          <a:xfrm>
            <a:off x="1097280" y="3703320"/>
            <a:ext cx="2103120" cy="320040"/>
          </a:xfrm>
          <a:prstGeom prst="rect">
            <a:avLst/>
          </a:prstGeom>
          <a:noFill/>
        </p:spPr>
        <p:txBody>
          <a:bodyPr wrap="square">
            <a:spAutoFit/>
          </a:bodyPr>
          <a:lstStyle/>
          <a:p>
            <a:pPr algn="l">
              <a:spcAft>
                <a:spcPts val="0"/>
              </a:spcAft>
              <a:defRPr sz="1200" b="1" i="0">
                <a:solidFill>
                  <a:srgbClr val="E8D5B7"/>
                </a:solidFill>
                <a:latin typeface="Calibri"/>
              </a:defRPr>
            </a:pPr>
            <a:r>
              <a:t>Vercel Agent Skills</a:t>
            </a:r>
          </a:p>
        </p:txBody>
      </p:sp>
      <p:sp>
        <p:nvSpPr>
          <p:cNvPr id="22" name="TextBox 21"/>
          <p:cNvSpPr txBox="1"/>
          <p:nvPr/>
        </p:nvSpPr>
        <p:spPr>
          <a:xfrm>
            <a:off x="3383280" y="3703320"/>
            <a:ext cx="4572000" cy="320040"/>
          </a:xfrm>
          <a:prstGeom prst="rect">
            <a:avLst/>
          </a:prstGeom>
          <a:noFill/>
        </p:spPr>
        <p:txBody>
          <a:bodyPr wrap="square">
            <a:spAutoFit/>
          </a:bodyPr>
          <a:lstStyle/>
          <a:p>
            <a:pPr algn="l">
              <a:spcAft>
                <a:spcPts val="0"/>
              </a:spcAft>
              <a:defRPr sz="1100" b="0" i="0">
                <a:solidFill>
                  <a:srgbClr val="D4886B"/>
                </a:solidFill>
                <a:latin typeface="JetBrains Mono"/>
              </a:defRPr>
            </a:pPr>
            <a:r>
              <a:t>npx add-skill vercel-labs/agent-skills</a:t>
            </a:r>
          </a:p>
        </p:txBody>
      </p:sp>
      <p:sp>
        <p:nvSpPr>
          <p:cNvPr id="23" name="TextBox 22"/>
          <p:cNvSpPr txBox="1"/>
          <p:nvPr/>
        </p:nvSpPr>
        <p:spPr>
          <a:xfrm>
            <a:off x="8229600" y="3703320"/>
            <a:ext cx="3017520" cy="320040"/>
          </a:xfrm>
          <a:prstGeom prst="rect">
            <a:avLst/>
          </a:prstGeom>
          <a:noFill/>
        </p:spPr>
        <p:txBody>
          <a:bodyPr wrap="square">
            <a:spAutoFit/>
          </a:bodyPr>
          <a:lstStyle/>
          <a:p>
            <a:pPr algn="l">
              <a:spcAft>
                <a:spcPts val="0"/>
              </a:spcAft>
              <a:defRPr sz="1200" b="0" i="0">
                <a:solidFill>
                  <a:srgbClr val="C4A882"/>
                </a:solidFill>
                <a:latin typeface="Calibri"/>
              </a:defRPr>
            </a:pPr>
            <a:r>
              <a:t>React best practices +</a:t>
            </a:r>
          </a:p>
        </p:txBody>
      </p:sp>
      <p:sp>
        <p:nvSpPr>
          <p:cNvPr id="24" name="TextBox 23"/>
          <p:cNvSpPr txBox="1"/>
          <p:nvPr/>
        </p:nvSpPr>
        <p:spPr>
          <a:xfrm>
            <a:off x="731520" y="4480560"/>
            <a:ext cx="10058400" cy="365760"/>
          </a:xfrm>
          <a:prstGeom prst="rect">
            <a:avLst/>
          </a:prstGeom>
          <a:noFill/>
        </p:spPr>
        <p:txBody>
          <a:bodyPr wrap="square">
            <a:spAutoFit/>
          </a:bodyPr>
          <a:lstStyle/>
          <a:p>
            <a:pPr algn="l">
              <a:spcAft>
                <a:spcPts val="0"/>
              </a:spcAft>
              <a:defRPr sz="1800" b="0" i="0">
                <a:solidFill>
                  <a:srgbClr val="E8D5B7"/>
                </a:solidFill>
                <a:latin typeface="Georgia"/>
              </a:defRPr>
            </a:pPr>
            <a:r>
              <a:t>Community Discovery Platforms</a:t>
            </a:r>
          </a:p>
        </p:txBody>
      </p:sp>
      <p:sp>
        <p:nvSpPr>
          <p:cNvPr id="25" name="Rounded Rectangle 24"/>
          <p:cNvSpPr/>
          <p:nvPr/>
        </p:nvSpPr>
        <p:spPr>
          <a:xfrm>
            <a:off x="731520" y="4937760"/>
            <a:ext cx="24688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60120" y="50749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61288" y="50749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362456" y="50749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5349240"/>
            <a:ext cx="2103120" cy="320040"/>
          </a:xfrm>
          <a:prstGeom prst="rect">
            <a:avLst/>
          </a:prstGeom>
          <a:noFill/>
        </p:spPr>
        <p:txBody>
          <a:bodyPr wrap="square">
            <a:spAutoFit/>
          </a:bodyPr>
          <a:lstStyle/>
          <a:p>
            <a:pPr algn="l">
              <a:spcAft>
                <a:spcPts val="0"/>
              </a:spcAft>
              <a:defRPr sz="1400" b="0" i="0">
                <a:solidFill>
                  <a:srgbClr val="E8D5B7"/>
                </a:solidFill>
                <a:latin typeface="Georgia"/>
              </a:defRPr>
            </a:pPr>
            <a:r>
              <a:t>skills.sh</a:t>
            </a:r>
          </a:p>
        </p:txBody>
      </p:sp>
      <p:sp>
        <p:nvSpPr>
          <p:cNvPr id="30" name="TextBox 29"/>
          <p:cNvSpPr txBox="1"/>
          <p:nvPr/>
        </p:nvSpPr>
        <p:spPr>
          <a:xfrm>
            <a:off x="914400" y="5669280"/>
            <a:ext cx="2103120" cy="548640"/>
          </a:xfrm>
          <a:prstGeom prst="rect">
            <a:avLst/>
          </a:prstGeom>
          <a:noFill/>
        </p:spPr>
        <p:txBody>
          <a:bodyPr wrap="square">
            <a:spAutoFit/>
          </a:bodyPr>
          <a:lstStyle/>
          <a:p>
            <a:pPr algn="l">
              <a:spcAft>
                <a:spcPts val="0"/>
              </a:spcAft>
              <a:defRPr sz="1200" b="0" i="0">
                <a:solidFill>
                  <a:srgbClr val="C4A882"/>
                </a:solidFill>
                <a:latin typeface="Calibri"/>
              </a:defRPr>
            </a:pPr>
            <a:r>
              <a:t>Vercel's web-based</a:t>
            </a:r>
            <a:br/>
            <a:r>
              <a:t>skills directory</a:t>
            </a:r>
          </a:p>
        </p:txBody>
      </p:sp>
      <p:sp>
        <p:nvSpPr>
          <p:cNvPr id="31" name="Rounded Rectangle 30"/>
          <p:cNvSpPr/>
          <p:nvPr/>
        </p:nvSpPr>
        <p:spPr>
          <a:xfrm>
            <a:off x="3474720" y="4937760"/>
            <a:ext cx="24688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703320" y="50749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904488" y="50749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105656" y="50749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657600" y="5349240"/>
            <a:ext cx="2103120" cy="320040"/>
          </a:xfrm>
          <a:prstGeom prst="rect">
            <a:avLst/>
          </a:prstGeom>
          <a:noFill/>
        </p:spPr>
        <p:txBody>
          <a:bodyPr wrap="square">
            <a:spAutoFit/>
          </a:bodyPr>
          <a:lstStyle/>
          <a:p>
            <a:pPr algn="l">
              <a:spcAft>
                <a:spcPts val="0"/>
              </a:spcAft>
              <a:defRPr sz="1400" b="0" i="0">
                <a:solidFill>
                  <a:srgbClr val="E8D5B7"/>
                </a:solidFill>
                <a:latin typeface="Georgia"/>
              </a:defRPr>
            </a:pPr>
            <a:r>
              <a:t>playbooks.com</a:t>
            </a:r>
          </a:p>
        </p:txBody>
      </p:sp>
      <p:sp>
        <p:nvSpPr>
          <p:cNvPr id="36" name="TextBox 35"/>
          <p:cNvSpPr txBox="1"/>
          <p:nvPr/>
        </p:nvSpPr>
        <p:spPr>
          <a:xfrm>
            <a:off x="3657600" y="5669280"/>
            <a:ext cx="2103120" cy="548640"/>
          </a:xfrm>
          <a:prstGeom prst="rect">
            <a:avLst/>
          </a:prstGeom>
          <a:noFill/>
        </p:spPr>
        <p:txBody>
          <a:bodyPr wrap="square">
            <a:spAutoFit/>
          </a:bodyPr>
          <a:lstStyle/>
          <a:p>
            <a:pPr algn="l">
              <a:spcAft>
                <a:spcPts val="0"/>
              </a:spcAft>
              <a:defRPr sz="1200" b="0" i="0">
                <a:solidFill>
                  <a:srgbClr val="C4A882"/>
                </a:solidFill>
                <a:latin typeface="Calibri"/>
              </a:defRPr>
            </a:pPr>
            <a:r>
              <a:t>Skills browser</a:t>
            </a:r>
            <a:br/>
            <a:r>
              <a:t>and installer</a:t>
            </a:r>
          </a:p>
        </p:txBody>
      </p:sp>
      <p:sp>
        <p:nvSpPr>
          <p:cNvPr id="37" name="Rounded Rectangle 36"/>
          <p:cNvSpPr/>
          <p:nvPr/>
        </p:nvSpPr>
        <p:spPr>
          <a:xfrm>
            <a:off x="6217920" y="4937760"/>
            <a:ext cx="24688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6446520" y="50749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647688" y="50749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848856" y="50749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349240"/>
            <a:ext cx="2103120" cy="320040"/>
          </a:xfrm>
          <a:prstGeom prst="rect">
            <a:avLst/>
          </a:prstGeom>
          <a:noFill/>
        </p:spPr>
        <p:txBody>
          <a:bodyPr wrap="square">
            <a:spAutoFit/>
          </a:bodyPr>
          <a:lstStyle/>
          <a:p>
            <a:pPr algn="l">
              <a:spcAft>
                <a:spcPts val="0"/>
              </a:spcAft>
              <a:defRPr sz="1400" b="0" i="0">
                <a:solidFill>
                  <a:srgbClr val="E8D5B7"/>
                </a:solidFill>
                <a:latin typeface="Georgia"/>
              </a:defRPr>
            </a:pPr>
            <a:r>
              <a:t>claude-plugins.dev</a:t>
            </a:r>
          </a:p>
        </p:txBody>
      </p:sp>
      <p:sp>
        <p:nvSpPr>
          <p:cNvPr id="42" name="TextBox 41"/>
          <p:cNvSpPr txBox="1"/>
          <p:nvPr/>
        </p:nvSpPr>
        <p:spPr>
          <a:xfrm>
            <a:off x="6400800" y="5669280"/>
            <a:ext cx="2103120" cy="548640"/>
          </a:xfrm>
          <a:prstGeom prst="rect">
            <a:avLst/>
          </a:prstGeom>
          <a:noFill/>
        </p:spPr>
        <p:txBody>
          <a:bodyPr wrap="square">
            <a:spAutoFit/>
          </a:bodyPr>
          <a:lstStyle/>
          <a:p>
            <a:pPr algn="l">
              <a:spcAft>
                <a:spcPts val="0"/>
              </a:spcAft>
              <a:defRPr sz="1200" b="0" i="0">
                <a:solidFill>
                  <a:srgbClr val="C4A882"/>
                </a:solidFill>
                <a:latin typeface="Calibri"/>
              </a:defRPr>
            </a:pPr>
            <a:r>
              <a:t>Community skills</a:t>
            </a:r>
            <a:br/>
            <a:r>
              <a:t>discovery</a:t>
            </a:r>
          </a:p>
        </p:txBody>
      </p:sp>
      <p:sp>
        <p:nvSpPr>
          <p:cNvPr id="43" name="Rounded Rectangle 42"/>
          <p:cNvSpPr/>
          <p:nvPr/>
        </p:nvSpPr>
        <p:spPr>
          <a:xfrm>
            <a:off x="8961120" y="4937760"/>
            <a:ext cx="24688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89720" y="50749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390888" y="50749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9592056" y="50749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144000" y="5349240"/>
            <a:ext cx="2103120" cy="320040"/>
          </a:xfrm>
          <a:prstGeom prst="rect">
            <a:avLst/>
          </a:prstGeom>
          <a:noFill/>
        </p:spPr>
        <p:txBody>
          <a:bodyPr wrap="square">
            <a:spAutoFit/>
          </a:bodyPr>
          <a:lstStyle/>
          <a:p>
            <a:pPr algn="l">
              <a:spcAft>
                <a:spcPts val="0"/>
              </a:spcAft>
              <a:defRPr sz="1400" b="0" i="0">
                <a:solidFill>
                  <a:srgbClr val="E8D5B7"/>
                </a:solidFill>
                <a:latin typeface="Georgia"/>
              </a:defRPr>
            </a:pPr>
            <a:r>
              <a:t>mcpservers.org</a:t>
            </a:r>
          </a:p>
        </p:txBody>
      </p:sp>
      <p:sp>
        <p:nvSpPr>
          <p:cNvPr id="48" name="TextBox 47"/>
          <p:cNvSpPr txBox="1"/>
          <p:nvPr/>
        </p:nvSpPr>
        <p:spPr>
          <a:xfrm>
            <a:off x="9144000" y="5669280"/>
            <a:ext cx="2103120" cy="548640"/>
          </a:xfrm>
          <a:prstGeom prst="rect">
            <a:avLst/>
          </a:prstGeom>
          <a:noFill/>
        </p:spPr>
        <p:txBody>
          <a:bodyPr wrap="square">
            <a:spAutoFit/>
          </a:bodyPr>
          <a:lstStyle/>
          <a:p>
            <a:pPr algn="l">
              <a:spcAft>
                <a:spcPts val="0"/>
              </a:spcAft>
              <a:defRPr sz="1200" b="0" i="0">
                <a:solidFill>
                  <a:srgbClr val="C4A882"/>
                </a:solidFill>
                <a:latin typeface="Calibri"/>
              </a:defRPr>
            </a:pPr>
            <a:r>
              <a:t>Skills listing</a:t>
            </a:r>
            <a:br/>
            <a:r>
              <a:t>and search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515600" cy="914400"/>
          </a:xfrm>
          <a:prstGeom prst="rect">
            <a:avLst/>
          </a:prstGeom>
          <a:noFill/>
        </p:spPr>
        <p:txBody>
          <a:bodyPr wrap="square">
            <a:spAutoFit/>
          </a:bodyPr>
          <a:lstStyle/>
          <a:p>
            <a:pPr algn="ctr">
              <a:spcAft>
                <a:spcPts val="0"/>
              </a:spcAft>
              <a:defRPr sz="4800" b="0" i="0">
                <a:solidFill>
                  <a:srgbClr val="E8D5B7"/>
                </a:solidFill>
                <a:latin typeface="Georgia"/>
              </a:defRPr>
            </a:pPr>
            <a:r>
              <a:t>Skills are the knowledge layer that transforms AI agents</a:t>
            </a:r>
            <a:br/>
            <a:r>
              <a:t>from ad-hoc generators into disciplined partners</a:t>
            </a:r>
          </a:p>
        </p:txBody>
      </p:sp>
      <p:sp>
        <p:nvSpPr>
          <p:cNvPr id="3" name="Rectangle 2"/>
          <p:cNvSpPr/>
          <p:nvPr/>
        </p:nvSpPr>
        <p:spPr>
          <a:xfrm>
            <a:off x="4114800" y="173736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371600" y="2103120"/>
            <a:ext cx="9418320" cy="3657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600200" y="22402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801368" y="22402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002536" y="22402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28800" y="2651760"/>
            <a:ext cx="4114800" cy="2926080"/>
          </a:xfrm>
          <a:prstGeom prst="rect">
            <a:avLst/>
          </a:prstGeom>
          <a:noFill/>
        </p:spPr>
        <p:txBody>
          <a:bodyPr wrap="square">
            <a:spAutoFit/>
          </a:bodyPr>
          <a:lstStyle/>
          <a:p>
            <a:pPr>
              <a:spcAft>
                <a:spcPts val="500"/>
              </a:spcAft>
            </a:pPr>
            <a:r>
              <a:rPr sz="1500" b="1">
                <a:solidFill>
                  <a:srgbClr val="D4886B"/>
                </a:solidFill>
                <a:latin typeface="Calibri"/>
              </a:rPr>
              <a:t>1. </a:t>
            </a:r>
            <a:r>
              <a:rPr sz="1500">
                <a:solidFill>
                  <a:srgbClr val="C4A882"/>
                </a:solidFill>
                <a:latin typeface="Calibri"/>
              </a:rPr>
              <a:t>Knowledge Layer -- MCP gives tools. Skills teach
how to use them. Together they enable
complex autonomous workflows.</a:t>
            </a:r>
          </a:p>
          <a:p>
            <a:pPr>
              <a:spcAft>
                <a:spcPts val="500"/>
              </a:spcAft>
            </a:pPr>
            <a:r>
              <a:rPr sz="1500" b="1">
                <a:solidFill>
                  <a:srgbClr val="D4886B"/>
                </a:solidFill>
                <a:latin typeface="Calibri"/>
              </a:rPr>
              <a:t>2. </a:t>
            </a:r>
            <a:r>
              <a:rPr sz="1500">
                <a:solidFill>
                  <a:srgbClr val="C4A882"/>
                </a:solidFill>
                <a:latin typeface="Calibri"/>
              </a:rPr>
              <a:t>Open Standard -- 26+ platforms including competitors
have adopted Agent Skills. Write once,
run everywhere.</a:t>
            </a:r>
          </a:p>
        </p:txBody>
      </p:sp>
      <p:sp>
        <p:nvSpPr>
          <p:cNvPr id="9" name="TextBox 8"/>
          <p:cNvSpPr txBox="1"/>
          <p:nvPr/>
        </p:nvSpPr>
        <p:spPr>
          <a:xfrm>
            <a:off x="6583680" y="2651760"/>
            <a:ext cx="4114800" cy="2926080"/>
          </a:xfrm>
          <a:prstGeom prst="rect">
            <a:avLst/>
          </a:prstGeom>
          <a:noFill/>
        </p:spPr>
        <p:txBody>
          <a:bodyPr wrap="square">
            <a:spAutoFit/>
          </a:bodyPr>
          <a:lstStyle/>
          <a:p>
            <a:pPr>
              <a:spcAft>
                <a:spcPts val="500"/>
              </a:spcAft>
            </a:pPr>
            <a:r>
              <a:rPr sz="1500" b="1">
                <a:solidFill>
                  <a:srgbClr val="D4886B"/>
                </a:solidFill>
                <a:latin typeface="Calibri"/>
              </a:rPr>
              <a:t>3. </a:t>
            </a:r>
            <a:r>
              <a:rPr sz="1500">
                <a:solidFill>
                  <a:srgbClr val="C4A882"/>
                </a:solidFill>
                <a:latin typeface="Calibri"/>
              </a:rPr>
              <a:t>Progressive Disclosure -- Three-level loading preserves
the context window while maintaining
specialized expertise on demand.</a:t>
            </a:r>
          </a:p>
          <a:p>
            <a:pPr>
              <a:spcAft>
                <a:spcPts val="500"/>
              </a:spcAft>
            </a:pPr>
            <a:r>
              <a:rPr sz="1500" b="1">
                <a:solidFill>
                  <a:srgbClr val="D4886B"/>
                </a:solidFill>
                <a:latin typeface="Calibri"/>
              </a:rPr>
              <a:t>4. </a:t>
            </a:r>
            <a:r>
              <a:rPr sz="1500">
                <a:solidFill>
                  <a:srgbClr val="C4A882"/>
                </a:solidFill>
                <a:latin typeface="Calibri"/>
              </a:rPr>
              <a:t>Enforced Discipline -- Mandatory workflows, not suggestions.
Brainstorm, plan, TDD, review --
automatically, every time.</a:t>
            </a:r>
          </a:p>
        </p:txBody>
      </p:sp>
      <p:sp>
        <p:nvSpPr>
          <p:cNvPr id="10" name="TextBox 9"/>
          <p:cNvSpPr txBox="1"/>
          <p:nvPr/>
        </p:nvSpPr>
        <p:spPr>
          <a:xfrm>
            <a:off x="731520" y="6035040"/>
            <a:ext cx="10515600" cy="457200"/>
          </a:xfrm>
          <a:prstGeom prst="rect">
            <a:avLst/>
          </a:prstGeom>
          <a:noFill/>
        </p:spPr>
        <p:txBody>
          <a:bodyPr wrap="square">
            <a:spAutoFit/>
          </a:bodyPr>
          <a:lstStyle/>
          <a:p>
            <a:pPr algn="ctr">
              <a:spcAft>
                <a:spcPts val="0"/>
              </a:spcAft>
              <a:defRPr sz="1400" b="0" i="0">
                <a:solidFill>
                  <a:srgbClr val="7A6E5D"/>
                </a:solidFill>
                <a:latin typeface="JetBrains Mono"/>
              </a:defRPr>
            </a:pPr>
            <a:r>
              <a:t>Start today:  mkdir -p .claude/skills/my-first-skill  &amp;&amp;  create SKILL.md   |   Build &amp; test in 15-30 minutes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2928</Words>
  <Application>Microsoft Macintosh PowerPoint</Application>
  <PresentationFormat>Widescreen</PresentationFormat>
  <Paragraphs>268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6</cp:revision>
  <dcterms:created xsi:type="dcterms:W3CDTF">2013-01-27T09:14:16Z</dcterms:created>
  <dcterms:modified xsi:type="dcterms:W3CDTF">2026-02-25T18:15:54Z</dcterms:modified>
  <cp:category/>
</cp:coreProperties>
</file>