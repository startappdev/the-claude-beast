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60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Episode 1 of The Claude Beast series. Today we are covering the single highest-leverage file in any Claude Code project: CLAUDE.md. This file acts as persistent memory -- it is loaded into Claude's system prompt at the start of every session. We will also cover AGENTS.md, the cross-tool standard. By the end, you will know how to structure project context so Claude never forgets your conventions, architecture, or workflows.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Claude Code session starts with zero memory of the last one. Without a CLAUDE.md file, you waste the first minutes of every session re-explaining your project: what framework you use, your testing patterns, code style, module structure. With CLAUDE.md, all of that context is automatically injected into Claude's system prompt before your first message. It is the only file loaded by default into every single conversation.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CLAUDE.md is a special markdown configuration file. It lives in your repository root, and Claude Code reads it automatically at the start of every session. The key insight is that this is the ONLY file that by default goes into every single conversation you have with the agent. It becomes part of the system prompt, wrapped in system-reminder XML tags. This means Claude may ignore instructions it deems irrelevant to the current task, so keep content universally applicable. Commit it to source control so your team shares the same context.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Code loads memory from six distinct locations, each serving a different purpose. At the top is Managed Policy, deployed by IT teams via MDM or Ansible -- highest priority. Then User Memory for personal preferences across all projects. Project Memory is the team-shared CLAUDE.md. Project Rules are modular files in .claude/rules/ that can be conditionally loaded based on file path glob patterns. Local Memory is your personal project-specific file, auto-added to .gitignore. Finally, Auto Memory is where Claude writes its own notes -- only the first 200 lines of MEMORY.md are loaded at startup. Key precedence rule: more specific instructions override broader ones.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eight sections cover the essential content for any CLAUDE.md file. Project Overview is your one-liner map. Tech Stack lists your framework, database, auth approach, and API versioning. Common Commands should include per-file commands when possible -- they are faster than project-wide builds. Code Conventions cover strict mode, export style, test locations. Workflows describe step-by-step processes for common tasks. Do's and Don'ts are your guardrails. Domain Terminology prevents the model from misunderstanding your business language. Gotchas are the things that will break everything if Claude gets them wrong. You can also add MCP server instructions and @path imports.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AGENTS.md is the open standard that works across all AI coding tools. While CLAUDE.md is specific to Claude Code, AGENTS.md is supported by Cursor, Zed, OpenAI Codex, Google Jules, GitHub Copilot, Gemini CLI, Windsurf, Aider, Warp, VS Code, and many more. The recommended approach is the symlink pattern: either have CLAUDE.md reference AGENTS.md, create a symlink, or migrate entirely and symlink back for backward compatibility. AGENTS.md can also be nested in subdirectories -- agents read the closest file to the work they are doing.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critical best practice is: less is more. Claude Code's built-in system prompt already contains about 50 instructions, and frontier LLMs can reliably follow roughly 150 to 200 instructions. So your CLAUDE.md is competing for attention with the system prompt itself. HumanLayer, who studied this extensively, keeps their root CLAUDE.md under 60 lines. Use progressive disclosure: keep task-specific instructions in separate files and reference them with @imports. Never use CLAUDE.md as a linter -- that is what ESLint and Prettier are for. Treat the file as a living document that evolves through friction.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/init command is your quick start. Just cd into your project, open Claude Code, and run /init. Claude examines your package files, documentation, configuration, and code structure, then generates a CLAUDE.md. But here is the key: treat this as a starting point, not the final product. The generated file will have obvious details. The real value comes from iterating over time. When Claude makes wrong assumptions, tell it to add a correction. Use the /memory command to open and organize Claude's auto-generated notes. Periodically review for redundancies and prune stale entries.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larger projects, you can organize rules into multiple files under .claude/rules/. Each file can use YAML frontmatter with glob patterns to scope rules to specific file paths -- so API rules only load when Claude is working on API files. You can also symlink shared rules across repositories. Advanced features include @path imports for referencing external files up to 5 hops deep, auto memory where Claude writes its own learnings, custom slash commands stored in .claude/commands/, and subagents with specialized context. Remember: Claude Code's system prompt already has about 50 instructions, and frontier models handle 150 to 200 reliably. Keep that budget in mind.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wrap up with the key takeaways. CLAUDE.md is the single highest-leverage file in any Claude Code project. The six-level memory hierarchy gives you granular control. Less is more -- keep it concise. Use progressive disclosure with imports and rules instead of one massive file. AGENTS.md is the cross-tool standard. Treat your CLAUDE.md as a living document. And never include secrets. Your next step: go to your project directory, open Claude Code, and run /init. Then iterate from there.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  |  EPISODE 01</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System Prompt</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CLAUDE.md &amp; AGENTS.md</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How to give Claude persistent memory, project context,</a:t>
            </a:r>
            <a:br/>
            <a:r>
              <a:t>and cross-tool instructions that survive every session.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Problem: Claude Starts Every Session Blank</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Why persistent context changes everything</a:t>
            </a:r>
          </a:p>
        </p:txBody>
      </p:sp>
      <p:sp>
        <p:nvSpPr>
          <p:cNvPr id="4" name="Rounded Rectangle 3"/>
          <p:cNvSpPr/>
          <p:nvPr/>
        </p:nvSpPr>
        <p:spPr>
          <a:xfrm>
            <a:off x="546537" y="1618488"/>
            <a:ext cx="5153223" cy="2911471"/>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Without CLAUDE.md</a:t>
            </a:r>
          </a:p>
        </p:txBody>
      </p:sp>
      <p:sp>
        <p:nvSpPr>
          <p:cNvPr id="9" name="TextBox 8"/>
          <p:cNvSpPr txBox="1"/>
          <p:nvPr/>
        </p:nvSpPr>
        <p:spPr>
          <a:xfrm>
            <a:off x="1005840" y="2331720"/>
            <a:ext cx="4480560" cy="3474720"/>
          </a:xfrm>
          <a:prstGeom prst="rect">
            <a:avLst/>
          </a:prstGeom>
          <a:noFill/>
        </p:spPr>
        <p:txBody>
          <a:bodyPr wrap="square">
            <a:spAutoFit/>
          </a:bodyPr>
          <a:lstStyle/>
          <a:p>
            <a:pPr>
              <a:spcBef>
                <a:spcPts val="200"/>
              </a:spcBef>
              <a:spcAft>
                <a:spcPts val="1000"/>
              </a:spcAft>
            </a:pPr>
            <a:r>
              <a:rPr sz="1500">
                <a:solidFill>
                  <a:srgbClr val="D4886B"/>
                </a:solidFill>
                <a:latin typeface="Calibri"/>
              </a:rPr>
              <a:t>  –  </a:t>
            </a:r>
            <a:r>
              <a:rPr sz="1500">
                <a:solidFill>
                  <a:srgbClr val="C4A882"/>
                </a:solidFill>
                <a:latin typeface="Calibri"/>
              </a:rPr>
              <a:t>You repeat architecture decisions every session</a:t>
            </a:r>
          </a:p>
          <a:p>
            <a:pPr>
              <a:spcBef>
                <a:spcPts val="200"/>
              </a:spcBef>
              <a:spcAft>
                <a:spcPts val="1000"/>
              </a:spcAft>
            </a:pPr>
            <a:r>
              <a:rPr sz="1500">
                <a:solidFill>
                  <a:srgbClr val="D4886B"/>
                </a:solidFill>
                <a:latin typeface="Calibri"/>
              </a:rPr>
              <a:t>  –  </a:t>
            </a:r>
            <a:r>
              <a:rPr sz="1500">
                <a:solidFill>
                  <a:srgbClr val="C4A882"/>
                </a:solidFill>
                <a:latin typeface="Calibri"/>
              </a:rPr>
              <a:t>Code style preferences get forgotten</a:t>
            </a:r>
          </a:p>
          <a:p>
            <a:pPr>
              <a:spcBef>
                <a:spcPts val="200"/>
              </a:spcBef>
              <a:spcAft>
                <a:spcPts val="1000"/>
              </a:spcAft>
            </a:pPr>
            <a:r>
              <a:rPr sz="1500">
                <a:solidFill>
                  <a:srgbClr val="D4886B"/>
                </a:solidFill>
                <a:latin typeface="Calibri"/>
              </a:rPr>
              <a:t>  –  </a:t>
            </a:r>
            <a:r>
              <a:rPr sz="1500">
                <a:solidFill>
                  <a:srgbClr val="C4A882"/>
                </a:solidFill>
                <a:latin typeface="Calibri"/>
              </a:rPr>
              <a:t>Build commands must be re-explained</a:t>
            </a:r>
          </a:p>
          <a:p>
            <a:pPr>
              <a:spcBef>
                <a:spcPts val="200"/>
              </a:spcBef>
              <a:spcAft>
                <a:spcPts val="1000"/>
              </a:spcAft>
            </a:pPr>
            <a:r>
              <a:rPr sz="1500">
                <a:solidFill>
                  <a:srgbClr val="D4886B"/>
                </a:solidFill>
                <a:latin typeface="Calibri"/>
              </a:rPr>
              <a:t>  –  </a:t>
            </a:r>
            <a:r>
              <a:rPr sz="1500">
                <a:solidFill>
                  <a:srgbClr val="C4A882"/>
                </a:solidFill>
                <a:latin typeface="Calibri"/>
              </a:rPr>
              <a:t>Module relationships are not visible to Claude</a:t>
            </a:r>
          </a:p>
          <a:p>
            <a:pPr>
              <a:spcBef>
                <a:spcPts val="200"/>
              </a:spcBef>
              <a:spcAft>
                <a:spcPts val="1000"/>
              </a:spcAft>
            </a:pPr>
            <a:r>
              <a:rPr sz="1500">
                <a:solidFill>
                  <a:srgbClr val="D4886B"/>
                </a:solidFill>
                <a:latin typeface="Calibri"/>
              </a:rPr>
              <a:t>  –  </a:t>
            </a:r>
            <a:r>
              <a:rPr sz="1500">
                <a:solidFill>
                  <a:srgbClr val="C4A882"/>
                </a:solidFill>
                <a:latin typeface="Calibri"/>
              </a:rPr>
              <a:t>Domain terminology causes confusion</a:t>
            </a:r>
          </a:p>
        </p:txBody>
      </p:sp>
      <p:sp>
        <p:nvSpPr>
          <p:cNvPr id="10" name="Rounded Rectangle 9"/>
          <p:cNvSpPr/>
          <p:nvPr/>
        </p:nvSpPr>
        <p:spPr>
          <a:xfrm>
            <a:off x="6026765" y="1618488"/>
            <a:ext cx="5340613" cy="2911471"/>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81051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With CLAUDE.md</a:t>
            </a:r>
          </a:p>
        </p:txBody>
      </p:sp>
      <p:sp>
        <p:nvSpPr>
          <p:cNvPr id="15" name="TextBox 14"/>
          <p:cNvSpPr txBox="1"/>
          <p:nvPr/>
        </p:nvSpPr>
        <p:spPr>
          <a:xfrm>
            <a:off x="6492240" y="2331720"/>
            <a:ext cx="4663440" cy="3474720"/>
          </a:xfrm>
          <a:prstGeom prst="rect">
            <a:avLst/>
          </a:prstGeom>
          <a:noFill/>
        </p:spPr>
        <p:txBody>
          <a:bodyPr wrap="square">
            <a:spAutoFit/>
          </a:bodyPr>
          <a:lstStyle/>
          <a:p>
            <a:pPr>
              <a:spcBef>
                <a:spcPts val="200"/>
              </a:spcBef>
              <a:spcAft>
                <a:spcPts val="1000"/>
              </a:spcAft>
            </a:pPr>
            <a:r>
              <a:rPr sz="1500">
                <a:solidFill>
                  <a:srgbClr val="D4886B"/>
                </a:solidFill>
                <a:latin typeface="Calibri"/>
              </a:rPr>
              <a:t>  –  </a:t>
            </a:r>
            <a:r>
              <a:rPr sz="1500">
                <a:solidFill>
                  <a:srgbClr val="C4A882"/>
                </a:solidFill>
                <a:latin typeface="Calibri"/>
              </a:rPr>
              <a:t>Claude knows your stack from line 1</a:t>
            </a:r>
          </a:p>
          <a:p>
            <a:pPr>
              <a:spcBef>
                <a:spcPts val="200"/>
              </a:spcBef>
              <a:spcAft>
                <a:spcPts val="1000"/>
              </a:spcAft>
            </a:pPr>
            <a:r>
              <a:rPr sz="1500">
                <a:solidFill>
                  <a:srgbClr val="D4886B"/>
                </a:solidFill>
                <a:latin typeface="Calibri"/>
              </a:rPr>
              <a:t>  –  </a:t>
            </a:r>
            <a:r>
              <a:rPr sz="1500">
                <a:solidFill>
                  <a:srgbClr val="C4A882"/>
                </a:solidFill>
                <a:latin typeface="Calibri"/>
              </a:rPr>
              <a:t>Coding conventions enforced automatically</a:t>
            </a:r>
          </a:p>
          <a:p>
            <a:pPr>
              <a:spcBef>
                <a:spcPts val="200"/>
              </a:spcBef>
              <a:spcAft>
                <a:spcPts val="1000"/>
              </a:spcAft>
            </a:pPr>
            <a:r>
              <a:rPr sz="1500">
                <a:solidFill>
                  <a:srgbClr val="D4886B"/>
                </a:solidFill>
                <a:latin typeface="Calibri"/>
              </a:rPr>
              <a:t>  –  </a:t>
            </a:r>
            <a:r>
              <a:rPr sz="1500">
                <a:solidFill>
                  <a:srgbClr val="C4A882"/>
                </a:solidFill>
                <a:latin typeface="Calibri"/>
              </a:rPr>
              <a:t>Build/test commands always available</a:t>
            </a:r>
          </a:p>
          <a:p>
            <a:pPr>
              <a:spcBef>
                <a:spcPts val="200"/>
              </a:spcBef>
              <a:spcAft>
                <a:spcPts val="1000"/>
              </a:spcAft>
            </a:pPr>
            <a:r>
              <a:rPr sz="1500">
                <a:solidFill>
                  <a:srgbClr val="D4886B"/>
                </a:solidFill>
                <a:latin typeface="Calibri"/>
              </a:rPr>
              <a:t>  –  </a:t>
            </a:r>
            <a:r>
              <a:rPr sz="1500">
                <a:solidFill>
                  <a:srgbClr val="C4A882"/>
                </a:solidFill>
                <a:latin typeface="Calibri"/>
              </a:rPr>
              <a:t>Architecture context persists across sessions</a:t>
            </a:r>
          </a:p>
          <a:p>
            <a:pPr>
              <a:spcBef>
                <a:spcPts val="200"/>
              </a:spcBef>
              <a:spcAft>
                <a:spcPts val="1000"/>
              </a:spcAft>
            </a:pPr>
            <a:r>
              <a:rPr sz="1500">
                <a:solidFill>
                  <a:srgbClr val="D4886B"/>
                </a:solidFill>
                <a:latin typeface="Calibri"/>
              </a:rPr>
              <a:t>  –  </a:t>
            </a:r>
            <a:r>
              <a:rPr sz="1500">
                <a:solidFill>
                  <a:srgbClr val="C4A882"/>
                </a:solidFill>
                <a:latin typeface="Calibri"/>
              </a:rPr>
              <a:t>Domain language is pre-loaded and correct</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is CLAUDE.md?</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The file that gives Claude persistent project memory</a:t>
            </a:r>
          </a:p>
        </p:txBody>
      </p:sp>
      <p:sp>
        <p:nvSpPr>
          <p:cNvPr id="4" name="TextBox 3"/>
          <p:cNvSpPr txBox="1"/>
          <p:nvPr/>
        </p:nvSpPr>
        <p:spPr>
          <a:xfrm>
            <a:off x="731520" y="1645920"/>
            <a:ext cx="10515600" cy="731520"/>
          </a:xfrm>
          <a:prstGeom prst="rect">
            <a:avLst/>
          </a:prstGeom>
          <a:noFill/>
        </p:spPr>
        <p:txBody>
          <a:bodyPr wrap="square">
            <a:spAutoFit/>
          </a:bodyPr>
          <a:lstStyle/>
          <a:p>
            <a:pPr algn="l">
              <a:spcAft>
                <a:spcPts val="0"/>
              </a:spcAft>
              <a:defRPr sz="1800" b="0" i="0">
                <a:solidFill>
                  <a:srgbClr val="E8D5B7"/>
                </a:solidFill>
                <a:latin typeface="Calibri"/>
              </a:defRPr>
            </a:pPr>
            <a:r>
              <a:t>A markdown file that gives Claude Code persistent, project-specific context.</a:t>
            </a:r>
            <a:br/>
            <a:r>
              <a:t>It is automatically loaded into Claude's system prompt at the start of every session.</a:t>
            </a:r>
          </a:p>
        </p:txBody>
      </p:sp>
      <p:sp>
        <p:nvSpPr>
          <p:cNvPr id="5" name="TextBox 4"/>
          <p:cNvSpPr txBox="1"/>
          <p:nvPr/>
        </p:nvSpPr>
        <p:spPr>
          <a:xfrm>
            <a:off x="731520" y="2651760"/>
            <a:ext cx="10515600" cy="384048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The only file</a:t>
            </a:r>
            <a:r>
              <a:rPr sz="1700">
                <a:solidFill>
                  <a:srgbClr val="C4A882"/>
                </a:solidFill>
                <a:latin typeface="Calibri"/>
              </a:rPr>
              <a:t> — loaded by default into every conversation with the agent</a:t>
            </a:r>
          </a:p>
          <a:p>
            <a:pPr>
              <a:spcBef>
                <a:spcPts val="200"/>
              </a:spcBef>
              <a:spcAft>
                <a:spcPts val="1000"/>
              </a:spcAft>
            </a:pPr>
            <a:r>
              <a:rPr sz="1700">
                <a:solidFill>
                  <a:srgbClr val="D4886B"/>
                </a:solidFill>
                <a:latin typeface="Calibri"/>
              </a:rPr>
              <a:t>  –  </a:t>
            </a:r>
            <a:r>
              <a:rPr sz="1700">
                <a:solidFill>
                  <a:srgbClr val="C4A882"/>
                </a:solidFill>
                <a:latin typeface="Calibri"/>
              </a:rPr>
              <a:t>Lives in your repo root as CLAUDE.md or .claude/CLAUDE.md</a:t>
            </a:r>
          </a:p>
          <a:p>
            <a:pPr>
              <a:spcBef>
                <a:spcPts val="200"/>
              </a:spcBef>
              <a:spcAft>
                <a:spcPts val="1000"/>
              </a:spcAft>
            </a:pPr>
            <a:r>
              <a:rPr sz="1700">
                <a:solidFill>
                  <a:srgbClr val="D4886B"/>
                </a:solidFill>
                <a:latin typeface="Calibri"/>
              </a:rPr>
              <a:t>  –  </a:t>
            </a:r>
            <a:r>
              <a:rPr sz="1700" b="1">
                <a:solidFill>
                  <a:srgbClr val="E8D5B7"/>
                </a:solidFill>
                <a:latin typeface="Calibri"/>
              </a:rPr>
              <a:t>Claude reads it automatically</a:t>
            </a:r>
            <a:r>
              <a:rPr sz="1700">
                <a:solidFill>
                  <a:srgbClr val="C4A882"/>
                </a:solidFill>
                <a:latin typeface="Calibri"/>
              </a:rPr>
              <a:t> — no prompting required</a:t>
            </a:r>
          </a:p>
          <a:p>
            <a:pPr>
              <a:spcBef>
                <a:spcPts val="200"/>
              </a:spcBef>
              <a:spcAft>
                <a:spcPts val="1000"/>
              </a:spcAft>
            </a:pPr>
            <a:r>
              <a:rPr sz="1700">
                <a:solidFill>
                  <a:srgbClr val="D4886B"/>
                </a:solidFill>
                <a:latin typeface="Calibri"/>
              </a:rPr>
              <a:t>  –  </a:t>
            </a:r>
            <a:r>
              <a:rPr sz="1700">
                <a:solidFill>
                  <a:srgbClr val="C4A882"/>
                </a:solidFill>
                <a:latin typeface="Calibri"/>
              </a:rPr>
              <a:t>Becomes part of Claude's system prompt (injected in &lt;system-reminder&gt; tags)</a:t>
            </a:r>
          </a:p>
          <a:p>
            <a:pPr>
              <a:spcBef>
                <a:spcPts val="200"/>
              </a:spcBef>
              <a:spcAft>
                <a:spcPts val="1000"/>
              </a:spcAft>
            </a:pPr>
            <a:r>
              <a:rPr sz="1700">
                <a:solidFill>
                  <a:srgbClr val="D4886B"/>
                </a:solidFill>
                <a:latin typeface="Calibri"/>
              </a:rPr>
              <a:t>  –  </a:t>
            </a:r>
            <a:r>
              <a:rPr sz="1700">
                <a:solidFill>
                  <a:srgbClr val="C4A882"/>
                </a:solidFill>
                <a:latin typeface="Calibri"/>
              </a:rPr>
              <a:t>Eliminates repeating project structure, conventions, and workflows</a:t>
            </a:r>
          </a:p>
          <a:p>
            <a:pPr>
              <a:spcBef>
                <a:spcPts val="200"/>
              </a:spcBef>
              <a:spcAft>
                <a:spcPts val="1000"/>
              </a:spcAft>
            </a:pPr>
            <a:r>
              <a:rPr sz="1700">
                <a:solidFill>
                  <a:srgbClr val="D4886B"/>
                </a:solidFill>
                <a:latin typeface="Calibri"/>
              </a:rPr>
              <a:t>  –  </a:t>
            </a:r>
            <a:r>
              <a:rPr sz="1700">
                <a:solidFill>
                  <a:srgbClr val="C4A882"/>
                </a:solidFill>
                <a:latin typeface="Calibri"/>
              </a:rPr>
              <a:t>Committed to source control so your entire team shares the same context</a:t>
            </a:r>
          </a:p>
        </p:txBody>
      </p:sp>
      <p:sp>
        <p:nvSpPr>
          <p:cNvPr id="6" name="TextBox 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6-Level Memory Hierarchy</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More specific memory takes precedence over broader memory.</a:t>
            </a:r>
          </a:p>
        </p:txBody>
      </p:sp>
      <p:sp>
        <p:nvSpPr>
          <p:cNvPr id="4" name="Rounded Rectangle 3"/>
          <p:cNvSpPr/>
          <p:nvPr/>
        </p:nvSpPr>
        <p:spPr>
          <a:xfrm>
            <a:off x="731520" y="1828800"/>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920240"/>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1</a:t>
            </a:r>
          </a:p>
        </p:txBody>
      </p:sp>
      <p:sp>
        <p:nvSpPr>
          <p:cNvPr id="6" name="TextBox 5"/>
          <p:cNvSpPr txBox="1"/>
          <p:nvPr/>
        </p:nvSpPr>
        <p:spPr>
          <a:xfrm>
            <a:off x="1554480" y="1920240"/>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Managed Policy</a:t>
            </a:r>
          </a:p>
        </p:txBody>
      </p:sp>
      <p:sp>
        <p:nvSpPr>
          <p:cNvPr id="7" name="TextBox 6"/>
          <p:cNvSpPr txBox="1"/>
          <p:nvPr/>
        </p:nvSpPr>
        <p:spPr>
          <a:xfrm>
            <a:off x="3657600" y="1920240"/>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/Library/Application Support/ClaudeCode/CLAUDE.md</a:t>
            </a:r>
          </a:p>
        </p:txBody>
      </p:sp>
      <p:sp>
        <p:nvSpPr>
          <p:cNvPr id="8" name="TextBox 7"/>
          <p:cNvSpPr txBox="1"/>
          <p:nvPr/>
        </p:nvSpPr>
        <p:spPr>
          <a:xfrm>
            <a:off x="7772400" y="1920240"/>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Org-wide rules (IT/DevOps managed)</a:t>
            </a:r>
          </a:p>
        </p:txBody>
      </p:sp>
      <p:sp>
        <p:nvSpPr>
          <p:cNvPr id="9" name="Rounded Rectangle 8"/>
          <p:cNvSpPr/>
          <p:nvPr/>
        </p:nvSpPr>
        <p:spPr>
          <a:xfrm>
            <a:off x="731520" y="2487168"/>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578608"/>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2</a:t>
            </a:r>
          </a:p>
        </p:txBody>
      </p:sp>
      <p:sp>
        <p:nvSpPr>
          <p:cNvPr id="11" name="TextBox 10"/>
          <p:cNvSpPr txBox="1"/>
          <p:nvPr/>
        </p:nvSpPr>
        <p:spPr>
          <a:xfrm>
            <a:off x="1554480" y="2578608"/>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User Memory</a:t>
            </a:r>
          </a:p>
        </p:txBody>
      </p:sp>
      <p:sp>
        <p:nvSpPr>
          <p:cNvPr id="12" name="TextBox 11"/>
          <p:cNvSpPr txBox="1"/>
          <p:nvPr/>
        </p:nvSpPr>
        <p:spPr>
          <a:xfrm>
            <a:off x="3657600" y="2578608"/>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~/.claude/CLAUDE.md</a:t>
            </a:r>
          </a:p>
        </p:txBody>
      </p:sp>
      <p:sp>
        <p:nvSpPr>
          <p:cNvPr id="13" name="TextBox 12"/>
          <p:cNvSpPr txBox="1"/>
          <p:nvPr/>
        </p:nvSpPr>
        <p:spPr>
          <a:xfrm>
            <a:off x="7772400" y="2578608"/>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Personal prefs across all projects</a:t>
            </a:r>
          </a:p>
        </p:txBody>
      </p:sp>
      <p:sp>
        <p:nvSpPr>
          <p:cNvPr id="14" name="Rounded Rectangle 13"/>
          <p:cNvSpPr/>
          <p:nvPr/>
        </p:nvSpPr>
        <p:spPr>
          <a:xfrm>
            <a:off x="731520" y="3145536"/>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36976"/>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3</a:t>
            </a:r>
          </a:p>
        </p:txBody>
      </p:sp>
      <p:sp>
        <p:nvSpPr>
          <p:cNvPr id="16" name="TextBox 15"/>
          <p:cNvSpPr txBox="1"/>
          <p:nvPr/>
        </p:nvSpPr>
        <p:spPr>
          <a:xfrm>
            <a:off x="1554480" y="3236976"/>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Project Memory</a:t>
            </a:r>
          </a:p>
        </p:txBody>
      </p:sp>
      <p:sp>
        <p:nvSpPr>
          <p:cNvPr id="17" name="TextBox 16"/>
          <p:cNvSpPr txBox="1"/>
          <p:nvPr/>
        </p:nvSpPr>
        <p:spPr>
          <a:xfrm>
            <a:off x="3657600" y="3236976"/>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./CLAUDE.md  or  ./.claude/CLAUDE.md</a:t>
            </a:r>
          </a:p>
        </p:txBody>
      </p:sp>
      <p:sp>
        <p:nvSpPr>
          <p:cNvPr id="18" name="TextBox 17"/>
          <p:cNvSpPr txBox="1"/>
          <p:nvPr/>
        </p:nvSpPr>
        <p:spPr>
          <a:xfrm>
            <a:off x="7772400" y="3236976"/>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Team-shared project instructions</a:t>
            </a:r>
          </a:p>
        </p:txBody>
      </p:sp>
      <p:sp>
        <p:nvSpPr>
          <p:cNvPr id="19" name="Rounded Rectangle 18"/>
          <p:cNvSpPr/>
          <p:nvPr/>
        </p:nvSpPr>
        <p:spPr>
          <a:xfrm>
            <a:off x="731520" y="3803904"/>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3895344"/>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4</a:t>
            </a:r>
          </a:p>
        </p:txBody>
      </p:sp>
      <p:sp>
        <p:nvSpPr>
          <p:cNvPr id="21" name="TextBox 20"/>
          <p:cNvSpPr txBox="1"/>
          <p:nvPr/>
        </p:nvSpPr>
        <p:spPr>
          <a:xfrm>
            <a:off x="1554480" y="3895344"/>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Project Rules</a:t>
            </a:r>
          </a:p>
        </p:txBody>
      </p:sp>
      <p:sp>
        <p:nvSpPr>
          <p:cNvPr id="22" name="TextBox 21"/>
          <p:cNvSpPr txBox="1"/>
          <p:nvPr/>
        </p:nvSpPr>
        <p:spPr>
          <a:xfrm>
            <a:off x="3657600" y="3895344"/>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./.claude/rules/*.md</a:t>
            </a:r>
          </a:p>
        </p:txBody>
      </p:sp>
      <p:sp>
        <p:nvSpPr>
          <p:cNvPr id="23" name="TextBox 22"/>
          <p:cNvSpPr txBox="1"/>
          <p:nvPr/>
        </p:nvSpPr>
        <p:spPr>
          <a:xfrm>
            <a:off x="7772400" y="3895344"/>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Modular, path-specific rules</a:t>
            </a:r>
          </a:p>
        </p:txBody>
      </p:sp>
      <p:sp>
        <p:nvSpPr>
          <p:cNvPr id="24" name="Rounded Rectangle 23"/>
          <p:cNvSpPr/>
          <p:nvPr/>
        </p:nvSpPr>
        <p:spPr>
          <a:xfrm>
            <a:off x="731520" y="4462272"/>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4553712"/>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5</a:t>
            </a:r>
          </a:p>
        </p:txBody>
      </p:sp>
      <p:sp>
        <p:nvSpPr>
          <p:cNvPr id="26" name="TextBox 25"/>
          <p:cNvSpPr txBox="1"/>
          <p:nvPr/>
        </p:nvSpPr>
        <p:spPr>
          <a:xfrm>
            <a:off x="1554480" y="4553712"/>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Local Memory</a:t>
            </a:r>
          </a:p>
        </p:txBody>
      </p:sp>
      <p:sp>
        <p:nvSpPr>
          <p:cNvPr id="27" name="TextBox 26"/>
          <p:cNvSpPr txBox="1"/>
          <p:nvPr/>
        </p:nvSpPr>
        <p:spPr>
          <a:xfrm>
            <a:off x="3657600" y="4553712"/>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./CLAUDE.local.md</a:t>
            </a:r>
          </a:p>
        </p:txBody>
      </p:sp>
      <p:sp>
        <p:nvSpPr>
          <p:cNvPr id="28" name="TextBox 27"/>
          <p:cNvSpPr txBox="1"/>
          <p:nvPr/>
        </p:nvSpPr>
        <p:spPr>
          <a:xfrm>
            <a:off x="7772400" y="4553712"/>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Personal project-specific prefs</a:t>
            </a:r>
          </a:p>
        </p:txBody>
      </p:sp>
      <p:sp>
        <p:nvSpPr>
          <p:cNvPr id="29" name="Rounded Rectangle 28"/>
          <p:cNvSpPr/>
          <p:nvPr/>
        </p:nvSpPr>
        <p:spPr>
          <a:xfrm>
            <a:off x="731520" y="5120640"/>
            <a:ext cx="1069848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5212080"/>
            <a:ext cx="457200" cy="411480"/>
          </a:xfrm>
          <a:prstGeom prst="rect">
            <a:avLst/>
          </a:prstGeom>
          <a:noFill/>
        </p:spPr>
        <p:txBody>
          <a:bodyPr wrap="square">
            <a:spAutoFit/>
          </a:bodyPr>
          <a:lstStyle/>
          <a:p>
            <a:pPr algn="ctr">
              <a:spcAft>
                <a:spcPts val="0"/>
              </a:spcAft>
              <a:defRPr sz="1800" b="1" i="0">
                <a:solidFill>
                  <a:srgbClr val="D4886B"/>
                </a:solidFill>
                <a:latin typeface="JetBrains Mono"/>
              </a:defRPr>
            </a:pPr>
            <a:r>
              <a:t>6</a:t>
            </a:r>
          </a:p>
        </p:txBody>
      </p:sp>
      <p:sp>
        <p:nvSpPr>
          <p:cNvPr id="31" name="TextBox 30"/>
          <p:cNvSpPr txBox="1"/>
          <p:nvPr/>
        </p:nvSpPr>
        <p:spPr>
          <a:xfrm>
            <a:off x="1554480" y="5212080"/>
            <a:ext cx="2103120" cy="411480"/>
          </a:xfrm>
          <a:prstGeom prst="rect">
            <a:avLst/>
          </a:prstGeom>
          <a:noFill/>
        </p:spPr>
        <p:txBody>
          <a:bodyPr wrap="square">
            <a:spAutoFit/>
          </a:bodyPr>
          <a:lstStyle/>
          <a:p>
            <a:pPr algn="l">
              <a:spcAft>
                <a:spcPts val="0"/>
              </a:spcAft>
              <a:defRPr sz="1500" b="1" i="0">
                <a:solidFill>
                  <a:srgbClr val="E8D5B7"/>
                </a:solidFill>
                <a:latin typeface="Calibri"/>
              </a:defRPr>
            </a:pPr>
            <a:r>
              <a:t>Auto Memory</a:t>
            </a:r>
          </a:p>
        </p:txBody>
      </p:sp>
      <p:sp>
        <p:nvSpPr>
          <p:cNvPr id="32" name="TextBox 31"/>
          <p:cNvSpPr txBox="1"/>
          <p:nvPr/>
        </p:nvSpPr>
        <p:spPr>
          <a:xfrm>
            <a:off x="3657600" y="5212080"/>
            <a:ext cx="4114800" cy="411480"/>
          </a:xfrm>
          <a:prstGeom prst="rect">
            <a:avLst/>
          </a:prstGeom>
          <a:noFill/>
        </p:spPr>
        <p:txBody>
          <a:bodyPr wrap="square">
            <a:spAutoFit/>
          </a:bodyPr>
          <a:lstStyle/>
          <a:p>
            <a:pPr algn="l">
              <a:spcAft>
                <a:spcPts val="0"/>
              </a:spcAft>
              <a:defRPr sz="1200" b="0" i="0">
                <a:solidFill>
                  <a:srgbClr val="D4886B"/>
                </a:solidFill>
                <a:latin typeface="JetBrains Mono"/>
              </a:defRPr>
            </a:pPr>
            <a:r>
              <a:t>~/.claude/projects/&lt;proj&gt;/memory/</a:t>
            </a:r>
          </a:p>
        </p:txBody>
      </p:sp>
      <p:sp>
        <p:nvSpPr>
          <p:cNvPr id="33" name="TextBox 32"/>
          <p:cNvSpPr txBox="1"/>
          <p:nvPr/>
        </p:nvSpPr>
        <p:spPr>
          <a:xfrm>
            <a:off x="7772400" y="5212080"/>
            <a:ext cx="3474720" cy="411480"/>
          </a:xfrm>
          <a:prstGeom prst="rect">
            <a:avLst/>
          </a:prstGeom>
          <a:noFill/>
        </p:spPr>
        <p:txBody>
          <a:bodyPr wrap="square">
            <a:spAutoFit/>
          </a:bodyPr>
          <a:lstStyle/>
          <a:p>
            <a:pPr algn="l">
              <a:spcAft>
                <a:spcPts val="0"/>
              </a:spcAft>
              <a:defRPr sz="1200" b="0" i="0">
                <a:solidFill>
                  <a:srgbClr val="7A6E5D"/>
                </a:solidFill>
                <a:latin typeface="Calibri"/>
              </a:defRPr>
            </a:pPr>
            <a:r>
              <a:t>Claude's own notes (first 200 lines)</a:t>
            </a:r>
          </a:p>
        </p:txBody>
      </p:sp>
      <p:sp>
        <p:nvSpPr>
          <p:cNvPr id="34" name="TextBox 33"/>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Key Sections to Include in Your CLAUDE.md</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The essential building blocks of effective project context</a:t>
            </a:r>
          </a:p>
        </p:txBody>
      </p:sp>
      <p:sp>
        <p:nvSpPr>
          <p:cNvPr id="4" name="Rounded Rectangle 3"/>
          <p:cNvSpPr/>
          <p:nvPr/>
        </p:nvSpPr>
        <p:spPr>
          <a:xfrm>
            <a:off x="731520" y="169164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83080"/>
            <a:ext cx="4389120" cy="365760"/>
          </a:xfrm>
          <a:prstGeom prst="rect">
            <a:avLst/>
          </a:prstGeom>
          <a:noFill/>
        </p:spPr>
        <p:txBody>
          <a:bodyPr wrap="square">
            <a:spAutoFit/>
          </a:bodyPr>
          <a:lstStyle/>
          <a:p>
            <a:pPr algn="l">
              <a:spcAft>
                <a:spcPts val="0"/>
              </a:spcAft>
              <a:defRPr sz="1600" b="1" i="0">
                <a:solidFill>
                  <a:srgbClr val="D4886B"/>
                </a:solidFill>
                <a:latin typeface="Calibri"/>
              </a:defRPr>
            </a:pPr>
            <a:r>
              <a:t>Project Overview</a:t>
            </a:r>
          </a:p>
        </p:txBody>
      </p:sp>
      <p:sp>
        <p:nvSpPr>
          <p:cNvPr id="6" name="TextBox 5"/>
          <p:cNvSpPr txBox="1"/>
          <p:nvPr/>
        </p:nvSpPr>
        <p:spPr>
          <a:xfrm>
            <a:off x="1097280" y="2148840"/>
            <a:ext cx="4389120" cy="411480"/>
          </a:xfrm>
          <a:prstGeom prst="rect">
            <a:avLst/>
          </a:prstGeom>
          <a:noFill/>
        </p:spPr>
        <p:txBody>
          <a:bodyPr wrap="square">
            <a:spAutoFit/>
          </a:bodyPr>
          <a:lstStyle/>
          <a:p>
            <a:pPr algn="l">
              <a:spcAft>
                <a:spcPts val="0"/>
              </a:spcAft>
              <a:defRPr sz="1300" b="0" i="0">
                <a:solidFill>
                  <a:srgbClr val="C4A882"/>
                </a:solidFill>
                <a:latin typeface="Calibri"/>
              </a:defRPr>
            </a:pPr>
            <a:r>
              <a:t>Framework, tech, one-liner description</a:t>
            </a:r>
          </a:p>
        </p:txBody>
      </p:sp>
      <p:sp>
        <p:nvSpPr>
          <p:cNvPr id="7" name="Rounded Rectangle 6"/>
          <p:cNvSpPr/>
          <p:nvPr/>
        </p:nvSpPr>
        <p:spPr>
          <a:xfrm>
            <a:off x="731520" y="283464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926080"/>
            <a:ext cx="4389120" cy="365760"/>
          </a:xfrm>
          <a:prstGeom prst="rect">
            <a:avLst/>
          </a:prstGeom>
          <a:noFill/>
        </p:spPr>
        <p:txBody>
          <a:bodyPr wrap="square">
            <a:spAutoFit/>
          </a:bodyPr>
          <a:lstStyle/>
          <a:p>
            <a:pPr algn="l">
              <a:spcAft>
                <a:spcPts val="0"/>
              </a:spcAft>
              <a:defRPr sz="1600" b="1" i="0">
                <a:solidFill>
                  <a:srgbClr val="D4886B"/>
                </a:solidFill>
                <a:latin typeface="Calibri"/>
              </a:defRPr>
            </a:pPr>
            <a:r>
              <a:t>Tech Stack</a:t>
            </a:r>
          </a:p>
        </p:txBody>
      </p:sp>
      <p:sp>
        <p:nvSpPr>
          <p:cNvPr id="9" name="TextBox 8"/>
          <p:cNvSpPr txBox="1"/>
          <p:nvPr/>
        </p:nvSpPr>
        <p:spPr>
          <a:xfrm>
            <a:off x="1097280" y="3291840"/>
            <a:ext cx="4389120" cy="411480"/>
          </a:xfrm>
          <a:prstGeom prst="rect">
            <a:avLst/>
          </a:prstGeom>
          <a:noFill/>
        </p:spPr>
        <p:txBody>
          <a:bodyPr wrap="square">
            <a:spAutoFit/>
          </a:bodyPr>
          <a:lstStyle/>
          <a:p>
            <a:pPr algn="l">
              <a:spcAft>
                <a:spcPts val="0"/>
              </a:spcAft>
              <a:defRPr sz="1300" b="0" i="0">
                <a:solidFill>
                  <a:srgbClr val="C4A882"/>
                </a:solidFill>
                <a:latin typeface="Calibri"/>
              </a:defRPr>
            </a:pPr>
            <a:r>
              <a:t>Framework, DB, auth, API versioning</a:t>
            </a:r>
          </a:p>
        </p:txBody>
      </p:sp>
      <p:sp>
        <p:nvSpPr>
          <p:cNvPr id="10" name="Rounded Rectangle 9"/>
          <p:cNvSpPr/>
          <p:nvPr/>
        </p:nvSpPr>
        <p:spPr>
          <a:xfrm>
            <a:off x="731520" y="397764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4069080"/>
            <a:ext cx="4389120" cy="365760"/>
          </a:xfrm>
          <a:prstGeom prst="rect">
            <a:avLst/>
          </a:prstGeom>
          <a:noFill/>
        </p:spPr>
        <p:txBody>
          <a:bodyPr wrap="square">
            <a:spAutoFit/>
          </a:bodyPr>
          <a:lstStyle/>
          <a:p>
            <a:pPr algn="l">
              <a:spcAft>
                <a:spcPts val="0"/>
              </a:spcAft>
              <a:defRPr sz="1600" b="1" i="0">
                <a:solidFill>
                  <a:srgbClr val="D4886B"/>
                </a:solidFill>
                <a:latin typeface="Calibri"/>
              </a:defRPr>
            </a:pPr>
            <a:r>
              <a:t>Common Commands</a:t>
            </a:r>
          </a:p>
        </p:txBody>
      </p:sp>
      <p:sp>
        <p:nvSpPr>
          <p:cNvPr id="12" name="TextBox 11"/>
          <p:cNvSpPr txBox="1"/>
          <p:nvPr/>
        </p:nvSpPr>
        <p:spPr>
          <a:xfrm>
            <a:off x="1097280" y="4434840"/>
            <a:ext cx="4389120" cy="411480"/>
          </a:xfrm>
          <a:prstGeom prst="rect">
            <a:avLst/>
          </a:prstGeom>
          <a:noFill/>
        </p:spPr>
        <p:txBody>
          <a:bodyPr wrap="square">
            <a:spAutoFit/>
          </a:bodyPr>
          <a:lstStyle/>
          <a:p>
            <a:pPr algn="l">
              <a:spcAft>
                <a:spcPts val="0"/>
              </a:spcAft>
              <a:defRPr sz="1300" b="0" i="0">
                <a:solidFill>
                  <a:srgbClr val="C4A882"/>
                </a:solidFill>
                <a:latin typeface="Calibri"/>
              </a:defRPr>
            </a:pPr>
            <a:r>
              <a:t>dev, test, lint, migrate -- per-file when possible</a:t>
            </a:r>
          </a:p>
        </p:txBody>
      </p:sp>
      <p:sp>
        <p:nvSpPr>
          <p:cNvPr id="13" name="Rounded Rectangle 12"/>
          <p:cNvSpPr/>
          <p:nvPr/>
        </p:nvSpPr>
        <p:spPr>
          <a:xfrm>
            <a:off x="731520" y="5120640"/>
            <a:ext cx="502920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212080"/>
            <a:ext cx="4389120" cy="365760"/>
          </a:xfrm>
          <a:prstGeom prst="rect">
            <a:avLst/>
          </a:prstGeom>
          <a:noFill/>
        </p:spPr>
        <p:txBody>
          <a:bodyPr wrap="square">
            <a:spAutoFit/>
          </a:bodyPr>
          <a:lstStyle/>
          <a:p>
            <a:pPr algn="l">
              <a:spcAft>
                <a:spcPts val="0"/>
              </a:spcAft>
              <a:defRPr sz="1600" b="1" i="0">
                <a:solidFill>
                  <a:srgbClr val="D4886B"/>
                </a:solidFill>
                <a:latin typeface="Calibri"/>
              </a:defRPr>
            </a:pPr>
            <a:r>
              <a:t>Code Conventions</a:t>
            </a:r>
          </a:p>
        </p:txBody>
      </p:sp>
      <p:sp>
        <p:nvSpPr>
          <p:cNvPr id="15" name="TextBox 14"/>
          <p:cNvSpPr txBox="1"/>
          <p:nvPr/>
        </p:nvSpPr>
        <p:spPr>
          <a:xfrm>
            <a:off x="1097280" y="5577840"/>
            <a:ext cx="4389120" cy="411480"/>
          </a:xfrm>
          <a:prstGeom prst="rect">
            <a:avLst/>
          </a:prstGeom>
          <a:noFill/>
        </p:spPr>
        <p:txBody>
          <a:bodyPr wrap="square">
            <a:spAutoFit/>
          </a:bodyPr>
          <a:lstStyle/>
          <a:p>
            <a:pPr algn="l">
              <a:spcAft>
                <a:spcPts val="0"/>
              </a:spcAft>
              <a:defRPr sz="1300" b="0" i="0">
                <a:solidFill>
                  <a:srgbClr val="C4A882"/>
                </a:solidFill>
                <a:latin typeface="Calibri"/>
              </a:defRPr>
            </a:pPr>
            <a:r>
              <a:t>Strict mode, named exports, test co-location</a:t>
            </a:r>
          </a:p>
        </p:txBody>
      </p:sp>
      <p:sp>
        <p:nvSpPr>
          <p:cNvPr id="16" name="Rounded Rectangle 15"/>
          <p:cNvSpPr/>
          <p:nvPr/>
        </p:nvSpPr>
        <p:spPr>
          <a:xfrm>
            <a:off x="6217920" y="1691640"/>
            <a:ext cx="521208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1783080"/>
            <a:ext cx="4572000" cy="365760"/>
          </a:xfrm>
          <a:prstGeom prst="rect">
            <a:avLst/>
          </a:prstGeom>
          <a:noFill/>
        </p:spPr>
        <p:txBody>
          <a:bodyPr wrap="square">
            <a:spAutoFit/>
          </a:bodyPr>
          <a:lstStyle/>
          <a:p>
            <a:pPr algn="l">
              <a:spcAft>
                <a:spcPts val="0"/>
              </a:spcAft>
              <a:defRPr sz="1600" b="1" i="0">
                <a:solidFill>
                  <a:srgbClr val="D4886B"/>
                </a:solidFill>
                <a:latin typeface="Calibri"/>
              </a:defRPr>
            </a:pPr>
            <a:r>
              <a:t>Workflows</a:t>
            </a:r>
          </a:p>
        </p:txBody>
      </p:sp>
      <p:sp>
        <p:nvSpPr>
          <p:cNvPr id="18" name="TextBox 17"/>
          <p:cNvSpPr txBox="1"/>
          <p:nvPr/>
        </p:nvSpPr>
        <p:spPr>
          <a:xfrm>
            <a:off x="6583680" y="2148840"/>
            <a:ext cx="4572000" cy="411480"/>
          </a:xfrm>
          <a:prstGeom prst="rect">
            <a:avLst/>
          </a:prstGeom>
          <a:noFill/>
        </p:spPr>
        <p:txBody>
          <a:bodyPr wrap="square">
            <a:spAutoFit/>
          </a:bodyPr>
          <a:lstStyle/>
          <a:p>
            <a:pPr algn="l">
              <a:spcAft>
                <a:spcPts val="0"/>
              </a:spcAft>
              <a:defRPr sz="1300" b="0" i="0">
                <a:solidFill>
                  <a:srgbClr val="C4A882"/>
                </a:solidFill>
                <a:latin typeface="Calibri"/>
              </a:defRPr>
            </a:pPr>
            <a:r>
              <a:t>Step-by-step for common tasks (e.g., new API endpoint)</a:t>
            </a:r>
          </a:p>
        </p:txBody>
      </p:sp>
      <p:sp>
        <p:nvSpPr>
          <p:cNvPr id="19" name="Rounded Rectangle 18"/>
          <p:cNvSpPr/>
          <p:nvPr/>
        </p:nvSpPr>
        <p:spPr>
          <a:xfrm>
            <a:off x="6217920" y="2834640"/>
            <a:ext cx="521208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2926080"/>
            <a:ext cx="4572000" cy="365760"/>
          </a:xfrm>
          <a:prstGeom prst="rect">
            <a:avLst/>
          </a:prstGeom>
          <a:noFill/>
        </p:spPr>
        <p:txBody>
          <a:bodyPr wrap="square">
            <a:spAutoFit/>
          </a:bodyPr>
          <a:lstStyle/>
          <a:p>
            <a:pPr algn="l">
              <a:spcAft>
                <a:spcPts val="0"/>
              </a:spcAft>
              <a:defRPr sz="1600" b="1" i="0">
                <a:solidFill>
                  <a:srgbClr val="D4886B"/>
                </a:solidFill>
                <a:latin typeface="Calibri"/>
              </a:defRPr>
            </a:pPr>
            <a:r>
              <a:t>Do's and Don'ts</a:t>
            </a:r>
          </a:p>
        </p:txBody>
      </p:sp>
      <p:sp>
        <p:nvSpPr>
          <p:cNvPr id="21" name="TextBox 20"/>
          <p:cNvSpPr txBox="1"/>
          <p:nvPr/>
        </p:nvSpPr>
        <p:spPr>
          <a:xfrm>
            <a:off x="6583680" y="3291840"/>
            <a:ext cx="4572000" cy="411480"/>
          </a:xfrm>
          <a:prstGeom prst="rect">
            <a:avLst/>
          </a:prstGeom>
          <a:noFill/>
        </p:spPr>
        <p:txBody>
          <a:bodyPr wrap="square">
            <a:spAutoFit/>
          </a:bodyPr>
          <a:lstStyle/>
          <a:p>
            <a:pPr algn="l">
              <a:spcAft>
                <a:spcPts val="0"/>
              </a:spcAft>
              <a:defRPr sz="1300" b="0" i="0">
                <a:solidFill>
                  <a:srgbClr val="C4A882"/>
                </a:solidFill>
                <a:latin typeface="Calibri"/>
              </a:defRPr>
            </a:pPr>
            <a:r>
              <a:t>Critical rules: what to never modify, never use</a:t>
            </a:r>
          </a:p>
        </p:txBody>
      </p:sp>
      <p:sp>
        <p:nvSpPr>
          <p:cNvPr id="22" name="Rounded Rectangle 21"/>
          <p:cNvSpPr/>
          <p:nvPr/>
        </p:nvSpPr>
        <p:spPr>
          <a:xfrm>
            <a:off x="6217920" y="3977640"/>
            <a:ext cx="521208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4069080"/>
            <a:ext cx="4572000" cy="365760"/>
          </a:xfrm>
          <a:prstGeom prst="rect">
            <a:avLst/>
          </a:prstGeom>
          <a:noFill/>
        </p:spPr>
        <p:txBody>
          <a:bodyPr wrap="square">
            <a:spAutoFit/>
          </a:bodyPr>
          <a:lstStyle/>
          <a:p>
            <a:pPr algn="l">
              <a:spcAft>
                <a:spcPts val="0"/>
              </a:spcAft>
              <a:defRPr sz="1600" b="1" i="0">
                <a:solidFill>
                  <a:srgbClr val="D4886B"/>
                </a:solidFill>
                <a:latin typeface="Calibri"/>
              </a:defRPr>
            </a:pPr>
            <a:r>
              <a:t>Domain Terminology</a:t>
            </a:r>
          </a:p>
        </p:txBody>
      </p:sp>
      <p:sp>
        <p:nvSpPr>
          <p:cNvPr id="24" name="TextBox 23"/>
          <p:cNvSpPr txBox="1"/>
          <p:nvPr/>
        </p:nvSpPr>
        <p:spPr>
          <a:xfrm>
            <a:off x="6583680" y="4434840"/>
            <a:ext cx="4572000" cy="411480"/>
          </a:xfrm>
          <a:prstGeom prst="rect">
            <a:avLst/>
          </a:prstGeom>
          <a:noFill/>
        </p:spPr>
        <p:txBody>
          <a:bodyPr wrap="square">
            <a:spAutoFit/>
          </a:bodyPr>
          <a:lstStyle/>
          <a:p>
            <a:pPr algn="l">
              <a:spcAft>
                <a:spcPts val="0"/>
              </a:spcAft>
              <a:defRPr sz="1300" b="0" i="0">
                <a:solidFill>
                  <a:srgbClr val="C4A882"/>
                </a:solidFill>
                <a:latin typeface="Calibri"/>
              </a:defRPr>
            </a:pPr>
            <a:r>
              <a:t>Business terms the model might misunderstand</a:t>
            </a:r>
          </a:p>
        </p:txBody>
      </p:sp>
      <p:sp>
        <p:nvSpPr>
          <p:cNvPr id="25" name="Rounded Rectangle 24"/>
          <p:cNvSpPr/>
          <p:nvPr/>
        </p:nvSpPr>
        <p:spPr>
          <a:xfrm>
            <a:off x="6217920" y="5120640"/>
            <a:ext cx="5212080" cy="914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5212080"/>
            <a:ext cx="4572000" cy="365760"/>
          </a:xfrm>
          <a:prstGeom prst="rect">
            <a:avLst/>
          </a:prstGeom>
          <a:noFill/>
        </p:spPr>
        <p:txBody>
          <a:bodyPr wrap="square">
            <a:spAutoFit/>
          </a:bodyPr>
          <a:lstStyle/>
          <a:p>
            <a:pPr algn="l">
              <a:spcAft>
                <a:spcPts val="0"/>
              </a:spcAft>
              <a:defRPr sz="1600" b="1" i="0">
                <a:solidFill>
                  <a:srgbClr val="D4886B"/>
                </a:solidFill>
                <a:latin typeface="Calibri"/>
              </a:defRPr>
            </a:pPr>
            <a:r>
              <a:t>Gotchas</a:t>
            </a:r>
          </a:p>
        </p:txBody>
      </p:sp>
      <p:sp>
        <p:nvSpPr>
          <p:cNvPr id="27" name="TextBox 26"/>
          <p:cNvSpPr txBox="1"/>
          <p:nvPr/>
        </p:nvSpPr>
        <p:spPr>
          <a:xfrm>
            <a:off x="6583680" y="5577840"/>
            <a:ext cx="4572000" cy="411480"/>
          </a:xfrm>
          <a:prstGeom prst="rect">
            <a:avLst/>
          </a:prstGeom>
          <a:noFill/>
        </p:spPr>
        <p:txBody>
          <a:bodyPr wrap="square">
            <a:spAutoFit/>
          </a:bodyPr>
          <a:lstStyle/>
          <a:p>
            <a:pPr algn="l">
              <a:spcAft>
                <a:spcPts val="0"/>
              </a:spcAft>
              <a:defRPr sz="1300" b="0" i="0">
                <a:solidFill>
                  <a:srgbClr val="C4A882"/>
                </a:solidFill>
                <a:latin typeface="Calibri"/>
              </a:defRPr>
            </a:pPr>
            <a:r>
              <a:t>NEVER commit .env, auto-generated files, signatures</a:t>
            </a:r>
          </a:p>
        </p:txBody>
      </p:sp>
      <p:sp>
        <p:nvSpPr>
          <p:cNvPr id="28" name="TextBox 27"/>
          <p:cNvSpPr txBox="1"/>
          <p:nvPr/>
        </p:nvSpPr>
        <p:spPr>
          <a:xfrm>
            <a:off x="731520" y="6309360"/>
            <a:ext cx="10058400" cy="365760"/>
          </a:xfrm>
          <a:prstGeom prst="rect">
            <a:avLst/>
          </a:prstGeom>
          <a:noFill/>
        </p:spPr>
        <p:txBody>
          <a:bodyPr wrap="square">
            <a:spAutoFit/>
          </a:bodyPr>
          <a:lstStyle/>
          <a:p>
            <a:pPr algn="l">
              <a:spcAft>
                <a:spcPts val="0"/>
              </a:spcAft>
              <a:defRPr sz="1200" b="0" i="0">
                <a:solidFill>
                  <a:srgbClr val="7A6E5D"/>
                </a:solidFill>
                <a:latin typeface="JetBrains Mono"/>
              </a:defRPr>
            </a:pPr>
            <a:r>
              <a:t>Also consider: MCP Server instructions, import paths (@path), and custom slash commands.</a:t>
            </a:r>
          </a:p>
        </p:txBody>
      </p:sp>
      <p:sp>
        <p:nvSpPr>
          <p:cNvPr id="29" name="TextBox 28"/>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AGENTS.md: The Cross-Tool Standard</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README.md is for humans. AGENTS.md is for AI agents.</a:t>
            </a:r>
          </a:p>
        </p:txBody>
      </p:sp>
      <p:sp>
        <p:nvSpPr>
          <p:cNvPr id="4" name="TextBox 3"/>
          <p:cNvSpPr txBox="1"/>
          <p:nvPr/>
        </p:nvSpPr>
        <p:spPr>
          <a:xfrm>
            <a:off x="731520" y="1645920"/>
            <a:ext cx="10058400" cy="548640"/>
          </a:xfrm>
          <a:prstGeom prst="rect">
            <a:avLst/>
          </a:prstGeom>
          <a:noFill/>
        </p:spPr>
        <p:txBody>
          <a:bodyPr wrap="square">
            <a:spAutoFit/>
          </a:bodyPr>
          <a:lstStyle/>
          <a:p>
            <a:pPr algn="l">
              <a:spcAft>
                <a:spcPts val="0"/>
              </a:spcAft>
              <a:defRPr sz="1800" b="0" i="0">
                <a:solidFill>
                  <a:srgbClr val="E8D5B7"/>
                </a:solidFill>
                <a:latin typeface="Calibri"/>
              </a:defRPr>
            </a:pPr>
            <a:r>
              <a:t>An open, tool-agnostic standard for providing plain-text context to any AI agent.</a:t>
            </a:r>
          </a:p>
        </p:txBody>
      </p:sp>
      <p:sp>
        <p:nvSpPr>
          <p:cNvPr id="5" name="TextBox 4"/>
          <p:cNvSpPr txBox="1"/>
          <p:nvPr/>
        </p:nvSpPr>
        <p:spPr>
          <a:xfrm>
            <a:off x="731520" y="2377440"/>
            <a:ext cx="10058400" cy="365760"/>
          </a:xfrm>
          <a:prstGeom prst="rect">
            <a:avLst/>
          </a:prstGeom>
          <a:noFill/>
        </p:spPr>
        <p:txBody>
          <a:bodyPr wrap="square">
            <a:spAutoFit/>
          </a:bodyPr>
          <a:lstStyle/>
          <a:p>
            <a:pPr algn="l">
              <a:spcAft>
                <a:spcPts val="0"/>
              </a:spcAft>
              <a:defRPr sz="1400" b="1" i="0">
                <a:solidFill>
                  <a:srgbClr val="7A6E5D"/>
                </a:solidFill>
                <a:latin typeface="Calibri"/>
              </a:defRPr>
            </a:pPr>
            <a:r>
              <a:t>Supported by:</a:t>
            </a:r>
          </a:p>
        </p:txBody>
      </p:sp>
      <p:sp>
        <p:nvSpPr>
          <p:cNvPr id="6" name="TextBox 5"/>
          <p:cNvSpPr txBox="1"/>
          <p:nvPr/>
        </p:nvSpPr>
        <p:spPr>
          <a:xfrm>
            <a:off x="731520" y="2743200"/>
            <a:ext cx="10515600" cy="457200"/>
          </a:xfrm>
          <a:prstGeom prst="rect">
            <a:avLst/>
          </a:prstGeom>
          <a:noFill/>
        </p:spPr>
        <p:txBody>
          <a:bodyPr wrap="square">
            <a:spAutoFit/>
          </a:bodyPr>
          <a:lstStyle/>
          <a:p>
            <a:pPr algn="l">
              <a:spcAft>
                <a:spcPts val="0"/>
              </a:spcAft>
              <a:defRPr sz="1300" b="0" i="0">
                <a:solidFill>
                  <a:srgbClr val="D4886B"/>
                </a:solidFill>
                <a:latin typeface="JetBrains Mono"/>
              </a:defRPr>
            </a:pPr>
            <a:r>
              <a:t>Cursor  |  Zed  |  Codex (OpenAI)  |  Jules (Google)  |  GitHub Copilot  |  Gemini CLI  |  Windsurf  |  Aider  |  Warp  |  VS Code</a:t>
            </a:r>
          </a:p>
        </p:txBody>
      </p:sp>
      <p:sp>
        <p:nvSpPr>
          <p:cNvPr id="7" name="TextBox 6"/>
          <p:cNvSpPr txBox="1"/>
          <p:nvPr/>
        </p:nvSpPr>
        <p:spPr>
          <a:xfrm>
            <a:off x="731520" y="3474720"/>
            <a:ext cx="10058400" cy="457200"/>
          </a:xfrm>
          <a:prstGeom prst="rect">
            <a:avLst/>
          </a:prstGeom>
          <a:noFill/>
        </p:spPr>
        <p:txBody>
          <a:bodyPr wrap="square">
            <a:spAutoFit/>
          </a:bodyPr>
          <a:lstStyle/>
          <a:p>
            <a:pPr algn="l">
              <a:spcAft>
                <a:spcPts val="0"/>
              </a:spcAft>
              <a:defRPr sz="2200" b="0" i="0">
                <a:solidFill>
                  <a:srgbClr val="E8D5B7"/>
                </a:solidFill>
                <a:latin typeface="Georgia"/>
              </a:defRPr>
            </a:pPr>
            <a:r>
              <a:t>The Symlink Pattern (Interoperability)</a:t>
            </a:r>
          </a:p>
        </p:txBody>
      </p:sp>
      <p:sp>
        <p:nvSpPr>
          <p:cNvPr id="8" name="Rounded Rectangle 7"/>
          <p:cNvSpPr/>
          <p:nvPr/>
        </p:nvSpPr>
        <p:spPr>
          <a:xfrm>
            <a:off x="731520" y="4114800"/>
            <a:ext cx="34747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20" y="42519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61288" y="42519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62456" y="42519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526280"/>
            <a:ext cx="2926080" cy="320040"/>
          </a:xfrm>
          <a:prstGeom prst="rect">
            <a:avLst/>
          </a:prstGeom>
          <a:noFill/>
        </p:spPr>
        <p:txBody>
          <a:bodyPr wrap="square">
            <a:spAutoFit/>
          </a:bodyPr>
          <a:lstStyle/>
          <a:p>
            <a:pPr algn="l">
              <a:spcAft>
                <a:spcPts val="0"/>
              </a:spcAft>
              <a:defRPr sz="1400" b="1" i="0">
                <a:solidFill>
                  <a:srgbClr val="D4886B"/>
                </a:solidFill>
                <a:latin typeface="Calibri"/>
              </a:defRPr>
            </a:pPr>
            <a:r>
              <a:t>Option A: Reference</a:t>
            </a:r>
          </a:p>
        </p:txBody>
      </p:sp>
      <p:sp>
        <p:nvSpPr>
          <p:cNvPr id="13" name="TextBox 12"/>
          <p:cNvSpPr txBox="1"/>
          <p:nvPr/>
        </p:nvSpPr>
        <p:spPr>
          <a:xfrm>
            <a:off x="1005840" y="4846320"/>
            <a:ext cx="2926080" cy="914400"/>
          </a:xfrm>
          <a:prstGeom prst="rect">
            <a:avLst/>
          </a:prstGeom>
          <a:noFill/>
        </p:spPr>
        <p:txBody>
          <a:bodyPr wrap="square">
            <a:spAutoFit/>
          </a:bodyPr>
          <a:lstStyle/>
          <a:p>
            <a:pPr algn="l">
              <a:spcAft>
                <a:spcPts val="0"/>
              </a:spcAft>
              <a:defRPr sz="1200" b="0" i="0">
                <a:solidFill>
                  <a:srgbClr val="C4A882"/>
                </a:solidFill>
                <a:latin typeface="Calibri"/>
              </a:defRPr>
            </a:pPr>
            <a:r>
              <a:t>CLAUDE.md contains:</a:t>
            </a:r>
            <a:br/>
            <a:r>
              <a:t>"Strictly follow the rules in ./AGENTS.md"</a:t>
            </a:r>
          </a:p>
        </p:txBody>
      </p:sp>
      <p:sp>
        <p:nvSpPr>
          <p:cNvPr id="14" name="Rounded Rectangle 13"/>
          <p:cNvSpPr/>
          <p:nvPr/>
        </p:nvSpPr>
        <p:spPr>
          <a:xfrm>
            <a:off x="4480559" y="4114800"/>
            <a:ext cx="34747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709159" y="42519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910327" y="42519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111495" y="42519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79" y="4526280"/>
            <a:ext cx="2926080" cy="320040"/>
          </a:xfrm>
          <a:prstGeom prst="rect">
            <a:avLst/>
          </a:prstGeom>
          <a:noFill/>
        </p:spPr>
        <p:txBody>
          <a:bodyPr wrap="square">
            <a:spAutoFit/>
          </a:bodyPr>
          <a:lstStyle/>
          <a:p>
            <a:pPr algn="l">
              <a:spcAft>
                <a:spcPts val="0"/>
              </a:spcAft>
              <a:defRPr sz="1400" b="1" i="0">
                <a:solidFill>
                  <a:srgbClr val="D4886B"/>
                </a:solidFill>
                <a:latin typeface="Calibri"/>
              </a:defRPr>
            </a:pPr>
            <a:r>
              <a:t>Option B: Symlink</a:t>
            </a:r>
          </a:p>
        </p:txBody>
      </p:sp>
      <p:sp>
        <p:nvSpPr>
          <p:cNvPr id="19" name="TextBox 18"/>
          <p:cNvSpPr txBox="1"/>
          <p:nvPr/>
        </p:nvSpPr>
        <p:spPr>
          <a:xfrm>
            <a:off x="4754879" y="4846320"/>
            <a:ext cx="2926080" cy="914400"/>
          </a:xfrm>
          <a:prstGeom prst="rect">
            <a:avLst/>
          </a:prstGeom>
          <a:noFill/>
        </p:spPr>
        <p:txBody>
          <a:bodyPr wrap="square">
            <a:spAutoFit/>
          </a:bodyPr>
          <a:lstStyle/>
          <a:p>
            <a:pPr algn="l">
              <a:spcAft>
                <a:spcPts val="0"/>
              </a:spcAft>
              <a:defRPr sz="1200" b="0" i="0">
                <a:solidFill>
                  <a:srgbClr val="C4A882"/>
                </a:solidFill>
                <a:latin typeface="Calibri"/>
              </a:defRPr>
            </a:pPr>
            <a:r>
              <a:t>ln -s AGENTS.md CLAUDE.md</a:t>
            </a:r>
          </a:p>
        </p:txBody>
      </p:sp>
      <p:sp>
        <p:nvSpPr>
          <p:cNvPr id="20" name="Rounded Rectangle 19"/>
          <p:cNvSpPr/>
          <p:nvPr/>
        </p:nvSpPr>
        <p:spPr>
          <a:xfrm>
            <a:off x="8229600" y="4114800"/>
            <a:ext cx="347472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58200" y="42519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59368" y="42519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860536" y="42519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03920" y="4526280"/>
            <a:ext cx="2926080" cy="320040"/>
          </a:xfrm>
          <a:prstGeom prst="rect">
            <a:avLst/>
          </a:prstGeom>
          <a:noFill/>
        </p:spPr>
        <p:txBody>
          <a:bodyPr wrap="square">
            <a:spAutoFit/>
          </a:bodyPr>
          <a:lstStyle/>
          <a:p>
            <a:pPr algn="l">
              <a:spcAft>
                <a:spcPts val="0"/>
              </a:spcAft>
              <a:defRPr sz="1400" b="1" i="0">
                <a:solidFill>
                  <a:srgbClr val="D4886B"/>
                </a:solidFill>
                <a:latin typeface="Calibri"/>
              </a:defRPr>
            </a:pPr>
            <a:r>
              <a:t>Option C: Migrate</a:t>
            </a:r>
          </a:p>
        </p:txBody>
      </p:sp>
      <p:sp>
        <p:nvSpPr>
          <p:cNvPr id="25" name="TextBox 24"/>
          <p:cNvSpPr txBox="1"/>
          <p:nvPr/>
        </p:nvSpPr>
        <p:spPr>
          <a:xfrm>
            <a:off x="8503920" y="4846320"/>
            <a:ext cx="2926080" cy="914400"/>
          </a:xfrm>
          <a:prstGeom prst="rect">
            <a:avLst/>
          </a:prstGeom>
          <a:noFill/>
        </p:spPr>
        <p:txBody>
          <a:bodyPr wrap="square">
            <a:spAutoFit/>
          </a:bodyPr>
          <a:lstStyle/>
          <a:p>
            <a:pPr algn="l">
              <a:spcAft>
                <a:spcPts val="0"/>
              </a:spcAft>
              <a:defRPr sz="1200" b="0" i="0">
                <a:solidFill>
                  <a:srgbClr val="C4A882"/>
                </a:solidFill>
                <a:latin typeface="Calibri"/>
              </a:defRPr>
            </a:pPr>
            <a:r>
              <a:t>Rename CLAUDE.md to AGENTS.md, then symlink back for compatibility</a:t>
            </a:r>
          </a:p>
        </p:txBody>
      </p:sp>
      <p:sp>
        <p:nvSpPr>
          <p:cNvPr id="26" name="TextBox 2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Best Practices: Less Is More</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Your instruction budget is finite -- spend it wisely</a:t>
            </a:r>
          </a:p>
        </p:txBody>
      </p:sp>
      <p:sp>
        <p:nvSpPr>
          <p:cNvPr id="4" name="TextBox 3"/>
          <p:cNvSpPr txBox="1"/>
          <p:nvPr/>
        </p:nvSpPr>
        <p:spPr>
          <a:xfrm>
            <a:off x="731520" y="1691640"/>
            <a:ext cx="10515600" cy="4754880"/>
          </a:xfrm>
          <a:prstGeom prst="rect">
            <a:avLst/>
          </a:prstGeom>
          <a:noFill/>
        </p:spPr>
        <p:txBody>
          <a:bodyPr wrap="square">
            <a:spAutoFit/>
          </a:bodyPr>
          <a:lstStyle/>
          <a:p>
            <a:pPr>
              <a:spcBef>
                <a:spcPts val="200"/>
              </a:spcBef>
              <a:spcAft>
                <a:spcPts val="800"/>
              </a:spcAft>
            </a:pPr>
            <a:r>
              <a:rPr sz="1600">
                <a:solidFill>
                  <a:srgbClr val="D4886B"/>
                </a:solidFill>
                <a:latin typeface="Calibri"/>
              </a:rPr>
              <a:t>  –  </a:t>
            </a:r>
            <a:r>
              <a:rPr sz="1600" b="1">
                <a:solidFill>
                  <a:srgbClr val="E8D5B7"/>
                </a:solidFill>
                <a:latin typeface="Calibri"/>
              </a:rPr>
              <a:t>Keep it concise</a:t>
            </a:r>
            <a:r>
              <a:rPr sz="1600">
                <a:solidFill>
                  <a:srgbClr val="C4A882"/>
                </a:solidFill>
                <a:latin typeface="Calibri"/>
              </a:rPr>
              <a:t> — aim for under 300 lines (some recommend under 60 for root file)</a:t>
            </a:r>
          </a:p>
          <a:p>
            <a:pPr>
              <a:spcBef>
                <a:spcPts val="200"/>
              </a:spcBef>
              <a:spcAft>
                <a:spcPts val="800"/>
              </a:spcAft>
            </a:pPr>
            <a:r>
              <a:rPr sz="1600">
                <a:solidFill>
                  <a:srgbClr val="D4886B"/>
                </a:solidFill>
                <a:latin typeface="Calibri"/>
              </a:rPr>
              <a:t>  –  </a:t>
            </a:r>
            <a:r>
              <a:rPr sz="1600">
                <a:solidFill>
                  <a:srgbClr val="C4A882"/>
                </a:solidFill>
                <a:latin typeface="Calibri"/>
              </a:rPr>
              <a:t>As instruction count rises, instruction-following quality drops uniformly</a:t>
            </a:r>
          </a:p>
          <a:p>
            <a:pPr>
              <a:spcBef>
                <a:spcPts val="200"/>
              </a:spcBef>
              <a:spcAft>
                <a:spcPts val="800"/>
              </a:spcAft>
            </a:pPr>
            <a:r>
              <a:rPr sz="1600">
                <a:solidFill>
                  <a:srgbClr val="D4886B"/>
                </a:solidFill>
                <a:latin typeface="Calibri"/>
              </a:rPr>
              <a:t>  –  </a:t>
            </a:r>
            <a:r>
              <a:rPr sz="1600">
                <a:solidFill>
                  <a:srgbClr val="C4A882"/>
                </a:solidFill>
                <a:latin typeface="Calibri"/>
              </a:rPr>
              <a:t>LLMs bias toward instructions at the beginning and end of the prompt</a:t>
            </a:r>
          </a:p>
          <a:p>
            <a:pPr>
              <a:spcBef>
                <a:spcPts val="200"/>
              </a:spcBef>
              <a:spcAft>
                <a:spcPts val="800"/>
              </a:spcAft>
            </a:pPr>
            <a:r>
              <a:rPr sz="1600">
                <a:solidFill>
                  <a:srgbClr val="D4886B"/>
                </a:solidFill>
                <a:latin typeface="Calibri"/>
              </a:rPr>
              <a:t>  –  </a:t>
            </a:r>
            <a:r>
              <a:rPr sz="1600" b="1">
                <a:solidFill>
                  <a:srgbClr val="E8D5B7"/>
                </a:solidFill>
                <a:latin typeface="Calibri"/>
              </a:rPr>
              <a:t>Use progressive disclosure</a:t>
            </a:r>
            <a:r>
              <a:rPr sz="1600">
                <a:solidFill>
                  <a:srgbClr val="C4A882"/>
                </a:solidFill>
                <a:latin typeface="Calibri"/>
              </a:rPr>
              <a:t> — keep detailed docs in separate files, reference with @imports</a:t>
            </a:r>
          </a:p>
          <a:p>
            <a:pPr>
              <a:spcBef>
                <a:spcPts val="200"/>
              </a:spcBef>
              <a:spcAft>
                <a:spcPts val="800"/>
              </a:spcAft>
            </a:pPr>
            <a:r>
              <a:rPr sz="1600">
                <a:solidFill>
                  <a:srgbClr val="D4886B"/>
                </a:solidFill>
                <a:latin typeface="Calibri"/>
              </a:rPr>
              <a:t>  –  </a:t>
            </a:r>
            <a:r>
              <a:rPr sz="1600" b="1">
                <a:solidFill>
                  <a:srgbClr val="E8D5B7"/>
                </a:solidFill>
                <a:latin typeface="Calibri"/>
              </a:rPr>
              <a:t>Never use CLAUDE.md as a linter</a:t>
            </a:r>
            <a:r>
              <a:rPr sz="1600">
                <a:solidFill>
                  <a:srgbClr val="C4A882"/>
                </a:solidFill>
                <a:latin typeface="Calibri"/>
              </a:rPr>
              <a:t> — use ESLint, Prettier, Biome + hooks instead</a:t>
            </a:r>
          </a:p>
          <a:p>
            <a:pPr>
              <a:spcBef>
                <a:spcPts val="200"/>
              </a:spcBef>
              <a:spcAft>
                <a:spcPts val="800"/>
              </a:spcAft>
            </a:pPr>
            <a:r>
              <a:rPr sz="1600">
                <a:solidFill>
                  <a:srgbClr val="D4886B"/>
                </a:solidFill>
                <a:latin typeface="Calibri"/>
              </a:rPr>
              <a:t>  –  </a:t>
            </a:r>
            <a:r>
              <a:rPr sz="1600" b="1">
                <a:solidFill>
                  <a:srgbClr val="E8D5B7"/>
                </a:solidFill>
                <a:latin typeface="Calibri"/>
              </a:rPr>
              <a:t>Treat it as a living document</a:t>
            </a:r>
            <a:r>
              <a:rPr sz="1600">
                <a:solidFill>
                  <a:srgbClr val="C4A882"/>
                </a:solidFill>
                <a:latin typeface="Calibri"/>
              </a:rPr>
              <a:t> — add instructions as you work, not just upfront</a:t>
            </a:r>
          </a:p>
          <a:p>
            <a:pPr>
              <a:spcBef>
                <a:spcPts val="200"/>
              </a:spcBef>
              <a:spcAft>
                <a:spcPts val="800"/>
              </a:spcAft>
            </a:pPr>
            <a:r>
              <a:rPr sz="1600">
                <a:solidFill>
                  <a:srgbClr val="D4886B"/>
                </a:solidFill>
                <a:latin typeface="Calibri"/>
              </a:rPr>
              <a:t>  –  </a:t>
            </a:r>
            <a:r>
              <a:rPr sz="1600" b="1">
                <a:solidFill>
                  <a:srgbClr val="E8D5B7"/>
                </a:solidFill>
                <a:latin typeface="Calibri"/>
              </a:rPr>
              <a:t>Use emphasis sparingly</a:t>
            </a:r>
            <a:r>
              <a:rPr sz="1600">
                <a:solidFill>
                  <a:srgbClr val="C4A882"/>
                </a:solidFill>
                <a:latin typeface="Calibri"/>
              </a:rPr>
              <a:t> — IMPORTANT, NEVER, YOU MUST work, but lose power if overused</a:t>
            </a:r>
          </a:p>
          <a:p>
            <a:pPr>
              <a:spcBef>
                <a:spcPts val="200"/>
              </a:spcBef>
              <a:spcAft>
                <a:spcPts val="800"/>
              </a:spcAft>
            </a:pPr>
            <a:r>
              <a:rPr sz="1600">
                <a:solidFill>
                  <a:srgbClr val="D4886B"/>
                </a:solidFill>
                <a:latin typeface="Calibri"/>
              </a:rPr>
              <a:t>  –  </a:t>
            </a:r>
            <a:r>
              <a:rPr sz="1600">
                <a:solidFill>
                  <a:srgbClr val="C4A882"/>
                </a:solidFill>
                <a:latin typeface="Calibri"/>
              </a:rPr>
              <a:t>Commit to source control; use CLAUDE.local.md for personal preferences</a:t>
            </a:r>
          </a:p>
          <a:p>
            <a:pPr>
              <a:spcBef>
                <a:spcPts val="200"/>
              </a:spcBef>
              <a:spcAft>
                <a:spcPts val="800"/>
              </a:spcAft>
            </a:pPr>
            <a:r>
              <a:rPr sz="1600">
                <a:solidFill>
                  <a:srgbClr val="D4886B"/>
                </a:solidFill>
                <a:latin typeface="Calibri"/>
              </a:rPr>
              <a:t>  –  </a:t>
            </a:r>
            <a:r>
              <a:rPr sz="1600">
                <a:solidFill>
                  <a:srgbClr val="C4A882"/>
                </a:solidFill>
                <a:latin typeface="Calibri"/>
              </a:rPr>
              <a:t>Never include secrets, API keys, or credentials</a:t>
            </a:r>
          </a:p>
        </p:txBody>
      </p:sp>
      <p:sp>
        <p:nvSpPr>
          <p:cNvPr id="5" name="TextBox 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Getting Started: The /init Command</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Bootstrap your CLAUDE.md in seconds</a:t>
            </a:r>
          </a:p>
        </p:txBody>
      </p:sp>
      <p:sp>
        <p:nvSpPr>
          <p:cNvPr id="4" name="Rounded Rectangle 3"/>
          <p:cNvSpPr/>
          <p:nvPr/>
        </p:nvSpPr>
        <p:spPr>
          <a:xfrm>
            <a:off x="731520" y="1737360"/>
            <a:ext cx="502920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terminal</a:t>
            </a:r>
          </a:p>
        </p:txBody>
      </p:sp>
      <p:sp>
        <p:nvSpPr>
          <p:cNvPr id="9" name="TextBox 8"/>
          <p:cNvSpPr txBox="1"/>
          <p:nvPr/>
        </p:nvSpPr>
        <p:spPr>
          <a:xfrm>
            <a:off x="1188720" y="2286000"/>
            <a:ext cx="4114800" cy="1188720"/>
          </a:xfrm>
          <a:prstGeom prst="rect">
            <a:avLst/>
          </a:prstGeom>
          <a:noFill/>
        </p:spPr>
        <p:txBody>
          <a:bodyPr wrap="square">
            <a:spAutoFit/>
          </a:bodyPr>
          <a:lstStyle/>
          <a:p>
            <a:pPr algn="l">
              <a:spcAft>
                <a:spcPts val="0"/>
              </a:spcAft>
              <a:defRPr sz="2000" b="0" i="0">
                <a:solidFill>
                  <a:srgbClr val="D4886B"/>
                </a:solidFill>
                <a:latin typeface="JetBrains Mono"/>
              </a:defRPr>
            </a:pPr>
            <a:r>
              <a:t>$ cd your-project</a:t>
            </a:r>
            <a:br/>
            <a:r>
              <a:t>$ claude</a:t>
            </a:r>
            <a:br/>
            <a:r>
              <a:t>&gt; /init</a:t>
            </a:r>
          </a:p>
        </p:txBody>
      </p:sp>
      <p:sp>
        <p:nvSpPr>
          <p:cNvPr id="10" name="TextBox 9"/>
          <p:cNvSpPr txBox="1"/>
          <p:nvPr/>
        </p:nvSpPr>
        <p:spPr>
          <a:xfrm>
            <a:off x="6217920" y="1737360"/>
            <a:ext cx="5029200" cy="457200"/>
          </a:xfrm>
          <a:prstGeom prst="rect">
            <a:avLst/>
          </a:prstGeom>
          <a:noFill/>
        </p:spPr>
        <p:txBody>
          <a:bodyPr wrap="square">
            <a:spAutoFit/>
          </a:bodyPr>
          <a:lstStyle/>
          <a:p>
            <a:pPr algn="l">
              <a:spcAft>
                <a:spcPts val="0"/>
              </a:spcAft>
              <a:defRPr sz="2000" b="0" i="0">
                <a:solidFill>
                  <a:srgbClr val="E8D5B7"/>
                </a:solidFill>
                <a:latin typeface="Georgia"/>
              </a:defRPr>
            </a:pPr>
            <a:r>
              <a:t>What /init does:</a:t>
            </a:r>
          </a:p>
        </p:txBody>
      </p:sp>
      <p:sp>
        <p:nvSpPr>
          <p:cNvPr id="11" name="TextBox 10"/>
          <p:cNvSpPr txBox="1"/>
          <p:nvPr/>
        </p:nvSpPr>
        <p:spPr>
          <a:xfrm>
            <a:off x="6217920" y="2286000"/>
            <a:ext cx="5029200" cy="1828800"/>
          </a:xfrm>
          <a:prstGeom prst="rect">
            <a:avLst/>
          </a:prstGeom>
          <a:noFill/>
        </p:spPr>
        <p:txBody>
          <a:bodyPr wrap="square">
            <a:spAutoFit/>
          </a:bodyPr>
          <a:lstStyle/>
          <a:p>
            <a:pPr>
              <a:spcBef>
                <a:spcPts val="200"/>
              </a:spcBef>
              <a:spcAft>
                <a:spcPts val="1000"/>
              </a:spcAft>
            </a:pPr>
            <a:r>
              <a:rPr sz="1500">
                <a:solidFill>
                  <a:srgbClr val="D4886B"/>
                </a:solidFill>
                <a:latin typeface="Calibri"/>
              </a:rPr>
              <a:t>  –  </a:t>
            </a:r>
            <a:r>
              <a:rPr sz="1500">
                <a:solidFill>
                  <a:srgbClr val="C4A882"/>
                </a:solidFill>
                <a:latin typeface="Calibri"/>
              </a:rPr>
              <a:t>Examines your codebase: package files, docs, config, code structure</a:t>
            </a:r>
          </a:p>
          <a:p>
            <a:pPr>
              <a:spcBef>
                <a:spcPts val="200"/>
              </a:spcBef>
              <a:spcAft>
                <a:spcPts val="1000"/>
              </a:spcAft>
            </a:pPr>
            <a:r>
              <a:rPr sz="1500">
                <a:solidFill>
                  <a:srgbClr val="D4886B"/>
                </a:solidFill>
                <a:latin typeface="Calibri"/>
              </a:rPr>
              <a:t>  –  </a:t>
            </a:r>
            <a:r>
              <a:rPr sz="1500">
                <a:solidFill>
                  <a:srgbClr val="C4A882"/>
                </a:solidFill>
                <a:latin typeface="Calibri"/>
              </a:rPr>
              <a:t>Generates a starter CLAUDE.md with build commands and conventions</a:t>
            </a:r>
          </a:p>
          <a:p>
            <a:pPr>
              <a:spcBef>
                <a:spcPts val="200"/>
              </a:spcBef>
              <a:spcAft>
                <a:spcPts val="1000"/>
              </a:spcAft>
            </a:pPr>
            <a:r>
              <a:rPr sz="1500">
                <a:solidFill>
                  <a:srgbClr val="D4886B"/>
                </a:solidFill>
                <a:latin typeface="Calibri"/>
              </a:rPr>
              <a:t>  –  </a:t>
            </a:r>
            <a:r>
              <a:rPr sz="1500">
                <a:solidFill>
                  <a:srgbClr val="C4A882"/>
                </a:solidFill>
                <a:latin typeface="Calibri"/>
              </a:rPr>
              <a:t>Can also improve an existing CLAUDE.md</a:t>
            </a:r>
          </a:p>
        </p:txBody>
      </p:sp>
      <p:sp>
        <p:nvSpPr>
          <p:cNvPr id="12" name="Rounded Rectangle 11"/>
          <p:cNvSpPr/>
          <p:nvPr/>
        </p:nvSpPr>
        <p:spPr>
          <a:xfrm>
            <a:off x="731520" y="3931920"/>
            <a:ext cx="10698480" cy="24688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60120" y="40690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61288" y="40690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362456" y="40690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45920" y="400507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Treat /init as a starting point, not the final product</a:t>
            </a:r>
          </a:p>
        </p:txBody>
      </p:sp>
      <p:sp>
        <p:nvSpPr>
          <p:cNvPr id="17" name="TextBox 16"/>
          <p:cNvSpPr txBox="1"/>
          <p:nvPr/>
        </p:nvSpPr>
        <p:spPr>
          <a:xfrm>
            <a:off x="1097280" y="4526280"/>
            <a:ext cx="10058400" cy="1828800"/>
          </a:xfrm>
          <a:prstGeom prst="rect">
            <a:avLst/>
          </a:prstGeom>
          <a:noFill/>
        </p:spPr>
        <p:txBody>
          <a:bodyPr wrap="square">
            <a:spAutoFit/>
          </a:bodyPr>
          <a:lstStyle/>
          <a:p>
            <a:pPr>
              <a:spcBef>
                <a:spcPts val="200"/>
              </a:spcBef>
              <a:spcAft>
                <a:spcPts val="600"/>
              </a:spcAft>
            </a:pPr>
            <a:r>
              <a:rPr sz="1400">
                <a:solidFill>
                  <a:srgbClr val="D4886B"/>
                </a:solidFill>
                <a:latin typeface="Calibri"/>
              </a:rPr>
              <a:t>  –  </a:t>
            </a:r>
            <a:r>
              <a:rPr sz="1400">
                <a:solidFill>
                  <a:srgbClr val="C4A882"/>
                </a:solidFill>
                <a:latin typeface="Calibri"/>
              </a:rPr>
              <a:t>The generated file includes obvious details; the real value comes from iterating</a:t>
            </a:r>
          </a:p>
          <a:p>
            <a:pPr>
              <a:spcBef>
                <a:spcPts val="200"/>
              </a:spcBef>
              <a:spcAft>
                <a:spcPts val="600"/>
              </a:spcAft>
            </a:pPr>
            <a:r>
              <a:rPr sz="1400">
                <a:solidFill>
                  <a:srgbClr val="D4886B"/>
                </a:solidFill>
                <a:latin typeface="Calibri"/>
              </a:rPr>
              <a:t>  –  </a:t>
            </a:r>
            <a:r>
              <a:rPr sz="1400" b="1">
                <a:solidFill>
                  <a:srgbClr val="E8D5B7"/>
                </a:solidFill>
                <a:latin typeface="Calibri"/>
              </a:rPr>
              <a:t>Delete from the generated output what is not needed</a:t>
            </a:r>
            <a:r>
              <a:rPr sz="1400">
                <a:solidFill>
                  <a:srgbClr val="C4A882"/>
                </a:solidFill>
                <a:latin typeface="Calibri"/>
              </a:rPr>
              <a:t> — easier than writing from scratch</a:t>
            </a:r>
          </a:p>
          <a:p>
            <a:pPr>
              <a:spcBef>
                <a:spcPts val="200"/>
              </a:spcBef>
              <a:spcAft>
                <a:spcPts val="600"/>
              </a:spcAft>
            </a:pPr>
            <a:r>
              <a:rPr sz="1400">
                <a:solidFill>
                  <a:srgbClr val="D4886B"/>
                </a:solidFill>
                <a:latin typeface="Calibri"/>
              </a:rPr>
              <a:t>  –  </a:t>
            </a:r>
            <a:r>
              <a:rPr sz="1400">
                <a:solidFill>
                  <a:srgbClr val="C4A882"/>
                </a:solidFill>
                <a:latin typeface="Calibri"/>
              </a:rPr>
              <a:t>Add instructions as you encounter friction with Claude over time</a:t>
            </a:r>
          </a:p>
          <a:p>
            <a:pPr>
              <a:spcBef>
                <a:spcPts val="200"/>
              </a:spcBef>
              <a:spcAft>
                <a:spcPts val="600"/>
              </a:spcAft>
            </a:pPr>
            <a:r>
              <a:rPr sz="1400">
                <a:solidFill>
                  <a:srgbClr val="D4886B"/>
                </a:solidFill>
                <a:latin typeface="Calibri"/>
              </a:rPr>
              <a:t>  –  </a:t>
            </a:r>
            <a:r>
              <a:rPr sz="1400">
                <a:solidFill>
                  <a:srgbClr val="C4A882"/>
                </a:solidFill>
                <a:latin typeface="Calibri"/>
              </a:rPr>
              <a:t>Use /memory to review and organize Claude's auto-generated learnings</a:t>
            </a:r>
          </a:p>
          <a:p>
            <a:pPr>
              <a:spcBef>
                <a:spcPts val="200"/>
              </a:spcBef>
              <a:spcAft>
                <a:spcPts val="600"/>
              </a:spcAft>
            </a:pPr>
            <a:r>
              <a:rPr sz="1400">
                <a:solidFill>
                  <a:srgbClr val="D4886B"/>
                </a:solidFill>
                <a:latin typeface="Calibri"/>
              </a:rPr>
              <a:t>  –  </a:t>
            </a:r>
            <a:r>
              <a:rPr sz="1400">
                <a:solidFill>
                  <a:srgbClr val="C4A882"/>
                </a:solidFill>
                <a:latin typeface="Calibri"/>
              </a:rPr>
              <a:t>Periodically ask Claude to review CLAUDE.md for redundancies and outdated info</a:t>
            </a:r>
          </a:p>
        </p:txBody>
      </p:sp>
      <p:sp>
        <p:nvSpPr>
          <p:cNvPr id="18" name="TextBox 1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Modular Rules &amp; Advanced Features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Scale your instructions without bloating the root file</a:t>
            </a:r>
          </a:p>
        </p:txBody>
      </p:sp>
      <p:sp>
        <p:nvSpPr>
          <p:cNvPr id="4" name="TextBox 3"/>
          <p:cNvSpPr txBox="1"/>
          <p:nvPr/>
        </p:nvSpPr>
        <p:spPr>
          <a:xfrm>
            <a:off x="731520" y="1691640"/>
            <a:ext cx="5029200" cy="365760"/>
          </a:xfrm>
          <a:prstGeom prst="rect">
            <a:avLst/>
          </a:prstGeom>
          <a:noFill/>
        </p:spPr>
        <p:txBody>
          <a:bodyPr wrap="square">
            <a:spAutoFit/>
          </a:bodyPr>
          <a:lstStyle/>
          <a:p>
            <a:pPr algn="l">
              <a:spcAft>
                <a:spcPts val="0"/>
              </a:spcAft>
              <a:defRPr sz="1900" b="0" i="0">
                <a:solidFill>
                  <a:srgbClr val="E8D5B7"/>
                </a:solidFill>
                <a:latin typeface="Georgia"/>
              </a:defRPr>
            </a:pPr>
            <a:r>
              <a:t>Path-Specific Rules (.claude/rules/)</a:t>
            </a:r>
          </a:p>
        </p:txBody>
      </p:sp>
      <p:sp>
        <p:nvSpPr>
          <p:cNvPr id="5" name="TextBox 4"/>
          <p:cNvSpPr txBox="1"/>
          <p:nvPr/>
        </p:nvSpPr>
        <p:spPr>
          <a:xfrm>
            <a:off x="731520" y="2194560"/>
            <a:ext cx="5029200" cy="2743200"/>
          </a:xfrm>
          <a:prstGeom prst="rect">
            <a:avLst/>
          </a:prstGeom>
          <a:noFill/>
        </p:spPr>
        <p:txBody>
          <a:bodyPr wrap="square">
            <a:spAutoFit/>
          </a:bodyPr>
          <a:lstStyle/>
          <a:p>
            <a:pPr>
              <a:spcBef>
                <a:spcPts val="200"/>
              </a:spcBef>
              <a:spcAft>
                <a:spcPts val="800"/>
              </a:spcAft>
            </a:pPr>
            <a:r>
              <a:rPr sz="1400">
                <a:solidFill>
                  <a:srgbClr val="D4886B"/>
                </a:solidFill>
                <a:latin typeface="Calibri"/>
              </a:rPr>
              <a:t>  –  </a:t>
            </a:r>
            <a:r>
              <a:rPr sz="1400">
                <a:solidFill>
                  <a:srgbClr val="C4A882"/>
                </a:solidFill>
                <a:latin typeface="Calibri"/>
              </a:rPr>
              <a:t>Organize instructions into multiple .md files</a:t>
            </a:r>
          </a:p>
          <a:p>
            <a:pPr>
              <a:spcBef>
                <a:spcPts val="200"/>
              </a:spcBef>
              <a:spcAft>
                <a:spcPts val="800"/>
              </a:spcAft>
            </a:pPr>
            <a:r>
              <a:rPr sz="1400">
                <a:solidFill>
                  <a:srgbClr val="D4886B"/>
                </a:solidFill>
                <a:latin typeface="Calibri"/>
              </a:rPr>
              <a:t>  –  </a:t>
            </a:r>
            <a:r>
              <a:rPr sz="1400">
                <a:solidFill>
                  <a:srgbClr val="C4A882"/>
                </a:solidFill>
                <a:latin typeface="Calibri"/>
              </a:rPr>
              <a:t>Use YAML frontmatter to scope rules to file globs</a:t>
            </a:r>
          </a:p>
          <a:p>
            <a:pPr>
              <a:spcBef>
                <a:spcPts val="200"/>
              </a:spcBef>
              <a:spcAft>
                <a:spcPts val="800"/>
              </a:spcAft>
            </a:pPr>
            <a:r>
              <a:rPr sz="1400">
                <a:solidFill>
                  <a:srgbClr val="D4886B"/>
                </a:solidFill>
                <a:latin typeface="Calibri"/>
              </a:rPr>
              <a:t>  –  </a:t>
            </a:r>
            <a:r>
              <a:rPr sz="1400">
                <a:solidFill>
                  <a:srgbClr val="C4A882"/>
                </a:solidFill>
                <a:latin typeface="Calibri"/>
              </a:rPr>
              <a:t>Example: paths: ["src/api/**/*.ts"] loads only for API files</a:t>
            </a:r>
          </a:p>
          <a:p>
            <a:pPr>
              <a:spcBef>
                <a:spcPts val="200"/>
              </a:spcBef>
              <a:spcAft>
                <a:spcPts val="800"/>
              </a:spcAft>
            </a:pPr>
            <a:r>
              <a:rPr sz="1400">
                <a:solidFill>
                  <a:srgbClr val="D4886B"/>
                </a:solidFill>
                <a:latin typeface="Calibri"/>
              </a:rPr>
              <a:t>  –  </a:t>
            </a:r>
            <a:r>
              <a:rPr sz="1400">
                <a:solidFill>
                  <a:srgbClr val="C4A882"/>
                </a:solidFill>
                <a:latin typeface="Calibri"/>
              </a:rPr>
              <a:t>Supports brace expansion: *.{ts,tsx}</a:t>
            </a:r>
          </a:p>
          <a:p>
            <a:pPr>
              <a:spcBef>
                <a:spcPts val="200"/>
              </a:spcBef>
              <a:spcAft>
                <a:spcPts val="800"/>
              </a:spcAft>
            </a:pPr>
            <a:r>
              <a:rPr sz="1400">
                <a:solidFill>
                  <a:srgbClr val="D4886B"/>
                </a:solidFill>
                <a:latin typeface="Calibri"/>
              </a:rPr>
              <a:t>  –  </a:t>
            </a:r>
            <a:r>
              <a:rPr sz="1400">
                <a:solidFill>
                  <a:srgbClr val="C4A882"/>
                </a:solidFill>
                <a:latin typeface="Calibri"/>
              </a:rPr>
              <a:t>Symlink shared rules across repos</a:t>
            </a:r>
          </a:p>
        </p:txBody>
      </p:sp>
      <p:sp>
        <p:nvSpPr>
          <p:cNvPr id="6" name="TextBox 5"/>
          <p:cNvSpPr txBox="1"/>
          <p:nvPr/>
        </p:nvSpPr>
        <p:spPr>
          <a:xfrm>
            <a:off x="6217920" y="1691640"/>
            <a:ext cx="5029200" cy="365760"/>
          </a:xfrm>
          <a:prstGeom prst="rect">
            <a:avLst/>
          </a:prstGeom>
          <a:noFill/>
        </p:spPr>
        <p:txBody>
          <a:bodyPr wrap="square">
            <a:spAutoFit/>
          </a:bodyPr>
          <a:lstStyle/>
          <a:p>
            <a:pPr algn="l">
              <a:spcAft>
                <a:spcPts val="0"/>
              </a:spcAft>
              <a:defRPr sz="1900" b="0" i="0">
                <a:solidFill>
                  <a:srgbClr val="E8D5B7"/>
                </a:solidFill>
                <a:latin typeface="Georgia"/>
              </a:defRPr>
            </a:pPr>
            <a:r>
              <a:t>Advanced Features</a:t>
            </a:r>
          </a:p>
        </p:txBody>
      </p:sp>
      <p:sp>
        <p:nvSpPr>
          <p:cNvPr id="7" name="TextBox 6"/>
          <p:cNvSpPr txBox="1"/>
          <p:nvPr/>
        </p:nvSpPr>
        <p:spPr>
          <a:xfrm>
            <a:off x="6217920" y="2194560"/>
            <a:ext cx="5029200" cy="2743200"/>
          </a:xfrm>
          <a:prstGeom prst="rect">
            <a:avLst/>
          </a:prstGeom>
          <a:noFill/>
        </p:spPr>
        <p:txBody>
          <a:bodyPr wrap="square">
            <a:spAutoFit/>
          </a:bodyPr>
          <a:lstStyle/>
          <a:p>
            <a:pPr>
              <a:spcBef>
                <a:spcPts val="200"/>
              </a:spcBef>
              <a:spcAft>
                <a:spcPts val="800"/>
              </a:spcAft>
            </a:pPr>
            <a:r>
              <a:rPr sz="1400">
                <a:solidFill>
                  <a:srgbClr val="D4886B"/>
                </a:solidFill>
                <a:latin typeface="Calibri"/>
              </a:rPr>
              <a:t>  –  </a:t>
            </a:r>
            <a:r>
              <a:rPr sz="1400" b="1">
                <a:solidFill>
                  <a:srgbClr val="E8D5B7"/>
                </a:solidFill>
                <a:latin typeface="Calibri"/>
              </a:rPr>
              <a:t>@path imports</a:t>
            </a:r>
            <a:r>
              <a:rPr sz="1400">
                <a:solidFill>
                  <a:srgbClr val="C4A882"/>
                </a:solidFill>
                <a:latin typeface="Calibri"/>
              </a:rPr>
              <a:t> — reference external files (max 5 hops deep)</a:t>
            </a:r>
          </a:p>
          <a:p>
            <a:pPr>
              <a:spcBef>
                <a:spcPts val="200"/>
              </a:spcBef>
              <a:spcAft>
                <a:spcPts val="800"/>
              </a:spcAft>
            </a:pPr>
            <a:r>
              <a:rPr sz="1400">
                <a:solidFill>
                  <a:srgbClr val="D4886B"/>
                </a:solidFill>
                <a:latin typeface="Calibri"/>
              </a:rPr>
              <a:t>  –  </a:t>
            </a:r>
            <a:r>
              <a:rPr sz="1400" b="1">
                <a:solidFill>
                  <a:srgbClr val="E8D5B7"/>
                </a:solidFill>
                <a:latin typeface="Calibri"/>
              </a:rPr>
              <a:t>Auto Memory</a:t>
            </a:r>
            <a:r>
              <a:rPr sz="1400">
                <a:solidFill>
                  <a:srgbClr val="C4A882"/>
                </a:solidFill>
                <a:latin typeface="Calibri"/>
              </a:rPr>
              <a:t> — Claude writes its own notes as it works</a:t>
            </a:r>
          </a:p>
          <a:p>
            <a:pPr>
              <a:spcBef>
                <a:spcPts val="200"/>
              </a:spcBef>
              <a:spcAft>
                <a:spcPts val="800"/>
              </a:spcAft>
            </a:pPr>
            <a:r>
              <a:rPr sz="1400">
                <a:solidFill>
                  <a:srgbClr val="D4886B"/>
                </a:solidFill>
                <a:latin typeface="Calibri"/>
              </a:rPr>
              <a:t>  –  </a:t>
            </a:r>
            <a:r>
              <a:rPr sz="1400" b="1">
                <a:solidFill>
                  <a:srgbClr val="E8D5B7"/>
                </a:solidFill>
                <a:latin typeface="Calibri"/>
              </a:rPr>
              <a:t>Custom Slash Commands</a:t>
            </a:r>
            <a:r>
              <a:rPr sz="1400">
                <a:solidFill>
                  <a:srgbClr val="C4A882"/>
                </a:solidFill>
                <a:latin typeface="Calibri"/>
              </a:rPr>
              <a:t> — reusable prompts in .claude/commands/</a:t>
            </a:r>
          </a:p>
          <a:p>
            <a:pPr>
              <a:spcBef>
                <a:spcPts val="200"/>
              </a:spcBef>
              <a:spcAft>
                <a:spcPts val="800"/>
              </a:spcAft>
            </a:pPr>
            <a:r>
              <a:rPr sz="1400">
                <a:solidFill>
                  <a:srgbClr val="D4886B"/>
                </a:solidFill>
                <a:latin typeface="Calibri"/>
              </a:rPr>
              <a:t>  –  </a:t>
            </a:r>
            <a:r>
              <a:rPr sz="1400" b="1">
                <a:solidFill>
                  <a:srgbClr val="E8D5B7"/>
                </a:solidFill>
                <a:latin typeface="Calibri"/>
              </a:rPr>
              <a:t>Subagents</a:t>
            </a:r>
            <a:r>
              <a:rPr sz="1400">
                <a:solidFill>
                  <a:srgbClr val="C4A882"/>
                </a:solidFill>
                <a:latin typeface="Calibri"/>
              </a:rPr>
              <a:t> — specialized AI with custom system prompts</a:t>
            </a:r>
          </a:p>
          <a:p>
            <a:pPr>
              <a:spcBef>
                <a:spcPts val="200"/>
              </a:spcBef>
              <a:spcAft>
                <a:spcPts val="800"/>
              </a:spcAft>
            </a:pPr>
            <a:r>
              <a:rPr sz="1400">
                <a:solidFill>
                  <a:srgbClr val="D4886B"/>
                </a:solidFill>
                <a:latin typeface="Calibri"/>
              </a:rPr>
              <a:t>  –  </a:t>
            </a:r>
            <a:r>
              <a:rPr sz="1400" b="1">
                <a:solidFill>
                  <a:srgbClr val="E8D5B7"/>
                </a:solidFill>
                <a:latin typeface="Calibri"/>
              </a:rPr>
              <a:t>Recursive lookup</a:t>
            </a:r>
            <a:r>
              <a:rPr sz="1400">
                <a:solidFill>
                  <a:srgbClr val="C4A882"/>
                </a:solidFill>
                <a:latin typeface="Calibri"/>
              </a:rPr>
              <a:t> — Claude reads CLAUDE.md up the directory tree</a:t>
            </a:r>
          </a:p>
        </p:txBody>
      </p:sp>
      <p:sp>
        <p:nvSpPr>
          <p:cNvPr id="8" name="Rounded Rectangle 7"/>
          <p:cNvSpPr/>
          <p:nvPr/>
        </p:nvSpPr>
        <p:spPr>
          <a:xfrm>
            <a:off x="731520" y="5120640"/>
            <a:ext cx="1069848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60120" y="5257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61288" y="5257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62456" y="5257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45920" y="519379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Context Window Impact</a:t>
            </a:r>
          </a:p>
        </p:txBody>
      </p:sp>
      <p:sp>
        <p:nvSpPr>
          <p:cNvPr id="13" name="TextBox 12"/>
          <p:cNvSpPr txBox="1"/>
          <p:nvPr/>
        </p:nvSpPr>
        <p:spPr>
          <a:xfrm>
            <a:off x="1097280" y="5715000"/>
            <a:ext cx="10058400" cy="640080"/>
          </a:xfrm>
          <a:prstGeom prst="rect">
            <a:avLst/>
          </a:prstGeom>
          <a:noFill/>
        </p:spPr>
        <p:txBody>
          <a:bodyPr wrap="square">
            <a:spAutoFit/>
          </a:bodyPr>
          <a:lstStyle/>
          <a:p>
            <a:pPr algn="l">
              <a:spcAft>
                <a:spcPts val="0"/>
              </a:spcAft>
              <a:defRPr sz="1400" b="0" i="0">
                <a:solidFill>
                  <a:srgbClr val="C4A882"/>
                </a:solidFill>
                <a:latin typeface="Calibri"/>
              </a:defRPr>
            </a:pPr>
            <a:r>
              <a:t>Claude Code's system prompt has ~50 built-in instructions. Frontier LLMs follow ~150-200 instructions consistently. Every line in CLAUDE.md competes for attention with the actual work.</a:t>
            </a:r>
          </a:p>
        </p:txBody>
      </p:sp>
      <p:sp>
        <p:nvSpPr>
          <p:cNvPr id="14" name="TextBox 13"/>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Key Takeaways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Your action items for mastering Claude's memory</a:t>
            </a:r>
          </a:p>
        </p:txBody>
      </p:sp>
      <p:sp>
        <p:nvSpPr>
          <p:cNvPr id="4" name="TextBox 3"/>
          <p:cNvSpPr txBox="1"/>
          <p:nvPr/>
        </p:nvSpPr>
        <p:spPr>
          <a:xfrm>
            <a:off x="731520" y="1746504"/>
            <a:ext cx="10515600" cy="3657600"/>
          </a:xfrm>
          <a:prstGeom prst="rect">
            <a:avLst/>
          </a:prstGeom>
          <a:noFill/>
        </p:spPr>
        <p:txBody>
          <a:bodyPr wrap="square">
            <a:spAutoFit/>
          </a:bodyPr>
          <a:lstStyle/>
          <a:p>
            <a:pPr>
              <a:spcBef>
                <a:spcPts val="200"/>
              </a:spcBef>
              <a:spcAft>
                <a:spcPts val="1200"/>
              </a:spcAft>
            </a:pPr>
            <a:r>
              <a:rPr sz="1700">
                <a:solidFill>
                  <a:srgbClr val="D4886B"/>
                </a:solidFill>
                <a:latin typeface="Calibri"/>
              </a:rPr>
              <a:t>  –  </a:t>
            </a:r>
            <a:r>
              <a:rPr sz="1700" b="1">
                <a:solidFill>
                  <a:srgbClr val="E8D5B7"/>
                </a:solidFill>
                <a:latin typeface="Calibri"/>
              </a:rPr>
              <a:t>CLAUDE.md is the single highest-leverage file</a:t>
            </a:r>
            <a:r>
              <a:rPr sz="1700">
                <a:solidFill>
                  <a:srgbClr val="C4A882"/>
                </a:solidFill>
                <a:latin typeface="Calibri"/>
              </a:rPr>
              <a:t> — loaded before every conversation</a:t>
            </a:r>
          </a:p>
          <a:p>
            <a:pPr>
              <a:spcBef>
                <a:spcPts val="200"/>
              </a:spcBef>
              <a:spcAft>
                <a:spcPts val="1200"/>
              </a:spcAft>
            </a:pPr>
            <a:r>
              <a:rPr sz="1700">
                <a:solidFill>
                  <a:srgbClr val="D4886B"/>
                </a:solidFill>
                <a:latin typeface="Calibri"/>
              </a:rPr>
              <a:t>  –  </a:t>
            </a:r>
            <a:r>
              <a:rPr sz="1700" b="1">
                <a:solidFill>
                  <a:srgbClr val="E8D5B7"/>
                </a:solidFill>
                <a:latin typeface="Calibri"/>
              </a:rPr>
              <a:t>Six-level hierarchy</a:t>
            </a:r>
            <a:r>
              <a:rPr sz="1700">
                <a:solidFill>
                  <a:srgbClr val="C4A882"/>
                </a:solidFill>
                <a:latin typeface="Calibri"/>
              </a:rPr>
              <a:t> — provides granular control from org-wide to auto memory</a:t>
            </a:r>
          </a:p>
          <a:p>
            <a:pPr>
              <a:spcBef>
                <a:spcPts val="200"/>
              </a:spcBef>
              <a:spcAft>
                <a:spcPts val="1200"/>
              </a:spcAft>
            </a:pPr>
            <a:r>
              <a:rPr sz="1700">
                <a:solidFill>
                  <a:srgbClr val="D4886B"/>
                </a:solidFill>
                <a:latin typeface="Calibri"/>
              </a:rPr>
              <a:t>  –  </a:t>
            </a:r>
            <a:r>
              <a:rPr sz="1700" b="1">
                <a:solidFill>
                  <a:srgbClr val="E8D5B7"/>
                </a:solidFill>
                <a:latin typeface="Calibri"/>
              </a:rPr>
              <a:t>Less is more</a:t>
            </a:r>
            <a:r>
              <a:rPr sz="1700">
                <a:solidFill>
                  <a:srgbClr val="C4A882"/>
                </a:solidFill>
                <a:latin typeface="Calibri"/>
              </a:rPr>
              <a:t> — keep instructions concise, specific, and universally applicable</a:t>
            </a:r>
          </a:p>
          <a:p>
            <a:pPr>
              <a:spcBef>
                <a:spcPts val="200"/>
              </a:spcBef>
              <a:spcAft>
                <a:spcPts val="1200"/>
              </a:spcAft>
            </a:pPr>
            <a:r>
              <a:rPr sz="1700">
                <a:solidFill>
                  <a:srgbClr val="D4886B"/>
                </a:solidFill>
                <a:latin typeface="Calibri"/>
              </a:rPr>
              <a:t>  –  </a:t>
            </a:r>
            <a:r>
              <a:rPr sz="1700" b="1">
                <a:solidFill>
                  <a:srgbClr val="E8D5B7"/>
                </a:solidFill>
                <a:latin typeface="Calibri"/>
              </a:rPr>
              <a:t>Progressive disclosure</a:t>
            </a:r>
            <a:r>
              <a:rPr sz="1700">
                <a:solidFill>
                  <a:srgbClr val="C4A882"/>
                </a:solidFill>
                <a:latin typeface="Calibri"/>
              </a:rPr>
              <a:t> — use @imports and .claude/rules/ instead of one massive file</a:t>
            </a:r>
          </a:p>
          <a:p>
            <a:pPr>
              <a:spcBef>
                <a:spcPts val="200"/>
              </a:spcBef>
              <a:spcAft>
                <a:spcPts val="1200"/>
              </a:spcAft>
            </a:pPr>
            <a:r>
              <a:rPr sz="1700">
                <a:solidFill>
                  <a:srgbClr val="D4886B"/>
                </a:solidFill>
                <a:latin typeface="Calibri"/>
              </a:rPr>
              <a:t>  –  </a:t>
            </a:r>
            <a:r>
              <a:rPr sz="1700" b="1">
                <a:solidFill>
                  <a:srgbClr val="E8D5B7"/>
                </a:solidFill>
                <a:latin typeface="Calibri"/>
              </a:rPr>
              <a:t>AGENTS.md</a:t>
            </a:r>
            <a:r>
              <a:rPr sz="1700">
                <a:solidFill>
                  <a:srgbClr val="C4A882"/>
                </a:solidFill>
                <a:latin typeface="Calibri"/>
              </a:rPr>
              <a:t> — the tool-agnostic standard; symlink for cross-tool compatibility</a:t>
            </a:r>
          </a:p>
          <a:p>
            <a:pPr>
              <a:spcBef>
                <a:spcPts val="200"/>
              </a:spcBef>
              <a:spcAft>
                <a:spcPts val="1200"/>
              </a:spcAft>
            </a:pPr>
            <a:r>
              <a:rPr sz="1700">
                <a:solidFill>
                  <a:srgbClr val="D4886B"/>
                </a:solidFill>
                <a:latin typeface="Calibri"/>
              </a:rPr>
              <a:t>  –  </a:t>
            </a:r>
            <a:r>
              <a:rPr sz="1700" b="1">
                <a:solidFill>
                  <a:srgbClr val="E8D5B7"/>
                </a:solidFill>
                <a:latin typeface="Calibri"/>
              </a:rPr>
              <a:t>Living document</a:t>
            </a:r>
            <a:r>
              <a:rPr sz="1700">
                <a:solidFill>
                  <a:srgbClr val="C4A882"/>
                </a:solidFill>
                <a:latin typeface="Calibri"/>
              </a:rPr>
              <a:t> — evolve through actual usage friction, not upfront planning</a:t>
            </a:r>
          </a:p>
          <a:p>
            <a:pPr>
              <a:spcBef>
                <a:spcPts val="200"/>
              </a:spcBef>
              <a:spcAft>
                <a:spcPts val="1200"/>
              </a:spcAft>
            </a:pPr>
            <a:r>
              <a:rPr sz="1700">
                <a:solidFill>
                  <a:srgbClr val="D4886B"/>
                </a:solidFill>
                <a:latin typeface="Calibri"/>
              </a:rPr>
              <a:t>  –  </a:t>
            </a:r>
            <a:r>
              <a:rPr sz="1700" b="1">
                <a:solidFill>
                  <a:srgbClr val="E8D5B7"/>
                </a:solidFill>
                <a:latin typeface="Calibri"/>
              </a:rPr>
              <a:t>Never include sensitive information</a:t>
            </a:r>
            <a:r>
              <a:rPr sz="1700">
                <a:solidFill>
                  <a:srgbClr val="C4A882"/>
                </a:solidFill>
                <a:latin typeface="Calibri"/>
              </a:rPr>
              <a:t> — no API keys, credentials, or secrets</a:t>
            </a:r>
          </a:p>
        </p:txBody>
      </p:sp>
      <p:sp>
        <p:nvSpPr>
          <p:cNvPr id="5" name="Rectangle 4"/>
          <p:cNvSpPr/>
          <p:nvPr/>
        </p:nvSpPr>
        <p:spPr>
          <a:xfrm>
            <a:off x="731520" y="5303520"/>
            <a:ext cx="105156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286000" y="5486400"/>
            <a:ext cx="7589520" cy="8229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514600" y="56235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715768" y="56235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916936" y="56235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18886" y="5852160"/>
            <a:ext cx="7040880" cy="457200"/>
          </a:xfrm>
          <a:prstGeom prst="rect">
            <a:avLst/>
          </a:prstGeom>
          <a:noFill/>
        </p:spPr>
        <p:txBody>
          <a:bodyPr wrap="square">
            <a:spAutoFit/>
          </a:bodyPr>
          <a:lstStyle/>
          <a:p>
            <a:pPr algn="ctr">
              <a:spcAft>
                <a:spcPts val="0"/>
              </a:spcAft>
              <a:defRPr sz="1800" b="0" i="0">
                <a:solidFill>
                  <a:srgbClr val="D4886B"/>
                </a:solidFill>
                <a:latin typeface="JetBrains Mono"/>
              </a:defRPr>
            </a:pPr>
            <a:r>
              <a:rPr dirty="0"/>
              <a:t>Next step:  cd your-project &amp;&amp; </a:t>
            </a:r>
            <a:r>
              <a:rPr dirty="0" err="1"/>
              <a:t>claude</a:t>
            </a:r>
            <a:r>
              <a:rPr dirty="0"/>
              <a:t> &amp;&amp; /</a:t>
            </a:r>
            <a:r>
              <a:rPr dirty="0" err="1"/>
              <a:t>init</a:t>
            </a:r>
            <a:endParaRPr dirty="0"/>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2332</Words>
  <Application>Microsoft Macintosh PowerPoint</Application>
  <PresentationFormat>Widescreen</PresentationFormat>
  <Paragraphs>154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4</cp:revision>
  <dcterms:created xsi:type="dcterms:W3CDTF">2013-01-27T09:14:16Z</dcterms:created>
  <dcterms:modified xsi:type="dcterms:W3CDTF">2026-02-25T14:30:16Z</dcterms:modified>
  <cp:category/>
</cp:coreProperties>
</file>