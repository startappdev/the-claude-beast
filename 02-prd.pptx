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62" r:id="rId4"/>
    <p:sldId id="263" r:id="rId5"/>
    <p:sldId id="264" r:id="rId6"/>
    <p:sldId id="265"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08"/>
    <p:restoredTop sz="94696"/>
  </p:normalViewPr>
  <p:slideViewPr>
    <p:cSldViewPr snapToGrid="0" snapToObjects="1">
      <p:cViewPr varScale="1">
        <p:scale>
          <a:sx n="123" d="100"/>
          <a:sy n="123" d="100"/>
        </p:scale>
        <p:origin x="208" y="2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3952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The Claude Beast series. Today we're covering one of the most critical topics in AI-assisted development: Product Requirements Documents, or PRDs. PRDs have undergone a fundamental transformation in the AI era. They've evolved from alignment artifacts between humans into programming interfaces for AI coding agents. By the end of this session, you'll understand how to write PRDs that dramatically improve the quality of AI-generated code, and the methodology that top-performing teams use to go from requirements to working software.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start with the paradigm shift. Traditionally, PRDs served as alignment artifacts between humans -- shared documents that engineers would interpret and translate into code. In the AI era, PRDs have become something fundamentally different: they're now programming interfaces. AI coding agents require specifications that are precise enough to execute, structured enough to sequence, and constrained enough to prevent scope drift. As GitHub's engineering team declared in September 2025, we're shifting from 'code is the source of truth' to 'intent is the source of truth.' This is a profound change in how we think about software development.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core methodology. The PRD-to-Plan-to-Todo workflow has become the gold standard for teams using Claude Code and similar tools. It has three distinct phases. Phase 1: Feed Claude the requirements. The critical instruction is 'before writing any code.' Without it, Claude often jumps straight to implementation. You want Claude to read, summarize, identify ambiguities, and suggest an architecture approach first. Phase 2: Generate the plan. Have Claude create a detailed implementation plan listing all files, changes, dependencies, and complexity estimates. Review this before any code is written. Phase 3: Execute with task tracking. Convert the plan into numbered tasks and implement step by step, with approval checkpoints after each major step. This pattern has converged across all major platforms: GitHub calls it Spec Kit, Replit has Plan Mode versus Build Mode, Claude Code calls it Explore-Plan-Code-Commit.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something fascinating: every major AI coding platform has independently converged on the same pattern. Specify, then Plan, then Tasks, then Implement. Claude Code calls it Explore-Plan-Code-Commit. GitHub formalized it as spec-driven development with Spec Kit. Cursor uses a plan-critique-execute pattern. Replit separates Plan Mode from Build Mode. JetBrains Junie mandates a research phase before implementation. And there's a convergence on configuration files too. The AGENTS.md open standard, jointly launched in late 2025 by Google, OpenAI, Factory, Sourcegraph, and Cursor, represents an emerging cross-platform standard for agent specification files. The message is clear: planning before coding isn't just a best practice anymore. It's becoming the universal workflow for AI-assisted development.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PRDs don't exist in isolation. They sit at the top of the development funnel, capturing the output of brainstorming, user research, and strategic planning, then funneling it into a structured format that both humans and AI can act on. A key insight from the Claude Code for Product Managers course: AI is most valuable when it helps you think better, not when it does all the thinking for you. The best PRDs combine human judgment with AI's ability to process full context and provide diverse perspectives. There are four core techniques to master. First, provide full context through at-mentions. Second, use Socratic questioning to sharpen your thinking before writing. Third, have Claude generate multiple strategic approaches so you can compare them. And fourth, get multi-perspective feedback by having sub-agents review from engineer, executive, and user researcher perspectives. Andrew Ng observed that for the first time, managers are proposing twice as many PMs as engineers. The PM role is evolving toward specification architecting.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leave you with these eight key takeaways. First: PRDs are no longer optional. They are THE primary input that determines AI output quality. Second: Always plan first. Follow the PRD to Plan to Todo to Code methodology. Never jump straight to implementation. Third: Structure matters more than ever. Bullets, sections, and numbers work better than prose. Fourth: Phase your work into 5 to 6 phases of 30 to 50 requirements each. Fifth: State non-goals positively. AI cannot infer what you didn't say. Sixth: Research before you specify. LLM training data goes stale, so verify current capabilities. Seventh: Use the DO NOT CHANGE pattern to protect stable code. And eighth: Remember that AI is a thinking partner, not a replacement. The best PRDs combine human judgment with AI's ability to process context and generate options. My call to action is simple: for your very next feature, write a PRD before writing a single line of code. You'll be amazed at the difference it makes.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5486400" cy="365760"/>
          </a:xfrm>
          <a:prstGeom prst="rect">
            <a:avLst/>
          </a:prstGeom>
          <a:noFill/>
        </p:spPr>
        <p:txBody>
          <a:bodyPr wrap="square">
            <a:spAutoFit/>
          </a:bodyPr>
          <a:lstStyle/>
          <a:p>
            <a:pPr algn="l">
              <a:spcAft>
                <a:spcPts val="0"/>
              </a:spcAft>
              <a:defRPr sz="1300" b="0" i="0">
                <a:solidFill>
                  <a:srgbClr val="7A6E5D"/>
                </a:solidFill>
                <a:latin typeface="JetBrains Mono"/>
              </a:defRPr>
            </a:pPr>
            <a:r>
              <a:t>THE CLAUDE BEAST</a:t>
            </a:r>
          </a:p>
        </p:txBody>
      </p:sp>
      <p:sp>
        <p:nvSpPr>
          <p:cNvPr id="3" name="TextBox 2"/>
          <p:cNvSpPr txBox="1"/>
          <p:nvPr/>
        </p:nvSpPr>
        <p:spPr>
          <a:xfrm>
            <a:off x="731520" y="1828800"/>
            <a:ext cx="10515600" cy="1371600"/>
          </a:xfrm>
          <a:prstGeom prst="rect">
            <a:avLst/>
          </a:prstGeom>
          <a:noFill/>
        </p:spPr>
        <p:txBody>
          <a:bodyPr wrap="square">
            <a:spAutoFit/>
          </a:bodyPr>
          <a:lstStyle/>
          <a:p>
            <a:pPr algn="ctr">
              <a:spcAft>
                <a:spcPts val="0"/>
              </a:spcAft>
              <a:defRPr sz="5400" b="0" i="0">
                <a:solidFill>
                  <a:srgbClr val="E8D5B7"/>
                </a:solidFill>
                <a:latin typeface="Georgia"/>
              </a:defRPr>
            </a:pPr>
            <a:r>
              <a:t>PRD: Product Requirements</a:t>
            </a:r>
            <a:br/>
            <a:r>
              <a:t>Documents</a:t>
            </a:r>
          </a:p>
        </p:txBody>
      </p:sp>
      <p:sp>
        <p:nvSpPr>
          <p:cNvPr id="4" name="TextBox 3"/>
          <p:cNvSpPr txBox="1"/>
          <p:nvPr/>
        </p:nvSpPr>
        <p:spPr>
          <a:xfrm>
            <a:off x="731520" y="3383280"/>
            <a:ext cx="10515600" cy="731520"/>
          </a:xfrm>
          <a:prstGeom prst="rect">
            <a:avLst/>
          </a:prstGeom>
          <a:noFill/>
        </p:spPr>
        <p:txBody>
          <a:bodyPr wrap="square">
            <a:spAutoFit/>
          </a:bodyPr>
          <a:lstStyle/>
          <a:p>
            <a:pPr algn="ctr">
              <a:spcAft>
                <a:spcPts val="0"/>
              </a:spcAft>
              <a:defRPr sz="2400" b="0" i="0">
                <a:solidFill>
                  <a:srgbClr val="C4A882"/>
                </a:solidFill>
                <a:latin typeface="Calibri"/>
              </a:defRPr>
            </a:pPr>
            <a:r>
              <a:rPr dirty="0"/>
              <a:t>How PRDs became the most important input for AI-assisted development</a:t>
            </a:r>
          </a:p>
        </p:txBody>
      </p:sp>
      <p:sp>
        <p:nvSpPr>
          <p:cNvPr id="5" name="Rectangle 4"/>
          <p:cNvSpPr/>
          <p:nvPr/>
        </p:nvSpPr>
        <p:spPr>
          <a:xfrm>
            <a:off x="4114800" y="4114800"/>
            <a:ext cx="39319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389120"/>
            <a:ext cx="10515600" cy="457200"/>
          </a:xfrm>
          <a:prstGeom prst="rect">
            <a:avLst/>
          </a:prstGeom>
          <a:noFill/>
        </p:spPr>
        <p:txBody>
          <a:bodyPr wrap="square">
            <a:spAutoFit/>
          </a:bodyPr>
          <a:lstStyle/>
          <a:p>
            <a:pPr algn="ctr">
              <a:spcAft>
                <a:spcPts val="0"/>
              </a:spcAft>
              <a:defRPr sz="1600" b="0" i="1">
                <a:solidFill>
                  <a:srgbClr val="D4886B"/>
                </a:solidFill>
                <a:latin typeface="Calibri"/>
              </a:defRPr>
            </a:pPr>
            <a:r>
              <a:t>start.io  |  Agentic Development Series  |  2026</a:t>
            </a:r>
          </a:p>
        </p:txBody>
      </p:sp>
      <p:sp>
        <p:nvSpPr>
          <p:cNvPr id="7" name="TextBox 6"/>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 /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1120403" y="807194"/>
            <a:ext cx="10515600" cy="914400"/>
          </a:xfrm>
          <a:prstGeom prst="rect">
            <a:avLst/>
          </a:prstGeom>
          <a:noFill/>
        </p:spPr>
        <p:txBody>
          <a:bodyPr wrap="square">
            <a:spAutoFit/>
          </a:bodyPr>
          <a:lstStyle/>
          <a:p>
            <a:pPr algn="ctr">
              <a:spcAft>
                <a:spcPts val="0"/>
              </a:spcAft>
              <a:defRPr sz="3200" b="0" i="0">
                <a:solidFill>
                  <a:srgbClr val="E8D5B7"/>
                </a:solidFill>
                <a:latin typeface="Georgia"/>
              </a:defRPr>
            </a:pPr>
            <a:r>
              <a:t>PRDs have evolved from human alignment</a:t>
            </a:r>
            <a:br/>
            <a:r>
              <a:t>documents to AI programming interfaces</a:t>
            </a:r>
          </a:p>
        </p:txBody>
      </p:sp>
      <p:sp>
        <p:nvSpPr>
          <p:cNvPr id="3" name="Rounded Rectangle 2"/>
          <p:cNvSpPr/>
          <p:nvPr/>
        </p:nvSpPr>
        <p:spPr>
          <a:xfrm>
            <a:off x="882869" y="2081048"/>
            <a:ext cx="4992414" cy="299544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349003" y="2407394"/>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550171" y="2407394"/>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751339" y="2407394"/>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34803" y="2343386"/>
            <a:ext cx="3566160" cy="320040"/>
          </a:xfrm>
          <a:prstGeom prst="rect">
            <a:avLst/>
          </a:prstGeom>
          <a:noFill/>
        </p:spPr>
        <p:txBody>
          <a:bodyPr wrap="square">
            <a:spAutoFit/>
          </a:bodyPr>
          <a:lstStyle/>
          <a:p>
            <a:pPr algn="ctr">
              <a:spcAft>
                <a:spcPts val="0"/>
              </a:spcAft>
              <a:defRPr sz="1100" b="0" i="0">
                <a:solidFill>
                  <a:srgbClr val="7A6E5D"/>
                </a:solidFill>
                <a:latin typeface="Calibri"/>
              </a:defRPr>
            </a:pPr>
            <a:r>
              <a:t>TRADITIONAL PRDs</a:t>
            </a:r>
          </a:p>
        </p:txBody>
      </p:sp>
      <p:sp>
        <p:nvSpPr>
          <p:cNvPr id="8" name="TextBox 7"/>
          <p:cNvSpPr txBox="1"/>
          <p:nvPr/>
        </p:nvSpPr>
        <p:spPr>
          <a:xfrm>
            <a:off x="1394723" y="2818874"/>
            <a:ext cx="4389120" cy="3200400"/>
          </a:xfrm>
          <a:prstGeom prst="rect">
            <a:avLst/>
          </a:prstGeom>
          <a:noFill/>
        </p:spPr>
        <p:txBody>
          <a:bodyPr wrap="square">
            <a:spAutoFit/>
          </a:bodyPr>
          <a:lstStyle/>
          <a:p>
            <a:pPr>
              <a:spcBef>
                <a:spcPts val="200"/>
              </a:spcBef>
              <a:spcAft>
                <a:spcPts val="1000"/>
              </a:spcAft>
            </a:pPr>
            <a:r>
              <a:rPr sz="1600">
                <a:solidFill>
                  <a:srgbClr val="D4886B"/>
                </a:solidFill>
                <a:latin typeface="Calibri"/>
              </a:rPr>
              <a:t>  –  </a:t>
            </a:r>
            <a:r>
              <a:rPr sz="1600">
                <a:solidFill>
                  <a:srgbClr val="C4A882"/>
                </a:solidFill>
                <a:latin typeface="Calibri"/>
              </a:rPr>
              <a:t>Alignment artifact between humans</a:t>
            </a:r>
          </a:p>
          <a:p>
            <a:pPr>
              <a:spcBef>
                <a:spcPts val="200"/>
              </a:spcBef>
              <a:spcAft>
                <a:spcPts val="1000"/>
              </a:spcAft>
            </a:pPr>
            <a:r>
              <a:rPr sz="1600">
                <a:solidFill>
                  <a:srgbClr val="D4886B"/>
                </a:solidFill>
                <a:latin typeface="Calibri"/>
              </a:rPr>
              <a:t>  –  </a:t>
            </a:r>
            <a:r>
              <a:rPr sz="1600">
                <a:solidFill>
                  <a:srgbClr val="C4A882"/>
                </a:solidFill>
                <a:latin typeface="Calibri"/>
              </a:rPr>
              <a:t>Monolithic documents for holistic comprehension</a:t>
            </a:r>
          </a:p>
          <a:p>
            <a:pPr>
              <a:spcBef>
                <a:spcPts val="200"/>
              </a:spcBef>
              <a:spcAft>
                <a:spcPts val="1000"/>
              </a:spcAft>
            </a:pPr>
            <a:r>
              <a:rPr sz="1600">
                <a:solidFill>
                  <a:srgbClr val="D4886B"/>
                </a:solidFill>
                <a:latin typeface="Calibri"/>
              </a:rPr>
              <a:t>  –  </a:t>
            </a:r>
            <a:r>
              <a:rPr sz="1600">
                <a:solidFill>
                  <a:srgbClr val="C4A882"/>
                </a:solidFill>
                <a:latin typeface="Calibri"/>
              </a:rPr>
              <a:t>Optional nice-to-have documentation</a:t>
            </a:r>
          </a:p>
          <a:p>
            <a:pPr>
              <a:spcBef>
                <a:spcPts val="200"/>
              </a:spcBef>
              <a:spcAft>
                <a:spcPts val="1000"/>
              </a:spcAft>
            </a:pPr>
            <a:r>
              <a:rPr sz="1600">
                <a:solidFill>
                  <a:srgbClr val="D4886B"/>
                </a:solidFill>
                <a:latin typeface="Calibri"/>
              </a:rPr>
              <a:t>  –  </a:t>
            </a:r>
            <a:r>
              <a:rPr sz="1600">
                <a:solidFill>
                  <a:srgbClr val="C4A882"/>
                </a:solidFill>
                <a:latin typeface="Calibri"/>
              </a:rPr>
              <a:t>Code was the source of truth</a:t>
            </a:r>
          </a:p>
        </p:txBody>
      </p:sp>
      <p:sp>
        <p:nvSpPr>
          <p:cNvPr id="9" name="Rounded Rectangle 8"/>
          <p:cNvSpPr/>
          <p:nvPr/>
        </p:nvSpPr>
        <p:spPr>
          <a:xfrm>
            <a:off x="6067541" y="2081048"/>
            <a:ext cx="5150886" cy="299544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561083" y="2407394"/>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762251" y="2407394"/>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963419" y="2407394"/>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46883" y="2343386"/>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AI-ERA PRDs</a:t>
            </a:r>
          </a:p>
        </p:txBody>
      </p:sp>
      <p:sp>
        <p:nvSpPr>
          <p:cNvPr id="14" name="TextBox 13"/>
          <p:cNvSpPr txBox="1"/>
          <p:nvPr/>
        </p:nvSpPr>
        <p:spPr>
          <a:xfrm>
            <a:off x="6606803" y="2818874"/>
            <a:ext cx="4846320" cy="3200400"/>
          </a:xfrm>
          <a:prstGeom prst="rect">
            <a:avLst/>
          </a:prstGeom>
          <a:noFill/>
        </p:spPr>
        <p:txBody>
          <a:bodyPr wrap="square">
            <a:spAutoFit/>
          </a:bodyPr>
          <a:lstStyle/>
          <a:p>
            <a:pPr>
              <a:spcBef>
                <a:spcPts val="200"/>
              </a:spcBef>
              <a:spcAft>
                <a:spcPts val="1000"/>
              </a:spcAft>
            </a:pPr>
            <a:r>
              <a:rPr sz="1600">
                <a:solidFill>
                  <a:srgbClr val="D4886B"/>
                </a:solidFill>
                <a:latin typeface="Calibri"/>
              </a:rPr>
              <a:t>  –  </a:t>
            </a:r>
            <a:r>
              <a:rPr sz="1600">
                <a:solidFill>
                  <a:srgbClr val="C4A882"/>
                </a:solidFill>
                <a:latin typeface="Calibri"/>
              </a:rPr>
              <a:t>Programming interface for AI agents</a:t>
            </a:r>
          </a:p>
          <a:p>
            <a:pPr>
              <a:spcBef>
                <a:spcPts val="200"/>
              </a:spcBef>
              <a:spcAft>
                <a:spcPts val="1000"/>
              </a:spcAft>
            </a:pPr>
            <a:r>
              <a:rPr sz="1600">
                <a:solidFill>
                  <a:srgbClr val="D4886B"/>
                </a:solidFill>
                <a:latin typeface="Calibri"/>
              </a:rPr>
              <a:t>  –  </a:t>
            </a:r>
            <a:r>
              <a:rPr sz="1600">
                <a:solidFill>
                  <a:srgbClr val="C4A882"/>
                </a:solidFill>
                <a:latin typeface="Calibri"/>
              </a:rPr>
              <a:t>Sequential, dependency-ordered phases with testable criteria</a:t>
            </a:r>
          </a:p>
          <a:p>
            <a:pPr>
              <a:spcBef>
                <a:spcPts val="200"/>
              </a:spcBef>
              <a:spcAft>
                <a:spcPts val="1000"/>
              </a:spcAft>
            </a:pPr>
            <a:r>
              <a:rPr sz="1600">
                <a:solidFill>
                  <a:srgbClr val="D4886B"/>
                </a:solidFill>
                <a:latin typeface="Calibri"/>
              </a:rPr>
              <a:t>  –  </a:t>
            </a:r>
            <a:r>
              <a:rPr sz="1600">
                <a:solidFill>
                  <a:srgbClr val="C4A882"/>
                </a:solidFill>
                <a:latin typeface="Calibri"/>
              </a:rPr>
              <a:t>Essential input that determines output quality</a:t>
            </a:r>
          </a:p>
          <a:p>
            <a:pPr>
              <a:spcBef>
                <a:spcPts val="200"/>
              </a:spcBef>
              <a:spcAft>
                <a:spcPts val="1000"/>
              </a:spcAft>
            </a:pPr>
            <a:r>
              <a:rPr sz="1600">
                <a:solidFill>
                  <a:srgbClr val="D4886B"/>
                </a:solidFill>
                <a:latin typeface="Calibri"/>
              </a:rPr>
              <a:t>  –  </a:t>
            </a:r>
            <a:r>
              <a:rPr sz="1600">
                <a:solidFill>
                  <a:srgbClr val="C4A882"/>
                </a:solidFill>
                <a:latin typeface="Calibri"/>
              </a:rPr>
              <a:t>Intent is the source of truth</a:t>
            </a:r>
          </a:p>
        </p:txBody>
      </p:sp>
      <p:sp>
        <p:nvSpPr>
          <p:cNvPr id="15" name="TextBox 14"/>
          <p:cNvSpPr txBox="1"/>
          <p:nvPr/>
        </p:nvSpPr>
        <p:spPr>
          <a:xfrm>
            <a:off x="5349766" y="3377991"/>
            <a:ext cx="1211317" cy="492443"/>
          </a:xfrm>
          <a:prstGeom prst="rect">
            <a:avLst/>
          </a:prstGeom>
          <a:noFill/>
        </p:spPr>
        <p:txBody>
          <a:bodyPr wrap="square">
            <a:spAutoFit/>
          </a:bodyPr>
          <a:lstStyle/>
          <a:p>
            <a:pPr algn="ctr">
              <a:spcAft>
                <a:spcPts val="0"/>
              </a:spcAft>
              <a:defRPr sz="2600" b="1" i="0">
                <a:solidFill>
                  <a:srgbClr val="D4886B"/>
                </a:solidFill>
                <a:latin typeface="JetBrains Mono"/>
              </a:defRPr>
            </a:pPr>
            <a:r>
              <a:rPr dirty="0"/>
              <a:t>❯❯❯</a:t>
            </a:r>
          </a:p>
        </p:txBody>
      </p:sp>
      <p:sp>
        <p:nvSpPr>
          <p:cNvPr id="16" name="TextBox 15"/>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000" b="0" i="0">
                <a:solidFill>
                  <a:srgbClr val="E8D5B7"/>
                </a:solidFill>
                <a:latin typeface="Georgia"/>
              </a:defRPr>
            </a:pPr>
            <a:r>
              <a:t>The PRD-to-Plan-to-Todo methodology is the gold</a:t>
            </a:r>
            <a:br/>
            <a:r>
              <a:t>standard for AI-assisted development teams</a:t>
            </a:r>
          </a:p>
        </p:txBody>
      </p:sp>
      <p:sp>
        <p:nvSpPr>
          <p:cNvPr id="3" name="TextBox 2"/>
          <p:cNvSpPr txBox="1"/>
          <p:nvPr/>
        </p:nvSpPr>
        <p:spPr>
          <a:xfrm>
            <a:off x="731520" y="1691640"/>
            <a:ext cx="457200" cy="411480"/>
          </a:xfrm>
          <a:prstGeom prst="rect">
            <a:avLst/>
          </a:prstGeom>
          <a:noFill/>
        </p:spPr>
        <p:txBody>
          <a:bodyPr wrap="square">
            <a:spAutoFit/>
          </a:bodyPr>
          <a:lstStyle/>
          <a:p>
            <a:pPr algn="ctr">
              <a:spcAft>
                <a:spcPts val="0"/>
              </a:spcAft>
              <a:defRPr sz="2800" b="1" i="0">
                <a:solidFill>
                  <a:srgbClr val="D4886B"/>
                </a:solidFill>
                <a:latin typeface="JetBrains Mono"/>
              </a:defRPr>
            </a:pPr>
            <a:r>
              <a:t>1</a:t>
            </a:r>
          </a:p>
        </p:txBody>
      </p:sp>
      <p:sp>
        <p:nvSpPr>
          <p:cNvPr id="4" name="TextBox 3"/>
          <p:cNvSpPr txBox="1"/>
          <p:nvPr/>
        </p:nvSpPr>
        <p:spPr>
          <a:xfrm>
            <a:off x="1234440" y="1691640"/>
            <a:ext cx="2286000" cy="411480"/>
          </a:xfrm>
          <a:prstGeom prst="rect">
            <a:avLst/>
          </a:prstGeom>
          <a:noFill/>
        </p:spPr>
        <p:txBody>
          <a:bodyPr wrap="square">
            <a:spAutoFit/>
          </a:bodyPr>
          <a:lstStyle/>
          <a:p>
            <a:pPr algn="l">
              <a:spcAft>
                <a:spcPts val="0"/>
              </a:spcAft>
              <a:defRPr sz="2400" b="0" i="0">
                <a:solidFill>
                  <a:srgbClr val="E8D5B7"/>
                </a:solidFill>
                <a:latin typeface="Georgia"/>
              </a:defRPr>
            </a:pPr>
            <a:r>
              <a:t>PRD</a:t>
            </a:r>
          </a:p>
        </p:txBody>
      </p:sp>
      <p:sp>
        <p:nvSpPr>
          <p:cNvPr id="5" name="TextBox 4"/>
          <p:cNvSpPr txBox="1"/>
          <p:nvPr/>
        </p:nvSpPr>
        <p:spPr>
          <a:xfrm>
            <a:off x="1234440" y="2103120"/>
            <a:ext cx="2743200" cy="274320"/>
          </a:xfrm>
          <a:prstGeom prst="rect">
            <a:avLst/>
          </a:prstGeom>
          <a:noFill/>
        </p:spPr>
        <p:txBody>
          <a:bodyPr wrap="square">
            <a:spAutoFit/>
          </a:bodyPr>
          <a:lstStyle/>
          <a:p>
            <a:pPr algn="l">
              <a:spcAft>
                <a:spcPts val="0"/>
              </a:spcAft>
              <a:defRPr sz="1400" b="0" i="1">
                <a:solidFill>
                  <a:srgbClr val="D4886B"/>
                </a:solidFill>
                <a:latin typeface="Calibri"/>
              </a:defRPr>
            </a:pPr>
            <a:r>
              <a:t>WHAT to build</a:t>
            </a:r>
          </a:p>
        </p:txBody>
      </p:sp>
      <p:sp>
        <p:nvSpPr>
          <p:cNvPr id="6" name="Rounded Rectangle 5"/>
          <p:cNvSpPr/>
          <p:nvPr/>
        </p:nvSpPr>
        <p:spPr>
          <a:xfrm>
            <a:off x="731520" y="2560320"/>
            <a:ext cx="3291840" cy="29260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60120" y="269748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61288" y="269748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362456" y="269748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3017520"/>
            <a:ext cx="2834640" cy="2286000"/>
          </a:xfrm>
          <a:prstGeom prst="rect">
            <a:avLst/>
          </a:prstGeom>
          <a:noFill/>
        </p:spPr>
        <p:txBody>
          <a:bodyPr wrap="square">
            <a:spAutoFit/>
          </a:bodyPr>
          <a:lstStyle/>
          <a:p>
            <a:pPr>
              <a:spcBef>
                <a:spcPts val="200"/>
              </a:spcBef>
              <a:spcAft>
                <a:spcPts val="1000"/>
              </a:spcAft>
            </a:pPr>
            <a:r>
              <a:rPr sz="1400">
                <a:solidFill>
                  <a:srgbClr val="D4886B"/>
                </a:solidFill>
                <a:latin typeface="Calibri"/>
              </a:rPr>
              <a:t>  –  </a:t>
            </a:r>
            <a:r>
              <a:rPr sz="1400">
                <a:solidFill>
                  <a:srgbClr val="C4A882"/>
                </a:solidFill>
                <a:latin typeface="Calibri"/>
              </a:rPr>
              <a:t>Requirements &amp; features</a:t>
            </a:r>
          </a:p>
          <a:p>
            <a:pPr>
              <a:spcBef>
                <a:spcPts val="200"/>
              </a:spcBef>
              <a:spcAft>
                <a:spcPts val="1000"/>
              </a:spcAft>
            </a:pPr>
            <a:r>
              <a:rPr sz="1400">
                <a:solidFill>
                  <a:srgbClr val="D4886B"/>
                </a:solidFill>
                <a:latin typeface="Calibri"/>
              </a:rPr>
              <a:t>  –  </a:t>
            </a:r>
            <a:r>
              <a:rPr sz="1400">
                <a:solidFill>
                  <a:srgbClr val="C4A882"/>
                </a:solidFill>
                <a:latin typeface="Calibri"/>
              </a:rPr>
              <a:t>Acceptance criteria</a:t>
            </a:r>
          </a:p>
          <a:p>
            <a:pPr>
              <a:spcBef>
                <a:spcPts val="200"/>
              </a:spcBef>
              <a:spcAft>
                <a:spcPts val="1000"/>
              </a:spcAft>
            </a:pPr>
            <a:r>
              <a:rPr sz="1400">
                <a:solidFill>
                  <a:srgbClr val="D4886B"/>
                </a:solidFill>
                <a:latin typeface="Calibri"/>
              </a:rPr>
              <a:t>  –  </a:t>
            </a:r>
            <a:r>
              <a:rPr sz="1400">
                <a:solidFill>
                  <a:srgbClr val="C4A882"/>
                </a:solidFill>
                <a:latin typeface="Calibri"/>
              </a:rPr>
              <a:t>Constraints &amp; non-goals</a:t>
            </a:r>
          </a:p>
          <a:p>
            <a:pPr>
              <a:spcBef>
                <a:spcPts val="200"/>
              </a:spcBef>
              <a:spcAft>
                <a:spcPts val="1000"/>
              </a:spcAft>
            </a:pPr>
            <a:r>
              <a:rPr sz="1400">
                <a:solidFill>
                  <a:srgbClr val="D4886B"/>
                </a:solidFill>
                <a:latin typeface="Calibri"/>
              </a:rPr>
              <a:t>  –  </a:t>
            </a:r>
            <a:r>
              <a:rPr sz="1400">
                <a:solidFill>
                  <a:srgbClr val="C4A882"/>
                </a:solidFill>
                <a:latin typeface="Calibri"/>
              </a:rPr>
              <a:t>Business logic</a:t>
            </a:r>
          </a:p>
        </p:txBody>
      </p:sp>
      <p:sp>
        <p:nvSpPr>
          <p:cNvPr id="11" name="TextBox 10"/>
          <p:cNvSpPr txBox="1"/>
          <p:nvPr/>
        </p:nvSpPr>
        <p:spPr>
          <a:xfrm>
            <a:off x="4480559" y="1691640"/>
            <a:ext cx="457200" cy="411480"/>
          </a:xfrm>
          <a:prstGeom prst="rect">
            <a:avLst/>
          </a:prstGeom>
          <a:noFill/>
        </p:spPr>
        <p:txBody>
          <a:bodyPr wrap="square">
            <a:spAutoFit/>
          </a:bodyPr>
          <a:lstStyle/>
          <a:p>
            <a:pPr algn="ctr">
              <a:spcAft>
                <a:spcPts val="0"/>
              </a:spcAft>
              <a:defRPr sz="2800" b="1" i="0">
                <a:solidFill>
                  <a:srgbClr val="D4886B"/>
                </a:solidFill>
                <a:latin typeface="JetBrains Mono"/>
              </a:defRPr>
            </a:pPr>
            <a:r>
              <a:t>2</a:t>
            </a:r>
          </a:p>
        </p:txBody>
      </p:sp>
      <p:sp>
        <p:nvSpPr>
          <p:cNvPr id="12" name="TextBox 11"/>
          <p:cNvSpPr txBox="1"/>
          <p:nvPr/>
        </p:nvSpPr>
        <p:spPr>
          <a:xfrm>
            <a:off x="4983479" y="1691640"/>
            <a:ext cx="2286000" cy="411480"/>
          </a:xfrm>
          <a:prstGeom prst="rect">
            <a:avLst/>
          </a:prstGeom>
          <a:noFill/>
        </p:spPr>
        <p:txBody>
          <a:bodyPr wrap="square">
            <a:spAutoFit/>
          </a:bodyPr>
          <a:lstStyle/>
          <a:p>
            <a:pPr algn="l">
              <a:spcAft>
                <a:spcPts val="0"/>
              </a:spcAft>
              <a:defRPr sz="2400" b="0" i="0">
                <a:solidFill>
                  <a:srgbClr val="E8D5B7"/>
                </a:solidFill>
                <a:latin typeface="Georgia"/>
              </a:defRPr>
            </a:pPr>
            <a:r>
              <a:t>PLAN</a:t>
            </a:r>
          </a:p>
        </p:txBody>
      </p:sp>
      <p:sp>
        <p:nvSpPr>
          <p:cNvPr id="13" name="TextBox 12"/>
          <p:cNvSpPr txBox="1"/>
          <p:nvPr/>
        </p:nvSpPr>
        <p:spPr>
          <a:xfrm>
            <a:off x="4983479" y="2103120"/>
            <a:ext cx="2743200" cy="274320"/>
          </a:xfrm>
          <a:prstGeom prst="rect">
            <a:avLst/>
          </a:prstGeom>
          <a:noFill/>
        </p:spPr>
        <p:txBody>
          <a:bodyPr wrap="square">
            <a:spAutoFit/>
          </a:bodyPr>
          <a:lstStyle/>
          <a:p>
            <a:pPr algn="l">
              <a:spcAft>
                <a:spcPts val="0"/>
              </a:spcAft>
              <a:defRPr sz="1400" b="0" i="1">
                <a:solidFill>
                  <a:srgbClr val="D4886B"/>
                </a:solidFill>
                <a:latin typeface="Calibri"/>
              </a:defRPr>
            </a:pPr>
            <a:r>
              <a:t>HOW to build it</a:t>
            </a:r>
          </a:p>
        </p:txBody>
      </p:sp>
      <p:sp>
        <p:nvSpPr>
          <p:cNvPr id="14" name="Rounded Rectangle 13"/>
          <p:cNvSpPr/>
          <p:nvPr/>
        </p:nvSpPr>
        <p:spPr>
          <a:xfrm>
            <a:off x="4480559" y="2560320"/>
            <a:ext cx="3291840" cy="29260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709159" y="269748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910327" y="269748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111495" y="269748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79" y="3017520"/>
            <a:ext cx="2834640" cy="2286000"/>
          </a:xfrm>
          <a:prstGeom prst="rect">
            <a:avLst/>
          </a:prstGeom>
          <a:noFill/>
        </p:spPr>
        <p:txBody>
          <a:bodyPr wrap="square">
            <a:spAutoFit/>
          </a:bodyPr>
          <a:lstStyle/>
          <a:p>
            <a:pPr>
              <a:spcBef>
                <a:spcPts val="200"/>
              </a:spcBef>
              <a:spcAft>
                <a:spcPts val="1000"/>
              </a:spcAft>
            </a:pPr>
            <a:r>
              <a:rPr sz="1400">
                <a:solidFill>
                  <a:srgbClr val="D4886B"/>
                </a:solidFill>
                <a:latin typeface="Calibri"/>
              </a:rPr>
              <a:t>  –  </a:t>
            </a:r>
            <a:r>
              <a:rPr sz="1400">
                <a:solidFill>
                  <a:srgbClr val="C4A882"/>
                </a:solidFill>
                <a:latin typeface="Calibri"/>
              </a:rPr>
              <a:t>Files to create/modify</a:t>
            </a:r>
          </a:p>
          <a:p>
            <a:pPr>
              <a:spcBef>
                <a:spcPts val="200"/>
              </a:spcBef>
              <a:spcAft>
                <a:spcPts val="1000"/>
              </a:spcAft>
            </a:pPr>
            <a:r>
              <a:rPr sz="1400">
                <a:solidFill>
                  <a:srgbClr val="D4886B"/>
                </a:solidFill>
                <a:latin typeface="Calibri"/>
              </a:rPr>
              <a:t>  –  </a:t>
            </a:r>
            <a:r>
              <a:rPr sz="1400">
                <a:solidFill>
                  <a:srgbClr val="C4A882"/>
                </a:solidFill>
                <a:latin typeface="Calibri"/>
              </a:rPr>
              <a:t>Technical approach</a:t>
            </a:r>
          </a:p>
          <a:p>
            <a:pPr>
              <a:spcBef>
                <a:spcPts val="200"/>
              </a:spcBef>
              <a:spcAft>
                <a:spcPts val="1000"/>
              </a:spcAft>
            </a:pPr>
            <a:r>
              <a:rPr sz="1400">
                <a:solidFill>
                  <a:srgbClr val="D4886B"/>
                </a:solidFill>
                <a:latin typeface="Calibri"/>
              </a:rPr>
              <a:t>  –  </a:t>
            </a:r>
            <a:r>
              <a:rPr sz="1400">
                <a:solidFill>
                  <a:srgbClr val="C4A882"/>
                </a:solidFill>
                <a:latin typeface="Calibri"/>
              </a:rPr>
              <a:t>Dependencies between steps</a:t>
            </a:r>
          </a:p>
          <a:p>
            <a:pPr>
              <a:spcBef>
                <a:spcPts val="200"/>
              </a:spcBef>
              <a:spcAft>
                <a:spcPts val="1000"/>
              </a:spcAft>
            </a:pPr>
            <a:r>
              <a:rPr sz="1400">
                <a:solidFill>
                  <a:srgbClr val="D4886B"/>
                </a:solidFill>
                <a:latin typeface="Calibri"/>
              </a:rPr>
              <a:t>  –  </a:t>
            </a:r>
            <a:r>
              <a:rPr sz="1400">
                <a:solidFill>
                  <a:srgbClr val="C4A882"/>
                </a:solidFill>
                <a:latin typeface="Calibri"/>
              </a:rPr>
              <a:t>Complexity estimates</a:t>
            </a:r>
          </a:p>
        </p:txBody>
      </p:sp>
      <p:sp>
        <p:nvSpPr>
          <p:cNvPr id="19" name="TextBox 18"/>
          <p:cNvSpPr txBox="1"/>
          <p:nvPr/>
        </p:nvSpPr>
        <p:spPr>
          <a:xfrm>
            <a:off x="8229600" y="1691640"/>
            <a:ext cx="457200" cy="411480"/>
          </a:xfrm>
          <a:prstGeom prst="rect">
            <a:avLst/>
          </a:prstGeom>
          <a:noFill/>
        </p:spPr>
        <p:txBody>
          <a:bodyPr wrap="square">
            <a:spAutoFit/>
          </a:bodyPr>
          <a:lstStyle/>
          <a:p>
            <a:pPr algn="ctr">
              <a:spcAft>
                <a:spcPts val="0"/>
              </a:spcAft>
              <a:defRPr sz="2800" b="1" i="0">
                <a:solidFill>
                  <a:srgbClr val="D4886B"/>
                </a:solidFill>
                <a:latin typeface="JetBrains Mono"/>
              </a:defRPr>
            </a:pPr>
            <a:r>
              <a:t>3</a:t>
            </a:r>
          </a:p>
        </p:txBody>
      </p:sp>
      <p:sp>
        <p:nvSpPr>
          <p:cNvPr id="20" name="TextBox 19"/>
          <p:cNvSpPr txBox="1"/>
          <p:nvPr/>
        </p:nvSpPr>
        <p:spPr>
          <a:xfrm>
            <a:off x="8732520" y="1691640"/>
            <a:ext cx="2286000" cy="411480"/>
          </a:xfrm>
          <a:prstGeom prst="rect">
            <a:avLst/>
          </a:prstGeom>
          <a:noFill/>
        </p:spPr>
        <p:txBody>
          <a:bodyPr wrap="square">
            <a:spAutoFit/>
          </a:bodyPr>
          <a:lstStyle/>
          <a:p>
            <a:pPr algn="l">
              <a:spcAft>
                <a:spcPts val="0"/>
              </a:spcAft>
              <a:defRPr sz="2400" b="0" i="0">
                <a:solidFill>
                  <a:srgbClr val="E8D5B7"/>
                </a:solidFill>
                <a:latin typeface="Georgia"/>
              </a:defRPr>
            </a:pPr>
            <a:r>
              <a:t>TODO</a:t>
            </a:r>
          </a:p>
        </p:txBody>
      </p:sp>
      <p:sp>
        <p:nvSpPr>
          <p:cNvPr id="21" name="TextBox 20"/>
          <p:cNvSpPr txBox="1"/>
          <p:nvPr/>
        </p:nvSpPr>
        <p:spPr>
          <a:xfrm>
            <a:off x="8732520" y="2103120"/>
            <a:ext cx="2743200" cy="274320"/>
          </a:xfrm>
          <a:prstGeom prst="rect">
            <a:avLst/>
          </a:prstGeom>
          <a:noFill/>
        </p:spPr>
        <p:txBody>
          <a:bodyPr wrap="square">
            <a:spAutoFit/>
          </a:bodyPr>
          <a:lstStyle/>
          <a:p>
            <a:pPr algn="l">
              <a:spcAft>
                <a:spcPts val="0"/>
              </a:spcAft>
              <a:defRPr sz="1400" b="0" i="1">
                <a:solidFill>
                  <a:srgbClr val="D4886B"/>
                </a:solidFill>
                <a:latin typeface="Calibri"/>
              </a:defRPr>
            </a:pPr>
            <a:r>
              <a:t>Tasks to execute</a:t>
            </a:r>
          </a:p>
        </p:txBody>
      </p:sp>
      <p:sp>
        <p:nvSpPr>
          <p:cNvPr id="22" name="Rounded Rectangle 21"/>
          <p:cNvSpPr/>
          <p:nvPr/>
        </p:nvSpPr>
        <p:spPr>
          <a:xfrm>
            <a:off x="8229600" y="2560320"/>
            <a:ext cx="3291840" cy="29260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458200" y="269748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659368" y="269748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860536" y="269748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03920" y="3017520"/>
            <a:ext cx="2834640" cy="2286000"/>
          </a:xfrm>
          <a:prstGeom prst="rect">
            <a:avLst/>
          </a:prstGeom>
          <a:noFill/>
        </p:spPr>
        <p:txBody>
          <a:bodyPr wrap="square">
            <a:spAutoFit/>
          </a:bodyPr>
          <a:lstStyle/>
          <a:p>
            <a:pPr>
              <a:spcBef>
                <a:spcPts val="200"/>
              </a:spcBef>
              <a:spcAft>
                <a:spcPts val="1000"/>
              </a:spcAft>
            </a:pPr>
            <a:r>
              <a:rPr sz="1400">
                <a:solidFill>
                  <a:srgbClr val="D4886B"/>
                </a:solidFill>
                <a:latin typeface="Calibri"/>
              </a:rPr>
              <a:t>  –  </a:t>
            </a:r>
            <a:r>
              <a:rPr sz="1400">
                <a:solidFill>
                  <a:srgbClr val="C4A882"/>
                </a:solidFill>
                <a:latin typeface="Calibri"/>
              </a:rPr>
              <a:t>Numbered implementation steps</a:t>
            </a:r>
          </a:p>
          <a:p>
            <a:pPr>
              <a:spcBef>
                <a:spcPts val="200"/>
              </a:spcBef>
              <a:spcAft>
                <a:spcPts val="1000"/>
              </a:spcAft>
            </a:pPr>
            <a:r>
              <a:rPr sz="1400">
                <a:solidFill>
                  <a:srgbClr val="D4886B"/>
                </a:solidFill>
                <a:latin typeface="Calibri"/>
              </a:rPr>
              <a:t>  –  </a:t>
            </a:r>
            <a:r>
              <a:rPr sz="1400">
                <a:solidFill>
                  <a:srgbClr val="C4A882"/>
                </a:solidFill>
                <a:latin typeface="Calibri"/>
              </a:rPr>
              <a:t>Wait for approval per step</a:t>
            </a:r>
          </a:p>
          <a:p>
            <a:pPr>
              <a:spcBef>
                <a:spcPts val="200"/>
              </a:spcBef>
              <a:spcAft>
                <a:spcPts val="1000"/>
              </a:spcAft>
            </a:pPr>
            <a:r>
              <a:rPr sz="1400">
                <a:solidFill>
                  <a:srgbClr val="D4886B"/>
                </a:solidFill>
                <a:latin typeface="Calibri"/>
              </a:rPr>
              <a:t>  –  </a:t>
            </a:r>
            <a:r>
              <a:rPr sz="1400">
                <a:solidFill>
                  <a:srgbClr val="C4A882"/>
                </a:solidFill>
                <a:latin typeface="Calibri"/>
              </a:rPr>
              <a:t>Track task completion</a:t>
            </a:r>
          </a:p>
          <a:p>
            <a:pPr>
              <a:spcBef>
                <a:spcPts val="200"/>
              </a:spcBef>
              <a:spcAft>
                <a:spcPts val="1000"/>
              </a:spcAft>
            </a:pPr>
            <a:r>
              <a:rPr sz="1400">
                <a:solidFill>
                  <a:srgbClr val="D4886B"/>
                </a:solidFill>
                <a:latin typeface="Calibri"/>
              </a:rPr>
              <a:t>  –  </a:t>
            </a:r>
            <a:r>
              <a:rPr sz="1400">
                <a:solidFill>
                  <a:srgbClr val="C4A882"/>
                </a:solidFill>
                <a:latin typeface="Calibri"/>
              </a:rPr>
              <a:t>Update docs after each phase</a:t>
            </a:r>
          </a:p>
        </p:txBody>
      </p:sp>
      <p:sp>
        <p:nvSpPr>
          <p:cNvPr id="27" name="TextBox 26"/>
          <p:cNvSpPr txBox="1"/>
          <p:nvPr/>
        </p:nvSpPr>
        <p:spPr>
          <a:xfrm>
            <a:off x="3886199" y="3636579"/>
            <a:ext cx="731520" cy="365760"/>
          </a:xfrm>
          <a:prstGeom prst="rect">
            <a:avLst/>
          </a:prstGeom>
          <a:noFill/>
        </p:spPr>
        <p:txBody>
          <a:bodyPr wrap="square">
            <a:spAutoFit/>
          </a:bodyPr>
          <a:lstStyle/>
          <a:p>
            <a:pPr algn="ctr">
              <a:spcAft>
                <a:spcPts val="0"/>
              </a:spcAft>
              <a:defRPr sz="2000" b="1" i="0">
                <a:solidFill>
                  <a:srgbClr val="D4886B"/>
                </a:solidFill>
                <a:latin typeface="JetBrains Mono"/>
              </a:defRPr>
            </a:pPr>
            <a:r>
              <a:rPr dirty="0"/>
              <a:t>❯❯❯</a:t>
            </a:r>
          </a:p>
        </p:txBody>
      </p:sp>
      <p:sp>
        <p:nvSpPr>
          <p:cNvPr id="28" name="TextBox 27"/>
          <p:cNvSpPr txBox="1"/>
          <p:nvPr/>
        </p:nvSpPr>
        <p:spPr>
          <a:xfrm>
            <a:off x="7635240" y="3636579"/>
            <a:ext cx="731520" cy="365760"/>
          </a:xfrm>
          <a:prstGeom prst="rect">
            <a:avLst/>
          </a:prstGeom>
          <a:noFill/>
        </p:spPr>
        <p:txBody>
          <a:bodyPr wrap="square">
            <a:spAutoFit/>
          </a:bodyPr>
          <a:lstStyle/>
          <a:p>
            <a:pPr algn="ctr">
              <a:spcAft>
                <a:spcPts val="0"/>
              </a:spcAft>
              <a:defRPr sz="2000" b="1" i="0">
                <a:solidFill>
                  <a:srgbClr val="D4886B"/>
                </a:solidFill>
                <a:latin typeface="JetBrains Mono"/>
              </a:defRPr>
            </a:pPr>
            <a:r>
              <a:rPr dirty="0"/>
              <a:t>❯❯❯</a:t>
            </a:r>
          </a:p>
        </p:txBody>
      </p:sp>
      <p:sp>
        <p:nvSpPr>
          <p:cNvPr id="30" name="TextBox 29"/>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7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000" b="0" i="0">
                <a:solidFill>
                  <a:srgbClr val="E8D5B7"/>
                </a:solidFill>
                <a:latin typeface="Georgia"/>
              </a:defRPr>
            </a:pPr>
            <a:r>
              <a:t>Every major AI coding platform converges on the</a:t>
            </a:r>
            <a:br/>
            <a:r>
              <a:t>same Specify &gt; Plan &gt; Tasks &gt; Implement pattern</a:t>
            </a:r>
          </a:p>
        </p:txBody>
      </p:sp>
      <p:sp>
        <p:nvSpPr>
          <p:cNvPr id="3" name="Rectangle 2"/>
          <p:cNvSpPr/>
          <p:nvPr/>
        </p:nvSpPr>
        <p:spPr>
          <a:xfrm>
            <a:off x="731520" y="1737360"/>
            <a:ext cx="10515600" cy="19050"/>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783080"/>
            <a:ext cx="3200400" cy="411480"/>
          </a:xfrm>
          <a:prstGeom prst="rect">
            <a:avLst/>
          </a:prstGeom>
          <a:noFill/>
        </p:spPr>
        <p:txBody>
          <a:bodyPr wrap="square">
            <a:spAutoFit/>
          </a:bodyPr>
          <a:lstStyle/>
          <a:p>
            <a:pPr algn="l">
              <a:spcAft>
                <a:spcPts val="0"/>
              </a:spcAft>
              <a:defRPr sz="1400" b="1" i="0">
                <a:solidFill>
                  <a:srgbClr val="D4886B"/>
                </a:solidFill>
                <a:latin typeface="JetBrains Mono"/>
              </a:defRPr>
            </a:pPr>
            <a:r>
              <a:t>Platform</a:t>
            </a:r>
          </a:p>
        </p:txBody>
      </p:sp>
      <p:sp>
        <p:nvSpPr>
          <p:cNvPr id="5" name="TextBox 4"/>
          <p:cNvSpPr txBox="1"/>
          <p:nvPr/>
        </p:nvSpPr>
        <p:spPr>
          <a:xfrm>
            <a:off x="4114800" y="1783080"/>
            <a:ext cx="3657600" cy="411480"/>
          </a:xfrm>
          <a:prstGeom prst="rect">
            <a:avLst/>
          </a:prstGeom>
          <a:noFill/>
        </p:spPr>
        <p:txBody>
          <a:bodyPr wrap="square">
            <a:spAutoFit/>
          </a:bodyPr>
          <a:lstStyle/>
          <a:p>
            <a:pPr algn="l">
              <a:spcAft>
                <a:spcPts val="0"/>
              </a:spcAft>
              <a:defRPr sz="1400" b="1" i="0">
                <a:solidFill>
                  <a:srgbClr val="D4886B"/>
                </a:solidFill>
                <a:latin typeface="JetBrains Mono"/>
              </a:defRPr>
            </a:pPr>
            <a:r>
              <a:t>Workflow Pattern</a:t>
            </a:r>
          </a:p>
        </p:txBody>
      </p:sp>
      <p:sp>
        <p:nvSpPr>
          <p:cNvPr id="6" name="TextBox 5"/>
          <p:cNvSpPr txBox="1"/>
          <p:nvPr/>
        </p:nvSpPr>
        <p:spPr>
          <a:xfrm>
            <a:off x="8229600" y="1783080"/>
            <a:ext cx="2743200" cy="411480"/>
          </a:xfrm>
          <a:prstGeom prst="rect">
            <a:avLst/>
          </a:prstGeom>
          <a:noFill/>
        </p:spPr>
        <p:txBody>
          <a:bodyPr wrap="square">
            <a:spAutoFit/>
          </a:bodyPr>
          <a:lstStyle/>
          <a:p>
            <a:pPr algn="l">
              <a:spcAft>
                <a:spcPts val="0"/>
              </a:spcAft>
              <a:defRPr sz="1400" b="1" i="0">
                <a:solidFill>
                  <a:srgbClr val="D4886B"/>
                </a:solidFill>
                <a:latin typeface="JetBrains Mono"/>
              </a:defRPr>
            </a:pPr>
            <a:r>
              <a:t>Config File</a:t>
            </a:r>
          </a:p>
        </p:txBody>
      </p:sp>
      <p:sp>
        <p:nvSpPr>
          <p:cNvPr id="7" name="Rectangle 6"/>
          <p:cNvSpPr/>
          <p:nvPr/>
        </p:nvSpPr>
        <p:spPr>
          <a:xfrm>
            <a:off x="731520" y="2194560"/>
            <a:ext cx="10515600" cy="9525"/>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31520" y="2331720"/>
            <a:ext cx="10515600" cy="47548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377440"/>
            <a:ext cx="3200400" cy="365760"/>
          </a:xfrm>
          <a:prstGeom prst="rect">
            <a:avLst/>
          </a:prstGeom>
          <a:noFill/>
        </p:spPr>
        <p:txBody>
          <a:bodyPr wrap="square">
            <a:spAutoFit/>
          </a:bodyPr>
          <a:lstStyle/>
          <a:p>
            <a:pPr algn="l">
              <a:spcAft>
                <a:spcPts val="0"/>
              </a:spcAft>
              <a:defRPr sz="1400" b="1" i="0">
                <a:solidFill>
                  <a:srgbClr val="D4886B"/>
                </a:solidFill>
                <a:latin typeface="Calibri"/>
              </a:defRPr>
            </a:pPr>
            <a:r>
              <a:t>Claude Code</a:t>
            </a:r>
          </a:p>
        </p:txBody>
      </p:sp>
      <p:sp>
        <p:nvSpPr>
          <p:cNvPr id="10" name="TextBox 9"/>
          <p:cNvSpPr txBox="1"/>
          <p:nvPr/>
        </p:nvSpPr>
        <p:spPr>
          <a:xfrm>
            <a:off x="4114800" y="2377440"/>
            <a:ext cx="3657600" cy="365760"/>
          </a:xfrm>
          <a:prstGeom prst="rect">
            <a:avLst/>
          </a:prstGeom>
          <a:noFill/>
        </p:spPr>
        <p:txBody>
          <a:bodyPr wrap="square">
            <a:spAutoFit/>
          </a:bodyPr>
          <a:lstStyle/>
          <a:p>
            <a:pPr algn="l">
              <a:spcAft>
                <a:spcPts val="0"/>
              </a:spcAft>
              <a:defRPr sz="1400" b="0" i="0">
                <a:solidFill>
                  <a:srgbClr val="C4A882"/>
                </a:solidFill>
                <a:latin typeface="Calibri"/>
              </a:defRPr>
            </a:pPr>
            <a:r>
              <a:t>Explore-Plan-Code-Commit</a:t>
            </a:r>
          </a:p>
        </p:txBody>
      </p:sp>
      <p:sp>
        <p:nvSpPr>
          <p:cNvPr id="11" name="TextBox 10"/>
          <p:cNvSpPr txBox="1"/>
          <p:nvPr/>
        </p:nvSpPr>
        <p:spPr>
          <a:xfrm>
            <a:off x="8229600" y="2377440"/>
            <a:ext cx="2743200" cy="365760"/>
          </a:xfrm>
          <a:prstGeom prst="rect">
            <a:avLst/>
          </a:prstGeom>
          <a:noFill/>
        </p:spPr>
        <p:txBody>
          <a:bodyPr wrap="square">
            <a:spAutoFit/>
          </a:bodyPr>
          <a:lstStyle/>
          <a:p>
            <a:pPr algn="l">
              <a:spcAft>
                <a:spcPts val="0"/>
              </a:spcAft>
              <a:defRPr sz="1400" b="0" i="0">
                <a:solidFill>
                  <a:srgbClr val="7A6E5D"/>
                </a:solidFill>
                <a:latin typeface="JetBrains Mono"/>
              </a:defRPr>
            </a:pPr>
            <a:r>
              <a:t>CLAUDE.md</a:t>
            </a:r>
          </a:p>
        </p:txBody>
      </p:sp>
      <p:sp>
        <p:nvSpPr>
          <p:cNvPr id="12" name="TextBox 11"/>
          <p:cNvSpPr txBox="1"/>
          <p:nvPr/>
        </p:nvSpPr>
        <p:spPr>
          <a:xfrm>
            <a:off x="914400" y="2944368"/>
            <a:ext cx="3200400" cy="365760"/>
          </a:xfrm>
          <a:prstGeom prst="rect">
            <a:avLst/>
          </a:prstGeom>
          <a:noFill/>
        </p:spPr>
        <p:txBody>
          <a:bodyPr wrap="square">
            <a:spAutoFit/>
          </a:bodyPr>
          <a:lstStyle/>
          <a:p>
            <a:pPr algn="l">
              <a:spcAft>
                <a:spcPts val="0"/>
              </a:spcAft>
              <a:defRPr sz="1400" b="0" i="0">
                <a:solidFill>
                  <a:srgbClr val="E8D5B7"/>
                </a:solidFill>
                <a:latin typeface="Calibri"/>
              </a:defRPr>
            </a:pPr>
            <a:r>
              <a:t>GitHub</a:t>
            </a:r>
          </a:p>
        </p:txBody>
      </p:sp>
      <p:sp>
        <p:nvSpPr>
          <p:cNvPr id="13" name="TextBox 12"/>
          <p:cNvSpPr txBox="1"/>
          <p:nvPr/>
        </p:nvSpPr>
        <p:spPr>
          <a:xfrm>
            <a:off x="4114800" y="2944368"/>
            <a:ext cx="3657600" cy="365760"/>
          </a:xfrm>
          <a:prstGeom prst="rect">
            <a:avLst/>
          </a:prstGeom>
          <a:noFill/>
        </p:spPr>
        <p:txBody>
          <a:bodyPr wrap="square">
            <a:spAutoFit/>
          </a:bodyPr>
          <a:lstStyle/>
          <a:p>
            <a:pPr algn="l">
              <a:spcAft>
                <a:spcPts val="0"/>
              </a:spcAft>
              <a:defRPr sz="1400" b="0" i="0">
                <a:solidFill>
                  <a:srgbClr val="C4A882"/>
                </a:solidFill>
                <a:latin typeface="Calibri"/>
              </a:defRPr>
            </a:pPr>
            <a:r>
              <a:t>Spec-driven development</a:t>
            </a:r>
          </a:p>
        </p:txBody>
      </p:sp>
      <p:sp>
        <p:nvSpPr>
          <p:cNvPr id="14" name="TextBox 13"/>
          <p:cNvSpPr txBox="1"/>
          <p:nvPr/>
        </p:nvSpPr>
        <p:spPr>
          <a:xfrm>
            <a:off x="8229600" y="2944368"/>
            <a:ext cx="2743200" cy="365760"/>
          </a:xfrm>
          <a:prstGeom prst="rect">
            <a:avLst/>
          </a:prstGeom>
          <a:noFill/>
        </p:spPr>
        <p:txBody>
          <a:bodyPr wrap="square">
            <a:spAutoFit/>
          </a:bodyPr>
          <a:lstStyle/>
          <a:p>
            <a:pPr algn="l">
              <a:spcAft>
                <a:spcPts val="0"/>
              </a:spcAft>
              <a:defRPr sz="1400" b="0" i="0">
                <a:solidFill>
                  <a:srgbClr val="7A6E5D"/>
                </a:solidFill>
                <a:latin typeface="JetBrains Mono"/>
              </a:defRPr>
            </a:pPr>
            <a:r>
              <a:t>Spec Kit</a:t>
            </a:r>
          </a:p>
        </p:txBody>
      </p:sp>
      <p:sp>
        <p:nvSpPr>
          <p:cNvPr id="15" name="Rounded Rectangle 14"/>
          <p:cNvSpPr/>
          <p:nvPr/>
        </p:nvSpPr>
        <p:spPr>
          <a:xfrm>
            <a:off x="731520" y="3465576"/>
            <a:ext cx="10515600" cy="47548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3511296"/>
            <a:ext cx="3200400" cy="365760"/>
          </a:xfrm>
          <a:prstGeom prst="rect">
            <a:avLst/>
          </a:prstGeom>
          <a:noFill/>
        </p:spPr>
        <p:txBody>
          <a:bodyPr wrap="square">
            <a:spAutoFit/>
          </a:bodyPr>
          <a:lstStyle/>
          <a:p>
            <a:pPr algn="l">
              <a:spcAft>
                <a:spcPts val="0"/>
              </a:spcAft>
              <a:defRPr sz="1400" b="0" i="0">
                <a:solidFill>
                  <a:srgbClr val="E8D5B7"/>
                </a:solidFill>
                <a:latin typeface="Calibri"/>
              </a:defRPr>
            </a:pPr>
            <a:r>
              <a:t>Cursor</a:t>
            </a:r>
          </a:p>
        </p:txBody>
      </p:sp>
      <p:sp>
        <p:nvSpPr>
          <p:cNvPr id="17" name="TextBox 16"/>
          <p:cNvSpPr txBox="1"/>
          <p:nvPr/>
        </p:nvSpPr>
        <p:spPr>
          <a:xfrm>
            <a:off x="4114800" y="3511296"/>
            <a:ext cx="3657600" cy="365760"/>
          </a:xfrm>
          <a:prstGeom prst="rect">
            <a:avLst/>
          </a:prstGeom>
          <a:noFill/>
        </p:spPr>
        <p:txBody>
          <a:bodyPr wrap="square">
            <a:spAutoFit/>
          </a:bodyPr>
          <a:lstStyle/>
          <a:p>
            <a:pPr algn="l">
              <a:spcAft>
                <a:spcPts val="0"/>
              </a:spcAft>
              <a:defRPr sz="1400" b="0" i="0">
                <a:solidFill>
                  <a:srgbClr val="C4A882"/>
                </a:solidFill>
                <a:latin typeface="Calibri"/>
              </a:defRPr>
            </a:pPr>
            <a:r>
              <a:t>Plan-critique-execute</a:t>
            </a:r>
          </a:p>
        </p:txBody>
      </p:sp>
      <p:sp>
        <p:nvSpPr>
          <p:cNvPr id="18" name="TextBox 17"/>
          <p:cNvSpPr txBox="1"/>
          <p:nvPr/>
        </p:nvSpPr>
        <p:spPr>
          <a:xfrm>
            <a:off x="8229600" y="3511296"/>
            <a:ext cx="2743200" cy="365760"/>
          </a:xfrm>
          <a:prstGeom prst="rect">
            <a:avLst/>
          </a:prstGeom>
          <a:noFill/>
        </p:spPr>
        <p:txBody>
          <a:bodyPr wrap="square">
            <a:spAutoFit/>
          </a:bodyPr>
          <a:lstStyle/>
          <a:p>
            <a:pPr algn="l">
              <a:spcAft>
                <a:spcPts val="0"/>
              </a:spcAft>
              <a:defRPr sz="1400" b="0" i="0">
                <a:solidFill>
                  <a:srgbClr val="7A6E5D"/>
                </a:solidFill>
                <a:latin typeface="JetBrains Mono"/>
              </a:defRPr>
            </a:pPr>
            <a:r>
              <a:t>.cursorrules</a:t>
            </a:r>
          </a:p>
        </p:txBody>
      </p:sp>
      <p:sp>
        <p:nvSpPr>
          <p:cNvPr id="19" name="TextBox 18"/>
          <p:cNvSpPr txBox="1"/>
          <p:nvPr/>
        </p:nvSpPr>
        <p:spPr>
          <a:xfrm>
            <a:off x="914400" y="4078224"/>
            <a:ext cx="3200400" cy="365760"/>
          </a:xfrm>
          <a:prstGeom prst="rect">
            <a:avLst/>
          </a:prstGeom>
          <a:noFill/>
        </p:spPr>
        <p:txBody>
          <a:bodyPr wrap="square">
            <a:spAutoFit/>
          </a:bodyPr>
          <a:lstStyle/>
          <a:p>
            <a:pPr algn="l">
              <a:spcAft>
                <a:spcPts val="0"/>
              </a:spcAft>
              <a:defRPr sz="1400" b="0" i="0">
                <a:solidFill>
                  <a:srgbClr val="E8D5B7"/>
                </a:solidFill>
                <a:latin typeface="Calibri"/>
              </a:defRPr>
            </a:pPr>
            <a:r>
              <a:t>Replit</a:t>
            </a:r>
          </a:p>
        </p:txBody>
      </p:sp>
      <p:sp>
        <p:nvSpPr>
          <p:cNvPr id="20" name="TextBox 19"/>
          <p:cNvSpPr txBox="1"/>
          <p:nvPr/>
        </p:nvSpPr>
        <p:spPr>
          <a:xfrm>
            <a:off x="4114800" y="4078224"/>
            <a:ext cx="3657600" cy="365760"/>
          </a:xfrm>
          <a:prstGeom prst="rect">
            <a:avLst/>
          </a:prstGeom>
          <a:noFill/>
        </p:spPr>
        <p:txBody>
          <a:bodyPr wrap="square">
            <a:spAutoFit/>
          </a:bodyPr>
          <a:lstStyle/>
          <a:p>
            <a:pPr algn="l">
              <a:spcAft>
                <a:spcPts val="0"/>
              </a:spcAft>
              <a:defRPr sz="1400" b="0" i="0">
                <a:solidFill>
                  <a:srgbClr val="C4A882"/>
                </a:solidFill>
                <a:latin typeface="Calibri"/>
              </a:defRPr>
            </a:pPr>
            <a:r>
              <a:t>Plan Mode / Build Mode</a:t>
            </a:r>
          </a:p>
        </p:txBody>
      </p:sp>
      <p:sp>
        <p:nvSpPr>
          <p:cNvPr id="21" name="TextBox 20"/>
          <p:cNvSpPr txBox="1"/>
          <p:nvPr/>
        </p:nvSpPr>
        <p:spPr>
          <a:xfrm>
            <a:off x="8229600" y="4078224"/>
            <a:ext cx="2743200" cy="365760"/>
          </a:xfrm>
          <a:prstGeom prst="rect">
            <a:avLst/>
          </a:prstGeom>
          <a:noFill/>
        </p:spPr>
        <p:txBody>
          <a:bodyPr wrap="square">
            <a:spAutoFit/>
          </a:bodyPr>
          <a:lstStyle/>
          <a:p>
            <a:pPr algn="l">
              <a:spcAft>
                <a:spcPts val="0"/>
              </a:spcAft>
              <a:defRPr sz="1400" b="0" i="0">
                <a:solidFill>
                  <a:srgbClr val="7A6E5D"/>
                </a:solidFill>
                <a:latin typeface="JetBrains Mono"/>
              </a:defRPr>
            </a:pPr>
            <a:r>
              <a:t>.replit</a:t>
            </a:r>
          </a:p>
        </p:txBody>
      </p:sp>
      <p:sp>
        <p:nvSpPr>
          <p:cNvPr id="22" name="Rounded Rectangle 21"/>
          <p:cNvSpPr/>
          <p:nvPr/>
        </p:nvSpPr>
        <p:spPr>
          <a:xfrm>
            <a:off x="731520" y="4599431"/>
            <a:ext cx="10515600" cy="47548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4645151"/>
            <a:ext cx="3200400" cy="365760"/>
          </a:xfrm>
          <a:prstGeom prst="rect">
            <a:avLst/>
          </a:prstGeom>
          <a:noFill/>
        </p:spPr>
        <p:txBody>
          <a:bodyPr wrap="square">
            <a:spAutoFit/>
          </a:bodyPr>
          <a:lstStyle/>
          <a:p>
            <a:pPr algn="l">
              <a:spcAft>
                <a:spcPts val="0"/>
              </a:spcAft>
              <a:defRPr sz="1400" b="0" i="0">
                <a:solidFill>
                  <a:srgbClr val="E8D5B7"/>
                </a:solidFill>
                <a:latin typeface="Calibri"/>
              </a:defRPr>
            </a:pPr>
            <a:r>
              <a:t>JetBrains Junie</a:t>
            </a:r>
          </a:p>
        </p:txBody>
      </p:sp>
      <p:sp>
        <p:nvSpPr>
          <p:cNvPr id="24" name="TextBox 23"/>
          <p:cNvSpPr txBox="1"/>
          <p:nvPr/>
        </p:nvSpPr>
        <p:spPr>
          <a:xfrm>
            <a:off x="4114800" y="4645151"/>
            <a:ext cx="3657600" cy="365760"/>
          </a:xfrm>
          <a:prstGeom prst="rect">
            <a:avLst/>
          </a:prstGeom>
          <a:noFill/>
        </p:spPr>
        <p:txBody>
          <a:bodyPr wrap="square">
            <a:spAutoFit/>
          </a:bodyPr>
          <a:lstStyle/>
          <a:p>
            <a:pPr algn="l">
              <a:spcAft>
                <a:spcPts val="0"/>
              </a:spcAft>
              <a:defRPr sz="1400" b="0" i="0">
                <a:solidFill>
                  <a:srgbClr val="C4A882"/>
                </a:solidFill>
                <a:latin typeface="Calibri"/>
              </a:defRPr>
            </a:pPr>
            <a:r>
              <a:t>Research-then-implement</a:t>
            </a:r>
          </a:p>
        </p:txBody>
      </p:sp>
      <p:sp>
        <p:nvSpPr>
          <p:cNvPr id="25" name="TextBox 24"/>
          <p:cNvSpPr txBox="1"/>
          <p:nvPr/>
        </p:nvSpPr>
        <p:spPr>
          <a:xfrm>
            <a:off x="8229600" y="4645151"/>
            <a:ext cx="2743200" cy="365760"/>
          </a:xfrm>
          <a:prstGeom prst="rect">
            <a:avLst/>
          </a:prstGeom>
          <a:noFill/>
        </p:spPr>
        <p:txBody>
          <a:bodyPr wrap="square">
            <a:spAutoFit/>
          </a:bodyPr>
          <a:lstStyle/>
          <a:p>
            <a:pPr algn="l">
              <a:spcAft>
                <a:spcPts val="0"/>
              </a:spcAft>
              <a:defRPr sz="1400" b="0" i="0">
                <a:solidFill>
                  <a:srgbClr val="7A6E5D"/>
                </a:solidFill>
                <a:latin typeface="JetBrains Mono"/>
              </a:defRPr>
            </a:pPr>
            <a:r>
              <a:t>.junie</a:t>
            </a:r>
          </a:p>
        </p:txBody>
      </p:sp>
      <p:sp>
        <p:nvSpPr>
          <p:cNvPr id="26" name="TextBox 25"/>
          <p:cNvSpPr txBox="1"/>
          <p:nvPr/>
        </p:nvSpPr>
        <p:spPr>
          <a:xfrm>
            <a:off x="914400" y="5212080"/>
            <a:ext cx="3200400" cy="365760"/>
          </a:xfrm>
          <a:prstGeom prst="rect">
            <a:avLst/>
          </a:prstGeom>
          <a:noFill/>
        </p:spPr>
        <p:txBody>
          <a:bodyPr wrap="square">
            <a:spAutoFit/>
          </a:bodyPr>
          <a:lstStyle/>
          <a:p>
            <a:pPr algn="l">
              <a:spcAft>
                <a:spcPts val="0"/>
              </a:spcAft>
              <a:defRPr sz="1400" b="0" i="0">
                <a:solidFill>
                  <a:srgbClr val="E8D5B7"/>
                </a:solidFill>
                <a:latin typeface="Calibri"/>
              </a:defRPr>
            </a:pPr>
            <a:r>
              <a:t>Google Antigravity</a:t>
            </a:r>
          </a:p>
        </p:txBody>
      </p:sp>
      <p:sp>
        <p:nvSpPr>
          <p:cNvPr id="27" name="TextBox 26"/>
          <p:cNvSpPr txBox="1"/>
          <p:nvPr/>
        </p:nvSpPr>
        <p:spPr>
          <a:xfrm>
            <a:off x="4114800" y="5212080"/>
            <a:ext cx="3657600" cy="365760"/>
          </a:xfrm>
          <a:prstGeom prst="rect">
            <a:avLst/>
          </a:prstGeom>
          <a:noFill/>
        </p:spPr>
        <p:txBody>
          <a:bodyPr wrap="square">
            <a:spAutoFit/>
          </a:bodyPr>
          <a:lstStyle/>
          <a:p>
            <a:pPr algn="l">
              <a:spcAft>
                <a:spcPts val="0"/>
              </a:spcAft>
              <a:defRPr sz="1400" b="0" i="0">
                <a:solidFill>
                  <a:srgbClr val="C4A882"/>
                </a:solidFill>
                <a:latin typeface="Calibri"/>
              </a:defRPr>
            </a:pPr>
            <a:r>
              <a:t>Mission Control + Tasks</a:t>
            </a:r>
          </a:p>
        </p:txBody>
      </p:sp>
      <p:sp>
        <p:nvSpPr>
          <p:cNvPr id="28" name="TextBox 27"/>
          <p:cNvSpPr txBox="1"/>
          <p:nvPr/>
        </p:nvSpPr>
        <p:spPr>
          <a:xfrm>
            <a:off x="8229600" y="5212080"/>
            <a:ext cx="2743200" cy="365760"/>
          </a:xfrm>
          <a:prstGeom prst="rect">
            <a:avLst/>
          </a:prstGeom>
          <a:noFill/>
        </p:spPr>
        <p:txBody>
          <a:bodyPr wrap="square">
            <a:spAutoFit/>
          </a:bodyPr>
          <a:lstStyle/>
          <a:p>
            <a:pPr algn="l">
              <a:spcAft>
                <a:spcPts val="0"/>
              </a:spcAft>
              <a:defRPr sz="1400" b="0" i="0">
                <a:solidFill>
                  <a:srgbClr val="7A6E5D"/>
                </a:solidFill>
                <a:latin typeface="JetBrains Mono"/>
              </a:defRPr>
            </a:pPr>
            <a:r>
              <a:t>AGENTS.md</a:t>
            </a:r>
          </a:p>
        </p:txBody>
      </p:sp>
      <p:sp>
        <p:nvSpPr>
          <p:cNvPr id="29" name="Rounded Rectangle 28"/>
          <p:cNvSpPr/>
          <p:nvPr/>
        </p:nvSpPr>
        <p:spPr>
          <a:xfrm>
            <a:off x="731520" y="5486400"/>
            <a:ext cx="10515600" cy="7772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960120" y="56235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161288" y="56235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362456" y="56235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3120" y="5815584"/>
            <a:ext cx="9601200" cy="365760"/>
          </a:xfrm>
          <a:prstGeom prst="rect">
            <a:avLst/>
          </a:prstGeom>
          <a:noFill/>
        </p:spPr>
        <p:txBody>
          <a:bodyPr wrap="square">
            <a:spAutoFit/>
          </a:bodyPr>
          <a:lstStyle/>
          <a:p>
            <a:pPr algn="l">
              <a:spcAft>
                <a:spcPts val="0"/>
              </a:spcAft>
              <a:defRPr sz="1300" b="0" i="1">
                <a:solidFill>
                  <a:srgbClr val="E8A07A"/>
                </a:solidFill>
                <a:latin typeface="Calibri"/>
              </a:defRPr>
            </a:pPr>
            <a:r>
              <a:rPr dirty="0" err="1"/>
              <a:t>AGENTS.md</a:t>
            </a:r>
            <a:r>
              <a:rPr dirty="0"/>
              <a:t> -- an open standard jointly launched by Google, OpenAI, Factory, </a:t>
            </a:r>
            <a:r>
              <a:rPr dirty="0" err="1"/>
              <a:t>Sourcegraph</a:t>
            </a:r>
            <a:r>
              <a:rPr dirty="0"/>
              <a:t>, and Cursor -- is emerging as the cross-platform agent specification file.</a:t>
            </a:r>
          </a:p>
        </p:txBody>
      </p:sp>
      <p:sp>
        <p:nvSpPr>
          <p:cNvPr id="34" name="TextBox 33"/>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8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000" b="0" i="0">
                <a:solidFill>
                  <a:srgbClr val="E8D5B7"/>
                </a:solidFill>
                <a:latin typeface="Georgia"/>
              </a:defRPr>
            </a:pPr>
            <a:r>
              <a:t>AI is most valuable as a thinking partner, not</a:t>
            </a:r>
            <a:br/>
            <a:r>
              <a:t>a replacement for human judgment</a:t>
            </a:r>
          </a:p>
        </p:txBody>
      </p:sp>
      <p:sp>
        <p:nvSpPr>
          <p:cNvPr id="3" name="TextBox 2"/>
          <p:cNvSpPr txBox="1"/>
          <p:nvPr/>
        </p:nvSpPr>
        <p:spPr>
          <a:xfrm>
            <a:off x="731520" y="1691640"/>
            <a:ext cx="4572000" cy="320040"/>
          </a:xfrm>
          <a:prstGeom prst="rect">
            <a:avLst/>
          </a:prstGeom>
          <a:noFill/>
        </p:spPr>
        <p:txBody>
          <a:bodyPr wrap="square">
            <a:spAutoFit/>
          </a:bodyPr>
          <a:lstStyle/>
          <a:p>
            <a:pPr algn="l">
              <a:spcAft>
                <a:spcPts val="0"/>
              </a:spcAft>
              <a:defRPr sz="1300" b="1" i="0">
                <a:solidFill>
                  <a:srgbClr val="D4886B"/>
                </a:solidFill>
                <a:latin typeface="JetBrains Mono"/>
              </a:defRPr>
            </a:pPr>
            <a:r>
              <a:t>THE DEVELOPMENT FUNNEL</a:t>
            </a:r>
          </a:p>
        </p:txBody>
      </p:sp>
      <p:sp>
        <p:nvSpPr>
          <p:cNvPr id="4" name="Rounded Rectangle 3"/>
          <p:cNvSpPr/>
          <p:nvPr/>
        </p:nvSpPr>
        <p:spPr>
          <a:xfrm>
            <a:off x="731520" y="2103120"/>
            <a:ext cx="4114800" cy="438912"/>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121408"/>
            <a:ext cx="1371600" cy="365760"/>
          </a:xfrm>
          <a:prstGeom prst="rect">
            <a:avLst/>
          </a:prstGeom>
          <a:noFill/>
        </p:spPr>
        <p:txBody>
          <a:bodyPr wrap="square">
            <a:spAutoFit/>
          </a:bodyPr>
          <a:lstStyle/>
          <a:p>
            <a:pPr algn="l">
              <a:spcAft>
                <a:spcPts val="0"/>
              </a:spcAft>
              <a:defRPr sz="1300" b="1" i="0">
                <a:solidFill>
                  <a:srgbClr val="C4A882"/>
                </a:solidFill>
                <a:latin typeface="Calibri"/>
              </a:defRPr>
            </a:pPr>
            <a:r>
              <a:t>Brainstorm</a:t>
            </a:r>
          </a:p>
        </p:txBody>
      </p:sp>
      <p:sp>
        <p:nvSpPr>
          <p:cNvPr id="6" name="TextBox 5"/>
          <p:cNvSpPr txBox="1"/>
          <p:nvPr/>
        </p:nvSpPr>
        <p:spPr>
          <a:xfrm>
            <a:off x="3360420" y="2176271"/>
            <a:ext cx="2286000" cy="365760"/>
          </a:xfrm>
          <a:prstGeom prst="rect">
            <a:avLst/>
          </a:prstGeom>
          <a:noFill/>
        </p:spPr>
        <p:txBody>
          <a:bodyPr wrap="square">
            <a:spAutoFit/>
          </a:bodyPr>
          <a:lstStyle/>
          <a:p>
            <a:pPr algn="l">
              <a:spcAft>
                <a:spcPts val="0"/>
              </a:spcAft>
              <a:defRPr sz="1200" b="0" i="0">
                <a:solidFill>
                  <a:srgbClr val="7A6E5D"/>
                </a:solidFill>
                <a:latin typeface="Calibri"/>
              </a:defRPr>
            </a:pPr>
            <a:r>
              <a:t>Generate ideas freely</a:t>
            </a:r>
          </a:p>
        </p:txBody>
      </p:sp>
      <p:sp>
        <p:nvSpPr>
          <p:cNvPr id="7" name="Rounded Rectangle 6"/>
          <p:cNvSpPr/>
          <p:nvPr/>
        </p:nvSpPr>
        <p:spPr>
          <a:xfrm>
            <a:off x="800100" y="2670048"/>
            <a:ext cx="3977639" cy="438912"/>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7260" y="2688336"/>
            <a:ext cx="1371600" cy="365760"/>
          </a:xfrm>
          <a:prstGeom prst="rect">
            <a:avLst/>
          </a:prstGeom>
          <a:noFill/>
        </p:spPr>
        <p:txBody>
          <a:bodyPr wrap="square">
            <a:spAutoFit/>
          </a:bodyPr>
          <a:lstStyle/>
          <a:p>
            <a:pPr algn="l">
              <a:spcAft>
                <a:spcPts val="0"/>
              </a:spcAft>
              <a:defRPr sz="1300" b="1" i="0">
                <a:solidFill>
                  <a:srgbClr val="C4A882"/>
                </a:solidFill>
                <a:latin typeface="Calibri"/>
              </a:defRPr>
            </a:pPr>
            <a:r>
              <a:t>User Research</a:t>
            </a:r>
          </a:p>
        </p:txBody>
      </p:sp>
      <p:sp>
        <p:nvSpPr>
          <p:cNvPr id="9" name="TextBox 8"/>
          <p:cNvSpPr txBox="1"/>
          <p:nvPr/>
        </p:nvSpPr>
        <p:spPr>
          <a:xfrm>
            <a:off x="2926080" y="2729068"/>
            <a:ext cx="2286000" cy="365760"/>
          </a:xfrm>
          <a:prstGeom prst="rect">
            <a:avLst/>
          </a:prstGeom>
          <a:noFill/>
        </p:spPr>
        <p:txBody>
          <a:bodyPr wrap="square">
            <a:spAutoFit/>
          </a:bodyPr>
          <a:lstStyle/>
          <a:p>
            <a:pPr algn="l">
              <a:spcAft>
                <a:spcPts val="0"/>
              </a:spcAft>
              <a:defRPr sz="1200" b="0" i="0">
                <a:solidFill>
                  <a:srgbClr val="7A6E5D"/>
                </a:solidFill>
                <a:latin typeface="Calibri"/>
              </a:defRPr>
            </a:pPr>
            <a:r>
              <a:rPr dirty="0"/>
              <a:t>Validate against real needs</a:t>
            </a:r>
          </a:p>
        </p:txBody>
      </p:sp>
      <p:sp>
        <p:nvSpPr>
          <p:cNvPr id="10" name="Rounded Rectangle 9"/>
          <p:cNvSpPr/>
          <p:nvPr/>
        </p:nvSpPr>
        <p:spPr>
          <a:xfrm>
            <a:off x="868680" y="3236976"/>
            <a:ext cx="3840480" cy="438912"/>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3255264"/>
            <a:ext cx="1371600" cy="365760"/>
          </a:xfrm>
          <a:prstGeom prst="rect">
            <a:avLst/>
          </a:prstGeom>
          <a:noFill/>
        </p:spPr>
        <p:txBody>
          <a:bodyPr wrap="square">
            <a:spAutoFit/>
          </a:bodyPr>
          <a:lstStyle/>
          <a:p>
            <a:pPr algn="l">
              <a:spcAft>
                <a:spcPts val="0"/>
              </a:spcAft>
              <a:defRPr sz="1300" b="1" i="0">
                <a:solidFill>
                  <a:srgbClr val="C4A882"/>
                </a:solidFill>
                <a:latin typeface="Calibri"/>
              </a:defRPr>
            </a:pPr>
            <a:r>
              <a:t>Product Brief</a:t>
            </a:r>
          </a:p>
        </p:txBody>
      </p:sp>
      <p:sp>
        <p:nvSpPr>
          <p:cNvPr id="12" name="TextBox 11"/>
          <p:cNvSpPr txBox="1"/>
          <p:nvPr/>
        </p:nvSpPr>
        <p:spPr>
          <a:xfrm>
            <a:off x="2460567" y="3310127"/>
            <a:ext cx="2286000" cy="365760"/>
          </a:xfrm>
          <a:prstGeom prst="rect">
            <a:avLst/>
          </a:prstGeom>
          <a:noFill/>
        </p:spPr>
        <p:txBody>
          <a:bodyPr wrap="square">
            <a:spAutoFit/>
          </a:bodyPr>
          <a:lstStyle/>
          <a:p>
            <a:pPr algn="l">
              <a:spcAft>
                <a:spcPts val="0"/>
              </a:spcAft>
              <a:defRPr sz="1200" b="0" i="0">
                <a:solidFill>
                  <a:srgbClr val="7A6E5D"/>
                </a:solidFill>
                <a:latin typeface="Calibri"/>
              </a:defRPr>
            </a:pPr>
            <a:r>
              <a:t>Distill into opportunity statement</a:t>
            </a:r>
          </a:p>
        </p:txBody>
      </p:sp>
      <p:sp>
        <p:nvSpPr>
          <p:cNvPr id="13" name="Rounded Rectangle 12"/>
          <p:cNvSpPr/>
          <p:nvPr/>
        </p:nvSpPr>
        <p:spPr>
          <a:xfrm>
            <a:off x="937259" y="3803904"/>
            <a:ext cx="3703320" cy="438912"/>
          </a:xfrm>
          <a:prstGeom prst="roundRect">
            <a:avLst/>
          </a:prstGeom>
          <a:solidFill>
            <a:srgbClr val="252220"/>
          </a:solidFill>
          <a:ln w="19050">
            <a:solidFill>
              <a:srgbClr val="D488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74419" y="3822192"/>
            <a:ext cx="1371600" cy="365760"/>
          </a:xfrm>
          <a:prstGeom prst="rect">
            <a:avLst/>
          </a:prstGeom>
          <a:noFill/>
        </p:spPr>
        <p:txBody>
          <a:bodyPr wrap="square">
            <a:spAutoFit/>
          </a:bodyPr>
          <a:lstStyle/>
          <a:p>
            <a:pPr algn="l">
              <a:spcAft>
                <a:spcPts val="0"/>
              </a:spcAft>
              <a:defRPr sz="1300" b="1" i="0">
                <a:solidFill>
                  <a:srgbClr val="E8D5B7"/>
                </a:solidFill>
                <a:latin typeface="Calibri"/>
              </a:defRPr>
            </a:pPr>
            <a:r>
              <a:t>PRD</a:t>
            </a:r>
          </a:p>
        </p:txBody>
      </p:sp>
      <p:sp>
        <p:nvSpPr>
          <p:cNvPr id="15" name="TextBox 14"/>
          <p:cNvSpPr txBox="1"/>
          <p:nvPr/>
        </p:nvSpPr>
        <p:spPr>
          <a:xfrm>
            <a:off x="2026227" y="3884860"/>
            <a:ext cx="2751512" cy="276999"/>
          </a:xfrm>
          <a:prstGeom prst="rect">
            <a:avLst/>
          </a:prstGeom>
          <a:noFill/>
        </p:spPr>
        <p:txBody>
          <a:bodyPr wrap="square">
            <a:spAutoFit/>
          </a:bodyPr>
          <a:lstStyle/>
          <a:p>
            <a:pPr algn="l">
              <a:spcAft>
                <a:spcPts val="0"/>
              </a:spcAft>
              <a:defRPr sz="1200" b="0" i="0">
                <a:solidFill>
                  <a:srgbClr val="E8D5B7"/>
                </a:solidFill>
                <a:latin typeface="Calibri"/>
              </a:defRPr>
            </a:pPr>
            <a:r>
              <a:rPr dirty="0"/>
              <a:t>Formalize into structured requirements</a:t>
            </a:r>
          </a:p>
        </p:txBody>
      </p:sp>
      <p:sp>
        <p:nvSpPr>
          <p:cNvPr id="16" name="Rounded Rectangle 15"/>
          <p:cNvSpPr/>
          <p:nvPr/>
        </p:nvSpPr>
        <p:spPr>
          <a:xfrm>
            <a:off x="1005840" y="4370831"/>
            <a:ext cx="3566160" cy="438912"/>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389119"/>
            <a:ext cx="1371600" cy="365760"/>
          </a:xfrm>
          <a:prstGeom prst="rect">
            <a:avLst/>
          </a:prstGeom>
          <a:noFill/>
        </p:spPr>
        <p:txBody>
          <a:bodyPr wrap="square">
            <a:spAutoFit/>
          </a:bodyPr>
          <a:lstStyle/>
          <a:p>
            <a:pPr algn="l">
              <a:spcAft>
                <a:spcPts val="0"/>
              </a:spcAft>
              <a:defRPr sz="1300" b="1" i="0">
                <a:solidFill>
                  <a:srgbClr val="C4A882"/>
                </a:solidFill>
                <a:latin typeface="Calibri"/>
              </a:defRPr>
            </a:pPr>
            <a:r>
              <a:t>Plan</a:t>
            </a:r>
          </a:p>
        </p:txBody>
      </p:sp>
      <p:sp>
        <p:nvSpPr>
          <p:cNvPr id="18" name="TextBox 17"/>
          <p:cNvSpPr txBox="1"/>
          <p:nvPr/>
        </p:nvSpPr>
        <p:spPr>
          <a:xfrm>
            <a:off x="2310938" y="4451787"/>
            <a:ext cx="2286000" cy="365760"/>
          </a:xfrm>
          <a:prstGeom prst="rect">
            <a:avLst/>
          </a:prstGeom>
          <a:noFill/>
        </p:spPr>
        <p:txBody>
          <a:bodyPr wrap="square">
            <a:spAutoFit/>
          </a:bodyPr>
          <a:lstStyle/>
          <a:p>
            <a:pPr algn="l">
              <a:spcAft>
                <a:spcPts val="0"/>
              </a:spcAft>
              <a:defRPr sz="1200" b="0" i="0">
                <a:solidFill>
                  <a:srgbClr val="7A6E5D"/>
                </a:solidFill>
                <a:latin typeface="Calibri"/>
              </a:defRPr>
            </a:pPr>
            <a:r>
              <a:rPr dirty="0"/>
              <a:t>Translate to technical architecture</a:t>
            </a:r>
          </a:p>
        </p:txBody>
      </p:sp>
      <p:sp>
        <p:nvSpPr>
          <p:cNvPr id="19" name="Rounded Rectangle 18"/>
          <p:cNvSpPr/>
          <p:nvPr/>
        </p:nvSpPr>
        <p:spPr>
          <a:xfrm>
            <a:off x="1074420" y="4937760"/>
            <a:ext cx="3429000" cy="438912"/>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11580" y="4956048"/>
            <a:ext cx="1371600" cy="365760"/>
          </a:xfrm>
          <a:prstGeom prst="rect">
            <a:avLst/>
          </a:prstGeom>
          <a:noFill/>
        </p:spPr>
        <p:txBody>
          <a:bodyPr wrap="square">
            <a:spAutoFit/>
          </a:bodyPr>
          <a:lstStyle/>
          <a:p>
            <a:pPr algn="l">
              <a:spcAft>
                <a:spcPts val="0"/>
              </a:spcAft>
              <a:defRPr sz="1300" b="1" i="0">
                <a:solidFill>
                  <a:srgbClr val="C4A882"/>
                </a:solidFill>
                <a:latin typeface="Calibri"/>
              </a:defRPr>
            </a:pPr>
            <a:r>
              <a:t>Tasks</a:t>
            </a:r>
          </a:p>
        </p:txBody>
      </p:sp>
      <p:sp>
        <p:nvSpPr>
          <p:cNvPr id="21" name="TextBox 20"/>
          <p:cNvSpPr txBox="1"/>
          <p:nvPr/>
        </p:nvSpPr>
        <p:spPr>
          <a:xfrm>
            <a:off x="2377440" y="4965192"/>
            <a:ext cx="2286000" cy="365760"/>
          </a:xfrm>
          <a:prstGeom prst="rect">
            <a:avLst/>
          </a:prstGeom>
          <a:noFill/>
        </p:spPr>
        <p:txBody>
          <a:bodyPr wrap="square">
            <a:spAutoFit/>
          </a:bodyPr>
          <a:lstStyle/>
          <a:p>
            <a:pPr algn="l">
              <a:spcAft>
                <a:spcPts val="0"/>
              </a:spcAft>
              <a:defRPr sz="1200" b="0" i="0">
                <a:solidFill>
                  <a:srgbClr val="7A6E5D"/>
                </a:solidFill>
                <a:latin typeface="Calibri"/>
              </a:defRPr>
            </a:pPr>
            <a:r>
              <a:t>Break into implementable units</a:t>
            </a:r>
          </a:p>
        </p:txBody>
      </p:sp>
      <p:sp>
        <p:nvSpPr>
          <p:cNvPr id="22" name="Rounded Rectangle 21"/>
          <p:cNvSpPr/>
          <p:nvPr/>
        </p:nvSpPr>
        <p:spPr>
          <a:xfrm>
            <a:off x="1143000" y="5504688"/>
            <a:ext cx="3291840" cy="438912"/>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80160" y="5522976"/>
            <a:ext cx="1371600" cy="365760"/>
          </a:xfrm>
          <a:prstGeom prst="rect">
            <a:avLst/>
          </a:prstGeom>
          <a:noFill/>
        </p:spPr>
        <p:txBody>
          <a:bodyPr wrap="square">
            <a:spAutoFit/>
          </a:bodyPr>
          <a:lstStyle/>
          <a:p>
            <a:pPr algn="l">
              <a:spcAft>
                <a:spcPts val="0"/>
              </a:spcAft>
              <a:defRPr sz="1300" b="1" i="0">
                <a:solidFill>
                  <a:srgbClr val="C4A882"/>
                </a:solidFill>
                <a:latin typeface="Calibri"/>
              </a:defRPr>
            </a:pPr>
            <a:r>
              <a:t>Code</a:t>
            </a:r>
          </a:p>
        </p:txBody>
      </p:sp>
      <p:sp>
        <p:nvSpPr>
          <p:cNvPr id="24" name="TextBox 23"/>
          <p:cNvSpPr txBox="1"/>
          <p:nvPr/>
        </p:nvSpPr>
        <p:spPr>
          <a:xfrm>
            <a:off x="2651760" y="5580749"/>
            <a:ext cx="2286000" cy="365760"/>
          </a:xfrm>
          <a:prstGeom prst="rect">
            <a:avLst/>
          </a:prstGeom>
          <a:noFill/>
        </p:spPr>
        <p:txBody>
          <a:bodyPr wrap="square">
            <a:spAutoFit/>
          </a:bodyPr>
          <a:lstStyle/>
          <a:p>
            <a:pPr algn="l">
              <a:spcAft>
                <a:spcPts val="0"/>
              </a:spcAft>
              <a:defRPr sz="1200" b="0" i="0">
                <a:solidFill>
                  <a:srgbClr val="7A6E5D"/>
                </a:solidFill>
                <a:latin typeface="Calibri"/>
              </a:defRPr>
            </a:pPr>
            <a:r>
              <a:rPr dirty="0"/>
              <a:t>Implement systematically</a:t>
            </a:r>
          </a:p>
        </p:txBody>
      </p:sp>
      <p:sp>
        <p:nvSpPr>
          <p:cNvPr id="25" name="TextBox 24"/>
          <p:cNvSpPr txBox="1"/>
          <p:nvPr/>
        </p:nvSpPr>
        <p:spPr>
          <a:xfrm>
            <a:off x="6217920" y="1691640"/>
            <a:ext cx="5029200" cy="320040"/>
          </a:xfrm>
          <a:prstGeom prst="rect">
            <a:avLst/>
          </a:prstGeom>
          <a:noFill/>
        </p:spPr>
        <p:txBody>
          <a:bodyPr wrap="square">
            <a:spAutoFit/>
          </a:bodyPr>
          <a:lstStyle/>
          <a:p>
            <a:pPr algn="l">
              <a:spcAft>
                <a:spcPts val="0"/>
              </a:spcAft>
              <a:defRPr sz="1300" b="1" i="0">
                <a:solidFill>
                  <a:srgbClr val="D4886B"/>
                </a:solidFill>
                <a:latin typeface="JetBrains Mono"/>
              </a:defRPr>
            </a:pPr>
            <a:r>
              <a:t>FOUR CORE TECHNIQUES</a:t>
            </a:r>
          </a:p>
        </p:txBody>
      </p:sp>
      <p:sp>
        <p:nvSpPr>
          <p:cNvPr id="26" name="Rounded Rectangle 25"/>
          <p:cNvSpPr/>
          <p:nvPr/>
        </p:nvSpPr>
        <p:spPr>
          <a:xfrm>
            <a:off x="6217920" y="2103120"/>
            <a:ext cx="5029200" cy="9144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92240" y="2148840"/>
            <a:ext cx="4572000" cy="320040"/>
          </a:xfrm>
          <a:prstGeom prst="rect">
            <a:avLst/>
          </a:prstGeom>
          <a:noFill/>
        </p:spPr>
        <p:txBody>
          <a:bodyPr wrap="square">
            <a:spAutoFit/>
          </a:bodyPr>
          <a:lstStyle/>
          <a:p>
            <a:pPr algn="l">
              <a:spcAft>
                <a:spcPts val="0"/>
              </a:spcAft>
              <a:defRPr sz="1500" b="1" i="0">
                <a:solidFill>
                  <a:srgbClr val="D4886B"/>
                </a:solidFill>
                <a:latin typeface="Calibri"/>
              </a:defRPr>
            </a:pPr>
            <a:r>
              <a:t>Full Context</a:t>
            </a:r>
          </a:p>
        </p:txBody>
      </p:sp>
      <p:sp>
        <p:nvSpPr>
          <p:cNvPr id="28" name="TextBox 27"/>
          <p:cNvSpPr txBox="1"/>
          <p:nvPr/>
        </p:nvSpPr>
        <p:spPr>
          <a:xfrm>
            <a:off x="6492240" y="2487168"/>
            <a:ext cx="4572000" cy="502920"/>
          </a:xfrm>
          <a:prstGeom prst="rect">
            <a:avLst/>
          </a:prstGeom>
          <a:noFill/>
        </p:spPr>
        <p:txBody>
          <a:bodyPr wrap="square">
            <a:spAutoFit/>
          </a:bodyPr>
          <a:lstStyle/>
          <a:p>
            <a:pPr algn="l">
              <a:spcAft>
                <a:spcPts val="0"/>
              </a:spcAft>
              <a:defRPr sz="1300" b="0" i="0">
                <a:solidFill>
                  <a:srgbClr val="C4A882"/>
                </a:solidFill>
                <a:latin typeface="Calibri"/>
              </a:defRPr>
            </a:pPr>
            <a:r>
              <a:t>Provide related docs, templates, user research via @-mentions</a:t>
            </a:r>
          </a:p>
        </p:txBody>
      </p:sp>
      <p:sp>
        <p:nvSpPr>
          <p:cNvPr id="29" name="Rounded Rectangle 28"/>
          <p:cNvSpPr/>
          <p:nvPr/>
        </p:nvSpPr>
        <p:spPr>
          <a:xfrm>
            <a:off x="6217920" y="3154679"/>
            <a:ext cx="5029200" cy="9144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92240" y="3200399"/>
            <a:ext cx="4572000" cy="320040"/>
          </a:xfrm>
          <a:prstGeom prst="rect">
            <a:avLst/>
          </a:prstGeom>
          <a:noFill/>
        </p:spPr>
        <p:txBody>
          <a:bodyPr wrap="square">
            <a:spAutoFit/>
          </a:bodyPr>
          <a:lstStyle/>
          <a:p>
            <a:pPr algn="l">
              <a:spcAft>
                <a:spcPts val="0"/>
              </a:spcAft>
              <a:defRPr sz="1500" b="1" i="0">
                <a:solidFill>
                  <a:srgbClr val="D4886B"/>
                </a:solidFill>
                <a:latin typeface="Calibri"/>
              </a:defRPr>
            </a:pPr>
            <a:r>
              <a:t>Socratic Questioning</a:t>
            </a:r>
          </a:p>
        </p:txBody>
      </p:sp>
      <p:sp>
        <p:nvSpPr>
          <p:cNvPr id="31" name="TextBox 30"/>
          <p:cNvSpPr txBox="1"/>
          <p:nvPr/>
        </p:nvSpPr>
        <p:spPr>
          <a:xfrm>
            <a:off x="6492240" y="3538727"/>
            <a:ext cx="4572000" cy="502920"/>
          </a:xfrm>
          <a:prstGeom prst="rect">
            <a:avLst/>
          </a:prstGeom>
          <a:noFill/>
        </p:spPr>
        <p:txBody>
          <a:bodyPr wrap="square">
            <a:spAutoFit/>
          </a:bodyPr>
          <a:lstStyle/>
          <a:p>
            <a:pPr algn="l">
              <a:spcAft>
                <a:spcPts val="0"/>
              </a:spcAft>
              <a:defRPr sz="1300" b="0" i="0">
                <a:solidFill>
                  <a:srgbClr val="C4A882"/>
                </a:solidFill>
                <a:latin typeface="Calibri"/>
              </a:defRPr>
            </a:pPr>
            <a:r>
              <a:t>Use structured questioning to sharpen thinking before writing</a:t>
            </a:r>
          </a:p>
        </p:txBody>
      </p:sp>
      <p:sp>
        <p:nvSpPr>
          <p:cNvPr id="32" name="Rounded Rectangle 31"/>
          <p:cNvSpPr/>
          <p:nvPr/>
        </p:nvSpPr>
        <p:spPr>
          <a:xfrm>
            <a:off x="6217920" y="4206240"/>
            <a:ext cx="5029200" cy="9144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92240" y="4251960"/>
            <a:ext cx="4572000" cy="320040"/>
          </a:xfrm>
          <a:prstGeom prst="rect">
            <a:avLst/>
          </a:prstGeom>
          <a:noFill/>
        </p:spPr>
        <p:txBody>
          <a:bodyPr wrap="square">
            <a:spAutoFit/>
          </a:bodyPr>
          <a:lstStyle/>
          <a:p>
            <a:pPr algn="l">
              <a:spcAft>
                <a:spcPts val="0"/>
              </a:spcAft>
              <a:defRPr sz="1500" b="1" i="0">
                <a:solidFill>
                  <a:srgbClr val="D4886B"/>
                </a:solidFill>
                <a:latin typeface="Calibri"/>
              </a:defRPr>
            </a:pPr>
            <a:r>
              <a:t>Multiple Approaches</a:t>
            </a:r>
          </a:p>
        </p:txBody>
      </p:sp>
      <p:sp>
        <p:nvSpPr>
          <p:cNvPr id="34" name="TextBox 33"/>
          <p:cNvSpPr txBox="1"/>
          <p:nvPr/>
        </p:nvSpPr>
        <p:spPr>
          <a:xfrm>
            <a:off x="6492240" y="4590288"/>
            <a:ext cx="4572000" cy="502920"/>
          </a:xfrm>
          <a:prstGeom prst="rect">
            <a:avLst/>
          </a:prstGeom>
          <a:noFill/>
        </p:spPr>
        <p:txBody>
          <a:bodyPr wrap="square">
            <a:spAutoFit/>
          </a:bodyPr>
          <a:lstStyle/>
          <a:p>
            <a:pPr algn="l">
              <a:spcAft>
                <a:spcPts val="0"/>
              </a:spcAft>
              <a:defRPr sz="1300" b="0" i="0">
                <a:solidFill>
                  <a:srgbClr val="C4A882"/>
                </a:solidFill>
                <a:latin typeface="Calibri"/>
              </a:defRPr>
            </a:pPr>
            <a:r>
              <a:t>Generate 2-3 strategies; compare and select the best</a:t>
            </a:r>
          </a:p>
        </p:txBody>
      </p:sp>
      <p:sp>
        <p:nvSpPr>
          <p:cNvPr id="35" name="Rounded Rectangle 34"/>
          <p:cNvSpPr/>
          <p:nvPr/>
        </p:nvSpPr>
        <p:spPr>
          <a:xfrm>
            <a:off x="6217920" y="5257800"/>
            <a:ext cx="5029200" cy="9144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92240" y="5303520"/>
            <a:ext cx="4572000" cy="320040"/>
          </a:xfrm>
          <a:prstGeom prst="rect">
            <a:avLst/>
          </a:prstGeom>
          <a:noFill/>
        </p:spPr>
        <p:txBody>
          <a:bodyPr wrap="square">
            <a:spAutoFit/>
          </a:bodyPr>
          <a:lstStyle/>
          <a:p>
            <a:pPr algn="l">
              <a:spcAft>
                <a:spcPts val="0"/>
              </a:spcAft>
              <a:defRPr sz="1500" b="1" i="0">
                <a:solidFill>
                  <a:srgbClr val="D4886B"/>
                </a:solidFill>
                <a:latin typeface="Calibri"/>
              </a:defRPr>
            </a:pPr>
            <a:r>
              <a:t>Multi-Perspective Review</a:t>
            </a:r>
          </a:p>
        </p:txBody>
      </p:sp>
      <p:sp>
        <p:nvSpPr>
          <p:cNvPr id="37" name="TextBox 36"/>
          <p:cNvSpPr txBox="1"/>
          <p:nvPr/>
        </p:nvSpPr>
        <p:spPr>
          <a:xfrm>
            <a:off x="6492240" y="5641848"/>
            <a:ext cx="4572000" cy="502920"/>
          </a:xfrm>
          <a:prstGeom prst="rect">
            <a:avLst/>
          </a:prstGeom>
          <a:noFill/>
        </p:spPr>
        <p:txBody>
          <a:bodyPr wrap="square">
            <a:spAutoFit/>
          </a:bodyPr>
          <a:lstStyle/>
          <a:p>
            <a:pPr algn="l">
              <a:spcAft>
                <a:spcPts val="0"/>
              </a:spcAft>
              <a:defRPr sz="1300" b="0" i="0">
                <a:solidFill>
                  <a:srgbClr val="C4A882"/>
                </a:solidFill>
                <a:latin typeface="Calibri"/>
              </a:defRPr>
            </a:pPr>
            <a:r>
              <a:t>Get feedback from engineer, executive, and user researcher personas via sub-agents</a:t>
            </a:r>
          </a:p>
        </p:txBody>
      </p:sp>
      <p:sp>
        <p:nvSpPr>
          <p:cNvPr id="38" name="TextBox 37"/>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9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200" b="0" i="0">
                <a:solidFill>
                  <a:srgbClr val="E8D5B7"/>
                </a:solidFill>
                <a:latin typeface="Georgia"/>
              </a:defRPr>
            </a:pPr>
            <a:r>
              <a:t>The specification is the source of truth --</a:t>
            </a:r>
            <a:br/>
            <a:r>
              <a:t>master it, and AI becomes your multiplier</a:t>
            </a:r>
          </a:p>
        </p:txBody>
      </p:sp>
      <p:sp>
        <p:nvSpPr>
          <p:cNvPr id="3" name="Rounded Rectangle 2"/>
          <p:cNvSpPr/>
          <p:nvPr/>
        </p:nvSpPr>
        <p:spPr>
          <a:xfrm>
            <a:off x="548640" y="1600200"/>
            <a:ext cx="11064240" cy="40233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77240" y="17373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78408" y="17373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9576" y="17373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103120"/>
            <a:ext cx="548640" cy="365760"/>
          </a:xfrm>
          <a:prstGeom prst="rect">
            <a:avLst/>
          </a:prstGeom>
          <a:noFill/>
        </p:spPr>
        <p:txBody>
          <a:bodyPr wrap="square">
            <a:spAutoFit/>
          </a:bodyPr>
          <a:lstStyle/>
          <a:p>
            <a:pPr algn="l">
              <a:spcAft>
                <a:spcPts val="0"/>
              </a:spcAft>
              <a:defRPr sz="1800" b="1" i="0">
                <a:solidFill>
                  <a:srgbClr val="D4886B"/>
                </a:solidFill>
                <a:latin typeface="JetBrains Mono"/>
              </a:defRPr>
            </a:pPr>
            <a:r>
              <a:t>01</a:t>
            </a:r>
          </a:p>
        </p:txBody>
      </p:sp>
      <p:sp>
        <p:nvSpPr>
          <p:cNvPr id="8" name="TextBox 7"/>
          <p:cNvSpPr txBox="1"/>
          <p:nvPr/>
        </p:nvSpPr>
        <p:spPr>
          <a:xfrm>
            <a:off x="1463040" y="2103120"/>
            <a:ext cx="4114800" cy="320040"/>
          </a:xfrm>
          <a:prstGeom prst="rect">
            <a:avLst/>
          </a:prstGeom>
          <a:noFill/>
        </p:spPr>
        <p:txBody>
          <a:bodyPr wrap="square">
            <a:spAutoFit/>
          </a:bodyPr>
          <a:lstStyle/>
          <a:p>
            <a:pPr algn="l">
              <a:spcAft>
                <a:spcPts val="0"/>
              </a:spcAft>
              <a:defRPr sz="1500" b="1" i="0">
                <a:solidFill>
                  <a:srgbClr val="E8D5B7"/>
                </a:solidFill>
                <a:latin typeface="Calibri"/>
              </a:defRPr>
            </a:pPr>
            <a:r>
              <a:t>PRDs are now essential</a:t>
            </a:r>
          </a:p>
        </p:txBody>
      </p:sp>
      <p:sp>
        <p:nvSpPr>
          <p:cNvPr id="9" name="TextBox 8"/>
          <p:cNvSpPr txBox="1"/>
          <p:nvPr/>
        </p:nvSpPr>
        <p:spPr>
          <a:xfrm>
            <a:off x="1463040" y="2423160"/>
            <a:ext cx="4114800" cy="457200"/>
          </a:xfrm>
          <a:prstGeom prst="rect">
            <a:avLst/>
          </a:prstGeom>
          <a:noFill/>
        </p:spPr>
        <p:txBody>
          <a:bodyPr wrap="square">
            <a:spAutoFit/>
          </a:bodyPr>
          <a:lstStyle/>
          <a:p>
            <a:pPr algn="l">
              <a:spcAft>
                <a:spcPts val="0"/>
              </a:spcAft>
              <a:defRPr sz="1200" b="0" i="0">
                <a:solidFill>
                  <a:srgbClr val="7A6E5D"/>
                </a:solidFill>
                <a:latin typeface="Calibri"/>
              </a:defRPr>
            </a:pPr>
            <a:r>
              <a:t>They're the primary input that determines AI output quality</a:t>
            </a:r>
          </a:p>
        </p:txBody>
      </p:sp>
      <p:sp>
        <p:nvSpPr>
          <p:cNvPr id="10" name="TextBox 9"/>
          <p:cNvSpPr txBox="1"/>
          <p:nvPr/>
        </p:nvSpPr>
        <p:spPr>
          <a:xfrm>
            <a:off x="914400" y="3017520"/>
            <a:ext cx="548640" cy="365760"/>
          </a:xfrm>
          <a:prstGeom prst="rect">
            <a:avLst/>
          </a:prstGeom>
          <a:noFill/>
        </p:spPr>
        <p:txBody>
          <a:bodyPr wrap="square">
            <a:spAutoFit/>
          </a:bodyPr>
          <a:lstStyle/>
          <a:p>
            <a:pPr algn="l">
              <a:spcAft>
                <a:spcPts val="0"/>
              </a:spcAft>
              <a:defRPr sz="1800" b="1" i="0">
                <a:solidFill>
                  <a:srgbClr val="D4886B"/>
                </a:solidFill>
                <a:latin typeface="JetBrains Mono"/>
              </a:defRPr>
            </a:pPr>
            <a:r>
              <a:t>02</a:t>
            </a:r>
          </a:p>
        </p:txBody>
      </p:sp>
      <p:sp>
        <p:nvSpPr>
          <p:cNvPr id="11" name="TextBox 10"/>
          <p:cNvSpPr txBox="1"/>
          <p:nvPr/>
        </p:nvSpPr>
        <p:spPr>
          <a:xfrm>
            <a:off x="1463040" y="3017520"/>
            <a:ext cx="4114800" cy="320040"/>
          </a:xfrm>
          <a:prstGeom prst="rect">
            <a:avLst/>
          </a:prstGeom>
          <a:noFill/>
        </p:spPr>
        <p:txBody>
          <a:bodyPr wrap="square">
            <a:spAutoFit/>
          </a:bodyPr>
          <a:lstStyle/>
          <a:p>
            <a:pPr algn="l">
              <a:spcAft>
                <a:spcPts val="0"/>
              </a:spcAft>
              <a:defRPr sz="1500" b="1" i="0">
                <a:solidFill>
                  <a:srgbClr val="E8D5B7"/>
                </a:solidFill>
                <a:latin typeface="Calibri"/>
              </a:defRPr>
            </a:pPr>
            <a:r>
              <a:t>Always plan first</a:t>
            </a:r>
          </a:p>
        </p:txBody>
      </p:sp>
      <p:sp>
        <p:nvSpPr>
          <p:cNvPr id="12" name="TextBox 11"/>
          <p:cNvSpPr txBox="1"/>
          <p:nvPr/>
        </p:nvSpPr>
        <p:spPr>
          <a:xfrm>
            <a:off x="1463040" y="3337560"/>
            <a:ext cx="4114800" cy="457200"/>
          </a:xfrm>
          <a:prstGeom prst="rect">
            <a:avLst/>
          </a:prstGeom>
          <a:noFill/>
        </p:spPr>
        <p:txBody>
          <a:bodyPr wrap="square">
            <a:spAutoFit/>
          </a:bodyPr>
          <a:lstStyle/>
          <a:p>
            <a:pPr algn="l">
              <a:spcAft>
                <a:spcPts val="0"/>
              </a:spcAft>
              <a:defRPr sz="1200" b="0" i="0">
                <a:solidFill>
                  <a:srgbClr val="7A6E5D"/>
                </a:solidFill>
                <a:latin typeface="Calibri"/>
              </a:defRPr>
            </a:pPr>
            <a:r>
              <a:t>PRD &gt; Plan &gt; Todo &gt; Code. Never jump to implementation</a:t>
            </a:r>
          </a:p>
        </p:txBody>
      </p:sp>
      <p:sp>
        <p:nvSpPr>
          <p:cNvPr id="13" name="TextBox 12"/>
          <p:cNvSpPr txBox="1"/>
          <p:nvPr/>
        </p:nvSpPr>
        <p:spPr>
          <a:xfrm>
            <a:off x="914400" y="3931920"/>
            <a:ext cx="548640" cy="365760"/>
          </a:xfrm>
          <a:prstGeom prst="rect">
            <a:avLst/>
          </a:prstGeom>
          <a:noFill/>
        </p:spPr>
        <p:txBody>
          <a:bodyPr wrap="square">
            <a:spAutoFit/>
          </a:bodyPr>
          <a:lstStyle/>
          <a:p>
            <a:pPr algn="l">
              <a:spcAft>
                <a:spcPts val="0"/>
              </a:spcAft>
              <a:defRPr sz="1800" b="1" i="0">
                <a:solidFill>
                  <a:srgbClr val="D4886B"/>
                </a:solidFill>
                <a:latin typeface="JetBrains Mono"/>
              </a:defRPr>
            </a:pPr>
            <a:r>
              <a:t>03</a:t>
            </a:r>
          </a:p>
        </p:txBody>
      </p:sp>
      <p:sp>
        <p:nvSpPr>
          <p:cNvPr id="14" name="TextBox 13"/>
          <p:cNvSpPr txBox="1"/>
          <p:nvPr/>
        </p:nvSpPr>
        <p:spPr>
          <a:xfrm>
            <a:off x="1463040" y="3931920"/>
            <a:ext cx="4114800" cy="320040"/>
          </a:xfrm>
          <a:prstGeom prst="rect">
            <a:avLst/>
          </a:prstGeom>
          <a:noFill/>
        </p:spPr>
        <p:txBody>
          <a:bodyPr wrap="square">
            <a:spAutoFit/>
          </a:bodyPr>
          <a:lstStyle/>
          <a:p>
            <a:pPr algn="l">
              <a:spcAft>
                <a:spcPts val="0"/>
              </a:spcAft>
              <a:defRPr sz="1500" b="1" i="0">
                <a:solidFill>
                  <a:srgbClr val="E8D5B7"/>
                </a:solidFill>
                <a:latin typeface="Calibri"/>
              </a:defRPr>
            </a:pPr>
            <a:r>
              <a:t>Structure over prose</a:t>
            </a:r>
          </a:p>
        </p:txBody>
      </p:sp>
      <p:sp>
        <p:nvSpPr>
          <p:cNvPr id="15" name="TextBox 14"/>
          <p:cNvSpPr txBox="1"/>
          <p:nvPr/>
        </p:nvSpPr>
        <p:spPr>
          <a:xfrm>
            <a:off x="1463040" y="4251960"/>
            <a:ext cx="4114800" cy="457200"/>
          </a:xfrm>
          <a:prstGeom prst="rect">
            <a:avLst/>
          </a:prstGeom>
          <a:noFill/>
        </p:spPr>
        <p:txBody>
          <a:bodyPr wrap="square">
            <a:spAutoFit/>
          </a:bodyPr>
          <a:lstStyle/>
          <a:p>
            <a:pPr algn="l">
              <a:spcAft>
                <a:spcPts val="0"/>
              </a:spcAft>
              <a:defRPr sz="1200" b="0" i="0">
                <a:solidFill>
                  <a:srgbClr val="7A6E5D"/>
                </a:solidFill>
                <a:latin typeface="Calibri"/>
              </a:defRPr>
            </a:pPr>
            <a:r>
              <a:t>Bullets, sections, numbers. Think of PRDs as AI input format</a:t>
            </a:r>
          </a:p>
        </p:txBody>
      </p:sp>
      <p:sp>
        <p:nvSpPr>
          <p:cNvPr id="16" name="TextBox 15"/>
          <p:cNvSpPr txBox="1"/>
          <p:nvPr/>
        </p:nvSpPr>
        <p:spPr>
          <a:xfrm>
            <a:off x="914400" y="4846320"/>
            <a:ext cx="548640" cy="365760"/>
          </a:xfrm>
          <a:prstGeom prst="rect">
            <a:avLst/>
          </a:prstGeom>
          <a:noFill/>
        </p:spPr>
        <p:txBody>
          <a:bodyPr wrap="square">
            <a:spAutoFit/>
          </a:bodyPr>
          <a:lstStyle/>
          <a:p>
            <a:pPr algn="l">
              <a:spcAft>
                <a:spcPts val="0"/>
              </a:spcAft>
              <a:defRPr sz="1800" b="1" i="0">
                <a:solidFill>
                  <a:srgbClr val="D4886B"/>
                </a:solidFill>
                <a:latin typeface="JetBrains Mono"/>
              </a:defRPr>
            </a:pPr>
            <a:r>
              <a:t>04</a:t>
            </a:r>
          </a:p>
        </p:txBody>
      </p:sp>
      <p:sp>
        <p:nvSpPr>
          <p:cNvPr id="17" name="TextBox 16"/>
          <p:cNvSpPr txBox="1"/>
          <p:nvPr/>
        </p:nvSpPr>
        <p:spPr>
          <a:xfrm>
            <a:off x="1463040" y="4846320"/>
            <a:ext cx="4114800" cy="320040"/>
          </a:xfrm>
          <a:prstGeom prst="rect">
            <a:avLst/>
          </a:prstGeom>
          <a:noFill/>
        </p:spPr>
        <p:txBody>
          <a:bodyPr wrap="square">
            <a:spAutoFit/>
          </a:bodyPr>
          <a:lstStyle/>
          <a:p>
            <a:pPr algn="l">
              <a:spcAft>
                <a:spcPts val="0"/>
              </a:spcAft>
              <a:defRPr sz="1500" b="1" i="0">
                <a:solidFill>
                  <a:srgbClr val="E8D5B7"/>
                </a:solidFill>
                <a:latin typeface="Calibri"/>
              </a:defRPr>
            </a:pPr>
            <a:r>
              <a:t>Phase your work</a:t>
            </a:r>
          </a:p>
        </p:txBody>
      </p:sp>
      <p:sp>
        <p:nvSpPr>
          <p:cNvPr id="18" name="TextBox 17"/>
          <p:cNvSpPr txBox="1"/>
          <p:nvPr/>
        </p:nvSpPr>
        <p:spPr>
          <a:xfrm>
            <a:off x="1463040" y="5166360"/>
            <a:ext cx="4114800" cy="457200"/>
          </a:xfrm>
          <a:prstGeom prst="rect">
            <a:avLst/>
          </a:prstGeom>
          <a:noFill/>
        </p:spPr>
        <p:txBody>
          <a:bodyPr wrap="square">
            <a:spAutoFit/>
          </a:bodyPr>
          <a:lstStyle/>
          <a:p>
            <a:pPr algn="l">
              <a:spcAft>
                <a:spcPts val="0"/>
              </a:spcAft>
              <a:defRPr sz="1200" b="0" i="0">
                <a:solidFill>
                  <a:srgbClr val="7A6E5D"/>
                </a:solidFill>
                <a:latin typeface="Calibri"/>
              </a:defRPr>
            </a:pPr>
            <a:r>
              <a:t>5-6 phases, 30-50 requirements each, 5-15 min per agent phase</a:t>
            </a:r>
          </a:p>
        </p:txBody>
      </p:sp>
      <p:sp>
        <p:nvSpPr>
          <p:cNvPr id="19" name="TextBox 18"/>
          <p:cNvSpPr txBox="1"/>
          <p:nvPr/>
        </p:nvSpPr>
        <p:spPr>
          <a:xfrm>
            <a:off x="6400800" y="2103120"/>
            <a:ext cx="548640" cy="365760"/>
          </a:xfrm>
          <a:prstGeom prst="rect">
            <a:avLst/>
          </a:prstGeom>
          <a:noFill/>
        </p:spPr>
        <p:txBody>
          <a:bodyPr wrap="square">
            <a:spAutoFit/>
          </a:bodyPr>
          <a:lstStyle/>
          <a:p>
            <a:pPr algn="l">
              <a:spcAft>
                <a:spcPts val="0"/>
              </a:spcAft>
              <a:defRPr sz="1800" b="1" i="0">
                <a:solidFill>
                  <a:srgbClr val="D4886B"/>
                </a:solidFill>
                <a:latin typeface="JetBrains Mono"/>
              </a:defRPr>
            </a:pPr>
            <a:r>
              <a:t>05</a:t>
            </a:r>
          </a:p>
        </p:txBody>
      </p:sp>
      <p:sp>
        <p:nvSpPr>
          <p:cNvPr id="20" name="TextBox 19"/>
          <p:cNvSpPr txBox="1"/>
          <p:nvPr/>
        </p:nvSpPr>
        <p:spPr>
          <a:xfrm>
            <a:off x="6949440" y="2103120"/>
            <a:ext cx="4114800" cy="320040"/>
          </a:xfrm>
          <a:prstGeom prst="rect">
            <a:avLst/>
          </a:prstGeom>
          <a:noFill/>
        </p:spPr>
        <p:txBody>
          <a:bodyPr wrap="square">
            <a:spAutoFit/>
          </a:bodyPr>
          <a:lstStyle/>
          <a:p>
            <a:pPr algn="l">
              <a:spcAft>
                <a:spcPts val="0"/>
              </a:spcAft>
              <a:defRPr sz="1500" b="1" i="0">
                <a:solidFill>
                  <a:srgbClr val="E8D5B7"/>
                </a:solidFill>
                <a:latin typeface="Calibri"/>
              </a:defRPr>
            </a:pPr>
            <a:r>
              <a:t>State non-goals positively</a:t>
            </a:r>
          </a:p>
        </p:txBody>
      </p:sp>
      <p:sp>
        <p:nvSpPr>
          <p:cNvPr id="21" name="TextBox 20"/>
          <p:cNvSpPr txBox="1"/>
          <p:nvPr/>
        </p:nvSpPr>
        <p:spPr>
          <a:xfrm>
            <a:off x="6949440" y="2423160"/>
            <a:ext cx="4114800" cy="457200"/>
          </a:xfrm>
          <a:prstGeom prst="rect">
            <a:avLst/>
          </a:prstGeom>
          <a:noFill/>
        </p:spPr>
        <p:txBody>
          <a:bodyPr wrap="square">
            <a:spAutoFit/>
          </a:bodyPr>
          <a:lstStyle/>
          <a:p>
            <a:pPr algn="l">
              <a:spcAft>
                <a:spcPts val="0"/>
              </a:spcAft>
              <a:defRPr sz="1200" b="0" i="0">
                <a:solidFill>
                  <a:srgbClr val="7A6E5D"/>
                </a:solidFill>
                <a:latin typeface="Calibri"/>
              </a:defRPr>
            </a:pPr>
            <a:r>
              <a:t>AI cannot infer from omission. Every boundary must be explicit</a:t>
            </a:r>
          </a:p>
        </p:txBody>
      </p:sp>
      <p:sp>
        <p:nvSpPr>
          <p:cNvPr id="22" name="TextBox 21"/>
          <p:cNvSpPr txBox="1"/>
          <p:nvPr/>
        </p:nvSpPr>
        <p:spPr>
          <a:xfrm>
            <a:off x="6400800" y="3017520"/>
            <a:ext cx="548640" cy="365760"/>
          </a:xfrm>
          <a:prstGeom prst="rect">
            <a:avLst/>
          </a:prstGeom>
          <a:noFill/>
        </p:spPr>
        <p:txBody>
          <a:bodyPr wrap="square">
            <a:spAutoFit/>
          </a:bodyPr>
          <a:lstStyle/>
          <a:p>
            <a:pPr algn="l">
              <a:spcAft>
                <a:spcPts val="0"/>
              </a:spcAft>
              <a:defRPr sz="1800" b="1" i="0">
                <a:solidFill>
                  <a:srgbClr val="D4886B"/>
                </a:solidFill>
                <a:latin typeface="JetBrains Mono"/>
              </a:defRPr>
            </a:pPr>
            <a:r>
              <a:t>06</a:t>
            </a:r>
          </a:p>
        </p:txBody>
      </p:sp>
      <p:sp>
        <p:nvSpPr>
          <p:cNvPr id="23" name="TextBox 22"/>
          <p:cNvSpPr txBox="1"/>
          <p:nvPr/>
        </p:nvSpPr>
        <p:spPr>
          <a:xfrm>
            <a:off x="6949440" y="3017520"/>
            <a:ext cx="4114800" cy="320040"/>
          </a:xfrm>
          <a:prstGeom prst="rect">
            <a:avLst/>
          </a:prstGeom>
          <a:noFill/>
        </p:spPr>
        <p:txBody>
          <a:bodyPr wrap="square">
            <a:spAutoFit/>
          </a:bodyPr>
          <a:lstStyle/>
          <a:p>
            <a:pPr algn="l">
              <a:spcAft>
                <a:spcPts val="0"/>
              </a:spcAft>
              <a:defRPr sz="1500" b="1" i="0">
                <a:solidFill>
                  <a:srgbClr val="E8D5B7"/>
                </a:solidFill>
                <a:latin typeface="Calibri"/>
              </a:defRPr>
            </a:pPr>
            <a:r>
              <a:t>Research before you specify</a:t>
            </a:r>
          </a:p>
        </p:txBody>
      </p:sp>
      <p:sp>
        <p:nvSpPr>
          <p:cNvPr id="24" name="TextBox 23"/>
          <p:cNvSpPr txBox="1"/>
          <p:nvPr/>
        </p:nvSpPr>
        <p:spPr>
          <a:xfrm>
            <a:off x="6949440" y="3337560"/>
            <a:ext cx="4114800" cy="457200"/>
          </a:xfrm>
          <a:prstGeom prst="rect">
            <a:avLst/>
          </a:prstGeom>
          <a:noFill/>
        </p:spPr>
        <p:txBody>
          <a:bodyPr wrap="square">
            <a:spAutoFit/>
          </a:bodyPr>
          <a:lstStyle/>
          <a:p>
            <a:pPr algn="l">
              <a:spcAft>
                <a:spcPts val="0"/>
              </a:spcAft>
              <a:defRPr sz="1200" b="0" i="0">
                <a:solidFill>
                  <a:srgbClr val="7A6E5D"/>
                </a:solidFill>
                <a:latin typeface="Calibri"/>
              </a:defRPr>
            </a:pPr>
            <a:r>
              <a:t>LLM training data goes stale. Verify current capabilities first</a:t>
            </a:r>
          </a:p>
        </p:txBody>
      </p:sp>
      <p:sp>
        <p:nvSpPr>
          <p:cNvPr id="25" name="TextBox 24"/>
          <p:cNvSpPr txBox="1"/>
          <p:nvPr/>
        </p:nvSpPr>
        <p:spPr>
          <a:xfrm>
            <a:off x="6400800" y="3931920"/>
            <a:ext cx="548640" cy="365760"/>
          </a:xfrm>
          <a:prstGeom prst="rect">
            <a:avLst/>
          </a:prstGeom>
          <a:noFill/>
        </p:spPr>
        <p:txBody>
          <a:bodyPr wrap="square">
            <a:spAutoFit/>
          </a:bodyPr>
          <a:lstStyle/>
          <a:p>
            <a:pPr algn="l">
              <a:spcAft>
                <a:spcPts val="0"/>
              </a:spcAft>
              <a:defRPr sz="1800" b="1" i="0">
                <a:solidFill>
                  <a:srgbClr val="D4886B"/>
                </a:solidFill>
                <a:latin typeface="JetBrains Mono"/>
              </a:defRPr>
            </a:pPr>
            <a:r>
              <a:t>07</a:t>
            </a:r>
          </a:p>
        </p:txBody>
      </p:sp>
      <p:sp>
        <p:nvSpPr>
          <p:cNvPr id="26" name="TextBox 25"/>
          <p:cNvSpPr txBox="1"/>
          <p:nvPr/>
        </p:nvSpPr>
        <p:spPr>
          <a:xfrm>
            <a:off x="6949440" y="3931920"/>
            <a:ext cx="4114800" cy="320040"/>
          </a:xfrm>
          <a:prstGeom prst="rect">
            <a:avLst/>
          </a:prstGeom>
          <a:noFill/>
        </p:spPr>
        <p:txBody>
          <a:bodyPr wrap="square">
            <a:spAutoFit/>
          </a:bodyPr>
          <a:lstStyle/>
          <a:p>
            <a:pPr algn="l">
              <a:spcAft>
                <a:spcPts val="0"/>
              </a:spcAft>
              <a:defRPr sz="1500" b="1" i="0">
                <a:solidFill>
                  <a:srgbClr val="E8D5B7"/>
                </a:solidFill>
                <a:latin typeface="Calibri"/>
              </a:defRPr>
            </a:pPr>
            <a:r>
              <a:t>Use "DO NOT CHANGE"</a:t>
            </a:r>
          </a:p>
        </p:txBody>
      </p:sp>
      <p:sp>
        <p:nvSpPr>
          <p:cNvPr id="27" name="TextBox 26"/>
          <p:cNvSpPr txBox="1"/>
          <p:nvPr/>
        </p:nvSpPr>
        <p:spPr>
          <a:xfrm>
            <a:off x="6949440" y="4251960"/>
            <a:ext cx="4114800" cy="457200"/>
          </a:xfrm>
          <a:prstGeom prst="rect">
            <a:avLst/>
          </a:prstGeom>
          <a:noFill/>
        </p:spPr>
        <p:txBody>
          <a:bodyPr wrap="square">
            <a:spAutoFit/>
          </a:bodyPr>
          <a:lstStyle/>
          <a:p>
            <a:pPr algn="l">
              <a:spcAft>
                <a:spcPts val="0"/>
              </a:spcAft>
              <a:defRPr sz="1200" b="0" i="0">
                <a:solidFill>
                  <a:srgbClr val="7A6E5D"/>
                </a:solidFill>
                <a:latin typeface="Calibri"/>
              </a:defRPr>
            </a:pPr>
            <a:r>
              <a:t>Protect stable code from AI over-optimization</a:t>
            </a:r>
          </a:p>
        </p:txBody>
      </p:sp>
      <p:sp>
        <p:nvSpPr>
          <p:cNvPr id="28" name="TextBox 27"/>
          <p:cNvSpPr txBox="1"/>
          <p:nvPr/>
        </p:nvSpPr>
        <p:spPr>
          <a:xfrm>
            <a:off x="6400800" y="4846320"/>
            <a:ext cx="548640" cy="365760"/>
          </a:xfrm>
          <a:prstGeom prst="rect">
            <a:avLst/>
          </a:prstGeom>
          <a:noFill/>
        </p:spPr>
        <p:txBody>
          <a:bodyPr wrap="square">
            <a:spAutoFit/>
          </a:bodyPr>
          <a:lstStyle/>
          <a:p>
            <a:pPr algn="l">
              <a:spcAft>
                <a:spcPts val="0"/>
              </a:spcAft>
              <a:defRPr sz="1800" b="1" i="0">
                <a:solidFill>
                  <a:srgbClr val="D4886B"/>
                </a:solidFill>
                <a:latin typeface="JetBrains Mono"/>
              </a:defRPr>
            </a:pPr>
            <a:r>
              <a:t>08</a:t>
            </a:r>
          </a:p>
        </p:txBody>
      </p:sp>
      <p:sp>
        <p:nvSpPr>
          <p:cNvPr id="29" name="TextBox 28"/>
          <p:cNvSpPr txBox="1"/>
          <p:nvPr/>
        </p:nvSpPr>
        <p:spPr>
          <a:xfrm>
            <a:off x="6949440" y="4846320"/>
            <a:ext cx="4114800" cy="320040"/>
          </a:xfrm>
          <a:prstGeom prst="rect">
            <a:avLst/>
          </a:prstGeom>
          <a:noFill/>
        </p:spPr>
        <p:txBody>
          <a:bodyPr wrap="square">
            <a:spAutoFit/>
          </a:bodyPr>
          <a:lstStyle/>
          <a:p>
            <a:pPr algn="l">
              <a:spcAft>
                <a:spcPts val="0"/>
              </a:spcAft>
              <a:defRPr sz="1500" b="1" i="0">
                <a:solidFill>
                  <a:srgbClr val="E8D5B7"/>
                </a:solidFill>
                <a:latin typeface="Calibri"/>
              </a:defRPr>
            </a:pPr>
            <a:r>
              <a:t>AI as thinking partner</a:t>
            </a:r>
          </a:p>
        </p:txBody>
      </p:sp>
      <p:sp>
        <p:nvSpPr>
          <p:cNvPr id="30" name="TextBox 29"/>
          <p:cNvSpPr txBox="1"/>
          <p:nvPr/>
        </p:nvSpPr>
        <p:spPr>
          <a:xfrm>
            <a:off x="6949440" y="5166360"/>
            <a:ext cx="4114800" cy="457200"/>
          </a:xfrm>
          <a:prstGeom prst="rect">
            <a:avLst/>
          </a:prstGeom>
          <a:noFill/>
        </p:spPr>
        <p:txBody>
          <a:bodyPr wrap="square">
            <a:spAutoFit/>
          </a:bodyPr>
          <a:lstStyle/>
          <a:p>
            <a:pPr algn="l">
              <a:spcAft>
                <a:spcPts val="0"/>
              </a:spcAft>
              <a:defRPr sz="1200" b="0" i="0">
                <a:solidFill>
                  <a:srgbClr val="7A6E5D"/>
                </a:solidFill>
                <a:latin typeface="Calibri"/>
              </a:defRPr>
            </a:pPr>
            <a:r>
              <a:t>Combine human judgment with AI context processing power</a:t>
            </a:r>
          </a:p>
        </p:txBody>
      </p:sp>
      <p:sp>
        <p:nvSpPr>
          <p:cNvPr id="31" name="Rectangle 30"/>
          <p:cNvSpPr/>
          <p:nvPr/>
        </p:nvSpPr>
        <p:spPr>
          <a:xfrm>
            <a:off x="731520" y="5806440"/>
            <a:ext cx="1051560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190</TotalTime>
  <Words>1429</Words>
  <Application>Microsoft Macintosh PowerPoint</Application>
  <PresentationFormat>Widescreen</PresentationFormat>
  <Paragraphs>125</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Haim Ari</cp:lastModifiedBy>
  <cp:revision>9</cp:revision>
  <dcterms:created xsi:type="dcterms:W3CDTF">2013-01-27T09:14:16Z</dcterms:created>
  <dcterms:modified xsi:type="dcterms:W3CDTF">2026-02-25T17:58:47Z</dcterms:modified>
  <cp:category/>
</cp:coreProperties>
</file>