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21" d="100"/>
          <a:sy n="121" d="100"/>
        </p:scale>
        <p:origin x="32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6399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Episode 4 of The Claude Beast series. Today we dive into Claude Code Hooks -- the feature that transforms Claude Code from a smart assistant into a programmable automation platform.</a:t>
            </a:r>
          </a:p>
          <a:p>
            <a:endParaRPr/>
          </a:p>
          <a:p>
            <a:r>
              <a:t>Hooks give you deterministic control over a probabilistic system. Instead of hoping the AI remembers your rules, hooks enforce them automatically, every single time.</a:t>
            </a:r>
          </a:p>
          <a:p>
            <a:endParaRPr/>
          </a:p>
          <a:p>
            <a:r>
              <a:t>By the end of this talk, you'll understand how to wire up hooks for auto-formatting, security guardrails, test enforcement, and much more.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Claude Code Hooks are the core extensibility mechanism that makes Claude Code uniquely programmable among AI coding tools.</a:t>
            </a:r>
          </a:p>
          <a:p>
            <a:endParaRPr/>
          </a:p>
          <a:p>
            <a:r>
              <a:t>Think of them like Git hooks -- pre-commit, post-merge -- but instead of triggering on Git operations, they trigger on AI operations: before a tool runs, after a file is edited, when a session starts or stops.</a:t>
            </a:r>
          </a:p>
          <a:p>
            <a:endParaRPr/>
          </a:p>
          <a:p>
            <a:r>
              <a:t>The key insight is that these are deterministic. They fire every single time their conditions are met, regardless of what the LLM decides. This is what separates enforcement from suggestion.</a:t>
            </a:r>
          </a:p>
          <a:p>
            <a:endParaRPr/>
          </a:p>
          <a:p>
            <a:r>
              <a:t>They've grown rapidly since launch -- from 7 events in June 2025 to over 14 lifecycle events today, covering everything from session management to tool execution to agent coordination.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Claude Code now supports over 14 lifecycle events where hooks can fire. These span four major categories.</a:t>
            </a:r>
          </a:p>
          <a:p>
            <a:endParaRPr/>
          </a:p>
          <a:p>
            <a:r>
              <a:t>Session events fire when a session starts, ends, or when context compaction happens. Tool events are the most commonly used -- they fire before and after any tool call like Bash, Edit, Write, or Read. Agent events fire when Claude stops responding, when subagents spawn, or when the user submits a prompt. And newer events added in late 2025 and early 2026 cover agent team coordination, task completion tracking, configuration changes, and worktree management.</a:t>
            </a:r>
          </a:p>
          <a:p>
            <a:endParaRPr/>
          </a:p>
          <a:p>
            <a:r>
              <a:t>The ones marked with a filled circle are especially powerful because they can BLOCK the action. A PreToolUse hook returning exit code 2 will prevent that tool call from executing. A Stop hook returning exit 2 will force Claude to keep working. This is where enforcement really happens.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Claude Code supports three distinct types of hook handlers, each serving different needs.</a:t>
            </a:r>
          </a:p>
          <a:p>
            <a:endParaRPr/>
          </a:p>
          <a:p>
            <a:r>
              <a:t>Command hooks are the workhorses -- they run shell scripts and are blazingly fast, completing in milliseconds. They receive JSON on stdin and communicate back via exit codes and stdout. Use these for formatting, linting, security checks, and logging.</a:t>
            </a:r>
          </a:p>
          <a:p>
            <a:endParaRPr/>
          </a:p>
          <a:p>
            <a:r>
              <a:t>Prompt hooks are for decisions that are too nuanced for shell scripts. They send a prompt to a Claude model (Haiku by default) for a single-turn yes/no decision. The model returns ok true or ok false with a reason. Great for semantic validation.</a:t>
            </a:r>
          </a:p>
          <a:p>
            <a:endParaRPr/>
          </a:p>
          <a:p>
            <a:r>
              <a:t>Agent hooks are the most powerful -- they spawn a full multi-turn subagent with access to tools like Read, Grep, Glob, and Bash. They can use up to 50 tool turns to verify conditions. Use these for complex verification that requires reading multiple files and running commands.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Hooks can be configured at six different scope levels, giving you fine-grained control over where they apply.</a:t>
            </a:r>
          </a:p>
          <a:p>
            <a:endParaRPr/>
          </a:p>
          <a:p>
            <a:r>
              <a:t>User-wide settings in your home directory apply to every project you work on. Project settings in the .claude folder are great for team-shared hooks -- commit them to your repo and everyone gets the same guardrails. The local variant is gitignored for personal preferences.</a:t>
            </a:r>
          </a:p>
          <a:p>
            <a:endParaRPr/>
          </a:p>
          <a:p>
            <a:r>
              <a:t>Organization-wide managed policies let admins enforce hooks across all developers. Plugin hooks activate when a specific plugin is enabled. And skill or agent frontmatter lets hooks be scoped to specific components.</a:t>
            </a:r>
          </a:p>
          <a:p>
            <a:endParaRPr/>
          </a:p>
          <a:p>
            <a:r>
              <a:t>The JSON structure follows three levels of nesting: choose a hook event, add a matcher group to filter when it fires, and define one or more hook handlers. You can also use the /hooks CLI menu to manage hooks interactively.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Matchers are what give hooks their surgical precision. Without a matcher, a hook fires on every occurrence of its event. With matchers, you can target exactly which tools, sessions, or conditions trigger your hooks.</a:t>
            </a:r>
          </a:p>
          <a:p>
            <a:endParaRPr/>
          </a:p>
          <a:p>
            <a:r>
              <a:t>The syntax is flexible -- exact matches, pipe-separated alternatives, wildcards, argument patterns, and even full regex for MCP tools. This means you can write a hook that only fires when Claude runs Bash commands starting with "npm test", or only when any MCP tool with "write" in its name is called.</a:t>
            </a:r>
          </a:p>
          <a:p>
            <a:endParaRPr/>
          </a:p>
          <a:p>
            <a:r>
              <a:t>Different events filter on different things. Tool events filter on tool names. Session events filter on how the session started or ended. Notification events filter on notification type.</a:t>
            </a:r>
          </a:p>
          <a:p>
            <a:endParaRPr/>
          </a:p>
          <a:p>
            <a:r>
              <a:t>One critical gotcha: matchers are case-sensitive. Writing "bash" lowercase will not match the "Bash" tool. Always use PascalCase for tool names.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one of the most important conceptual distinctions in Claude Code: the difference between guidance and enforcement.</a:t>
            </a:r>
          </a:p>
          <a:p>
            <a:endParaRPr/>
          </a:p>
          <a:p>
            <a:r>
              <a:t>CLAUDE.md provides behavioral guidance. It tells Claude your preferences, coding style, and conventions. But it's interpreted by the LLM, which means it can be forgotten during long sessions, deprioritized when competing with other instructions, or lost entirely after context compaction.</a:t>
            </a:r>
          </a:p>
          <a:p>
            <a:endParaRPr/>
          </a:p>
          <a:p>
            <a:r>
              <a:t>Hooks are the opposite. They are guaranteed executions that run every time, period. They don't depend on the model following instructions -- they execute whether the model cooperates or not. Even if Claude "decides" to skip formatting, the hook runs anyway.</a:t>
            </a:r>
          </a:p>
          <a:p>
            <a:endParaRPr/>
          </a:p>
          <a:p>
            <a:r>
              <a:t>The rule of thumb is simple: if it's a suggestion, use CLAUDE.md. If it's a requirement, use hooks. If it's an external service, use MCP. If it's a reusable workflow, use custom commands.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look at three real-world examples that demonstrate the power of hooks.</a:t>
            </a:r>
          </a:p>
          <a:p>
            <a:endParaRPr/>
          </a:p>
          <a:p>
            <a:r>
              <a:t>First, auto-formatting. This is the most common hook people set up. A PostToolUse hook watches for Write or Edit tool calls, then runs Prettier on the file. The key detail: always exit 0 as a fallback so the hook never accidentally blocks Claude if the formatter fails.</a:t>
            </a:r>
          </a:p>
          <a:p>
            <a:endParaRPr/>
          </a:p>
          <a:p>
            <a:r>
              <a:t>Second, blocking dangerous commands. A PreToolUse hook on the Bash tool checks every shell command against a list of dangerous patterns -- rm -rf, DROP TABLE, force push. If any pattern matches, it returns exit code 2 to block the command and sends feedback to Claude via stderr.</a:t>
            </a:r>
          </a:p>
          <a:p>
            <a:endParaRPr/>
          </a:p>
          <a:p>
            <a:r>
              <a:t>Third, the enforcement gate pattern. A Stop hook runs the test suite every time Claude tries to stop responding. If tests fail, it returns exit 2 to force Claude to keep working. The critical detail here is checking the stop_hook_active field to prevent infinite loops -- without that check, a failing test would trap Claude in an endless retry cycle.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Hooks support an async flag for long-running operations that don't need to block Claude's workflow. Set async to true and the hook runs in the background while Claude continues working. This is perfect for running tests after file changes, audit logging, documentation generation, and notification dispatch.</a:t>
            </a:r>
          </a:p>
          <a:p>
            <a:endParaRPr/>
          </a:p>
          <a:p>
            <a:r>
              <a:t>On the advanced patterns side, Scott Chacon from GitHub demonstrated auto-committing each Claude session to its own Git branch using a combination of hooks with Git plumbing commands. You can auto-approve safe operations like npm test to eliminate permission fatigue. You can re-inject critical context after compaction. And you can audit configuration changes for compliance.</a:t>
            </a:r>
          </a:p>
          <a:p>
            <a:endParaRPr/>
          </a:p>
          <a:p>
            <a:r>
              <a:t>Key execution behaviors to know: when multiple hooks match an event, they run in parallel. Identical hook commands are automatically deduplicated. The default timeout is 10 minutes but you can configure it per hook. Command hooks are nearly zero overhead, while prompt and agent hooks involve LLM calls and benefit from async execution.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leave you with eight key takeaways.</a:t>
            </a:r>
          </a:p>
          <a:p>
            <a:endParaRPr/>
          </a:p>
          <a:p>
            <a:r>
              <a:t>First, hooks are THE killer extensibility feature. No other AI coding tool gives you this level of programmable control.</a:t>
            </a:r>
          </a:p>
          <a:p>
            <a:endParaRPr/>
          </a:p>
          <a:p>
            <a:r>
              <a:t>Second, use hooks for anything that MUST happen -- deterministic beats probabilistic every time.</a:t>
            </a:r>
          </a:p>
          <a:p>
            <a:endParaRPr/>
          </a:p>
          <a:p>
            <a:r>
              <a:t>Third, pick the right hook type for each job: command for speed, prompt for judgment, agent for deep verification.</a:t>
            </a:r>
          </a:p>
          <a:p>
            <a:endParaRPr/>
          </a:p>
          <a:p>
            <a:r>
              <a:t>Fourth, with 14+ lifecycle events, you can hook into virtually any point in Claude's operation.</a:t>
            </a:r>
          </a:p>
          <a:p>
            <a:endParaRPr/>
          </a:p>
          <a:p>
            <a:r>
              <a:t>Fifth, matchers give you surgical precision -- you can target individual tools, MCP servers, or even specific command patterns.</a:t>
            </a:r>
          </a:p>
          <a:p>
            <a:endParaRPr/>
          </a:p>
          <a:p>
            <a:r>
              <a:t>Sixth, remember exit code 2. That's your universal blocker. Everything on stderr goes back to Claude as feedback.</a:t>
            </a:r>
          </a:p>
          <a:p>
            <a:endParaRPr/>
          </a:p>
          <a:p>
            <a:r>
              <a:t>Seventh, use async for background tasks that don't need to block the main workflow.</a:t>
            </a:r>
          </a:p>
          <a:p>
            <a:endParaRPr/>
          </a:p>
          <a:p>
            <a:r>
              <a:t>And eighth, remember that hooks run with your full user permissions. There's no sandbox. Security is your responsibility.</a:t>
            </a:r>
          </a:p>
          <a:p>
            <a:endParaRPr/>
          </a:p>
          <a:p>
            <a:r>
              <a:t>That wraps up Episode 4. In the next episode, we'll dive deeper into another Beast capability. Thanks for watching!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914400"/>
            <a:ext cx="10515600" cy="365760"/>
          </a:xfrm>
          <a:prstGeom prst="rect">
            <a:avLst/>
          </a:prstGeom>
          <a:noFill/>
        </p:spPr>
        <p:txBody>
          <a:bodyPr wrap="square">
            <a:spAutoFit/>
          </a:bodyPr>
          <a:lstStyle/>
          <a:p>
            <a:pPr algn="ctr">
              <a:spcAft>
                <a:spcPts val="0"/>
              </a:spcAft>
              <a:defRPr sz="1600" b="0" i="0">
                <a:solidFill>
                  <a:srgbClr val="7A6E5D"/>
                </a:solidFill>
                <a:latin typeface="JetBrains Mono"/>
              </a:defRPr>
            </a:pPr>
            <a:r>
              <a:t>The Claude Beast</a:t>
            </a:r>
          </a:p>
        </p:txBody>
      </p:sp>
      <p:sp>
        <p:nvSpPr>
          <p:cNvPr id="3" name="TextBox 2"/>
          <p:cNvSpPr txBox="1"/>
          <p:nvPr/>
        </p:nvSpPr>
        <p:spPr>
          <a:xfrm>
            <a:off x="731520" y="1828800"/>
            <a:ext cx="10515600" cy="1371600"/>
          </a:xfrm>
          <a:prstGeom prst="rect">
            <a:avLst/>
          </a:prstGeom>
          <a:noFill/>
        </p:spPr>
        <p:txBody>
          <a:bodyPr wrap="square">
            <a:spAutoFit/>
          </a:bodyPr>
          <a:lstStyle/>
          <a:p>
            <a:pPr algn="ctr">
              <a:spcAft>
                <a:spcPts val="0"/>
              </a:spcAft>
              <a:defRPr sz="5400" b="0" i="0">
                <a:solidFill>
                  <a:srgbClr val="E8D5B7"/>
                </a:solidFill>
                <a:latin typeface="Georgia"/>
              </a:defRPr>
            </a:pPr>
            <a:r>
              <a:t>Claude Hooks</a:t>
            </a:r>
          </a:p>
        </p:txBody>
      </p:sp>
      <p:sp>
        <p:nvSpPr>
          <p:cNvPr id="4" name="TextBox 3"/>
          <p:cNvSpPr txBox="1"/>
          <p:nvPr/>
        </p:nvSpPr>
        <p:spPr>
          <a:xfrm>
            <a:off x="731520" y="3200400"/>
            <a:ext cx="10515600" cy="731520"/>
          </a:xfrm>
          <a:prstGeom prst="rect">
            <a:avLst/>
          </a:prstGeom>
          <a:noFill/>
        </p:spPr>
        <p:txBody>
          <a:bodyPr wrap="square">
            <a:spAutoFit/>
          </a:bodyPr>
          <a:lstStyle/>
          <a:p>
            <a:pPr algn="ctr">
              <a:spcAft>
                <a:spcPts val="0"/>
              </a:spcAft>
              <a:defRPr sz="2400" b="0" i="0">
                <a:solidFill>
                  <a:srgbClr val="C4A882"/>
                </a:solidFill>
                <a:latin typeface="Calibri"/>
              </a:defRPr>
            </a:pPr>
            <a:r>
              <a:t>Deterministic Control Over Probabilistic AI</a:t>
            </a:r>
          </a:p>
        </p:txBody>
      </p:sp>
      <p:sp>
        <p:nvSpPr>
          <p:cNvPr id="5" name="Rectangle 4"/>
          <p:cNvSpPr/>
          <p:nvPr/>
        </p:nvSpPr>
        <p:spPr>
          <a:xfrm>
            <a:off x="4114800" y="4023360"/>
            <a:ext cx="393192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389120"/>
            <a:ext cx="10515600" cy="457200"/>
          </a:xfrm>
          <a:prstGeom prst="rect">
            <a:avLst/>
          </a:prstGeom>
          <a:noFill/>
        </p:spPr>
        <p:txBody>
          <a:bodyPr wrap="square">
            <a:spAutoFit/>
          </a:bodyPr>
          <a:lstStyle/>
          <a:p>
            <a:pPr algn="ctr">
              <a:spcAft>
                <a:spcPts val="0"/>
              </a:spcAft>
              <a:defRPr sz="1400" b="0" i="1">
                <a:solidFill>
                  <a:srgbClr val="D4886B"/>
                </a:solidFill>
                <a:latin typeface="Calibri"/>
              </a:defRPr>
            </a:pPr>
            <a:r>
              <a:t>Episode 04  |  The Claude Beast Series</a:t>
            </a:r>
          </a:p>
        </p:txBody>
      </p:sp>
      <p:sp>
        <p:nvSpPr>
          <p:cNvPr id="7" name="TextBox 6"/>
          <p:cNvSpPr txBox="1"/>
          <p:nvPr/>
        </p:nvSpPr>
        <p:spPr>
          <a:xfrm>
            <a:off x="731520" y="4846320"/>
            <a:ext cx="10515600" cy="365760"/>
          </a:xfrm>
          <a:prstGeom prst="rect">
            <a:avLst/>
          </a:prstGeom>
          <a:noFill/>
        </p:spPr>
        <p:txBody>
          <a:bodyPr wrap="square">
            <a:spAutoFit/>
          </a:bodyPr>
          <a:lstStyle/>
          <a:p>
            <a:pPr algn="ctr">
              <a:spcAft>
                <a:spcPts val="0"/>
              </a:spcAft>
              <a:defRPr sz="1300" b="0" i="0">
                <a:solidFill>
                  <a:srgbClr val="7A6E5D"/>
                </a:solidFill>
                <a:latin typeface="JetBrains Mono"/>
              </a:defRPr>
            </a:pPr>
            <a:r>
              <a:t>February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What Are Claude Code Hooks?</a:t>
            </a:r>
          </a:p>
        </p:txBody>
      </p:sp>
      <p:sp>
        <p:nvSpPr>
          <p:cNvPr id="3" name="TextBox 2"/>
          <p:cNvSpPr txBox="1"/>
          <p:nvPr/>
        </p:nvSpPr>
        <p:spPr>
          <a:xfrm>
            <a:off x="731520" y="1097280"/>
            <a:ext cx="10515600" cy="548640"/>
          </a:xfrm>
          <a:prstGeom prst="rect">
            <a:avLst/>
          </a:prstGeom>
          <a:noFill/>
        </p:spPr>
        <p:txBody>
          <a:bodyPr wrap="square">
            <a:spAutoFit/>
          </a:bodyPr>
          <a:lstStyle/>
          <a:p>
            <a:pPr algn="ctr">
              <a:spcAft>
                <a:spcPts val="0"/>
              </a:spcAft>
              <a:defRPr sz="1600" b="0" i="1">
                <a:solidFill>
                  <a:srgbClr val="D4886B"/>
                </a:solidFill>
                <a:latin typeface="Calibri"/>
              </a:defRPr>
            </a:pPr>
            <a:r>
              <a:t>User-defined shell commands, LLM prompts, or subagents that execute</a:t>
            </a:r>
            <a:br/>
            <a:r>
              <a:t>automatically at specific points in Claude Code’s lifecycle.</a:t>
            </a:r>
          </a:p>
        </p:txBody>
      </p:sp>
      <p:sp>
        <p:nvSpPr>
          <p:cNvPr id="4" name="Rectangle 3"/>
          <p:cNvSpPr/>
          <p:nvPr/>
        </p:nvSpPr>
        <p:spPr>
          <a:xfrm>
            <a:off x="3200400" y="1737360"/>
            <a:ext cx="576072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20240"/>
            <a:ext cx="6583680" cy="3200400"/>
          </a:xfrm>
          <a:prstGeom prst="rect">
            <a:avLst/>
          </a:prstGeom>
          <a:noFill/>
        </p:spPr>
        <p:txBody>
          <a:bodyPr wrap="square">
            <a:spAutoFit/>
          </a:bodyPr>
          <a:lstStyle/>
          <a:p>
            <a:pPr>
              <a:spcBef>
                <a:spcPts val="200"/>
              </a:spcBef>
              <a:spcAft>
                <a:spcPts val="1200"/>
              </a:spcAft>
            </a:pPr>
            <a:r>
              <a:rPr sz="1700">
                <a:solidFill>
                  <a:srgbClr val="D4886B"/>
                </a:solidFill>
                <a:latin typeface="Calibri"/>
              </a:rPr>
              <a:t>  ▸  </a:t>
            </a:r>
            <a:r>
              <a:rPr sz="1700" b="1">
                <a:solidFill>
                  <a:srgbClr val="E8D5B7"/>
                </a:solidFill>
                <a:latin typeface="Calibri"/>
              </a:rPr>
              <a:t>Not suggestions</a:t>
            </a:r>
            <a:r>
              <a:rPr sz="1700">
                <a:solidFill>
                  <a:srgbClr val="C4A882"/>
                </a:solidFill>
                <a:latin typeface="Calibri"/>
              </a:rPr>
              <a:t> — guaranteed executions that fire every time conditions are met</a:t>
            </a:r>
          </a:p>
          <a:p>
            <a:pPr>
              <a:spcBef>
                <a:spcPts val="200"/>
              </a:spcBef>
              <a:spcAft>
                <a:spcPts val="1200"/>
              </a:spcAft>
            </a:pPr>
            <a:r>
              <a:rPr sz="1700">
                <a:solidFill>
                  <a:srgbClr val="D4886B"/>
                </a:solidFill>
                <a:latin typeface="Calibri"/>
              </a:rPr>
              <a:t>  ▸  </a:t>
            </a:r>
            <a:r>
              <a:rPr sz="1700">
                <a:solidFill>
                  <a:srgbClr val="C4A882"/>
                </a:solidFill>
                <a:latin typeface="Calibri"/>
              </a:rPr>
              <a:t>Run with the user’s full system permissions (no sandbox)</a:t>
            </a:r>
          </a:p>
          <a:p>
            <a:pPr>
              <a:spcBef>
                <a:spcPts val="200"/>
              </a:spcBef>
              <a:spcAft>
                <a:spcPts val="1200"/>
              </a:spcAft>
            </a:pPr>
            <a:r>
              <a:rPr sz="1700">
                <a:solidFill>
                  <a:srgbClr val="D4886B"/>
                </a:solidFill>
                <a:latin typeface="Calibri"/>
              </a:rPr>
              <a:t>  ▸  </a:t>
            </a:r>
            <a:r>
              <a:rPr sz="1700">
                <a:solidFill>
                  <a:srgbClr val="C4A882"/>
                </a:solidFill>
                <a:latin typeface="Calibri"/>
              </a:rPr>
              <a:t>Communicate via stdin (JSON), stdout (JSON/text), stderr, and exit codes</a:t>
            </a:r>
          </a:p>
          <a:p>
            <a:pPr>
              <a:spcBef>
                <a:spcPts val="200"/>
              </a:spcBef>
              <a:spcAft>
                <a:spcPts val="1200"/>
              </a:spcAft>
            </a:pPr>
            <a:r>
              <a:rPr sz="1700">
                <a:solidFill>
                  <a:srgbClr val="D4886B"/>
                </a:solidFill>
                <a:latin typeface="Calibri"/>
              </a:rPr>
              <a:t>  ▸  </a:t>
            </a:r>
            <a:r>
              <a:rPr sz="1700">
                <a:solidFill>
                  <a:srgbClr val="C4A882"/>
                </a:solidFill>
                <a:latin typeface="Calibri"/>
              </a:rPr>
              <a:t>Analogous to Git hooks (pre-commit, post-merge) but for AI development</a:t>
            </a:r>
          </a:p>
          <a:p>
            <a:pPr>
              <a:spcBef>
                <a:spcPts val="200"/>
              </a:spcBef>
              <a:spcAft>
                <a:spcPts val="1200"/>
              </a:spcAft>
            </a:pPr>
            <a:r>
              <a:rPr sz="1700">
                <a:solidFill>
                  <a:srgbClr val="D4886B"/>
                </a:solidFill>
                <a:latin typeface="Calibri"/>
              </a:rPr>
              <a:t>  ▸  </a:t>
            </a:r>
            <a:r>
              <a:rPr sz="1700" b="1">
                <a:solidFill>
                  <a:srgbClr val="E8D5B7"/>
                </a:solidFill>
                <a:latin typeface="Calibri"/>
              </a:rPr>
              <a:t>Originally 7 events (June 2025)</a:t>
            </a:r>
            <a:r>
              <a:rPr sz="1700">
                <a:solidFill>
                  <a:srgbClr val="C4A882"/>
                </a:solidFill>
                <a:latin typeface="Calibri"/>
              </a:rPr>
              <a:t> — now 14+ lifecycle events (Feb 2026)</a:t>
            </a:r>
          </a:p>
        </p:txBody>
      </p:sp>
      <p:sp>
        <p:nvSpPr>
          <p:cNvPr id="6" name="Rounded Rectangle 5"/>
          <p:cNvSpPr/>
          <p:nvPr/>
        </p:nvSpPr>
        <p:spPr>
          <a:xfrm>
            <a:off x="7772400" y="1920240"/>
            <a:ext cx="3931920" cy="20116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01000"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02168"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403336"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38160" y="2423160"/>
            <a:ext cx="3200400" cy="1371600"/>
          </a:xfrm>
          <a:prstGeom prst="rect">
            <a:avLst/>
          </a:prstGeom>
          <a:noFill/>
        </p:spPr>
        <p:txBody>
          <a:bodyPr wrap="square">
            <a:spAutoFit/>
          </a:bodyPr>
          <a:lstStyle/>
          <a:p>
            <a:pPr algn="l">
              <a:spcAft>
                <a:spcPts val="0"/>
              </a:spcAft>
              <a:defRPr sz="1500" b="0" i="1">
                <a:solidFill>
                  <a:srgbClr val="E8D5B7"/>
                </a:solidFill>
                <a:latin typeface="Calibri"/>
              </a:defRPr>
            </a:pPr>
            <a:r>
              <a:t>“ Instead of hoping Claude remembers to lint your files, a PostToolUse hook runs Prettier automatically, every single time. ”</a:t>
            </a:r>
          </a:p>
        </p:txBody>
      </p:sp>
      <p:sp>
        <p:nvSpPr>
          <p:cNvPr id="11" name="TextBox 10"/>
          <p:cNvSpPr txBox="1"/>
          <p:nvPr/>
        </p:nvSpPr>
        <p:spPr>
          <a:xfrm>
            <a:off x="731520" y="6492240"/>
            <a:ext cx="5486400" cy="274320"/>
          </a:xfrm>
          <a:prstGeom prst="rect">
            <a:avLst/>
          </a:prstGeom>
          <a:noFill/>
        </p:spPr>
        <p:txBody>
          <a:bodyPr wrap="square">
            <a:spAutoFit/>
          </a:bodyPr>
          <a:lstStyle/>
          <a:p>
            <a:pPr algn="l">
              <a:spcAft>
                <a:spcPts val="0"/>
              </a:spcAft>
              <a:defRPr sz="900" b="0" i="0">
                <a:solidFill>
                  <a:srgbClr val="7A6E5D"/>
                </a:solidFill>
                <a:latin typeface="JetBrains Mono"/>
              </a:defRPr>
            </a:pPr>
            <a:r>
              <a:t>The Claude Beast  |  Claude Hooks</a:t>
            </a:r>
          </a:p>
        </p:txBody>
      </p:sp>
      <p:sp>
        <p:nvSpPr>
          <p:cNvPr id="12" name="TextBox 11"/>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2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14+ Lifecycle Events</a:t>
            </a:r>
          </a:p>
        </p:txBody>
      </p:sp>
      <p:sp>
        <p:nvSpPr>
          <p:cNvPr id="3" name="Rounded Rectangle 2"/>
          <p:cNvSpPr/>
          <p:nvPr/>
        </p:nvSpPr>
        <p:spPr>
          <a:xfrm>
            <a:off x="457200" y="1280160"/>
            <a:ext cx="2331720" cy="2335399"/>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85800" y="14173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86968" y="14173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88136" y="14173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1353312"/>
            <a:ext cx="1371600" cy="320040"/>
          </a:xfrm>
          <a:prstGeom prst="rect">
            <a:avLst/>
          </a:prstGeom>
          <a:noFill/>
        </p:spPr>
        <p:txBody>
          <a:bodyPr wrap="square">
            <a:spAutoFit/>
          </a:bodyPr>
          <a:lstStyle/>
          <a:p>
            <a:pPr algn="ctr">
              <a:spcAft>
                <a:spcPts val="0"/>
              </a:spcAft>
              <a:defRPr sz="1100" b="0" i="0">
                <a:solidFill>
                  <a:srgbClr val="7A6E5D"/>
                </a:solidFill>
                <a:latin typeface="Calibri"/>
              </a:defRPr>
            </a:pPr>
            <a:r>
              <a:t>Session</a:t>
            </a:r>
          </a:p>
        </p:txBody>
      </p:sp>
      <p:sp>
        <p:nvSpPr>
          <p:cNvPr id="8" name="TextBox 7"/>
          <p:cNvSpPr txBox="1"/>
          <p:nvPr/>
        </p:nvSpPr>
        <p:spPr>
          <a:xfrm>
            <a:off x="685800" y="1874520"/>
            <a:ext cx="2103120" cy="274320"/>
          </a:xfrm>
          <a:prstGeom prst="rect">
            <a:avLst/>
          </a:prstGeom>
          <a:noFill/>
        </p:spPr>
        <p:txBody>
          <a:bodyPr wrap="square">
            <a:spAutoFit/>
          </a:bodyPr>
          <a:lstStyle/>
          <a:p>
            <a:pPr algn="l">
              <a:spcAft>
                <a:spcPts val="0"/>
              </a:spcAft>
              <a:defRPr sz="1400" b="0" i="0">
                <a:solidFill>
                  <a:srgbClr val="C4A882"/>
                </a:solidFill>
                <a:latin typeface="Calibri"/>
              </a:defRPr>
            </a:pPr>
            <a:r>
              <a:t>SessionStart</a:t>
            </a:r>
          </a:p>
        </p:txBody>
      </p:sp>
      <p:sp>
        <p:nvSpPr>
          <p:cNvPr id="9" name="TextBox 8"/>
          <p:cNvSpPr txBox="1"/>
          <p:nvPr/>
        </p:nvSpPr>
        <p:spPr>
          <a:xfrm>
            <a:off x="685800" y="2194560"/>
            <a:ext cx="2103120" cy="274320"/>
          </a:xfrm>
          <a:prstGeom prst="rect">
            <a:avLst/>
          </a:prstGeom>
          <a:noFill/>
        </p:spPr>
        <p:txBody>
          <a:bodyPr wrap="square">
            <a:spAutoFit/>
          </a:bodyPr>
          <a:lstStyle/>
          <a:p>
            <a:pPr algn="l">
              <a:spcAft>
                <a:spcPts val="0"/>
              </a:spcAft>
              <a:defRPr sz="1400" b="0" i="0">
                <a:solidFill>
                  <a:srgbClr val="C4A882"/>
                </a:solidFill>
                <a:latin typeface="Calibri"/>
              </a:defRPr>
            </a:pPr>
            <a:r>
              <a:t>SessionEnd</a:t>
            </a:r>
          </a:p>
        </p:txBody>
      </p:sp>
      <p:sp>
        <p:nvSpPr>
          <p:cNvPr id="10" name="TextBox 9"/>
          <p:cNvSpPr txBox="1"/>
          <p:nvPr/>
        </p:nvSpPr>
        <p:spPr>
          <a:xfrm>
            <a:off x="685800" y="2514600"/>
            <a:ext cx="2103120" cy="274320"/>
          </a:xfrm>
          <a:prstGeom prst="rect">
            <a:avLst/>
          </a:prstGeom>
          <a:noFill/>
        </p:spPr>
        <p:txBody>
          <a:bodyPr wrap="square">
            <a:spAutoFit/>
          </a:bodyPr>
          <a:lstStyle/>
          <a:p>
            <a:pPr algn="l">
              <a:spcAft>
                <a:spcPts val="0"/>
              </a:spcAft>
              <a:defRPr sz="1400" b="0" i="0">
                <a:solidFill>
                  <a:srgbClr val="C4A882"/>
                </a:solidFill>
                <a:latin typeface="Calibri"/>
              </a:defRPr>
            </a:pPr>
            <a:r>
              <a:t>PreCompact</a:t>
            </a:r>
          </a:p>
        </p:txBody>
      </p:sp>
      <p:sp>
        <p:nvSpPr>
          <p:cNvPr id="11" name="Rounded Rectangle 10"/>
          <p:cNvSpPr/>
          <p:nvPr/>
        </p:nvSpPr>
        <p:spPr>
          <a:xfrm>
            <a:off x="3200400" y="1280160"/>
            <a:ext cx="2331720" cy="2335399"/>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429000" y="14173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30168" y="14173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831336" y="14173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0" y="1353312"/>
            <a:ext cx="1371600" cy="320040"/>
          </a:xfrm>
          <a:prstGeom prst="rect">
            <a:avLst/>
          </a:prstGeom>
          <a:noFill/>
        </p:spPr>
        <p:txBody>
          <a:bodyPr wrap="square">
            <a:spAutoFit/>
          </a:bodyPr>
          <a:lstStyle/>
          <a:p>
            <a:pPr algn="ctr">
              <a:spcAft>
                <a:spcPts val="0"/>
              </a:spcAft>
              <a:defRPr sz="1100" b="0" i="0">
                <a:solidFill>
                  <a:srgbClr val="7A6E5D"/>
                </a:solidFill>
                <a:latin typeface="Calibri"/>
              </a:defRPr>
            </a:pPr>
            <a:r>
              <a:t>Tool</a:t>
            </a:r>
          </a:p>
        </p:txBody>
      </p:sp>
      <p:sp>
        <p:nvSpPr>
          <p:cNvPr id="16" name="TextBox 15"/>
          <p:cNvSpPr txBox="1"/>
          <p:nvPr/>
        </p:nvSpPr>
        <p:spPr>
          <a:xfrm>
            <a:off x="3429000" y="1874520"/>
            <a:ext cx="2103120" cy="274320"/>
          </a:xfrm>
          <a:prstGeom prst="rect">
            <a:avLst/>
          </a:prstGeom>
          <a:noFill/>
        </p:spPr>
        <p:txBody>
          <a:bodyPr wrap="square">
            <a:spAutoFit/>
          </a:bodyPr>
          <a:lstStyle/>
          <a:p>
            <a:pPr algn="l">
              <a:spcAft>
                <a:spcPts val="0"/>
              </a:spcAft>
              <a:defRPr sz="1400" b="0" i="0">
                <a:solidFill>
                  <a:srgbClr val="E8A07A"/>
                </a:solidFill>
                <a:latin typeface="Calibri"/>
              </a:defRPr>
            </a:pPr>
            <a:r>
              <a:t>● PreToolUse</a:t>
            </a:r>
          </a:p>
        </p:txBody>
      </p:sp>
      <p:sp>
        <p:nvSpPr>
          <p:cNvPr id="17" name="TextBox 16"/>
          <p:cNvSpPr txBox="1"/>
          <p:nvPr/>
        </p:nvSpPr>
        <p:spPr>
          <a:xfrm>
            <a:off x="3429000" y="2194560"/>
            <a:ext cx="2103120" cy="274320"/>
          </a:xfrm>
          <a:prstGeom prst="rect">
            <a:avLst/>
          </a:prstGeom>
          <a:noFill/>
        </p:spPr>
        <p:txBody>
          <a:bodyPr wrap="square">
            <a:spAutoFit/>
          </a:bodyPr>
          <a:lstStyle/>
          <a:p>
            <a:pPr algn="l">
              <a:spcAft>
                <a:spcPts val="0"/>
              </a:spcAft>
              <a:defRPr sz="1400" b="0" i="0">
                <a:solidFill>
                  <a:srgbClr val="C4A882"/>
                </a:solidFill>
                <a:latin typeface="Calibri"/>
              </a:defRPr>
            </a:pPr>
            <a:r>
              <a:t>PostToolUse</a:t>
            </a:r>
          </a:p>
        </p:txBody>
      </p:sp>
      <p:sp>
        <p:nvSpPr>
          <p:cNvPr id="18" name="TextBox 17"/>
          <p:cNvSpPr txBox="1"/>
          <p:nvPr/>
        </p:nvSpPr>
        <p:spPr>
          <a:xfrm>
            <a:off x="3429000" y="2514600"/>
            <a:ext cx="2103120" cy="274320"/>
          </a:xfrm>
          <a:prstGeom prst="rect">
            <a:avLst/>
          </a:prstGeom>
          <a:noFill/>
        </p:spPr>
        <p:txBody>
          <a:bodyPr wrap="square">
            <a:spAutoFit/>
          </a:bodyPr>
          <a:lstStyle/>
          <a:p>
            <a:pPr algn="l">
              <a:spcAft>
                <a:spcPts val="0"/>
              </a:spcAft>
              <a:defRPr sz="1400" b="0" i="0">
                <a:solidFill>
                  <a:srgbClr val="C4A882"/>
                </a:solidFill>
                <a:latin typeface="Calibri"/>
              </a:defRPr>
            </a:pPr>
            <a:r>
              <a:t>PostToolUseFailure</a:t>
            </a:r>
          </a:p>
        </p:txBody>
      </p:sp>
      <p:sp>
        <p:nvSpPr>
          <p:cNvPr id="19" name="TextBox 18"/>
          <p:cNvSpPr txBox="1"/>
          <p:nvPr/>
        </p:nvSpPr>
        <p:spPr>
          <a:xfrm>
            <a:off x="3429000" y="2834640"/>
            <a:ext cx="2103120" cy="274320"/>
          </a:xfrm>
          <a:prstGeom prst="rect">
            <a:avLst/>
          </a:prstGeom>
          <a:noFill/>
        </p:spPr>
        <p:txBody>
          <a:bodyPr wrap="square">
            <a:spAutoFit/>
          </a:bodyPr>
          <a:lstStyle/>
          <a:p>
            <a:pPr algn="l">
              <a:spcAft>
                <a:spcPts val="0"/>
              </a:spcAft>
              <a:defRPr sz="1400" b="0" i="0">
                <a:solidFill>
                  <a:srgbClr val="E8A07A"/>
                </a:solidFill>
                <a:latin typeface="Calibri"/>
              </a:defRPr>
            </a:pPr>
            <a:r>
              <a:t>● PermissionRequest</a:t>
            </a:r>
          </a:p>
        </p:txBody>
      </p:sp>
      <p:sp>
        <p:nvSpPr>
          <p:cNvPr id="20" name="Rounded Rectangle 19"/>
          <p:cNvSpPr/>
          <p:nvPr/>
        </p:nvSpPr>
        <p:spPr>
          <a:xfrm>
            <a:off x="5943600" y="1280160"/>
            <a:ext cx="2331720" cy="2335399"/>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172200" y="14173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373368" y="14173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574536" y="14173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0" y="1353312"/>
            <a:ext cx="1371600" cy="320040"/>
          </a:xfrm>
          <a:prstGeom prst="rect">
            <a:avLst/>
          </a:prstGeom>
          <a:noFill/>
        </p:spPr>
        <p:txBody>
          <a:bodyPr wrap="square">
            <a:spAutoFit/>
          </a:bodyPr>
          <a:lstStyle/>
          <a:p>
            <a:pPr algn="ctr">
              <a:spcAft>
                <a:spcPts val="0"/>
              </a:spcAft>
              <a:defRPr sz="1100" b="0" i="0">
                <a:solidFill>
                  <a:srgbClr val="7A6E5D"/>
                </a:solidFill>
                <a:latin typeface="Calibri"/>
              </a:defRPr>
            </a:pPr>
            <a:r>
              <a:t>Agent</a:t>
            </a:r>
          </a:p>
        </p:txBody>
      </p:sp>
      <p:sp>
        <p:nvSpPr>
          <p:cNvPr id="25" name="TextBox 24"/>
          <p:cNvSpPr txBox="1"/>
          <p:nvPr/>
        </p:nvSpPr>
        <p:spPr>
          <a:xfrm>
            <a:off x="6172200" y="1874520"/>
            <a:ext cx="2103120" cy="274320"/>
          </a:xfrm>
          <a:prstGeom prst="rect">
            <a:avLst/>
          </a:prstGeom>
          <a:noFill/>
        </p:spPr>
        <p:txBody>
          <a:bodyPr wrap="square">
            <a:spAutoFit/>
          </a:bodyPr>
          <a:lstStyle/>
          <a:p>
            <a:pPr algn="l">
              <a:spcAft>
                <a:spcPts val="0"/>
              </a:spcAft>
              <a:defRPr sz="1400" b="0" i="0">
                <a:solidFill>
                  <a:srgbClr val="E8A07A"/>
                </a:solidFill>
                <a:latin typeface="Calibri"/>
              </a:defRPr>
            </a:pPr>
            <a:r>
              <a:t>● Stop</a:t>
            </a:r>
          </a:p>
        </p:txBody>
      </p:sp>
      <p:sp>
        <p:nvSpPr>
          <p:cNvPr id="26" name="TextBox 25"/>
          <p:cNvSpPr txBox="1"/>
          <p:nvPr/>
        </p:nvSpPr>
        <p:spPr>
          <a:xfrm>
            <a:off x="6172200" y="2194560"/>
            <a:ext cx="2103120" cy="274320"/>
          </a:xfrm>
          <a:prstGeom prst="rect">
            <a:avLst/>
          </a:prstGeom>
          <a:noFill/>
        </p:spPr>
        <p:txBody>
          <a:bodyPr wrap="square">
            <a:spAutoFit/>
          </a:bodyPr>
          <a:lstStyle/>
          <a:p>
            <a:pPr algn="l">
              <a:spcAft>
                <a:spcPts val="0"/>
              </a:spcAft>
              <a:defRPr sz="1400" b="0" i="0">
                <a:solidFill>
                  <a:srgbClr val="C4A882"/>
                </a:solidFill>
                <a:latin typeface="Calibri"/>
              </a:defRPr>
            </a:pPr>
            <a:r>
              <a:t>SubagentStart</a:t>
            </a:r>
          </a:p>
        </p:txBody>
      </p:sp>
      <p:sp>
        <p:nvSpPr>
          <p:cNvPr id="27" name="TextBox 26"/>
          <p:cNvSpPr txBox="1"/>
          <p:nvPr/>
        </p:nvSpPr>
        <p:spPr>
          <a:xfrm>
            <a:off x="6172200" y="2514600"/>
            <a:ext cx="2103120" cy="274320"/>
          </a:xfrm>
          <a:prstGeom prst="rect">
            <a:avLst/>
          </a:prstGeom>
          <a:noFill/>
        </p:spPr>
        <p:txBody>
          <a:bodyPr wrap="square">
            <a:spAutoFit/>
          </a:bodyPr>
          <a:lstStyle/>
          <a:p>
            <a:pPr algn="l">
              <a:spcAft>
                <a:spcPts val="0"/>
              </a:spcAft>
              <a:defRPr sz="1400" b="0" i="0">
                <a:solidFill>
                  <a:srgbClr val="E8A07A"/>
                </a:solidFill>
                <a:latin typeface="Calibri"/>
              </a:defRPr>
            </a:pPr>
            <a:r>
              <a:t>● SubagentStop</a:t>
            </a:r>
          </a:p>
        </p:txBody>
      </p:sp>
      <p:sp>
        <p:nvSpPr>
          <p:cNvPr id="28" name="TextBox 27"/>
          <p:cNvSpPr txBox="1"/>
          <p:nvPr/>
        </p:nvSpPr>
        <p:spPr>
          <a:xfrm>
            <a:off x="6172200" y="2834640"/>
            <a:ext cx="2103120" cy="274320"/>
          </a:xfrm>
          <a:prstGeom prst="rect">
            <a:avLst/>
          </a:prstGeom>
          <a:noFill/>
        </p:spPr>
        <p:txBody>
          <a:bodyPr wrap="square">
            <a:spAutoFit/>
          </a:bodyPr>
          <a:lstStyle/>
          <a:p>
            <a:pPr algn="l">
              <a:spcAft>
                <a:spcPts val="0"/>
              </a:spcAft>
              <a:defRPr sz="1400" b="0" i="0">
                <a:solidFill>
                  <a:srgbClr val="E8A07A"/>
                </a:solidFill>
                <a:latin typeface="Calibri"/>
              </a:defRPr>
            </a:pPr>
            <a:r>
              <a:t>● UserPromptSubmit</a:t>
            </a:r>
          </a:p>
        </p:txBody>
      </p:sp>
      <p:sp>
        <p:nvSpPr>
          <p:cNvPr id="29" name="Rounded Rectangle 28"/>
          <p:cNvSpPr/>
          <p:nvPr/>
        </p:nvSpPr>
        <p:spPr>
          <a:xfrm>
            <a:off x="8686800" y="1280160"/>
            <a:ext cx="2331720" cy="2335399"/>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915400" y="14173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9116568" y="14173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9317736" y="14173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601200" y="1353312"/>
            <a:ext cx="1371600" cy="320040"/>
          </a:xfrm>
          <a:prstGeom prst="rect">
            <a:avLst/>
          </a:prstGeom>
          <a:noFill/>
        </p:spPr>
        <p:txBody>
          <a:bodyPr wrap="square">
            <a:spAutoFit/>
          </a:bodyPr>
          <a:lstStyle/>
          <a:p>
            <a:pPr algn="ctr">
              <a:spcAft>
                <a:spcPts val="0"/>
              </a:spcAft>
              <a:defRPr sz="1100" b="0" i="0">
                <a:solidFill>
                  <a:srgbClr val="7A6E5D"/>
                </a:solidFill>
                <a:latin typeface="Calibri"/>
              </a:defRPr>
            </a:pPr>
            <a:r>
              <a:t>New (2025-26)</a:t>
            </a:r>
          </a:p>
        </p:txBody>
      </p:sp>
      <p:sp>
        <p:nvSpPr>
          <p:cNvPr id="34" name="TextBox 33"/>
          <p:cNvSpPr txBox="1"/>
          <p:nvPr/>
        </p:nvSpPr>
        <p:spPr>
          <a:xfrm>
            <a:off x="8915400" y="1874520"/>
            <a:ext cx="2103120" cy="274320"/>
          </a:xfrm>
          <a:prstGeom prst="rect">
            <a:avLst/>
          </a:prstGeom>
          <a:noFill/>
        </p:spPr>
        <p:txBody>
          <a:bodyPr wrap="square">
            <a:spAutoFit/>
          </a:bodyPr>
          <a:lstStyle/>
          <a:p>
            <a:pPr algn="l">
              <a:spcAft>
                <a:spcPts val="0"/>
              </a:spcAft>
              <a:defRPr sz="1400" b="0" i="0">
                <a:solidFill>
                  <a:srgbClr val="C4A882"/>
                </a:solidFill>
                <a:latin typeface="Calibri"/>
              </a:defRPr>
            </a:pPr>
            <a:r>
              <a:t>TeammateIdle</a:t>
            </a:r>
          </a:p>
        </p:txBody>
      </p:sp>
      <p:sp>
        <p:nvSpPr>
          <p:cNvPr id="35" name="TextBox 34"/>
          <p:cNvSpPr txBox="1"/>
          <p:nvPr/>
        </p:nvSpPr>
        <p:spPr>
          <a:xfrm>
            <a:off x="8915400" y="2194560"/>
            <a:ext cx="2103120" cy="274320"/>
          </a:xfrm>
          <a:prstGeom prst="rect">
            <a:avLst/>
          </a:prstGeom>
          <a:noFill/>
        </p:spPr>
        <p:txBody>
          <a:bodyPr wrap="square">
            <a:spAutoFit/>
          </a:bodyPr>
          <a:lstStyle/>
          <a:p>
            <a:pPr algn="l">
              <a:spcAft>
                <a:spcPts val="0"/>
              </a:spcAft>
              <a:defRPr sz="1400" b="0" i="0">
                <a:solidFill>
                  <a:srgbClr val="C4A882"/>
                </a:solidFill>
                <a:latin typeface="Calibri"/>
              </a:defRPr>
            </a:pPr>
            <a:r>
              <a:t>TaskCompleted</a:t>
            </a:r>
          </a:p>
        </p:txBody>
      </p:sp>
      <p:sp>
        <p:nvSpPr>
          <p:cNvPr id="36" name="TextBox 35"/>
          <p:cNvSpPr txBox="1"/>
          <p:nvPr/>
        </p:nvSpPr>
        <p:spPr>
          <a:xfrm>
            <a:off x="8915400" y="2514600"/>
            <a:ext cx="2103120" cy="274320"/>
          </a:xfrm>
          <a:prstGeom prst="rect">
            <a:avLst/>
          </a:prstGeom>
          <a:noFill/>
        </p:spPr>
        <p:txBody>
          <a:bodyPr wrap="square">
            <a:spAutoFit/>
          </a:bodyPr>
          <a:lstStyle/>
          <a:p>
            <a:pPr algn="l">
              <a:spcAft>
                <a:spcPts val="0"/>
              </a:spcAft>
              <a:defRPr sz="1400" b="0" i="0">
                <a:solidFill>
                  <a:srgbClr val="C4A882"/>
                </a:solidFill>
                <a:latin typeface="Calibri"/>
              </a:defRPr>
            </a:pPr>
            <a:r>
              <a:t>ConfigChange</a:t>
            </a:r>
          </a:p>
        </p:txBody>
      </p:sp>
      <p:sp>
        <p:nvSpPr>
          <p:cNvPr id="37" name="TextBox 36"/>
          <p:cNvSpPr txBox="1"/>
          <p:nvPr/>
        </p:nvSpPr>
        <p:spPr>
          <a:xfrm>
            <a:off x="8915400" y="2834640"/>
            <a:ext cx="2103120" cy="274320"/>
          </a:xfrm>
          <a:prstGeom prst="rect">
            <a:avLst/>
          </a:prstGeom>
          <a:noFill/>
        </p:spPr>
        <p:txBody>
          <a:bodyPr wrap="square">
            <a:spAutoFit/>
          </a:bodyPr>
          <a:lstStyle/>
          <a:p>
            <a:pPr algn="l">
              <a:spcAft>
                <a:spcPts val="0"/>
              </a:spcAft>
              <a:defRPr sz="1400" b="0" i="0">
                <a:solidFill>
                  <a:srgbClr val="C4A882"/>
                </a:solidFill>
                <a:latin typeface="Calibri"/>
              </a:defRPr>
            </a:pPr>
            <a:r>
              <a:t>WorktreeCreate/Remove</a:t>
            </a:r>
          </a:p>
        </p:txBody>
      </p:sp>
      <p:sp>
        <p:nvSpPr>
          <p:cNvPr id="40" name="TextBox 39"/>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3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Three Hook Types</a:t>
            </a:r>
          </a:p>
        </p:txBody>
      </p:sp>
      <p:sp>
        <p:nvSpPr>
          <p:cNvPr id="3" name="Rounded Rectangle 2"/>
          <p:cNvSpPr/>
          <p:nvPr/>
        </p:nvSpPr>
        <p:spPr>
          <a:xfrm>
            <a:off x="502920" y="1234440"/>
            <a:ext cx="3474720" cy="51206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31520" y="13716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32688" y="13716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33856" y="13716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1307592"/>
            <a:ext cx="2286000" cy="320040"/>
          </a:xfrm>
          <a:prstGeom prst="rect">
            <a:avLst/>
          </a:prstGeom>
          <a:noFill/>
        </p:spPr>
        <p:txBody>
          <a:bodyPr wrap="square">
            <a:spAutoFit/>
          </a:bodyPr>
          <a:lstStyle/>
          <a:p>
            <a:pPr algn="ctr">
              <a:spcAft>
                <a:spcPts val="0"/>
              </a:spcAft>
              <a:defRPr sz="1100" b="0" i="0">
                <a:solidFill>
                  <a:srgbClr val="7A6E5D"/>
                </a:solidFill>
                <a:latin typeface="Calibri"/>
              </a:defRPr>
            </a:pPr>
            <a:r>
              <a:t>Command</a:t>
            </a:r>
          </a:p>
        </p:txBody>
      </p:sp>
      <p:sp>
        <p:nvSpPr>
          <p:cNvPr id="8" name="TextBox 7"/>
          <p:cNvSpPr txBox="1"/>
          <p:nvPr/>
        </p:nvSpPr>
        <p:spPr>
          <a:xfrm>
            <a:off x="731520" y="1737360"/>
            <a:ext cx="3017520" cy="274320"/>
          </a:xfrm>
          <a:prstGeom prst="rect">
            <a:avLst/>
          </a:prstGeom>
          <a:noFill/>
        </p:spPr>
        <p:txBody>
          <a:bodyPr wrap="square">
            <a:spAutoFit/>
          </a:bodyPr>
          <a:lstStyle/>
          <a:p>
            <a:pPr algn="l">
              <a:spcAft>
                <a:spcPts val="0"/>
              </a:spcAft>
              <a:defRPr sz="1200" b="0" i="0">
                <a:solidFill>
                  <a:srgbClr val="D4886B"/>
                </a:solidFill>
                <a:latin typeface="JetBrains Mono"/>
              </a:defRPr>
            </a:pPr>
            <a:r>
              <a:t>"type": "command"</a:t>
            </a:r>
          </a:p>
        </p:txBody>
      </p:sp>
      <p:sp>
        <p:nvSpPr>
          <p:cNvPr id="9" name="TextBox 8"/>
          <p:cNvSpPr txBox="1"/>
          <p:nvPr/>
        </p:nvSpPr>
        <p:spPr>
          <a:xfrm>
            <a:off x="731520" y="2011680"/>
            <a:ext cx="3017520" cy="320040"/>
          </a:xfrm>
          <a:prstGeom prst="rect">
            <a:avLst/>
          </a:prstGeom>
          <a:noFill/>
        </p:spPr>
        <p:txBody>
          <a:bodyPr wrap="square">
            <a:spAutoFit/>
          </a:bodyPr>
          <a:lstStyle/>
          <a:p>
            <a:pPr algn="l">
              <a:spcAft>
                <a:spcPts val="0"/>
              </a:spcAft>
              <a:defRPr sz="1400" b="1" i="0">
                <a:solidFill>
                  <a:srgbClr val="E8D5B7"/>
                </a:solidFill>
                <a:latin typeface="Calibri"/>
              </a:defRPr>
            </a:pPr>
            <a:r>
              <a:t>Run a shell script or command</a:t>
            </a:r>
          </a:p>
        </p:txBody>
      </p:sp>
      <p:sp>
        <p:nvSpPr>
          <p:cNvPr id="10" name="TextBox 9"/>
          <p:cNvSpPr txBox="1"/>
          <p:nvPr/>
        </p:nvSpPr>
        <p:spPr>
          <a:xfrm>
            <a:off x="731520" y="2377440"/>
            <a:ext cx="3017520" cy="502920"/>
          </a:xfrm>
          <a:prstGeom prst="rect">
            <a:avLst/>
          </a:prstGeom>
          <a:noFill/>
        </p:spPr>
        <p:txBody>
          <a:bodyPr wrap="square">
            <a:spAutoFit/>
          </a:bodyPr>
          <a:lstStyle/>
          <a:p>
            <a:pPr algn="l">
              <a:spcAft>
                <a:spcPts val="0"/>
              </a:spcAft>
              <a:defRPr sz="1300" b="0" i="0">
                <a:solidFill>
                  <a:srgbClr val="C4A882"/>
                </a:solidFill>
                <a:latin typeface="Calibri"/>
              </a:defRPr>
            </a:pPr>
            <a:r>
              <a:t>▸ Fast execution (milliseconds)</a:t>
            </a:r>
          </a:p>
        </p:txBody>
      </p:sp>
      <p:sp>
        <p:nvSpPr>
          <p:cNvPr id="11" name="TextBox 10"/>
          <p:cNvSpPr txBox="1"/>
          <p:nvPr/>
        </p:nvSpPr>
        <p:spPr>
          <a:xfrm>
            <a:off x="731520" y="2834640"/>
            <a:ext cx="3017520" cy="502920"/>
          </a:xfrm>
          <a:prstGeom prst="rect">
            <a:avLst/>
          </a:prstGeom>
          <a:noFill/>
        </p:spPr>
        <p:txBody>
          <a:bodyPr wrap="square">
            <a:spAutoFit/>
          </a:bodyPr>
          <a:lstStyle/>
          <a:p>
            <a:pPr algn="l">
              <a:spcAft>
                <a:spcPts val="0"/>
              </a:spcAft>
              <a:defRPr sz="1300" b="0" i="0">
                <a:solidFill>
                  <a:srgbClr val="C4A882"/>
                </a:solidFill>
                <a:latin typeface="Calibri"/>
              </a:defRPr>
            </a:pPr>
            <a:r>
              <a:t>▸ JSON in via stdin, exit codes out</a:t>
            </a:r>
          </a:p>
        </p:txBody>
      </p:sp>
      <p:sp>
        <p:nvSpPr>
          <p:cNvPr id="12" name="TextBox 11"/>
          <p:cNvSpPr txBox="1"/>
          <p:nvPr/>
        </p:nvSpPr>
        <p:spPr>
          <a:xfrm>
            <a:off x="731520" y="3291840"/>
            <a:ext cx="3017520" cy="502920"/>
          </a:xfrm>
          <a:prstGeom prst="rect">
            <a:avLst/>
          </a:prstGeom>
          <a:noFill/>
        </p:spPr>
        <p:txBody>
          <a:bodyPr wrap="square">
            <a:spAutoFit/>
          </a:bodyPr>
          <a:lstStyle/>
          <a:p>
            <a:pPr algn="l">
              <a:spcAft>
                <a:spcPts val="0"/>
              </a:spcAft>
              <a:defRPr sz="1300" b="0" i="0">
                <a:solidFill>
                  <a:srgbClr val="C4A882"/>
                </a:solidFill>
                <a:latin typeface="Calibri"/>
              </a:defRPr>
            </a:pPr>
            <a:r>
              <a:t>▸ Best for: formatting, linting,</a:t>
            </a:r>
            <a:br/>
            <a:r>
              <a:t>security checks, logging</a:t>
            </a:r>
          </a:p>
        </p:txBody>
      </p:sp>
      <p:sp>
        <p:nvSpPr>
          <p:cNvPr id="13" name="Rounded Rectangle 12"/>
          <p:cNvSpPr/>
          <p:nvPr/>
        </p:nvSpPr>
        <p:spPr>
          <a:xfrm>
            <a:off x="640080" y="3840480"/>
            <a:ext cx="3200400" cy="10058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931920"/>
            <a:ext cx="2926080" cy="822960"/>
          </a:xfrm>
          <a:prstGeom prst="rect">
            <a:avLst/>
          </a:prstGeom>
          <a:noFill/>
        </p:spPr>
        <p:txBody>
          <a:bodyPr wrap="square">
            <a:spAutoFit/>
          </a:bodyPr>
          <a:lstStyle/>
          <a:p>
            <a:pPr algn="l">
              <a:spcAft>
                <a:spcPts val="0"/>
              </a:spcAft>
              <a:defRPr sz="1100" b="0" i="0">
                <a:solidFill>
                  <a:srgbClr val="D4886B"/>
                </a:solidFill>
                <a:latin typeface="JetBrains Mono"/>
              </a:defRPr>
            </a:pPr>
            <a:r>
              <a:t>jq -r '.tool_input.file_path'</a:t>
            </a:r>
            <a:br/>
            <a:r>
              <a:t>| xargs prettier --write</a:t>
            </a:r>
          </a:p>
        </p:txBody>
      </p:sp>
      <p:sp>
        <p:nvSpPr>
          <p:cNvPr id="15" name="Rounded Rectangle 14"/>
          <p:cNvSpPr/>
          <p:nvPr/>
        </p:nvSpPr>
        <p:spPr>
          <a:xfrm>
            <a:off x="4297680" y="1234440"/>
            <a:ext cx="3474720" cy="51206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526280" y="13716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727448" y="13716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928616" y="13716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212080" y="1307592"/>
            <a:ext cx="2286000" cy="320040"/>
          </a:xfrm>
          <a:prstGeom prst="rect">
            <a:avLst/>
          </a:prstGeom>
          <a:noFill/>
        </p:spPr>
        <p:txBody>
          <a:bodyPr wrap="square">
            <a:spAutoFit/>
          </a:bodyPr>
          <a:lstStyle/>
          <a:p>
            <a:pPr algn="ctr">
              <a:spcAft>
                <a:spcPts val="0"/>
              </a:spcAft>
              <a:defRPr sz="1100" b="0" i="0">
                <a:solidFill>
                  <a:srgbClr val="7A6E5D"/>
                </a:solidFill>
                <a:latin typeface="Calibri"/>
              </a:defRPr>
            </a:pPr>
            <a:r>
              <a:t>Prompt</a:t>
            </a:r>
          </a:p>
        </p:txBody>
      </p:sp>
      <p:sp>
        <p:nvSpPr>
          <p:cNvPr id="20" name="TextBox 19"/>
          <p:cNvSpPr txBox="1"/>
          <p:nvPr/>
        </p:nvSpPr>
        <p:spPr>
          <a:xfrm>
            <a:off x="4526280" y="1737360"/>
            <a:ext cx="3017520" cy="274320"/>
          </a:xfrm>
          <a:prstGeom prst="rect">
            <a:avLst/>
          </a:prstGeom>
          <a:noFill/>
        </p:spPr>
        <p:txBody>
          <a:bodyPr wrap="square">
            <a:spAutoFit/>
          </a:bodyPr>
          <a:lstStyle/>
          <a:p>
            <a:pPr algn="l">
              <a:spcAft>
                <a:spcPts val="0"/>
              </a:spcAft>
              <a:defRPr sz="1200" b="0" i="0">
                <a:solidFill>
                  <a:srgbClr val="D4886B"/>
                </a:solidFill>
                <a:latin typeface="JetBrains Mono"/>
              </a:defRPr>
            </a:pPr>
            <a:r>
              <a:t>"type": "prompt"</a:t>
            </a:r>
          </a:p>
        </p:txBody>
      </p:sp>
      <p:sp>
        <p:nvSpPr>
          <p:cNvPr id="21" name="TextBox 20"/>
          <p:cNvSpPr txBox="1"/>
          <p:nvPr/>
        </p:nvSpPr>
        <p:spPr>
          <a:xfrm>
            <a:off x="4526280" y="2011680"/>
            <a:ext cx="3017520" cy="320040"/>
          </a:xfrm>
          <a:prstGeom prst="rect">
            <a:avLst/>
          </a:prstGeom>
          <a:noFill/>
        </p:spPr>
        <p:txBody>
          <a:bodyPr wrap="square">
            <a:spAutoFit/>
          </a:bodyPr>
          <a:lstStyle/>
          <a:p>
            <a:pPr algn="l">
              <a:spcAft>
                <a:spcPts val="0"/>
              </a:spcAft>
              <a:defRPr sz="1400" b="1" i="0">
                <a:solidFill>
                  <a:srgbClr val="E8D5B7"/>
                </a:solidFill>
                <a:latin typeface="Calibri"/>
              </a:defRPr>
            </a:pPr>
            <a:r>
              <a:t>Ask an LLM a yes/no question</a:t>
            </a:r>
          </a:p>
        </p:txBody>
      </p:sp>
      <p:sp>
        <p:nvSpPr>
          <p:cNvPr id="22" name="TextBox 21"/>
          <p:cNvSpPr txBox="1"/>
          <p:nvPr/>
        </p:nvSpPr>
        <p:spPr>
          <a:xfrm>
            <a:off x="4526280" y="2377440"/>
            <a:ext cx="3017520" cy="502920"/>
          </a:xfrm>
          <a:prstGeom prst="rect">
            <a:avLst/>
          </a:prstGeom>
          <a:noFill/>
        </p:spPr>
        <p:txBody>
          <a:bodyPr wrap="square">
            <a:spAutoFit/>
          </a:bodyPr>
          <a:lstStyle/>
          <a:p>
            <a:pPr algn="l">
              <a:spcAft>
                <a:spcPts val="0"/>
              </a:spcAft>
              <a:defRPr sz="1300" b="0" i="0">
                <a:solidFill>
                  <a:srgbClr val="C4A882"/>
                </a:solidFill>
                <a:latin typeface="Calibri"/>
              </a:defRPr>
            </a:pPr>
            <a:r>
              <a:t>▸ Single-turn LLM decision</a:t>
            </a:r>
          </a:p>
        </p:txBody>
      </p:sp>
      <p:sp>
        <p:nvSpPr>
          <p:cNvPr id="23" name="TextBox 22"/>
          <p:cNvSpPr txBox="1"/>
          <p:nvPr/>
        </p:nvSpPr>
        <p:spPr>
          <a:xfrm>
            <a:off x="4526280" y="2834640"/>
            <a:ext cx="3017520" cy="502920"/>
          </a:xfrm>
          <a:prstGeom prst="rect">
            <a:avLst/>
          </a:prstGeom>
          <a:noFill/>
        </p:spPr>
        <p:txBody>
          <a:bodyPr wrap="square">
            <a:spAutoFit/>
          </a:bodyPr>
          <a:lstStyle/>
          <a:p>
            <a:pPr algn="l">
              <a:spcAft>
                <a:spcPts val="0"/>
              </a:spcAft>
              <a:defRPr sz="1300" b="0" i="0">
                <a:solidFill>
                  <a:srgbClr val="C4A882"/>
                </a:solidFill>
                <a:latin typeface="Calibri"/>
              </a:defRPr>
            </a:pPr>
            <a:r>
              <a:t>▸ Returns {ok: true/false, reason}</a:t>
            </a:r>
          </a:p>
        </p:txBody>
      </p:sp>
      <p:sp>
        <p:nvSpPr>
          <p:cNvPr id="24" name="TextBox 23"/>
          <p:cNvSpPr txBox="1"/>
          <p:nvPr/>
        </p:nvSpPr>
        <p:spPr>
          <a:xfrm>
            <a:off x="4526280" y="3291840"/>
            <a:ext cx="3017520" cy="502920"/>
          </a:xfrm>
          <a:prstGeom prst="rect">
            <a:avLst/>
          </a:prstGeom>
          <a:noFill/>
        </p:spPr>
        <p:txBody>
          <a:bodyPr wrap="square">
            <a:spAutoFit/>
          </a:bodyPr>
          <a:lstStyle/>
          <a:p>
            <a:pPr algn="l">
              <a:spcAft>
                <a:spcPts val="0"/>
              </a:spcAft>
              <a:defRPr sz="1300" b="0" i="0">
                <a:solidFill>
                  <a:srgbClr val="C4A882"/>
                </a:solidFill>
                <a:latin typeface="Calibri"/>
              </a:defRPr>
            </a:pPr>
            <a:r>
              <a:t>▸ Best for: complex decisions,</a:t>
            </a:r>
            <a:br/>
            <a:r>
              <a:t>semantic validation</a:t>
            </a:r>
          </a:p>
        </p:txBody>
      </p:sp>
      <p:sp>
        <p:nvSpPr>
          <p:cNvPr id="25" name="Rounded Rectangle 24"/>
          <p:cNvSpPr/>
          <p:nvPr/>
        </p:nvSpPr>
        <p:spPr>
          <a:xfrm>
            <a:off x="4434840" y="3840480"/>
            <a:ext cx="3200400" cy="10058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0" y="3931920"/>
            <a:ext cx="2926080" cy="822960"/>
          </a:xfrm>
          <a:prstGeom prst="rect">
            <a:avLst/>
          </a:prstGeom>
          <a:noFill/>
        </p:spPr>
        <p:txBody>
          <a:bodyPr wrap="square">
            <a:spAutoFit/>
          </a:bodyPr>
          <a:lstStyle/>
          <a:p>
            <a:pPr algn="l">
              <a:spcAft>
                <a:spcPts val="0"/>
              </a:spcAft>
              <a:defRPr sz="1100" b="0" i="0">
                <a:solidFill>
                  <a:srgbClr val="D4886B"/>
                </a:solidFill>
                <a:latin typeface="JetBrains Mono"/>
              </a:defRPr>
            </a:pPr>
            <a:r>
              <a:t>"Check if all tasks are</a:t>
            </a:r>
            <a:br/>
            <a:r>
              <a:t>complete. Respond with</a:t>
            </a:r>
            <a:br/>
            <a:r>
              <a:t>{ok: false} if incomplete."</a:t>
            </a:r>
          </a:p>
        </p:txBody>
      </p:sp>
      <p:sp>
        <p:nvSpPr>
          <p:cNvPr id="27" name="Rounded Rectangle 26"/>
          <p:cNvSpPr/>
          <p:nvPr/>
        </p:nvSpPr>
        <p:spPr>
          <a:xfrm>
            <a:off x="8092440" y="1234440"/>
            <a:ext cx="3474720" cy="51206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321040" y="13716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522208" y="13716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723376" y="13716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006840" y="1307592"/>
            <a:ext cx="2286000" cy="320040"/>
          </a:xfrm>
          <a:prstGeom prst="rect">
            <a:avLst/>
          </a:prstGeom>
          <a:noFill/>
        </p:spPr>
        <p:txBody>
          <a:bodyPr wrap="square">
            <a:spAutoFit/>
          </a:bodyPr>
          <a:lstStyle/>
          <a:p>
            <a:pPr algn="ctr">
              <a:spcAft>
                <a:spcPts val="0"/>
              </a:spcAft>
              <a:defRPr sz="1100" b="0" i="0">
                <a:solidFill>
                  <a:srgbClr val="7A6E5D"/>
                </a:solidFill>
                <a:latin typeface="Calibri"/>
              </a:defRPr>
            </a:pPr>
            <a:r>
              <a:t>Agent</a:t>
            </a:r>
          </a:p>
        </p:txBody>
      </p:sp>
      <p:sp>
        <p:nvSpPr>
          <p:cNvPr id="32" name="TextBox 31"/>
          <p:cNvSpPr txBox="1"/>
          <p:nvPr/>
        </p:nvSpPr>
        <p:spPr>
          <a:xfrm>
            <a:off x="8321040" y="1737360"/>
            <a:ext cx="3017520" cy="274320"/>
          </a:xfrm>
          <a:prstGeom prst="rect">
            <a:avLst/>
          </a:prstGeom>
          <a:noFill/>
        </p:spPr>
        <p:txBody>
          <a:bodyPr wrap="square">
            <a:spAutoFit/>
          </a:bodyPr>
          <a:lstStyle/>
          <a:p>
            <a:pPr algn="l">
              <a:spcAft>
                <a:spcPts val="0"/>
              </a:spcAft>
              <a:defRPr sz="1200" b="0" i="0">
                <a:solidFill>
                  <a:srgbClr val="D4886B"/>
                </a:solidFill>
                <a:latin typeface="JetBrains Mono"/>
              </a:defRPr>
            </a:pPr>
            <a:r>
              <a:t>"type": "agent"</a:t>
            </a:r>
          </a:p>
        </p:txBody>
      </p:sp>
      <p:sp>
        <p:nvSpPr>
          <p:cNvPr id="33" name="TextBox 32"/>
          <p:cNvSpPr txBox="1"/>
          <p:nvPr/>
        </p:nvSpPr>
        <p:spPr>
          <a:xfrm>
            <a:off x="8321040" y="2011680"/>
            <a:ext cx="3017520" cy="320040"/>
          </a:xfrm>
          <a:prstGeom prst="rect">
            <a:avLst/>
          </a:prstGeom>
          <a:noFill/>
        </p:spPr>
        <p:txBody>
          <a:bodyPr wrap="square">
            <a:spAutoFit/>
          </a:bodyPr>
          <a:lstStyle/>
          <a:p>
            <a:pPr algn="l">
              <a:spcAft>
                <a:spcPts val="0"/>
              </a:spcAft>
              <a:defRPr sz="1400" b="1" i="0">
                <a:solidFill>
                  <a:srgbClr val="E8D5B7"/>
                </a:solidFill>
                <a:latin typeface="Calibri"/>
              </a:defRPr>
            </a:pPr>
            <a:r>
              <a:t>Spawn a multi-turn subagent</a:t>
            </a:r>
          </a:p>
        </p:txBody>
      </p:sp>
      <p:sp>
        <p:nvSpPr>
          <p:cNvPr id="34" name="TextBox 33"/>
          <p:cNvSpPr txBox="1"/>
          <p:nvPr/>
        </p:nvSpPr>
        <p:spPr>
          <a:xfrm>
            <a:off x="8321040" y="2377440"/>
            <a:ext cx="3017520" cy="502920"/>
          </a:xfrm>
          <a:prstGeom prst="rect">
            <a:avLst/>
          </a:prstGeom>
          <a:noFill/>
        </p:spPr>
        <p:txBody>
          <a:bodyPr wrap="square">
            <a:spAutoFit/>
          </a:bodyPr>
          <a:lstStyle/>
          <a:p>
            <a:pPr algn="l">
              <a:spcAft>
                <a:spcPts val="0"/>
              </a:spcAft>
              <a:defRPr sz="1300" b="0" i="0">
                <a:solidFill>
                  <a:srgbClr val="C4A882"/>
                </a:solidFill>
                <a:latin typeface="Calibri"/>
              </a:defRPr>
            </a:pPr>
            <a:r>
              <a:t>▸ Up to 50 tool turns</a:t>
            </a:r>
          </a:p>
        </p:txBody>
      </p:sp>
      <p:sp>
        <p:nvSpPr>
          <p:cNvPr id="35" name="TextBox 34"/>
          <p:cNvSpPr txBox="1"/>
          <p:nvPr/>
        </p:nvSpPr>
        <p:spPr>
          <a:xfrm>
            <a:off x="8321040" y="2834640"/>
            <a:ext cx="3017520" cy="502920"/>
          </a:xfrm>
          <a:prstGeom prst="rect">
            <a:avLst/>
          </a:prstGeom>
          <a:noFill/>
        </p:spPr>
        <p:txBody>
          <a:bodyPr wrap="square">
            <a:spAutoFit/>
          </a:bodyPr>
          <a:lstStyle/>
          <a:p>
            <a:pPr algn="l">
              <a:spcAft>
                <a:spcPts val="0"/>
              </a:spcAft>
              <a:defRPr sz="1300" b="0" i="0">
                <a:solidFill>
                  <a:srgbClr val="C4A882"/>
                </a:solidFill>
                <a:latin typeface="Calibri"/>
              </a:defRPr>
            </a:pPr>
            <a:r>
              <a:t>▸ Access to Read, Grep, Glob, Bash</a:t>
            </a:r>
          </a:p>
        </p:txBody>
      </p:sp>
      <p:sp>
        <p:nvSpPr>
          <p:cNvPr id="36" name="TextBox 35"/>
          <p:cNvSpPr txBox="1"/>
          <p:nvPr/>
        </p:nvSpPr>
        <p:spPr>
          <a:xfrm>
            <a:off x="8321040" y="3291840"/>
            <a:ext cx="3017520" cy="502920"/>
          </a:xfrm>
          <a:prstGeom prst="rect">
            <a:avLst/>
          </a:prstGeom>
          <a:noFill/>
        </p:spPr>
        <p:txBody>
          <a:bodyPr wrap="square">
            <a:spAutoFit/>
          </a:bodyPr>
          <a:lstStyle/>
          <a:p>
            <a:pPr algn="l">
              <a:spcAft>
                <a:spcPts val="0"/>
              </a:spcAft>
              <a:defRPr sz="1300" b="0" i="0">
                <a:solidFill>
                  <a:srgbClr val="C4A882"/>
                </a:solidFill>
                <a:latin typeface="Calibri"/>
              </a:defRPr>
            </a:pPr>
            <a:r>
              <a:t>▸ Best for: multi-file checks,</a:t>
            </a:r>
            <a:br/>
            <a:r>
              <a:t>test suites, deployments</a:t>
            </a:r>
          </a:p>
        </p:txBody>
      </p:sp>
      <p:sp>
        <p:nvSpPr>
          <p:cNvPr id="37" name="Rounded Rectangle 36"/>
          <p:cNvSpPr/>
          <p:nvPr/>
        </p:nvSpPr>
        <p:spPr>
          <a:xfrm>
            <a:off x="8229600" y="3840480"/>
            <a:ext cx="3200400" cy="10058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66760" y="3931920"/>
            <a:ext cx="2926080" cy="822960"/>
          </a:xfrm>
          <a:prstGeom prst="rect">
            <a:avLst/>
          </a:prstGeom>
          <a:noFill/>
        </p:spPr>
        <p:txBody>
          <a:bodyPr wrap="square">
            <a:spAutoFit/>
          </a:bodyPr>
          <a:lstStyle/>
          <a:p>
            <a:pPr algn="l">
              <a:spcAft>
                <a:spcPts val="0"/>
              </a:spcAft>
              <a:defRPr sz="1100" b="0" i="0">
                <a:solidFill>
                  <a:srgbClr val="D4886B"/>
                </a:solidFill>
                <a:latin typeface="JetBrains Mono"/>
              </a:defRPr>
            </a:pPr>
            <a:r>
              <a:t>"Verify all unit tests pass.</a:t>
            </a:r>
            <a:br/>
            <a:r>
              <a:t>Run the suite and check</a:t>
            </a:r>
            <a:br/>
            <a:r>
              <a:t>results. $ARGUMENTS"</a:t>
            </a:r>
          </a:p>
        </p:txBody>
      </p:sp>
      <p:sp>
        <p:nvSpPr>
          <p:cNvPr id="39" name="TextBox 38"/>
          <p:cNvSpPr txBox="1"/>
          <p:nvPr/>
        </p:nvSpPr>
        <p:spPr>
          <a:xfrm>
            <a:off x="731520" y="6492240"/>
            <a:ext cx="5486400" cy="274320"/>
          </a:xfrm>
          <a:prstGeom prst="rect">
            <a:avLst/>
          </a:prstGeom>
          <a:noFill/>
        </p:spPr>
        <p:txBody>
          <a:bodyPr wrap="square">
            <a:spAutoFit/>
          </a:bodyPr>
          <a:lstStyle/>
          <a:p>
            <a:pPr algn="l">
              <a:spcAft>
                <a:spcPts val="0"/>
              </a:spcAft>
              <a:defRPr sz="900" b="0" i="0">
                <a:solidFill>
                  <a:srgbClr val="7A6E5D"/>
                </a:solidFill>
                <a:latin typeface="JetBrains Mono"/>
              </a:defRPr>
            </a:pPr>
            <a:r>
              <a:t>The Claude Beast  |  Claude Hooks</a:t>
            </a:r>
          </a:p>
        </p:txBody>
      </p:sp>
      <p:sp>
        <p:nvSpPr>
          <p:cNvPr id="40" name="TextBox 39"/>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4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Where Hooks Live</a:t>
            </a:r>
          </a:p>
        </p:txBody>
      </p:sp>
      <p:sp>
        <p:nvSpPr>
          <p:cNvPr id="3" name="Rounded Rectangle 2"/>
          <p:cNvSpPr/>
          <p:nvPr/>
        </p:nvSpPr>
        <p:spPr>
          <a:xfrm>
            <a:off x="457200" y="1280160"/>
            <a:ext cx="11247120" cy="32918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85800" y="14173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86968" y="14173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88136" y="14173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2743200" cy="320040"/>
          </a:xfrm>
          <a:prstGeom prst="rect">
            <a:avLst/>
          </a:prstGeom>
          <a:noFill/>
        </p:spPr>
        <p:txBody>
          <a:bodyPr wrap="square">
            <a:spAutoFit/>
          </a:bodyPr>
          <a:lstStyle/>
          <a:p>
            <a:pPr algn="l">
              <a:spcAft>
                <a:spcPts val="0"/>
              </a:spcAft>
              <a:defRPr sz="1300" b="1" i="0">
                <a:solidFill>
                  <a:srgbClr val="D4886B"/>
                </a:solidFill>
                <a:latin typeface="Calibri"/>
              </a:defRPr>
            </a:pPr>
            <a:r>
              <a:t>Location</a:t>
            </a:r>
          </a:p>
        </p:txBody>
      </p:sp>
      <p:sp>
        <p:nvSpPr>
          <p:cNvPr id="8" name="TextBox 7"/>
          <p:cNvSpPr txBox="1"/>
          <p:nvPr/>
        </p:nvSpPr>
        <p:spPr>
          <a:xfrm>
            <a:off x="3474720" y="1737360"/>
            <a:ext cx="1463040" cy="320040"/>
          </a:xfrm>
          <a:prstGeom prst="rect">
            <a:avLst/>
          </a:prstGeom>
          <a:noFill/>
        </p:spPr>
        <p:txBody>
          <a:bodyPr wrap="square">
            <a:spAutoFit/>
          </a:bodyPr>
          <a:lstStyle/>
          <a:p>
            <a:pPr algn="l">
              <a:spcAft>
                <a:spcPts val="0"/>
              </a:spcAft>
              <a:defRPr sz="1300" b="1" i="0">
                <a:solidFill>
                  <a:srgbClr val="D4886B"/>
                </a:solidFill>
                <a:latin typeface="Calibri"/>
              </a:defRPr>
            </a:pPr>
            <a:r>
              <a:t>Scope</a:t>
            </a:r>
          </a:p>
        </p:txBody>
      </p:sp>
      <p:sp>
        <p:nvSpPr>
          <p:cNvPr id="9" name="TextBox 8"/>
          <p:cNvSpPr txBox="1"/>
          <p:nvPr/>
        </p:nvSpPr>
        <p:spPr>
          <a:xfrm>
            <a:off x="4937760" y="1737360"/>
            <a:ext cx="2560320" cy="320040"/>
          </a:xfrm>
          <a:prstGeom prst="rect">
            <a:avLst/>
          </a:prstGeom>
          <a:noFill/>
        </p:spPr>
        <p:txBody>
          <a:bodyPr wrap="square">
            <a:spAutoFit/>
          </a:bodyPr>
          <a:lstStyle/>
          <a:p>
            <a:pPr algn="l">
              <a:spcAft>
                <a:spcPts val="0"/>
              </a:spcAft>
              <a:defRPr sz="1300" b="1" i="0">
                <a:solidFill>
                  <a:srgbClr val="D4886B"/>
                </a:solidFill>
                <a:latin typeface="Calibri"/>
              </a:defRPr>
            </a:pPr>
            <a:r>
              <a:t>Description</a:t>
            </a:r>
          </a:p>
        </p:txBody>
      </p:sp>
      <p:sp>
        <p:nvSpPr>
          <p:cNvPr id="10" name="TextBox 9"/>
          <p:cNvSpPr txBox="1"/>
          <p:nvPr/>
        </p:nvSpPr>
        <p:spPr>
          <a:xfrm>
            <a:off x="7498080" y="1737360"/>
            <a:ext cx="2286000" cy="320040"/>
          </a:xfrm>
          <a:prstGeom prst="rect">
            <a:avLst/>
          </a:prstGeom>
          <a:noFill/>
        </p:spPr>
        <p:txBody>
          <a:bodyPr wrap="square">
            <a:spAutoFit/>
          </a:bodyPr>
          <a:lstStyle/>
          <a:p>
            <a:pPr algn="l">
              <a:spcAft>
                <a:spcPts val="0"/>
              </a:spcAft>
              <a:defRPr sz="1300" b="1" i="0">
                <a:solidFill>
                  <a:srgbClr val="D4886B"/>
                </a:solidFill>
                <a:latin typeface="Calibri"/>
              </a:defRPr>
            </a:pPr>
            <a:r>
              <a:t>Shareable?</a:t>
            </a:r>
          </a:p>
        </p:txBody>
      </p:sp>
      <p:sp>
        <p:nvSpPr>
          <p:cNvPr id="11" name="Rectangle 10"/>
          <p:cNvSpPr/>
          <p:nvPr/>
        </p:nvSpPr>
        <p:spPr>
          <a:xfrm>
            <a:off x="731520" y="2011680"/>
            <a:ext cx="10698480" cy="4572"/>
          </a:xfrm>
          <a:prstGeom prst="rect">
            <a:avLst/>
          </a:prstGeom>
          <a:solidFill>
            <a:srgbClr val="6B5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103120"/>
            <a:ext cx="2743200" cy="320040"/>
          </a:xfrm>
          <a:prstGeom prst="rect">
            <a:avLst/>
          </a:prstGeom>
          <a:noFill/>
        </p:spPr>
        <p:txBody>
          <a:bodyPr wrap="square">
            <a:spAutoFit/>
          </a:bodyPr>
          <a:lstStyle/>
          <a:p>
            <a:pPr algn="l">
              <a:spcAft>
                <a:spcPts val="0"/>
              </a:spcAft>
              <a:defRPr sz="1200" b="0" i="0">
                <a:solidFill>
                  <a:srgbClr val="D4886B"/>
                </a:solidFill>
                <a:latin typeface="JetBrains Mono"/>
              </a:defRPr>
            </a:pPr>
            <a:r>
              <a:t>~/.claude/settings.json</a:t>
            </a:r>
          </a:p>
        </p:txBody>
      </p:sp>
      <p:sp>
        <p:nvSpPr>
          <p:cNvPr id="13" name="TextBox 12"/>
          <p:cNvSpPr txBox="1"/>
          <p:nvPr/>
        </p:nvSpPr>
        <p:spPr>
          <a:xfrm>
            <a:off x="3474720" y="2103120"/>
            <a:ext cx="1463040" cy="320040"/>
          </a:xfrm>
          <a:prstGeom prst="rect">
            <a:avLst/>
          </a:prstGeom>
          <a:noFill/>
        </p:spPr>
        <p:txBody>
          <a:bodyPr wrap="square">
            <a:spAutoFit/>
          </a:bodyPr>
          <a:lstStyle/>
          <a:p>
            <a:pPr algn="l">
              <a:spcAft>
                <a:spcPts val="0"/>
              </a:spcAft>
              <a:defRPr sz="1200" b="0" i="0">
                <a:solidFill>
                  <a:srgbClr val="E8D5B7"/>
                </a:solidFill>
                <a:latin typeface="Calibri"/>
              </a:defRPr>
            </a:pPr>
            <a:r>
              <a:t>User-wide</a:t>
            </a:r>
          </a:p>
        </p:txBody>
      </p:sp>
      <p:sp>
        <p:nvSpPr>
          <p:cNvPr id="14" name="TextBox 13"/>
          <p:cNvSpPr txBox="1"/>
          <p:nvPr/>
        </p:nvSpPr>
        <p:spPr>
          <a:xfrm>
            <a:off x="4937760" y="2103120"/>
            <a:ext cx="2560320" cy="320040"/>
          </a:xfrm>
          <a:prstGeom prst="rect">
            <a:avLst/>
          </a:prstGeom>
          <a:noFill/>
        </p:spPr>
        <p:txBody>
          <a:bodyPr wrap="square">
            <a:spAutoFit/>
          </a:bodyPr>
          <a:lstStyle/>
          <a:p>
            <a:pPr algn="l">
              <a:spcAft>
                <a:spcPts val="0"/>
              </a:spcAft>
              <a:defRPr sz="1200" b="0" i="0">
                <a:solidFill>
                  <a:srgbClr val="C4A882"/>
                </a:solidFill>
                <a:latin typeface="Calibri"/>
              </a:defRPr>
            </a:pPr>
            <a:r>
              <a:t>All your projects</a:t>
            </a:r>
          </a:p>
        </p:txBody>
      </p:sp>
      <p:sp>
        <p:nvSpPr>
          <p:cNvPr id="15" name="TextBox 14"/>
          <p:cNvSpPr txBox="1"/>
          <p:nvPr/>
        </p:nvSpPr>
        <p:spPr>
          <a:xfrm>
            <a:off x="7498080" y="2103120"/>
            <a:ext cx="2286000" cy="320040"/>
          </a:xfrm>
          <a:prstGeom prst="rect">
            <a:avLst/>
          </a:prstGeom>
          <a:noFill/>
        </p:spPr>
        <p:txBody>
          <a:bodyPr wrap="square">
            <a:spAutoFit/>
          </a:bodyPr>
          <a:lstStyle/>
          <a:p>
            <a:pPr algn="l">
              <a:spcAft>
                <a:spcPts val="0"/>
              </a:spcAft>
              <a:defRPr sz="1200" b="0" i="0">
                <a:solidFill>
                  <a:srgbClr val="C4A882"/>
                </a:solidFill>
                <a:latin typeface="Calibri"/>
              </a:defRPr>
            </a:pPr>
            <a:r>
              <a:t>No</a:t>
            </a:r>
          </a:p>
        </p:txBody>
      </p:sp>
      <p:sp>
        <p:nvSpPr>
          <p:cNvPr id="16" name="TextBox 15"/>
          <p:cNvSpPr txBox="1"/>
          <p:nvPr/>
        </p:nvSpPr>
        <p:spPr>
          <a:xfrm>
            <a:off x="731520" y="2450592"/>
            <a:ext cx="2743200" cy="320040"/>
          </a:xfrm>
          <a:prstGeom prst="rect">
            <a:avLst/>
          </a:prstGeom>
          <a:noFill/>
        </p:spPr>
        <p:txBody>
          <a:bodyPr wrap="square">
            <a:spAutoFit/>
          </a:bodyPr>
          <a:lstStyle/>
          <a:p>
            <a:pPr algn="l">
              <a:spcAft>
                <a:spcPts val="0"/>
              </a:spcAft>
              <a:defRPr sz="1200" b="0" i="0">
                <a:solidFill>
                  <a:srgbClr val="D4886B"/>
                </a:solidFill>
                <a:latin typeface="JetBrains Mono"/>
              </a:defRPr>
            </a:pPr>
            <a:r>
              <a:t>.claude/settings.json</a:t>
            </a:r>
          </a:p>
        </p:txBody>
      </p:sp>
      <p:sp>
        <p:nvSpPr>
          <p:cNvPr id="17" name="TextBox 16"/>
          <p:cNvSpPr txBox="1"/>
          <p:nvPr/>
        </p:nvSpPr>
        <p:spPr>
          <a:xfrm>
            <a:off x="3474720" y="2450592"/>
            <a:ext cx="1463040" cy="320040"/>
          </a:xfrm>
          <a:prstGeom prst="rect">
            <a:avLst/>
          </a:prstGeom>
          <a:noFill/>
        </p:spPr>
        <p:txBody>
          <a:bodyPr wrap="square">
            <a:spAutoFit/>
          </a:bodyPr>
          <a:lstStyle/>
          <a:p>
            <a:pPr algn="l">
              <a:spcAft>
                <a:spcPts val="0"/>
              </a:spcAft>
              <a:defRPr sz="1200" b="0" i="0">
                <a:solidFill>
                  <a:srgbClr val="E8D5B7"/>
                </a:solidFill>
                <a:latin typeface="Calibri"/>
              </a:defRPr>
            </a:pPr>
            <a:r>
              <a:t>Project</a:t>
            </a:r>
          </a:p>
        </p:txBody>
      </p:sp>
      <p:sp>
        <p:nvSpPr>
          <p:cNvPr id="18" name="TextBox 17"/>
          <p:cNvSpPr txBox="1"/>
          <p:nvPr/>
        </p:nvSpPr>
        <p:spPr>
          <a:xfrm>
            <a:off x="4937760" y="2450592"/>
            <a:ext cx="2560320" cy="320040"/>
          </a:xfrm>
          <a:prstGeom prst="rect">
            <a:avLst/>
          </a:prstGeom>
          <a:noFill/>
        </p:spPr>
        <p:txBody>
          <a:bodyPr wrap="square">
            <a:spAutoFit/>
          </a:bodyPr>
          <a:lstStyle/>
          <a:p>
            <a:pPr algn="l">
              <a:spcAft>
                <a:spcPts val="0"/>
              </a:spcAft>
              <a:defRPr sz="1200" b="0" i="0">
                <a:solidFill>
                  <a:srgbClr val="C4A882"/>
                </a:solidFill>
                <a:latin typeface="Calibri"/>
              </a:defRPr>
            </a:pPr>
            <a:r>
              <a:t>Single project (shared)</a:t>
            </a:r>
          </a:p>
        </p:txBody>
      </p:sp>
      <p:sp>
        <p:nvSpPr>
          <p:cNvPr id="19" name="TextBox 18"/>
          <p:cNvSpPr txBox="1"/>
          <p:nvPr/>
        </p:nvSpPr>
        <p:spPr>
          <a:xfrm>
            <a:off x="7498080" y="2450592"/>
            <a:ext cx="2286000" cy="320040"/>
          </a:xfrm>
          <a:prstGeom prst="rect">
            <a:avLst/>
          </a:prstGeom>
          <a:noFill/>
        </p:spPr>
        <p:txBody>
          <a:bodyPr wrap="square">
            <a:spAutoFit/>
          </a:bodyPr>
          <a:lstStyle/>
          <a:p>
            <a:pPr algn="l">
              <a:spcAft>
                <a:spcPts val="0"/>
              </a:spcAft>
              <a:defRPr sz="1200" b="0" i="0">
                <a:solidFill>
                  <a:srgbClr val="C4A882"/>
                </a:solidFill>
                <a:latin typeface="Calibri"/>
              </a:defRPr>
            </a:pPr>
            <a:r>
              <a:t>Yes – commit to repo</a:t>
            </a:r>
          </a:p>
        </p:txBody>
      </p:sp>
      <p:sp>
        <p:nvSpPr>
          <p:cNvPr id="20" name="TextBox 19"/>
          <p:cNvSpPr txBox="1"/>
          <p:nvPr/>
        </p:nvSpPr>
        <p:spPr>
          <a:xfrm>
            <a:off x="731520" y="2798064"/>
            <a:ext cx="2743200" cy="320040"/>
          </a:xfrm>
          <a:prstGeom prst="rect">
            <a:avLst/>
          </a:prstGeom>
          <a:noFill/>
        </p:spPr>
        <p:txBody>
          <a:bodyPr wrap="square">
            <a:spAutoFit/>
          </a:bodyPr>
          <a:lstStyle/>
          <a:p>
            <a:pPr algn="l">
              <a:spcAft>
                <a:spcPts val="0"/>
              </a:spcAft>
              <a:defRPr sz="1200" b="0" i="0">
                <a:solidFill>
                  <a:srgbClr val="D4886B"/>
                </a:solidFill>
                <a:latin typeface="JetBrains Mono"/>
              </a:defRPr>
            </a:pPr>
            <a:r>
              <a:t>.claude/settings.local.json</a:t>
            </a:r>
          </a:p>
        </p:txBody>
      </p:sp>
      <p:sp>
        <p:nvSpPr>
          <p:cNvPr id="21" name="TextBox 20"/>
          <p:cNvSpPr txBox="1"/>
          <p:nvPr/>
        </p:nvSpPr>
        <p:spPr>
          <a:xfrm>
            <a:off x="3474720" y="2798064"/>
            <a:ext cx="1463040" cy="320040"/>
          </a:xfrm>
          <a:prstGeom prst="rect">
            <a:avLst/>
          </a:prstGeom>
          <a:noFill/>
        </p:spPr>
        <p:txBody>
          <a:bodyPr wrap="square">
            <a:spAutoFit/>
          </a:bodyPr>
          <a:lstStyle/>
          <a:p>
            <a:pPr algn="l">
              <a:spcAft>
                <a:spcPts val="0"/>
              </a:spcAft>
              <a:defRPr sz="1200" b="0" i="0">
                <a:solidFill>
                  <a:srgbClr val="E8D5B7"/>
                </a:solidFill>
                <a:latin typeface="Calibri"/>
              </a:defRPr>
            </a:pPr>
            <a:r>
              <a:t>Project (private)</a:t>
            </a:r>
          </a:p>
        </p:txBody>
      </p:sp>
      <p:sp>
        <p:nvSpPr>
          <p:cNvPr id="22" name="TextBox 21"/>
          <p:cNvSpPr txBox="1"/>
          <p:nvPr/>
        </p:nvSpPr>
        <p:spPr>
          <a:xfrm>
            <a:off x="4937760" y="2798064"/>
            <a:ext cx="2560320" cy="320040"/>
          </a:xfrm>
          <a:prstGeom prst="rect">
            <a:avLst/>
          </a:prstGeom>
          <a:noFill/>
        </p:spPr>
        <p:txBody>
          <a:bodyPr wrap="square">
            <a:spAutoFit/>
          </a:bodyPr>
          <a:lstStyle/>
          <a:p>
            <a:pPr algn="l">
              <a:spcAft>
                <a:spcPts val="0"/>
              </a:spcAft>
              <a:defRPr sz="1200" b="0" i="0">
                <a:solidFill>
                  <a:srgbClr val="C4A882"/>
                </a:solidFill>
                <a:latin typeface="Calibri"/>
              </a:defRPr>
            </a:pPr>
            <a:r>
              <a:t>Single project (personal)</a:t>
            </a:r>
          </a:p>
        </p:txBody>
      </p:sp>
      <p:sp>
        <p:nvSpPr>
          <p:cNvPr id="23" name="TextBox 22"/>
          <p:cNvSpPr txBox="1"/>
          <p:nvPr/>
        </p:nvSpPr>
        <p:spPr>
          <a:xfrm>
            <a:off x="7498080" y="2798064"/>
            <a:ext cx="2286000" cy="320040"/>
          </a:xfrm>
          <a:prstGeom prst="rect">
            <a:avLst/>
          </a:prstGeom>
          <a:noFill/>
        </p:spPr>
        <p:txBody>
          <a:bodyPr wrap="square">
            <a:spAutoFit/>
          </a:bodyPr>
          <a:lstStyle/>
          <a:p>
            <a:pPr algn="l">
              <a:spcAft>
                <a:spcPts val="0"/>
              </a:spcAft>
              <a:defRPr sz="1200" b="0" i="0">
                <a:solidFill>
                  <a:srgbClr val="C4A882"/>
                </a:solidFill>
                <a:latin typeface="Calibri"/>
              </a:defRPr>
            </a:pPr>
            <a:r>
              <a:t>No – gitignored</a:t>
            </a:r>
          </a:p>
        </p:txBody>
      </p:sp>
      <p:sp>
        <p:nvSpPr>
          <p:cNvPr id="24" name="TextBox 23"/>
          <p:cNvSpPr txBox="1"/>
          <p:nvPr/>
        </p:nvSpPr>
        <p:spPr>
          <a:xfrm>
            <a:off x="731520" y="3145536"/>
            <a:ext cx="2743200" cy="320040"/>
          </a:xfrm>
          <a:prstGeom prst="rect">
            <a:avLst/>
          </a:prstGeom>
          <a:noFill/>
        </p:spPr>
        <p:txBody>
          <a:bodyPr wrap="square">
            <a:spAutoFit/>
          </a:bodyPr>
          <a:lstStyle/>
          <a:p>
            <a:pPr algn="l">
              <a:spcAft>
                <a:spcPts val="0"/>
              </a:spcAft>
              <a:defRPr sz="1200" b="0" i="0">
                <a:solidFill>
                  <a:srgbClr val="D4886B"/>
                </a:solidFill>
                <a:latin typeface="JetBrains Mono"/>
              </a:defRPr>
            </a:pPr>
            <a:r>
              <a:t>Managed policy settings</a:t>
            </a:r>
          </a:p>
        </p:txBody>
      </p:sp>
      <p:sp>
        <p:nvSpPr>
          <p:cNvPr id="25" name="TextBox 24"/>
          <p:cNvSpPr txBox="1"/>
          <p:nvPr/>
        </p:nvSpPr>
        <p:spPr>
          <a:xfrm>
            <a:off x="3474720" y="3145536"/>
            <a:ext cx="1463040" cy="320040"/>
          </a:xfrm>
          <a:prstGeom prst="rect">
            <a:avLst/>
          </a:prstGeom>
          <a:noFill/>
        </p:spPr>
        <p:txBody>
          <a:bodyPr wrap="square">
            <a:spAutoFit/>
          </a:bodyPr>
          <a:lstStyle/>
          <a:p>
            <a:pPr algn="l">
              <a:spcAft>
                <a:spcPts val="0"/>
              </a:spcAft>
              <a:defRPr sz="1200" b="0" i="0">
                <a:solidFill>
                  <a:srgbClr val="E8D5B7"/>
                </a:solidFill>
                <a:latin typeface="Calibri"/>
              </a:defRPr>
            </a:pPr>
            <a:r>
              <a:t>Organization</a:t>
            </a:r>
          </a:p>
        </p:txBody>
      </p:sp>
      <p:sp>
        <p:nvSpPr>
          <p:cNvPr id="26" name="TextBox 25"/>
          <p:cNvSpPr txBox="1"/>
          <p:nvPr/>
        </p:nvSpPr>
        <p:spPr>
          <a:xfrm>
            <a:off x="4937760" y="3145536"/>
            <a:ext cx="2560320" cy="320040"/>
          </a:xfrm>
          <a:prstGeom prst="rect">
            <a:avLst/>
          </a:prstGeom>
          <a:noFill/>
        </p:spPr>
        <p:txBody>
          <a:bodyPr wrap="square">
            <a:spAutoFit/>
          </a:bodyPr>
          <a:lstStyle/>
          <a:p>
            <a:pPr algn="l">
              <a:spcAft>
                <a:spcPts val="0"/>
              </a:spcAft>
              <a:defRPr sz="1200" b="0" i="0">
                <a:solidFill>
                  <a:srgbClr val="C4A882"/>
                </a:solidFill>
                <a:latin typeface="Calibri"/>
              </a:defRPr>
            </a:pPr>
            <a:r>
              <a:t>Admin-controlled</a:t>
            </a:r>
          </a:p>
        </p:txBody>
      </p:sp>
      <p:sp>
        <p:nvSpPr>
          <p:cNvPr id="27" name="TextBox 26"/>
          <p:cNvSpPr txBox="1"/>
          <p:nvPr/>
        </p:nvSpPr>
        <p:spPr>
          <a:xfrm>
            <a:off x="7498080" y="3145536"/>
            <a:ext cx="2286000" cy="320040"/>
          </a:xfrm>
          <a:prstGeom prst="rect">
            <a:avLst/>
          </a:prstGeom>
          <a:noFill/>
        </p:spPr>
        <p:txBody>
          <a:bodyPr wrap="square">
            <a:spAutoFit/>
          </a:bodyPr>
          <a:lstStyle/>
          <a:p>
            <a:pPr algn="l">
              <a:spcAft>
                <a:spcPts val="0"/>
              </a:spcAft>
              <a:defRPr sz="1200" b="0" i="0">
                <a:solidFill>
                  <a:srgbClr val="C4A882"/>
                </a:solidFill>
                <a:latin typeface="Calibri"/>
              </a:defRPr>
            </a:pPr>
            <a:r>
              <a:t>Yes – central policy</a:t>
            </a:r>
          </a:p>
        </p:txBody>
      </p:sp>
      <p:sp>
        <p:nvSpPr>
          <p:cNvPr id="28" name="TextBox 27"/>
          <p:cNvSpPr txBox="1"/>
          <p:nvPr/>
        </p:nvSpPr>
        <p:spPr>
          <a:xfrm>
            <a:off x="731520" y="3493008"/>
            <a:ext cx="2743200" cy="320040"/>
          </a:xfrm>
          <a:prstGeom prst="rect">
            <a:avLst/>
          </a:prstGeom>
          <a:noFill/>
        </p:spPr>
        <p:txBody>
          <a:bodyPr wrap="square">
            <a:spAutoFit/>
          </a:bodyPr>
          <a:lstStyle/>
          <a:p>
            <a:pPr algn="l">
              <a:spcAft>
                <a:spcPts val="0"/>
              </a:spcAft>
              <a:defRPr sz="1200" b="0" i="0">
                <a:solidFill>
                  <a:srgbClr val="D4886B"/>
                </a:solidFill>
                <a:latin typeface="JetBrains Mono"/>
              </a:defRPr>
            </a:pPr>
            <a:r>
              <a:t>Plugin hooks/hooks.json</a:t>
            </a:r>
          </a:p>
        </p:txBody>
      </p:sp>
      <p:sp>
        <p:nvSpPr>
          <p:cNvPr id="29" name="TextBox 28"/>
          <p:cNvSpPr txBox="1"/>
          <p:nvPr/>
        </p:nvSpPr>
        <p:spPr>
          <a:xfrm>
            <a:off x="3474720" y="3493008"/>
            <a:ext cx="1463040" cy="320040"/>
          </a:xfrm>
          <a:prstGeom prst="rect">
            <a:avLst/>
          </a:prstGeom>
          <a:noFill/>
        </p:spPr>
        <p:txBody>
          <a:bodyPr wrap="square">
            <a:spAutoFit/>
          </a:bodyPr>
          <a:lstStyle/>
          <a:p>
            <a:pPr algn="l">
              <a:spcAft>
                <a:spcPts val="0"/>
              </a:spcAft>
              <a:defRPr sz="1200" b="0" i="0">
                <a:solidFill>
                  <a:srgbClr val="E8D5B7"/>
                </a:solidFill>
                <a:latin typeface="Calibri"/>
              </a:defRPr>
            </a:pPr>
            <a:r>
              <a:t>Plugin</a:t>
            </a:r>
          </a:p>
        </p:txBody>
      </p:sp>
      <p:sp>
        <p:nvSpPr>
          <p:cNvPr id="30" name="TextBox 29"/>
          <p:cNvSpPr txBox="1"/>
          <p:nvPr/>
        </p:nvSpPr>
        <p:spPr>
          <a:xfrm>
            <a:off x="4937760" y="3493008"/>
            <a:ext cx="2560320" cy="320040"/>
          </a:xfrm>
          <a:prstGeom prst="rect">
            <a:avLst/>
          </a:prstGeom>
          <a:noFill/>
        </p:spPr>
        <p:txBody>
          <a:bodyPr wrap="square">
            <a:spAutoFit/>
          </a:bodyPr>
          <a:lstStyle/>
          <a:p>
            <a:pPr algn="l">
              <a:spcAft>
                <a:spcPts val="0"/>
              </a:spcAft>
              <a:defRPr sz="1200" b="0" i="0">
                <a:solidFill>
                  <a:srgbClr val="C4A882"/>
                </a:solidFill>
                <a:latin typeface="Calibri"/>
              </a:defRPr>
            </a:pPr>
            <a:r>
              <a:t>When plugin is enabled</a:t>
            </a:r>
          </a:p>
        </p:txBody>
      </p:sp>
      <p:sp>
        <p:nvSpPr>
          <p:cNvPr id="31" name="TextBox 30"/>
          <p:cNvSpPr txBox="1"/>
          <p:nvPr/>
        </p:nvSpPr>
        <p:spPr>
          <a:xfrm>
            <a:off x="7498080" y="3493008"/>
            <a:ext cx="2286000" cy="320040"/>
          </a:xfrm>
          <a:prstGeom prst="rect">
            <a:avLst/>
          </a:prstGeom>
          <a:noFill/>
        </p:spPr>
        <p:txBody>
          <a:bodyPr wrap="square">
            <a:spAutoFit/>
          </a:bodyPr>
          <a:lstStyle/>
          <a:p>
            <a:pPr algn="l">
              <a:spcAft>
                <a:spcPts val="0"/>
              </a:spcAft>
              <a:defRPr sz="1200" b="0" i="0">
                <a:solidFill>
                  <a:srgbClr val="C4A882"/>
                </a:solidFill>
                <a:latin typeface="Calibri"/>
              </a:defRPr>
            </a:pPr>
            <a:r>
              <a:t>Yes – bundled</a:t>
            </a:r>
          </a:p>
        </p:txBody>
      </p:sp>
      <p:sp>
        <p:nvSpPr>
          <p:cNvPr id="32" name="TextBox 31"/>
          <p:cNvSpPr txBox="1"/>
          <p:nvPr/>
        </p:nvSpPr>
        <p:spPr>
          <a:xfrm>
            <a:off x="731520" y="3840480"/>
            <a:ext cx="2743200" cy="320040"/>
          </a:xfrm>
          <a:prstGeom prst="rect">
            <a:avLst/>
          </a:prstGeom>
          <a:noFill/>
        </p:spPr>
        <p:txBody>
          <a:bodyPr wrap="square">
            <a:spAutoFit/>
          </a:bodyPr>
          <a:lstStyle/>
          <a:p>
            <a:pPr algn="l">
              <a:spcAft>
                <a:spcPts val="0"/>
              </a:spcAft>
              <a:defRPr sz="1200" b="0" i="0">
                <a:solidFill>
                  <a:srgbClr val="D4886B"/>
                </a:solidFill>
                <a:latin typeface="JetBrains Mono"/>
              </a:defRPr>
            </a:pPr>
            <a:r>
              <a:t>Skill / agent frontmatter</a:t>
            </a:r>
          </a:p>
        </p:txBody>
      </p:sp>
      <p:sp>
        <p:nvSpPr>
          <p:cNvPr id="33" name="TextBox 32"/>
          <p:cNvSpPr txBox="1"/>
          <p:nvPr/>
        </p:nvSpPr>
        <p:spPr>
          <a:xfrm>
            <a:off x="3474720" y="3840480"/>
            <a:ext cx="1463040" cy="320040"/>
          </a:xfrm>
          <a:prstGeom prst="rect">
            <a:avLst/>
          </a:prstGeom>
          <a:noFill/>
        </p:spPr>
        <p:txBody>
          <a:bodyPr wrap="square">
            <a:spAutoFit/>
          </a:bodyPr>
          <a:lstStyle/>
          <a:p>
            <a:pPr algn="l">
              <a:spcAft>
                <a:spcPts val="0"/>
              </a:spcAft>
              <a:defRPr sz="1200" b="0" i="0">
                <a:solidFill>
                  <a:srgbClr val="E8D5B7"/>
                </a:solidFill>
                <a:latin typeface="Calibri"/>
              </a:defRPr>
            </a:pPr>
            <a:r>
              <a:t>Component</a:t>
            </a:r>
          </a:p>
        </p:txBody>
      </p:sp>
      <p:sp>
        <p:nvSpPr>
          <p:cNvPr id="34" name="TextBox 33"/>
          <p:cNvSpPr txBox="1"/>
          <p:nvPr/>
        </p:nvSpPr>
        <p:spPr>
          <a:xfrm>
            <a:off x="4937760" y="3840480"/>
            <a:ext cx="2560320" cy="320040"/>
          </a:xfrm>
          <a:prstGeom prst="rect">
            <a:avLst/>
          </a:prstGeom>
          <a:noFill/>
        </p:spPr>
        <p:txBody>
          <a:bodyPr wrap="square">
            <a:spAutoFit/>
          </a:bodyPr>
          <a:lstStyle/>
          <a:p>
            <a:pPr algn="l">
              <a:spcAft>
                <a:spcPts val="0"/>
              </a:spcAft>
              <a:defRPr sz="1200" b="0" i="0">
                <a:solidFill>
                  <a:srgbClr val="C4A882"/>
                </a:solidFill>
                <a:latin typeface="Calibri"/>
              </a:defRPr>
            </a:pPr>
            <a:r>
              <a:t>While skill is active</a:t>
            </a:r>
          </a:p>
        </p:txBody>
      </p:sp>
      <p:sp>
        <p:nvSpPr>
          <p:cNvPr id="35" name="TextBox 34"/>
          <p:cNvSpPr txBox="1"/>
          <p:nvPr/>
        </p:nvSpPr>
        <p:spPr>
          <a:xfrm>
            <a:off x="7498080" y="3840480"/>
            <a:ext cx="2286000" cy="320040"/>
          </a:xfrm>
          <a:prstGeom prst="rect">
            <a:avLst/>
          </a:prstGeom>
          <a:noFill/>
        </p:spPr>
        <p:txBody>
          <a:bodyPr wrap="square">
            <a:spAutoFit/>
          </a:bodyPr>
          <a:lstStyle/>
          <a:p>
            <a:pPr algn="l">
              <a:spcAft>
                <a:spcPts val="0"/>
              </a:spcAft>
              <a:defRPr sz="1200" b="0" i="0">
                <a:solidFill>
                  <a:srgbClr val="C4A882"/>
                </a:solidFill>
                <a:latin typeface="Calibri"/>
              </a:defRPr>
            </a:pPr>
            <a:r>
              <a:t>Yes – in component</a:t>
            </a:r>
          </a:p>
        </p:txBody>
      </p:sp>
      <p:sp>
        <p:nvSpPr>
          <p:cNvPr id="36" name="Rounded Rectangle 35"/>
          <p:cNvSpPr/>
          <p:nvPr/>
        </p:nvSpPr>
        <p:spPr>
          <a:xfrm>
            <a:off x="457200" y="4754880"/>
            <a:ext cx="11247120" cy="13716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85800" y="489204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86968" y="489204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8136" y="489204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371600" y="4828032"/>
            <a:ext cx="10058400" cy="320040"/>
          </a:xfrm>
          <a:prstGeom prst="rect">
            <a:avLst/>
          </a:prstGeom>
          <a:noFill/>
        </p:spPr>
        <p:txBody>
          <a:bodyPr wrap="square">
            <a:spAutoFit/>
          </a:bodyPr>
          <a:lstStyle/>
          <a:p>
            <a:pPr algn="ctr">
              <a:spcAft>
                <a:spcPts val="0"/>
              </a:spcAft>
              <a:defRPr sz="1100" b="0" i="0">
                <a:solidFill>
                  <a:srgbClr val="7A6E5D"/>
                </a:solidFill>
                <a:latin typeface="Calibri"/>
              </a:defRPr>
            </a:pPr>
            <a:r>
              <a:t>Structure</a:t>
            </a:r>
          </a:p>
        </p:txBody>
      </p:sp>
      <p:sp>
        <p:nvSpPr>
          <p:cNvPr id="41" name="TextBox 40"/>
          <p:cNvSpPr txBox="1"/>
          <p:nvPr/>
        </p:nvSpPr>
        <p:spPr>
          <a:xfrm>
            <a:off x="822960" y="5303520"/>
            <a:ext cx="10515600" cy="822960"/>
          </a:xfrm>
          <a:prstGeom prst="rect">
            <a:avLst/>
          </a:prstGeom>
          <a:noFill/>
        </p:spPr>
        <p:txBody>
          <a:bodyPr wrap="square">
            <a:spAutoFit/>
          </a:bodyPr>
          <a:lstStyle/>
          <a:p>
            <a:pPr algn="l">
              <a:spcAft>
                <a:spcPts val="0"/>
              </a:spcAft>
              <a:defRPr sz="1200" b="0" i="0">
                <a:solidFill>
                  <a:srgbClr val="D4886B"/>
                </a:solidFill>
                <a:latin typeface="JetBrains Mono"/>
              </a:defRPr>
            </a:pPr>
            <a:r>
              <a:t>{ "hooks": { "PreToolUse": [{ "matcher": "Bash", "hooks": [{ "type": "command", "command": "/path/to/script.sh" }] }] } }</a:t>
            </a:r>
          </a:p>
        </p:txBody>
      </p:sp>
      <p:sp>
        <p:nvSpPr>
          <p:cNvPr id="42" name="TextBox 41"/>
          <p:cNvSpPr txBox="1"/>
          <p:nvPr/>
        </p:nvSpPr>
        <p:spPr>
          <a:xfrm>
            <a:off x="731520" y="6492240"/>
            <a:ext cx="5486400" cy="274320"/>
          </a:xfrm>
          <a:prstGeom prst="rect">
            <a:avLst/>
          </a:prstGeom>
          <a:noFill/>
        </p:spPr>
        <p:txBody>
          <a:bodyPr wrap="square">
            <a:spAutoFit/>
          </a:bodyPr>
          <a:lstStyle/>
          <a:p>
            <a:pPr algn="l">
              <a:spcAft>
                <a:spcPts val="0"/>
              </a:spcAft>
              <a:defRPr sz="900" b="0" i="0">
                <a:solidFill>
                  <a:srgbClr val="7A6E5D"/>
                </a:solidFill>
                <a:latin typeface="JetBrains Mono"/>
              </a:defRPr>
            </a:pPr>
            <a:r>
              <a:t>The Claude Beast  |  Claude Hooks</a:t>
            </a:r>
          </a:p>
        </p:txBody>
      </p:sp>
      <p:sp>
        <p:nvSpPr>
          <p:cNvPr id="43" name="TextBox 42"/>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5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Matcher Patterns: Surgical Precision</a:t>
            </a:r>
          </a:p>
        </p:txBody>
      </p:sp>
      <p:sp>
        <p:nvSpPr>
          <p:cNvPr id="3" name="Rounded Rectangle 2"/>
          <p:cNvSpPr/>
          <p:nvPr/>
        </p:nvSpPr>
        <p:spPr>
          <a:xfrm>
            <a:off x="457200" y="1280160"/>
            <a:ext cx="5486400" cy="32004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85800" y="14173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86968" y="14173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88136" y="14173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1353312"/>
            <a:ext cx="4297680" cy="320040"/>
          </a:xfrm>
          <a:prstGeom prst="rect">
            <a:avLst/>
          </a:prstGeom>
          <a:noFill/>
        </p:spPr>
        <p:txBody>
          <a:bodyPr wrap="square">
            <a:spAutoFit/>
          </a:bodyPr>
          <a:lstStyle/>
          <a:p>
            <a:pPr algn="ctr">
              <a:spcAft>
                <a:spcPts val="0"/>
              </a:spcAft>
              <a:defRPr sz="1100" b="0" i="0">
                <a:solidFill>
                  <a:srgbClr val="7A6E5D"/>
                </a:solidFill>
                <a:latin typeface="Calibri"/>
              </a:defRPr>
            </a:pPr>
            <a:r>
              <a:t>Pattern Syntax</a:t>
            </a:r>
          </a:p>
        </p:txBody>
      </p:sp>
      <p:sp>
        <p:nvSpPr>
          <p:cNvPr id="8" name="TextBox 7"/>
          <p:cNvSpPr txBox="1"/>
          <p:nvPr/>
        </p:nvSpPr>
        <p:spPr>
          <a:xfrm>
            <a:off x="731520" y="1828800"/>
            <a:ext cx="2377440" cy="274320"/>
          </a:xfrm>
          <a:prstGeom prst="rect">
            <a:avLst/>
          </a:prstGeom>
          <a:noFill/>
        </p:spPr>
        <p:txBody>
          <a:bodyPr wrap="square">
            <a:spAutoFit/>
          </a:bodyPr>
          <a:lstStyle/>
          <a:p>
            <a:pPr algn="l">
              <a:spcAft>
                <a:spcPts val="0"/>
              </a:spcAft>
              <a:defRPr sz="1300" b="0" i="0">
                <a:solidFill>
                  <a:srgbClr val="D4886B"/>
                </a:solidFill>
                <a:latin typeface="JetBrains Mono"/>
              </a:defRPr>
            </a:pPr>
            <a:r>
              <a:t>"Bash"</a:t>
            </a:r>
          </a:p>
        </p:txBody>
      </p:sp>
      <p:sp>
        <p:nvSpPr>
          <p:cNvPr id="9" name="TextBox 8"/>
          <p:cNvSpPr txBox="1"/>
          <p:nvPr/>
        </p:nvSpPr>
        <p:spPr>
          <a:xfrm>
            <a:off x="3108960" y="1828800"/>
            <a:ext cx="2560320" cy="274320"/>
          </a:xfrm>
          <a:prstGeom prst="rect">
            <a:avLst/>
          </a:prstGeom>
          <a:noFill/>
        </p:spPr>
        <p:txBody>
          <a:bodyPr wrap="square">
            <a:spAutoFit/>
          </a:bodyPr>
          <a:lstStyle/>
          <a:p>
            <a:pPr algn="l">
              <a:spcAft>
                <a:spcPts val="0"/>
              </a:spcAft>
              <a:defRPr sz="1300" b="0" i="0">
                <a:solidFill>
                  <a:srgbClr val="C4A882"/>
                </a:solidFill>
                <a:latin typeface="Calibri"/>
              </a:defRPr>
            </a:pPr>
            <a:r>
              <a:t>Exact tool name match</a:t>
            </a:r>
          </a:p>
        </p:txBody>
      </p:sp>
      <p:sp>
        <p:nvSpPr>
          <p:cNvPr id="10" name="TextBox 9"/>
          <p:cNvSpPr txBox="1"/>
          <p:nvPr/>
        </p:nvSpPr>
        <p:spPr>
          <a:xfrm>
            <a:off x="731520" y="2194560"/>
            <a:ext cx="2377440" cy="274320"/>
          </a:xfrm>
          <a:prstGeom prst="rect">
            <a:avLst/>
          </a:prstGeom>
          <a:noFill/>
        </p:spPr>
        <p:txBody>
          <a:bodyPr wrap="square">
            <a:spAutoFit/>
          </a:bodyPr>
          <a:lstStyle/>
          <a:p>
            <a:pPr algn="l">
              <a:spcAft>
                <a:spcPts val="0"/>
              </a:spcAft>
              <a:defRPr sz="1300" b="0" i="0">
                <a:solidFill>
                  <a:srgbClr val="D4886B"/>
                </a:solidFill>
                <a:latin typeface="JetBrains Mono"/>
              </a:defRPr>
            </a:pPr>
            <a:r>
              <a:t>"Edit|Write"</a:t>
            </a:r>
          </a:p>
        </p:txBody>
      </p:sp>
      <p:sp>
        <p:nvSpPr>
          <p:cNvPr id="11" name="TextBox 10"/>
          <p:cNvSpPr txBox="1"/>
          <p:nvPr/>
        </p:nvSpPr>
        <p:spPr>
          <a:xfrm>
            <a:off x="3108960" y="2194560"/>
            <a:ext cx="2560320" cy="274320"/>
          </a:xfrm>
          <a:prstGeom prst="rect">
            <a:avLst/>
          </a:prstGeom>
          <a:noFill/>
        </p:spPr>
        <p:txBody>
          <a:bodyPr wrap="square">
            <a:spAutoFit/>
          </a:bodyPr>
          <a:lstStyle/>
          <a:p>
            <a:pPr algn="l">
              <a:spcAft>
                <a:spcPts val="0"/>
              </a:spcAft>
              <a:defRPr sz="1300" b="0" i="0">
                <a:solidFill>
                  <a:srgbClr val="C4A882"/>
                </a:solidFill>
                <a:latin typeface="Calibri"/>
              </a:defRPr>
            </a:pPr>
            <a:r>
              <a:t>Pipe-separated alternatives</a:t>
            </a:r>
          </a:p>
        </p:txBody>
      </p:sp>
      <p:sp>
        <p:nvSpPr>
          <p:cNvPr id="12" name="TextBox 11"/>
          <p:cNvSpPr txBox="1"/>
          <p:nvPr/>
        </p:nvSpPr>
        <p:spPr>
          <a:xfrm>
            <a:off x="731520" y="2560320"/>
            <a:ext cx="2377440" cy="274320"/>
          </a:xfrm>
          <a:prstGeom prst="rect">
            <a:avLst/>
          </a:prstGeom>
          <a:noFill/>
        </p:spPr>
        <p:txBody>
          <a:bodyPr wrap="square">
            <a:spAutoFit/>
          </a:bodyPr>
          <a:lstStyle/>
          <a:p>
            <a:pPr algn="l">
              <a:spcAft>
                <a:spcPts val="0"/>
              </a:spcAft>
              <a:defRPr sz="1300" b="0" i="0">
                <a:solidFill>
                  <a:srgbClr val="D4886B"/>
                </a:solidFill>
                <a:latin typeface="JetBrains Mono"/>
              </a:defRPr>
            </a:pPr>
            <a:r>
              <a:t>"*" or ""</a:t>
            </a:r>
          </a:p>
        </p:txBody>
      </p:sp>
      <p:sp>
        <p:nvSpPr>
          <p:cNvPr id="13" name="TextBox 12"/>
          <p:cNvSpPr txBox="1"/>
          <p:nvPr/>
        </p:nvSpPr>
        <p:spPr>
          <a:xfrm>
            <a:off x="3108960" y="2560320"/>
            <a:ext cx="2560320" cy="274320"/>
          </a:xfrm>
          <a:prstGeom prst="rect">
            <a:avLst/>
          </a:prstGeom>
          <a:noFill/>
        </p:spPr>
        <p:txBody>
          <a:bodyPr wrap="square">
            <a:spAutoFit/>
          </a:bodyPr>
          <a:lstStyle/>
          <a:p>
            <a:pPr algn="l">
              <a:spcAft>
                <a:spcPts val="0"/>
              </a:spcAft>
              <a:defRPr sz="1300" b="0" i="0">
                <a:solidFill>
                  <a:srgbClr val="C4A882"/>
                </a:solidFill>
                <a:latin typeface="Calibri"/>
              </a:defRPr>
            </a:pPr>
            <a:r>
              <a:t>Wildcard – match everything</a:t>
            </a:r>
          </a:p>
        </p:txBody>
      </p:sp>
      <p:sp>
        <p:nvSpPr>
          <p:cNvPr id="14" name="TextBox 13"/>
          <p:cNvSpPr txBox="1"/>
          <p:nvPr/>
        </p:nvSpPr>
        <p:spPr>
          <a:xfrm>
            <a:off x="731520" y="2926080"/>
            <a:ext cx="2377440" cy="274320"/>
          </a:xfrm>
          <a:prstGeom prst="rect">
            <a:avLst/>
          </a:prstGeom>
          <a:noFill/>
        </p:spPr>
        <p:txBody>
          <a:bodyPr wrap="square">
            <a:spAutoFit/>
          </a:bodyPr>
          <a:lstStyle/>
          <a:p>
            <a:pPr algn="l">
              <a:spcAft>
                <a:spcPts val="0"/>
              </a:spcAft>
              <a:defRPr sz="1300" b="0" i="0">
                <a:solidFill>
                  <a:srgbClr val="D4886B"/>
                </a:solidFill>
                <a:latin typeface="JetBrains Mono"/>
              </a:defRPr>
            </a:pPr>
            <a:r>
              <a:t>"Bash(npm test*)"</a:t>
            </a:r>
          </a:p>
        </p:txBody>
      </p:sp>
      <p:sp>
        <p:nvSpPr>
          <p:cNvPr id="15" name="TextBox 14"/>
          <p:cNvSpPr txBox="1"/>
          <p:nvPr/>
        </p:nvSpPr>
        <p:spPr>
          <a:xfrm>
            <a:off x="3108960" y="2926080"/>
            <a:ext cx="2560320" cy="274320"/>
          </a:xfrm>
          <a:prstGeom prst="rect">
            <a:avLst/>
          </a:prstGeom>
          <a:noFill/>
        </p:spPr>
        <p:txBody>
          <a:bodyPr wrap="square">
            <a:spAutoFit/>
          </a:bodyPr>
          <a:lstStyle/>
          <a:p>
            <a:pPr algn="l">
              <a:spcAft>
                <a:spcPts val="0"/>
              </a:spcAft>
              <a:defRPr sz="1300" b="0" i="0">
                <a:solidFill>
                  <a:srgbClr val="C4A882"/>
                </a:solidFill>
                <a:latin typeface="Calibri"/>
              </a:defRPr>
            </a:pPr>
            <a:r>
              <a:t>Tool + argument pattern</a:t>
            </a:r>
          </a:p>
        </p:txBody>
      </p:sp>
      <p:sp>
        <p:nvSpPr>
          <p:cNvPr id="16" name="TextBox 15"/>
          <p:cNvSpPr txBox="1"/>
          <p:nvPr/>
        </p:nvSpPr>
        <p:spPr>
          <a:xfrm>
            <a:off x="731520" y="3291840"/>
            <a:ext cx="2377440" cy="274320"/>
          </a:xfrm>
          <a:prstGeom prst="rect">
            <a:avLst/>
          </a:prstGeom>
          <a:noFill/>
        </p:spPr>
        <p:txBody>
          <a:bodyPr wrap="square">
            <a:spAutoFit/>
          </a:bodyPr>
          <a:lstStyle/>
          <a:p>
            <a:pPr algn="l">
              <a:spcAft>
                <a:spcPts val="0"/>
              </a:spcAft>
              <a:defRPr sz="1300" b="0" i="0">
                <a:solidFill>
                  <a:srgbClr val="D4886B"/>
                </a:solidFill>
                <a:latin typeface="JetBrains Mono"/>
              </a:defRPr>
            </a:pPr>
            <a:r>
              <a:t>"mcp__github__.*"</a:t>
            </a:r>
          </a:p>
        </p:txBody>
      </p:sp>
      <p:sp>
        <p:nvSpPr>
          <p:cNvPr id="17" name="TextBox 16"/>
          <p:cNvSpPr txBox="1"/>
          <p:nvPr/>
        </p:nvSpPr>
        <p:spPr>
          <a:xfrm>
            <a:off x="3108960" y="3291840"/>
            <a:ext cx="2560320" cy="274320"/>
          </a:xfrm>
          <a:prstGeom prst="rect">
            <a:avLst/>
          </a:prstGeom>
          <a:noFill/>
        </p:spPr>
        <p:txBody>
          <a:bodyPr wrap="square">
            <a:spAutoFit/>
          </a:bodyPr>
          <a:lstStyle/>
          <a:p>
            <a:pPr algn="l">
              <a:spcAft>
                <a:spcPts val="0"/>
              </a:spcAft>
              <a:defRPr sz="1300" b="0" i="0">
                <a:solidFill>
                  <a:srgbClr val="C4A882"/>
                </a:solidFill>
                <a:latin typeface="Calibri"/>
              </a:defRPr>
            </a:pPr>
            <a:r>
              <a:t>Regex for MCP tools</a:t>
            </a:r>
          </a:p>
        </p:txBody>
      </p:sp>
      <p:sp>
        <p:nvSpPr>
          <p:cNvPr id="18" name="TextBox 17"/>
          <p:cNvSpPr txBox="1"/>
          <p:nvPr/>
        </p:nvSpPr>
        <p:spPr>
          <a:xfrm>
            <a:off x="731520" y="3657600"/>
            <a:ext cx="2377440" cy="274320"/>
          </a:xfrm>
          <a:prstGeom prst="rect">
            <a:avLst/>
          </a:prstGeom>
          <a:noFill/>
        </p:spPr>
        <p:txBody>
          <a:bodyPr wrap="square">
            <a:spAutoFit/>
          </a:bodyPr>
          <a:lstStyle/>
          <a:p>
            <a:pPr algn="l">
              <a:spcAft>
                <a:spcPts val="0"/>
              </a:spcAft>
              <a:defRPr sz="1300" b="0" i="0">
                <a:solidFill>
                  <a:srgbClr val="D4886B"/>
                </a:solidFill>
                <a:latin typeface="JetBrains Mono"/>
              </a:defRPr>
            </a:pPr>
            <a:r>
              <a:t>"mcp__.*__write.*"</a:t>
            </a:r>
          </a:p>
        </p:txBody>
      </p:sp>
      <p:sp>
        <p:nvSpPr>
          <p:cNvPr id="19" name="TextBox 18"/>
          <p:cNvSpPr txBox="1"/>
          <p:nvPr/>
        </p:nvSpPr>
        <p:spPr>
          <a:xfrm>
            <a:off x="3108960" y="3657600"/>
            <a:ext cx="2560320" cy="274320"/>
          </a:xfrm>
          <a:prstGeom prst="rect">
            <a:avLst/>
          </a:prstGeom>
          <a:noFill/>
        </p:spPr>
        <p:txBody>
          <a:bodyPr wrap="square">
            <a:spAutoFit/>
          </a:bodyPr>
          <a:lstStyle/>
          <a:p>
            <a:pPr algn="l">
              <a:spcAft>
                <a:spcPts val="0"/>
              </a:spcAft>
              <a:defRPr sz="1300" b="0" i="0">
                <a:solidFill>
                  <a:srgbClr val="C4A882"/>
                </a:solidFill>
                <a:latin typeface="Calibri"/>
              </a:defRPr>
            </a:pPr>
            <a:r>
              <a:t>Cross-server MCP regex</a:t>
            </a:r>
          </a:p>
        </p:txBody>
      </p:sp>
      <p:sp>
        <p:nvSpPr>
          <p:cNvPr id="20" name="Rounded Rectangle 19"/>
          <p:cNvSpPr/>
          <p:nvPr/>
        </p:nvSpPr>
        <p:spPr>
          <a:xfrm>
            <a:off x="6217920" y="1280160"/>
            <a:ext cx="5486400" cy="32004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46520" y="14173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647688" y="14173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848856" y="14173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0" y="1353312"/>
            <a:ext cx="4297680" cy="320040"/>
          </a:xfrm>
          <a:prstGeom prst="rect">
            <a:avLst/>
          </a:prstGeom>
          <a:noFill/>
        </p:spPr>
        <p:txBody>
          <a:bodyPr wrap="square">
            <a:spAutoFit/>
          </a:bodyPr>
          <a:lstStyle/>
          <a:p>
            <a:pPr algn="ctr">
              <a:spcAft>
                <a:spcPts val="0"/>
              </a:spcAft>
              <a:defRPr sz="1100" b="0" i="0">
                <a:solidFill>
                  <a:srgbClr val="7A6E5D"/>
                </a:solidFill>
                <a:latin typeface="Calibri"/>
              </a:defRPr>
            </a:pPr>
            <a:r>
              <a:t>Event-Specific Filters</a:t>
            </a:r>
          </a:p>
        </p:txBody>
      </p:sp>
      <p:sp>
        <p:nvSpPr>
          <p:cNvPr id="25" name="TextBox 24"/>
          <p:cNvSpPr txBox="1"/>
          <p:nvPr/>
        </p:nvSpPr>
        <p:spPr>
          <a:xfrm>
            <a:off x="6492240" y="1828800"/>
            <a:ext cx="2560320" cy="274320"/>
          </a:xfrm>
          <a:prstGeom prst="rect">
            <a:avLst/>
          </a:prstGeom>
          <a:noFill/>
        </p:spPr>
        <p:txBody>
          <a:bodyPr wrap="square">
            <a:spAutoFit/>
          </a:bodyPr>
          <a:lstStyle/>
          <a:p>
            <a:pPr algn="l">
              <a:spcAft>
                <a:spcPts val="0"/>
              </a:spcAft>
              <a:defRPr sz="1300" b="1" i="0">
                <a:solidFill>
                  <a:srgbClr val="E8D5B7"/>
                </a:solidFill>
                <a:latin typeface="Calibri"/>
              </a:defRPr>
            </a:pPr>
            <a:r>
              <a:t>PreToolUse / PostToolUse</a:t>
            </a:r>
          </a:p>
        </p:txBody>
      </p:sp>
      <p:sp>
        <p:nvSpPr>
          <p:cNvPr id="26" name="TextBox 25"/>
          <p:cNvSpPr txBox="1"/>
          <p:nvPr/>
        </p:nvSpPr>
        <p:spPr>
          <a:xfrm>
            <a:off x="9052560" y="1828800"/>
            <a:ext cx="2377440" cy="274320"/>
          </a:xfrm>
          <a:prstGeom prst="rect">
            <a:avLst/>
          </a:prstGeom>
          <a:noFill/>
        </p:spPr>
        <p:txBody>
          <a:bodyPr wrap="square">
            <a:spAutoFit/>
          </a:bodyPr>
          <a:lstStyle/>
          <a:p>
            <a:pPr algn="l">
              <a:spcAft>
                <a:spcPts val="0"/>
              </a:spcAft>
              <a:defRPr sz="1300" b="0" i="0">
                <a:solidFill>
                  <a:srgbClr val="C4A882"/>
                </a:solidFill>
                <a:latin typeface="Calibri"/>
              </a:defRPr>
            </a:pPr>
            <a:r>
              <a:t>Tool name</a:t>
            </a:r>
          </a:p>
        </p:txBody>
      </p:sp>
      <p:sp>
        <p:nvSpPr>
          <p:cNvPr id="27" name="TextBox 26"/>
          <p:cNvSpPr txBox="1"/>
          <p:nvPr/>
        </p:nvSpPr>
        <p:spPr>
          <a:xfrm>
            <a:off x="6492240" y="2148840"/>
            <a:ext cx="2560320" cy="274320"/>
          </a:xfrm>
          <a:prstGeom prst="rect">
            <a:avLst/>
          </a:prstGeom>
          <a:noFill/>
        </p:spPr>
        <p:txBody>
          <a:bodyPr wrap="square">
            <a:spAutoFit/>
          </a:bodyPr>
          <a:lstStyle/>
          <a:p>
            <a:pPr algn="l">
              <a:spcAft>
                <a:spcPts val="0"/>
              </a:spcAft>
              <a:defRPr sz="1300" b="1" i="0">
                <a:solidFill>
                  <a:srgbClr val="E8D5B7"/>
                </a:solidFill>
                <a:latin typeface="Calibri"/>
              </a:defRPr>
            </a:pPr>
            <a:r>
              <a:t>SessionStart</a:t>
            </a:r>
          </a:p>
        </p:txBody>
      </p:sp>
      <p:sp>
        <p:nvSpPr>
          <p:cNvPr id="28" name="TextBox 27"/>
          <p:cNvSpPr txBox="1"/>
          <p:nvPr/>
        </p:nvSpPr>
        <p:spPr>
          <a:xfrm>
            <a:off x="9052560" y="2148840"/>
            <a:ext cx="2377440" cy="274320"/>
          </a:xfrm>
          <a:prstGeom prst="rect">
            <a:avLst/>
          </a:prstGeom>
          <a:noFill/>
        </p:spPr>
        <p:txBody>
          <a:bodyPr wrap="square">
            <a:spAutoFit/>
          </a:bodyPr>
          <a:lstStyle/>
          <a:p>
            <a:pPr algn="l">
              <a:spcAft>
                <a:spcPts val="0"/>
              </a:spcAft>
              <a:defRPr sz="1300" b="0" i="0">
                <a:solidFill>
                  <a:srgbClr val="C4A882"/>
                </a:solidFill>
                <a:latin typeface="Calibri"/>
              </a:defRPr>
            </a:pPr>
            <a:r>
              <a:t>startup, resume, compact, clear</a:t>
            </a:r>
          </a:p>
        </p:txBody>
      </p:sp>
      <p:sp>
        <p:nvSpPr>
          <p:cNvPr id="29" name="TextBox 28"/>
          <p:cNvSpPr txBox="1"/>
          <p:nvPr/>
        </p:nvSpPr>
        <p:spPr>
          <a:xfrm>
            <a:off x="6492240" y="2468880"/>
            <a:ext cx="2560320" cy="274320"/>
          </a:xfrm>
          <a:prstGeom prst="rect">
            <a:avLst/>
          </a:prstGeom>
          <a:noFill/>
        </p:spPr>
        <p:txBody>
          <a:bodyPr wrap="square">
            <a:spAutoFit/>
          </a:bodyPr>
          <a:lstStyle/>
          <a:p>
            <a:pPr algn="l">
              <a:spcAft>
                <a:spcPts val="0"/>
              </a:spcAft>
              <a:defRPr sz="1300" b="1" i="0">
                <a:solidFill>
                  <a:srgbClr val="E8D5B7"/>
                </a:solidFill>
                <a:latin typeface="Calibri"/>
              </a:defRPr>
            </a:pPr>
            <a:r>
              <a:t>SessionEnd</a:t>
            </a:r>
          </a:p>
        </p:txBody>
      </p:sp>
      <p:sp>
        <p:nvSpPr>
          <p:cNvPr id="30" name="TextBox 29"/>
          <p:cNvSpPr txBox="1"/>
          <p:nvPr/>
        </p:nvSpPr>
        <p:spPr>
          <a:xfrm>
            <a:off x="9052560" y="2468880"/>
            <a:ext cx="2377440" cy="274320"/>
          </a:xfrm>
          <a:prstGeom prst="rect">
            <a:avLst/>
          </a:prstGeom>
          <a:noFill/>
        </p:spPr>
        <p:txBody>
          <a:bodyPr wrap="square">
            <a:spAutoFit/>
          </a:bodyPr>
          <a:lstStyle/>
          <a:p>
            <a:pPr algn="l">
              <a:spcAft>
                <a:spcPts val="0"/>
              </a:spcAft>
              <a:defRPr sz="1300" b="0" i="0">
                <a:solidFill>
                  <a:srgbClr val="C4A882"/>
                </a:solidFill>
                <a:latin typeface="Calibri"/>
              </a:defRPr>
            </a:pPr>
            <a:r>
              <a:t>clear, logout, other</a:t>
            </a:r>
          </a:p>
        </p:txBody>
      </p:sp>
      <p:sp>
        <p:nvSpPr>
          <p:cNvPr id="31" name="TextBox 30"/>
          <p:cNvSpPr txBox="1"/>
          <p:nvPr/>
        </p:nvSpPr>
        <p:spPr>
          <a:xfrm>
            <a:off x="6492240" y="2788920"/>
            <a:ext cx="2560320" cy="274320"/>
          </a:xfrm>
          <a:prstGeom prst="rect">
            <a:avLst/>
          </a:prstGeom>
          <a:noFill/>
        </p:spPr>
        <p:txBody>
          <a:bodyPr wrap="square">
            <a:spAutoFit/>
          </a:bodyPr>
          <a:lstStyle/>
          <a:p>
            <a:pPr algn="l">
              <a:spcAft>
                <a:spcPts val="0"/>
              </a:spcAft>
              <a:defRPr sz="1300" b="1" i="0">
                <a:solidFill>
                  <a:srgbClr val="E8D5B7"/>
                </a:solidFill>
                <a:latin typeface="Calibri"/>
              </a:defRPr>
            </a:pPr>
            <a:r>
              <a:t>Notification</a:t>
            </a:r>
          </a:p>
        </p:txBody>
      </p:sp>
      <p:sp>
        <p:nvSpPr>
          <p:cNvPr id="32" name="TextBox 31"/>
          <p:cNvSpPr txBox="1"/>
          <p:nvPr/>
        </p:nvSpPr>
        <p:spPr>
          <a:xfrm>
            <a:off x="9052560" y="2788920"/>
            <a:ext cx="2377440" cy="274320"/>
          </a:xfrm>
          <a:prstGeom prst="rect">
            <a:avLst/>
          </a:prstGeom>
          <a:noFill/>
        </p:spPr>
        <p:txBody>
          <a:bodyPr wrap="square">
            <a:spAutoFit/>
          </a:bodyPr>
          <a:lstStyle/>
          <a:p>
            <a:pPr algn="l">
              <a:spcAft>
                <a:spcPts val="0"/>
              </a:spcAft>
              <a:defRPr sz="1300" b="0" i="0">
                <a:solidFill>
                  <a:srgbClr val="C4A882"/>
                </a:solidFill>
                <a:latin typeface="Calibri"/>
              </a:defRPr>
            </a:pPr>
            <a:r>
              <a:t>permission_prompt, idle_prompt</a:t>
            </a:r>
          </a:p>
        </p:txBody>
      </p:sp>
      <p:sp>
        <p:nvSpPr>
          <p:cNvPr id="33" name="TextBox 32"/>
          <p:cNvSpPr txBox="1"/>
          <p:nvPr/>
        </p:nvSpPr>
        <p:spPr>
          <a:xfrm>
            <a:off x="6492240" y="3108960"/>
            <a:ext cx="2560320" cy="274320"/>
          </a:xfrm>
          <a:prstGeom prst="rect">
            <a:avLst/>
          </a:prstGeom>
          <a:noFill/>
        </p:spPr>
        <p:txBody>
          <a:bodyPr wrap="square">
            <a:spAutoFit/>
          </a:bodyPr>
          <a:lstStyle/>
          <a:p>
            <a:pPr algn="l">
              <a:spcAft>
                <a:spcPts val="0"/>
              </a:spcAft>
              <a:defRPr sz="1300" b="1" i="0">
                <a:solidFill>
                  <a:srgbClr val="E8D5B7"/>
                </a:solidFill>
                <a:latin typeface="Calibri"/>
              </a:defRPr>
            </a:pPr>
            <a:r>
              <a:t>SubagentStart / Stop</a:t>
            </a:r>
          </a:p>
        </p:txBody>
      </p:sp>
      <p:sp>
        <p:nvSpPr>
          <p:cNvPr id="34" name="TextBox 33"/>
          <p:cNvSpPr txBox="1"/>
          <p:nvPr/>
        </p:nvSpPr>
        <p:spPr>
          <a:xfrm>
            <a:off x="9052560" y="3108960"/>
            <a:ext cx="2377440" cy="274320"/>
          </a:xfrm>
          <a:prstGeom prst="rect">
            <a:avLst/>
          </a:prstGeom>
          <a:noFill/>
        </p:spPr>
        <p:txBody>
          <a:bodyPr wrap="square">
            <a:spAutoFit/>
          </a:bodyPr>
          <a:lstStyle/>
          <a:p>
            <a:pPr algn="l">
              <a:spcAft>
                <a:spcPts val="0"/>
              </a:spcAft>
              <a:defRPr sz="1300" b="0" i="0">
                <a:solidFill>
                  <a:srgbClr val="C4A882"/>
                </a:solidFill>
                <a:latin typeface="Calibri"/>
              </a:defRPr>
            </a:pPr>
            <a:r>
              <a:t>Agent type</a:t>
            </a:r>
          </a:p>
        </p:txBody>
      </p:sp>
      <p:sp>
        <p:nvSpPr>
          <p:cNvPr id="35" name="TextBox 34"/>
          <p:cNvSpPr txBox="1"/>
          <p:nvPr/>
        </p:nvSpPr>
        <p:spPr>
          <a:xfrm>
            <a:off x="6492240" y="3429000"/>
            <a:ext cx="2560320" cy="274320"/>
          </a:xfrm>
          <a:prstGeom prst="rect">
            <a:avLst/>
          </a:prstGeom>
          <a:noFill/>
        </p:spPr>
        <p:txBody>
          <a:bodyPr wrap="square">
            <a:spAutoFit/>
          </a:bodyPr>
          <a:lstStyle/>
          <a:p>
            <a:pPr algn="l">
              <a:spcAft>
                <a:spcPts val="0"/>
              </a:spcAft>
              <a:defRPr sz="1300" b="1" i="0">
                <a:solidFill>
                  <a:srgbClr val="E8D5B7"/>
                </a:solidFill>
                <a:latin typeface="Calibri"/>
              </a:defRPr>
            </a:pPr>
            <a:r>
              <a:t>ConfigChange</a:t>
            </a:r>
          </a:p>
        </p:txBody>
      </p:sp>
      <p:sp>
        <p:nvSpPr>
          <p:cNvPr id="36" name="TextBox 35"/>
          <p:cNvSpPr txBox="1"/>
          <p:nvPr/>
        </p:nvSpPr>
        <p:spPr>
          <a:xfrm>
            <a:off x="9052560" y="3429000"/>
            <a:ext cx="2377440" cy="274320"/>
          </a:xfrm>
          <a:prstGeom prst="rect">
            <a:avLst/>
          </a:prstGeom>
          <a:noFill/>
        </p:spPr>
        <p:txBody>
          <a:bodyPr wrap="square">
            <a:spAutoFit/>
          </a:bodyPr>
          <a:lstStyle/>
          <a:p>
            <a:pPr algn="l">
              <a:spcAft>
                <a:spcPts val="0"/>
              </a:spcAft>
              <a:defRPr sz="1300" b="0" i="0">
                <a:solidFill>
                  <a:srgbClr val="C4A882"/>
                </a:solidFill>
                <a:latin typeface="Calibri"/>
              </a:defRPr>
            </a:pPr>
            <a:r>
              <a:t>Config source</a:t>
            </a:r>
          </a:p>
        </p:txBody>
      </p:sp>
      <p:sp>
        <p:nvSpPr>
          <p:cNvPr id="37" name="TextBox 36"/>
          <p:cNvSpPr txBox="1"/>
          <p:nvPr/>
        </p:nvSpPr>
        <p:spPr>
          <a:xfrm>
            <a:off x="6492240" y="3749040"/>
            <a:ext cx="2560320" cy="274320"/>
          </a:xfrm>
          <a:prstGeom prst="rect">
            <a:avLst/>
          </a:prstGeom>
          <a:noFill/>
        </p:spPr>
        <p:txBody>
          <a:bodyPr wrap="square">
            <a:spAutoFit/>
          </a:bodyPr>
          <a:lstStyle/>
          <a:p>
            <a:pPr algn="l">
              <a:spcAft>
                <a:spcPts val="0"/>
              </a:spcAft>
              <a:defRPr sz="1300" b="1" i="0">
                <a:solidFill>
                  <a:srgbClr val="E8D5B7"/>
                </a:solidFill>
                <a:latin typeface="Calibri"/>
              </a:defRPr>
            </a:pPr>
            <a:r>
              <a:t>UserPromptSubmit / Stop</a:t>
            </a:r>
          </a:p>
        </p:txBody>
      </p:sp>
      <p:sp>
        <p:nvSpPr>
          <p:cNvPr id="38" name="TextBox 37"/>
          <p:cNvSpPr txBox="1"/>
          <p:nvPr/>
        </p:nvSpPr>
        <p:spPr>
          <a:xfrm>
            <a:off x="9052560" y="3749040"/>
            <a:ext cx="2377440" cy="274320"/>
          </a:xfrm>
          <a:prstGeom prst="rect">
            <a:avLst/>
          </a:prstGeom>
          <a:noFill/>
        </p:spPr>
        <p:txBody>
          <a:bodyPr wrap="square">
            <a:spAutoFit/>
          </a:bodyPr>
          <a:lstStyle/>
          <a:p>
            <a:pPr algn="l">
              <a:spcAft>
                <a:spcPts val="0"/>
              </a:spcAft>
              <a:defRPr sz="1300" b="0" i="0">
                <a:solidFill>
                  <a:srgbClr val="C4A882"/>
                </a:solidFill>
                <a:latin typeface="Calibri"/>
              </a:defRPr>
            </a:pPr>
            <a:r>
              <a:t>No matcher (always fires)</a:t>
            </a:r>
          </a:p>
        </p:txBody>
      </p:sp>
      <p:sp>
        <p:nvSpPr>
          <p:cNvPr id="39" name="TextBox 38"/>
          <p:cNvSpPr txBox="1"/>
          <p:nvPr/>
        </p:nvSpPr>
        <p:spPr>
          <a:xfrm>
            <a:off x="731520" y="4754880"/>
            <a:ext cx="10515600" cy="365760"/>
          </a:xfrm>
          <a:prstGeom prst="rect">
            <a:avLst/>
          </a:prstGeom>
          <a:noFill/>
        </p:spPr>
        <p:txBody>
          <a:bodyPr wrap="square">
            <a:spAutoFit/>
          </a:bodyPr>
          <a:lstStyle/>
          <a:p>
            <a:pPr algn="ctr">
              <a:spcAft>
                <a:spcPts val="0"/>
              </a:spcAft>
              <a:defRPr sz="1400" b="0" i="0">
                <a:solidFill>
                  <a:srgbClr val="E8A07A"/>
                </a:solidFill>
                <a:latin typeface="Calibri"/>
              </a:defRPr>
            </a:pPr>
            <a:r>
              <a:t>⚠  Matchers are case-sensitive:  "bash" will NOT match the Bash tool. Use PascalCase.</a:t>
            </a:r>
          </a:p>
        </p:txBody>
      </p:sp>
      <p:sp>
        <p:nvSpPr>
          <p:cNvPr id="40" name="TextBox 39"/>
          <p:cNvSpPr txBox="1"/>
          <p:nvPr/>
        </p:nvSpPr>
        <p:spPr>
          <a:xfrm>
            <a:off x="731520" y="6492240"/>
            <a:ext cx="5486400" cy="274320"/>
          </a:xfrm>
          <a:prstGeom prst="rect">
            <a:avLst/>
          </a:prstGeom>
          <a:noFill/>
        </p:spPr>
        <p:txBody>
          <a:bodyPr wrap="square">
            <a:spAutoFit/>
          </a:bodyPr>
          <a:lstStyle/>
          <a:p>
            <a:pPr algn="l">
              <a:spcAft>
                <a:spcPts val="0"/>
              </a:spcAft>
              <a:defRPr sz="900" b="0" i="0">
                <a:solidFill>
                  <a:srgbClr val="7A6E5D"/>
                </a:solidFill>
                <a:latin typeface="JetBrains Mono"/>
              </a:defRPr>
            </a:pPr>
            <a:r>
              <a:t>The Claude Beast  |  Claude Hooks</a:t>
            </a:r>
          </a:p>
        </p:txBody>
      </p:sp>
      <p:sp>
        <p:nvSpPr>
          <p:cNvPr id="41" name="TextBox 4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6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Guidance vs. Enforcement</a:t>
            </a:r>
          </a:p>
        </p:txBody>
      </p:sp>
      <p:sp>
        <p:nvSpPr>
          <p:cNvPr id="3" name="Rounded Rectangle 2"/>
          <p:cNvSpPr/>
          <p:nvPr/>
        </p:nvSpPr>
        <p:spPr>
          <a:xfrm>
            <a:off x="457200" y="1280160"/>
            <a:ext cx="5303520" cy="23774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85800" y="14173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86968" y="14173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88136" y="14173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1353312"/>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t>CLAUDE.md = Suggestions</a:t>
            </a:r>
          </a:p>
        </p:txBody>
      </p:sp>
      <p:sp>
        <p:nvSpPr>
          <p:cNvPr id="8" name="TextBox 7"/>
          <p:cNvSpPr txBox="1"/>
          <p:nvPr/>
        </p:nvSpPr>
        <p:spPr>
          <a:xfrm>
            <a:off x="731520" y="1737360"/>
            <a:ext cx="1828800" cy="274320"/>
          </a:xfrm>
          <a:prstGeom prst="rect">
            <a:avLst/>
          </a:prstGeom>
          <a:noFill/>
        </p:spPr>
        <p:txBody>
          <a:bodyPr wrap="square">
            <a:spAutoFit/>
          </a:bodyPr>
          <a:lstStyle/>
          <a:p>
            <a:pPr algn="l">
              <a:spcAft>
                <a:spcPts val="0"/>
              </a:spcAft>
              <a:defRPr sz="1400" b="0" i="1">
                <a:solidFill>
                  <a:srgbClr val="D4886B"/>
                </a:solidFill>
                <a:latin typeface="Calibri"/>
              </a:defRPr>
            </a:pPr>
            <a:r>
              <a:t>Probabilistic</a:t>
            </a:r>
          </a:p>
        </p:txBody>
      </p:sp>
      <p:sp>
        <p:nvSpPr>
          <p:cNvPr id="9" name="TextBox 8"/>
          <p:cNvSpPr txBox="1"/>
          <p:nvPr/>
        </p:nvSpPr>
        <p:spPr>
          <a:xfrm>
            <a:off x="731520" y="2011680"/>
            <a:ext cx="4754880" cy="1828800"/>
          </a:xfrm>
          <a:prstGeom prst="rect">
            <a:avLst/>
          </a:prstGeom>
          <a:noFill/>
        </p:spPr>
        <p:txBody>
          <a:bodyPr wrap="square">
            <a:spAutoFit/>
          </a:bodyPr>
          <a:lstStyle/>
          <a:p>
            <a:pPr>
              <a:spcBef>
                <a:spcPts val="200"/>
              </a:spcBef>
              <a:spcAft>
                <a:spcPts val="600"/>
              </a:spcAft>
            </a:pPr>
            <a:r>
              <a:rPr sz="1400">
                <a:solidFill>
                  <a:srgbClr val="D4886B"/>
                </a:solidFill>
                <a:latin typeface="Calibri"/>
              </a:rPr>
              <a:t>  ▸  </a:t>
            </a:r>
            <a:r>
              <a:rPr sz="1400">
                <a:solidFill>
                  <a:srgbClr val="C4A882"/>
                </a:solidFill>
                <a:latin typeface="Calibri"/>
              </a:rPr>
              <a:t>Behavioral guidance interpreted by the LLM</a:t>
            </a:r>
          </a:p>
          <a:p>
            <a:pPr>
              <a:spcBef>
                <a:spcPts val="200"/>
              </a:spcBef>
              <a:spcAft>
                <a:spcPts val="600"/>
              </a:spcAft>
            </a:pPr>
            <a:r>
              <a:rPr sz="1400">
                <a:solidFill>
                  <a:srgbClr val="D4886B"/>
                </a:solidFill>
                <a:latin typeface="Calibri"/>
              </a:rPr>
              <a:t>  ▸  </a:t>
            </a:r>
            <a:r>
              <a:rPr sz="1400">
                <a:solidFill>
                  <a:srgbClr val="C4A882"/>
                </a:solidFill>
                <a:latin typeface="Calibri"/>
              </a:rPr>
              <a:t>Can be forgotten, deprioritized, or misinterpreted</a:t>
            </a:r>
          </a:p>
          <a:p>
            <a:pPr>
              <a:spcBef>
                <a:spcPts val="200"/>
              </a:spcBef>
              <a:spcAft>
                <a:spcPts val="600"/>
              </a:spcAft>
            </a:pPr>
            <a:r>
              <a:rPr sz="1400">
                <a:solidFill>
                  <a:srgbClr val="D4886B"/>
                </a:solidFill>
                <a:latin typeface="Calibri"/>
              </a:rPr>
              <a:t>  ▸  </a:t>
            </a:r>
            <a:r>
              <a:rPr sz="1400">
                <a:solidFill>
                  <a:srgbClr val="C4A882"/>
                </a:solidFill>
                <a:latin typeface="Calibri"/>
              </a:rPr>
              <a:t>May be lost after context compaction</a:t>
            </a:r>
          </a:p>
          <a:p>
            <a:pPr>
              <a:spcBef>
                <a:spcPts val="200"/>
              </a:spcBef>
              <a:spcAft>
                <a:spcPts val="600"/>
              </a:spcAft>
            </a:pPr>
            <a:r>
              <a:rPr sz="1400">
                <a:solidFill>
                  <a:srgbClr val="D4886B"/>
                </a:solidFill>
                <a:latin typeface="Calibri"/>
              </a:rPr>
              <a:t>  ▸  </a:t>
            </a:r>
            <a:r>
              <a:rPr sz="1400">
                <a:solidFill>
                  <a:srgbClr val="C4A882"/>
                </a:solidFill>
                <a:latin typeface="Calibri"/>
              </a:rPr>
              <a:t>Best for: preferences, coding style, conventions</a:t>
            </a:r>
          </a:p>
        </p:txBody>
      </p:sp>
      <p:sp>
        <p:nvSpPr>
          <p:cNvPr id="10" name="Rounded Rectangle 9"/>
          <p:cNvSpPr/>
          <p:nvPr/>
        </p:nvSpPr>
        <p:spPr>
          <a:xfrm>
            <a:off x="6217920" y="1280160"/>
            <a:ext cx="5303520" cy="23774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46520" y="14173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647688" y="14173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848856" y="14173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0" y="1353312"/>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t>Hooks = Enforcement</a:t>
            </a:r>
          </a:p>
        </p:txBody>
      </p:sp>
      <p:sp>
        <p:nvSpPr>
          <p:cNvPr id="15" name="TextBox 14"/>
          <p:cNvSpPr txBox="1"/>
          <p:nvPr/>
        </p:nvSpPr>
        <p:spPr>
          <a:xfrm>
            <a:off x="6492240" y="1737360"/>
            <a:ext cx="1828800" cy="274320"/>
          </a:xfrm>
          <a:prstGeom prst="rect">
            <a:avLst/>
          </a:prstGeom>
          <a:noFill/>
        </p:spPr>
        <p:txBody>
          <a:bodyPr wrap="square">
            <a:spAutoFit/>
          </a:bodyPr>
          <a:lstStyle/>
          <a:p>
            <a:pPr algn="l">
              <a:spcAft>
                <a:spcPts val="0"/>
              </a:spcAft>
              <a:defRPr sz="1400" b="0" i="1">
                <a:solidFill>
                  <a:srgbClr val="D4886B"/>
                </a:solidFill>
                <a:latin typeface="Calibri"/>
              </a:defRPr>
            </a:pPr>
            <a:r>
              <a:t>Deterministic</a:t>
            </a:r>
          </a:p>
        </p:txBody>
      </p:sp>
      <p:sp>
        <p:nvSpPr>
          <p:cNvPr id="16" name="TextBox 15"/>
          <p:cNvSpPr txBox="1"/>
          <p:nvPr/>
        </p:nvSpPr>
        <p:spPr>
          <a:xfrm>
            <a:off x="6492240" y="2011680"/>
            <a:ext cx="4754880" cy="1828800"/>
          </a:xfrm>
          <a:prstGeom prst="rect">
            <a:avLst/>
          </a:prstGeom>
          <a:noFill/>
        </p:spPr>
        <p:txBody>
          <a:bodyPr wrap="square">
            <a:spAutoFit/>
          </a:bodyPr>
          <a:lstStyle/>
          <a:p>
            <a:pPr>
              <a:spcBef>
                <a:spcPts val="200"/>
              </a:spcBef>
              <a:spcAft>
                <a:spcPts val="600"/>
              </a:spcAft>
            </a:pPr>
            <a:r>
              <a:rPr sz="1400">
                <a:solidFill>
                  <a:srgbClr val="D4886B"/>
                </a:solidFill>
                <a:latin typeface="Calibri"/>
              </a:rPr>
              <a:t>  ▸  </a:t>
            </a:r>
            <a:r>
              <a:rPr sz="1400">
                <a:solidFill>
                  <a:srgbClr val="C4A882"/>
                </a:solidFill>
                <a:latin typeface="Calibri"/>
              </a:rPr>
              <a:t>Guaranteed executions that run every time</a:t>
            </a:r>
          </a:p>
          <a:p>
            <a:pPr>
              <a:spcBef>
                <a:spcPts val="200"/>
              </a:spcBef>
              <a:spcAft>
                <a:spcPts val="600"/>
              </a:spcAft>
            </a:pPr>
            <a:r>
              <a:rPr sz="1400">
                <a:solidFill>
                  <a:srgbClr val="D4886B"/>
                </a:solidFill>
                <a:latin typeface="Calibri"/>
              </a:rPr>
              <a:t>  ▸  </a:t>
            </a:r>
            <a:r>
              <a:rPr sz="1400">
                <a:solidFill>
                  <a:srgbClr val="C4A882"/>
                </a:solidFill>
                <a:latin typeface="Calibri"/>
              </a:rPr>
              <a:t>Independent of model cooperation</a:t>
            </a:r>
          </a:p>
          <a:p>
            <a:pPr>
              <a:spcBef>
                <a:spcPts val="200"/>
              </a:spcBef>
              <a:spcAft>
                <a:spcPts val="600"/>
              </a:spcAft>
            </a:pPr>
            <a:r>
              <a:rPr sz="1400">
                <a:solidFill>
                  <a:srgbClr val="D4886B"/>
                </a:solidFill>
                <a:latin typeface="Calibri"/>
              </a:rPr>
              <a:t>  ▸  </a:t>
            </a:r>
            <a:r>
              <a:rPr sz="1400">
                <a:solidFill>
                  <a:srgbClr val="C4A882"/>
                </a:solidFill>
                <a:latin typeface="Calibri"/>
              </a:rPr>
              <a:t>Cannot be forgotten or deprioritized</a:t>
            </a:r>
          </a:p>
          <a:p>
            <a:pPr>
              <a:spcBef>
                <a:spcPts val="200"/>
              </a:spcBef>
              <a:spcAft>
                <a:spcPts val="600"/>
              </a:spcAft>
            </a:pPr>
            <a:r>
              <a:rPr sz="1400">
                <a:solidFill>
                  <a:srgbClr val="D4886B"/>
                </a:solidFill>
                <a:latin typeface="Calibri"/>
              </a:rPr>
              <a:t>  ▸  </a:t>
            </a:r>
            <a:r>
              <a:rPr sz="1400">
                <a:solidFill>
                  <a:srgbClr val="C4A882"/>
                </a:solidFill>
                <a:latin typeface="Calibri"/>
              </a:rPr>
              <a:t>Best for: hard rules, security, mandatory formatting</a:t>
            </a:r>
          </a:p>
        </p:txBody>
      </p:sp>
      <p:sp>
        <p:nvSpPr>
          <p:cNvPr id="17" name="Rounded Rectangle 16"/>
          <p:cNvSpPr/>
          <p:nvPr/>
        </p:nvSpPr>
        <p:spPr>
          <a:xfrm>
            <a:off x="457200" y="3931920"/>
            <a:ext cx="11247120" cy="21945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85800" y="406908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86968" y="406908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8136" y="406908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71600" y="4005072"/>
            <a:ext cx="10058400" cy="320040"/>
          </a:xfrm>
          <a:prstGeom prst="rect">
            <a:avLst/>
          </a:prstGeom>
          <a:noFill/>
        </p:spPr>
        <p:txBody>
          <a:bodyPr wrap="square">
            <a:spAutoFit/>
          </a:bodyPr>
          <a:lstStyle/>
          <a:p>
            <a:pPr algn="ctr">
              <a:spcAft>
                <a:spcPts val="0"/>
              </a:spcAft>
              <a:defRPr sz="1100" b="0" i="0">
                <a:solidFill>
                  <a:srgbClr val="7A6E5D"/>
                </a:solidFill>
                <a:latin typeface="Calibri"/>
              </a:defRPr>
            </a:pPr>
            <a:r>
              <a:t>Decision Framework</a:t>
            </a:r>
          </a:p>
        </p:txBody>
      </p:sp>
      <p:sp>
        <p:nvSpPr>
          <p:cNvPr id="22" name="TextBox 21"/>
          <p:cNvSpPr txBox="1"/>
          <p:nvPr/>
        </p:nvSpPr>
        <p:spPr>
          <a:xfrm>
            <a:off x="822960" y="4526280"/>
            <a:ext cx="3200400" cy="274320"/>
          </a:xfrm>
          <a:prstGeom prst="rect">
            <a:avLst/>
          </a:prstGeom>
          <a:noFill/>
        </p:spPr>
        <p:txBody>
          <a:bodyPr wrap="square">
            <a:spAutoFit/>
          </a:bodyPr>
          <a:lstStyle/>
          <a:p>
            <a:pPr algn="l">
              <a:spcAft>
                <a:spcPts val="0"/>
              </a:spcAft>
              <a:defRPr sz="1400" b="0" i="0">
                <a:solidFill>
                  <a:srgbClr val="E8D5B7"/>
                </a:solidFill>
                <a:latin typeface="Calibri"/>
              </a:defRPr>
            </a:pPr>
            <a:r>
              <a:t>“Prefer Bun over npm”</a:t>
            </a:r>
          </a:p>
        </p:txBody>
      </p:sp>
      <p:sp>
        <p:nvSpPr>
          <p:cNvPr id="23" name="TextBox 22"/>
          <p:cNvSpPr txBox="1"/>
          <p:nvPr/>
        </p:nvSpPr>
        <p:spPr>
          <a:xfrm>
            <a:off x="4114800" y="4526280"/>
            <a:ext cx="2560320" cy="274320"/>
          </a:xfrm>
          <a:prstGeom prst="rect">
            <a:avLst/>
          </a:prstGeom>
          <a:noFill/>
        </p:spPr>
        <p:txBody>
          <a:bodyPr wrap="square">
            <a:spAutoFit/>
          </a:bodyPr>
          <a:lstStyle/>
          <a:p>
            <a:pPr algn="l">
              <a:spcAft>
                <a:spcPts val="0"/>
              </a:spcAft>
              <a:defRPr sz="1400" b="1" i="0">
                <a:solidFill>
                  <a:srgbClr val="D4886B"/>
                </a:solidFill>
                <a:latin typeface="JetBrains Mono"/>
              </a:defRPr>
            </a:pPr>
            <a:r>
              <a:t>→  CLAUDE.md</a:t>
            </a:r>
          </a:p>
        </p:txBody>
      </p:sp>
      <p:sp>
        <p:nvSpPr>
          <p:cNvPr id="24" name="TextBox 23"/>
          <p:cNvSpPr txBox="1"/>
          <p:nvPr/>
        </p:nvSpPr>
        <p:spPr>
          <a:xfrm>
            <a:off x="6858000" y="4526280"/>
            <a:ext cx="4114800" cy="274320"/>
          </a:xfrm>
          <a:prstGeom prst="rect">
            <a:avLst/>
          </a:prstGeom>
          <a:noFill/>
        </p:spPr>
        <p:txBody>
          <a:bodyPr wrap="square">
            <a:spAutoFit/>
          </a:bodyPr>
          <a:lstStyle/>
          <a:p>
            <a:pPr algn="l">
              <a:spcAft>
                <a:spcPts val="0"/>
              </a:spcAft>
              <a:defRPr sz="1400" b="0" i="1">
                <a:solidFill>
                  <a:srgbClr val="7A6E5D"/>
                </a:solidFill>
                <a:latin typeface="Calibri"/>
              </a:defRPr>
            </a:pPr>
            <a:r>
              <a:t>A preference, not a hard rule</a:t>
            </a:r>
          </a:p>
        </p:txBody>
      </p:sp>
      <p:sp>
        <p:nvSpPr>
          <p:cNvPr id="25" name="TextBox 24"/>
          <p:cNvSpPr txBox="1"/>
          <p:nvPr/>
        </p:nvSpPr>
        <p:spPr>
          <a:xfrm>
            <a:off x="822960" y="4873752"/>
            <a:ext cx="3200400" cy="274320"/>
          </a:xfrm>
          <a:prstGeom prst="rect">
            <a:avLst/>
          </a:prstGeom>
          <a:noFill/>
        </p:spPr>
        <p:txBody>
          <a:bodyPr wrap="square">
            <a:spAutoFit/>
          </a:bodyPr>
          <a:lstStyle/>
          <a:p>
            <a:pPr algn="l">
              <a:spcAft>
                <a:spcPts val="0"/>
              </a:spcAft>
              <a:defRPr sz="1400" b="0" i="0">
                <a:solidFill>
                  <a:srgbClr val="E8D5B7"/>
                </a:solidFill>
                <a:latin typeface="Calibri"/>
              </a:defRPr>
            </a:pPr>
            <a:r>
              <a:t>“Always format files on save”</a:t>
            </a:r>
          </a:p>
        </p:txBody>
      </p:sp>
      <p:sp>
        <p:nvSpPr>
          <p:cNvPr id="26" name="TextBox 25"/>
          <p:cNvSpPr txBox="1"/>
          <p:nvPr/>
        </p:nvSpPr>
        <p:spPr>
          <a:xfrm>
            <a:off x="4114800" y="4873752"/>
            <a:ext cx="2560320" cy="274320"/>
          </a:xfrm>
          <a:prstGeom prst="rect">
            <a:avLst/>
          </a:prstGeom>
          <a:noFill/>
        </p:spPr>
        <p:txBody>
          <a:bodyPr wrap="square">
            <a:spAutoFit/>
          </a:bodyPr>
          <a:lstStyle/>
          <a:p>
            <a:pPr algn="l">
              <a:spcAft>
                <a:spcPts val="0"/>
              </a:spcAft>
              <a:defRPr sz="1400" b="1" i="0">
                <a:solidFill>
                  <a:srgbClr val="D4886B"/>
                </a:solidFill>
                <a:latin typeface="JetBrains Mono"/>
              </a:defRPr>
            </a:pPr>
            <a:r>
              <a:t>→  Hook (PostToolUse)</a:t>
            </a:r>
          </a:p>
        </p:txBody>
      </p:sp>
      <p:sp>
        <p:nvSpPr>
          <p:cNvPr id="27" name="TextBox 26"/>
          <p:cNvSpPr txBox="1"/>
          <p:nvPr/>
        </p:nvSpPr>
        <p:spPr>
          <a:xfrm>
            <a:off x="6858000" y="4873752"/>
            <a:ext cx="4114800" cy="274320"/>
          </a:xfrm>
          <a:prstGeom prst="rect">
            <a:avLst/>
          </a:prstGeom>
          <a:noFill/>
        </p:spPr>
        <p:txBody>
          <a:bodyPr wrap="square">
            <a:spAutoFit/>
          </a:bodyPr>
          <a:lstStyle/>
          <a:p>
            <a:pPr algn="l">
              <a:spcAft>
                <a:spcPts val="0"/>
              </a:spcAft>
              <a:defRPr sz="1400" b="0" i="1">
                <a:solidFill>
                  <a:srgbClr val="7A6E5D"/>
                </a:solidFill>
                <a:latin typeface="Calibri"/>
              </a:defRPr>
            </a:pPr>
            <a:r>
              <a:t>Must happen every time</a:t>
            </a:r>
          </a:p>
        </p:txBody>
      </p:sp>
      <p:sp>
        <p:nvSpPr>
          <p:cNvPr id="28" name="TextBox 27"/>
          <p:cNvSpPr txBox="1"/>
          <p:nvPr/>
        </p:nvSpPr>
        <p:spPr>
          <a:xfrm>
            <a:off x="822960" y="5221224"/>
            <a:ext cx="3200400" cy="274320"/>
          </a:xfrm>
          <a:prstGeom prst="rect">
            <a:avLst/>
          </a:prstGeom>
          <a:noFill/>
        </p:spPr>
        <p:txBody>
          <a:bodyPr wrap="square">
            <a:spAutoFit/>
          </a:bodyPr>
          <a:lstStyle/>
          <a:p>
            <a:pPr algn="l">
              <a:spcAft>
                <a:spcPts val="0"/>
              </a:spcAft>
              <a:defRPr sz="1400" b="0" i="0">
                <a:solidFill>
                  <a:srgbClr val="E8D5B7"/>
                </a:solidFill>
                <a:latin typeface="Calibri"/>
              </a:defRPr>
            </a:pPr>
            <a:r>
              <a:t>“Never modify .env files”</a:t>
            </a:r>
          </a:p>
        </p:txBody>
      </p:sp>
      <p:sp>
        <p:nvSpPr>
          <p:cNvPr id="29" name="TextBox 28"/>
          <p:cNvSpPr txBox="1"/>
          <p:nvPr/>
        </p:nvSpPr>
        <p:spPr>
          <a:xfrm>
            <a:off x="4114800" y="5221224"/>
            <a:ext cx="2560320" cy="274320"/>
          </a:xfrm>
          <a:prstGeom prst="rect">
            <a:avLst/>
          </a:prstGeom>
          <a:noFill/>
        </p:spPr>
        <p:txBody>
          <a:bodyPr wrap="square">
            <a:spAutoFit/>
          </a:bodyPr>
          <a:lstStyle/>
          <a:p>
            <a:pPr algn="l">
              <a:spcAft>
                <a:spcPts val="0"/>
              </a:spcAft>
              <a:defRPr sz="1400" b="1" i="0">
                <a:solidFill>
                  <a:srgbClr val="D4886B"/>
                </a:solidFill>
                <a:latin typeface="JetBrains Mono"/>
              </a:defRPr>
            </a:pPr>
            <a:r>
              <a:t>→  Hook (PreToolUse)</a:t>
            </a:r>
          </a:p>
        </p:txBody>
      </p:sp>
      <p:sp>
        <p:nvSpPr>
          <p:cNvPr id="30" name="TextBox 29"/>
          <p:cNvSpPr txBox="1"/>
          <p:nvPr/>
        </p:nvSpPr>
        <p:spPr>
          <a:xfrm>
            <a:off x="6858000" y="5221224"/>
            <a:ext cx="4114800" cy="274320"/>
          </a:xfrm>
          <a:prstGeom prst="rect">
            <a:avLst/>
          </a:prstGeom>
          <a:noFill/>
        </p:spPr>
        <p:txBody>
          <a:bodyPr wrap="square">
            <a:spAutoFit/>
          </a:bodyPr>
          <a:lstStyle/>
          <a:p>
            <a:pPr algn="l">
              <a:spcAft>
                <a:spcPts val="0"/>
              </a:spcAft>
              <a:defRPr sz="1400" b="0" i="1">
                <a:solidFill>
                  <a:srgbClr val="7A6E5D"/>
                </a:solidFill>
                <a:latin typeface="Calibri"/>
              </a:defRPr>
            </a:pPr>
            <a:r>
              <a:t>Hard block, not a suggestion</a:t>
            </a:r>
          </a:p>
        </p:txBody>
      </p:sp>
      <p:sp>
        <p:nvSpPr>
          <p:cNvPr id="31" name="TextBox 30"/>
          <p:cNvSpPr txBox="1"/>
          <p:nvPr/>
        </p:nvSpPr>
        <p:spPr>
          <a:xfrm>
            <a:off x="822960" y="5568696"/>
            <a:ext cx="3200400" cy="274320"/>
          </a:xfrm>
          <a:prstGeom prst="rect">
            <a:avLst/>
          </a:prstGeom>
          <a:noFill/>
        </p:spPr>
        <p:txBody>
          <a:bodyPr wrap="square">
            <a:spAutoFit/>
          </a:bodyPr>
          <a:lstStyle/>
          <a:p>
            <a:pPr algn="l">
              <a:spcAft>
                <a:spcPts val="0"/>
              </a:spcAft>
              <a:defRPr sz="1400" b="0" i="0">
                <a:solidFill>
                  <a:srgbClr val="E8D5B7"/>
                </a:solidFill>
                <a:latin typeface="Calibri"/>
              </a:defRPr>
            </a:pPr>
            <a:r>
              <a:t>“Verify tests pass before stopping”</a:t>
            </a:r>
          </a:p>
        </p:txBody>
      </p:sp>
      <p:sp>
        <p:nvSpPr>
          <p:cNvPr id="32" name="TextBox 31"/>
          <p:cNvSpPr txBox="1"/>
          <p:nvPr/>
        </p:nvSpPr>
        <p:spPr>
          <a:xfrm>
            <a:off x="4114800" y="5568696"/>
            <a:ext cx="2560320" cy="274320"/>
          </a:xfrm>
          <a:prstGeom prst="rect">
            <a:avLst/>
          </a:prstGeom>
          <a:noFill/>
        </p:spPr>
        <p:txBody>
          <a:bodyPr wrap="square">
            <a:spAutoFit/>
          </a:bodyPr>
          <a:lstStyle/>
          <a:p>
            <a:pPr algn="l">
              <a:spcAft>
                <a:spcPts val="0"/>
              </a:spcAft>
              <a:defRPr sz="1400" b="1" i="0">
                <a:solidFill>
                  <a:srgbClr val="D4886B"/>
                </a:solidFill>
                <a:latin typeface="JetBrains Mono"/>
              </a:defRPr>
            </a:pPr>
            <a:r>
              <a:t>→  Hook (Stop)</a:t>
            </a:r>
          </a:p>
        </p:txBody>
      </p:sp>
      <p:sp>
        <p:nvSpPr>
          <p:cNvPr id="33" name="TextBox 32"/>
          <p:cNvSpPr txBox="1"/>
          <p:nvPr/>
        </p:nvSpPr>
        <p:spPr>
          <a:xfrm>
            <a:off x="6858000" y="5568696"/>
            <a:ext cx="4114800" cy="274320"/>
          </a:xfrm>
          <a:prstGeom prst="rect">
            <a:avLst/>
          </a:prstGeom>
          <a:noFill/>
        </p:spPr>
        <p:txBody>
          <a:bodyPr wrap="square">
            <a:spAutoFit/>
          </a:bodyPr>
          <a:lstStyle/>
          <a:p>
            <a:pPr algn="l">
              <a:spcAft>
                <a:spcPts val="0"/>
              </a:spcAft>
              <a:defRPr sz="1400" b="0" i="1">
                <a:solidFill>
                  <a:srgbClr val="7A6E5D"/>
                </a:solidFill>
                <a:latin typeface="Calibri"/>
              </a:defRPr>
            </a:pPr>
            <a:r>
              <a:t>Enforcement gate</a:t>
            </a:r>
          </a:p>
        </p:txBody>
      </p:sp>
      <p:sp>
        <p:nvSpPr>
          <p:cNvPr id="34" name="TextBox 33"/>
          <p:cNvSpPr txBox="1"/>
          <p:nvPr/>
        </p:nvSpPr>
        <p:spPr>
          <a:xfrm>
            <a:off x="731520" y="6492240"/>
            <a:ext cx="5486400" cy="274320"/>
          </a:xfrm>
          <a:prstGeom prst="rect">
            <a:avLst/>
          </a:prstGeom>
          <a:noFill/>
        </p:spPr>
        <p:txBody>
          <a:bodyPr wrap="square">
            <a:spAutoFit/>
          </a:bodyPr>
          <a:lstStyle/>
          <a:p>
            <a:pPr algn="l">
              <a:spcAft>
                <a:spcPts val="0"/>
              </a:spcAft>
              <a:defRPr sz="900" b="0" i="0">
                <a:solidFill>
                  <a:srgbClr val="7A6E5D"/>
                </a:solidFill>
                <a:latin typeface="JetBrains Mono"/>
              </a:defRPr>
            </a:pPr>
            <a:r>
              <a:t>The Claude Beast  |  Claude Hooks</a:t>
            </a:r>
          </a:p>
        </p:txBody>
      </p:sp>
      <p:sp>
        <p:nvSpPr>
          <p:cNvPr id="35" name="TextBox 34"/>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7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Real-World Examples</a:t>
            </a:r>
          </a:p>
        </p:txBody>
      </p:sp>
      <p:sp>
        <p:nvSpPr>
          <p:cNvPr id="3" name="Rounded Rectangle 2"/>
          <p:cNvSpPr/>
          <p:nvPr/>
        </p:nvSpPr>
        <p:spPr>
          <a:xfrm>
            <a:off x="430924" y="1097280"/>
            <a:ext cx="3592436" cy="50749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85800" y="13716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86968" y="13716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88136" y="13716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1307592"/>
            <a:ext cx="2377440" cy="320040"/>
          </a:xfrm>
          <a:prstGeom prst="rect">
            <a:avLst/>
          </a:prstGeom>
          <a:noFill/>
        </p:spPr>
        <p:txBody>
          <a:bodyPr wrap="square">
            <a:spAutoFit/>
          </a:bodyPr>
          <a:lstStyle/>
          <a:p>
            <a:pPr algn="ctr">
              <a:spcAft>
                <a:spcPts val="0"/>
              </a:spcAft>
              <a:defRPr sz="1100" b="0" i="0">
                <a:solidFill>
                  <a:srgbClr val="7A6E5D"/>
                </a:solidFill>
                <a:latin typeface="Calibri"/>
              </a:defRPr>
            </a:pPr>
            <a:r>
              <a:t>Auto-Format Code</a:t>
            </a:r>
          </a:p>
        </p:txBody>
      </p:sp>
      <p:sp>
        <p:nvSpPr>
          <p:cNvPr id="8" name="TextBox 7"/>
          <p:cNvSpPr txBox="1"/>
          <p:nvPr/>
        </p:nvSpPr>
        <p:spPr>
          <a:xfrm>
            <a:off x="685800" y="1737360"/>
            <a:ext cx="3108960" cy="274320"/>
          </a:xfrm>
          <a:prstGeom prst="rect">
            <a:avLst/>
          </a:prstGeom>
          <a:noFill/>
        </p:spPr>
        <p:txBody>
          <a:bodyPr wrap="square">
            <a:spAutoFit/>
          </a:bodyPr>
          <a:lstStyle/>
          <a:p>
            <a:pPr algn="l">
              <a:spcAft>
                <a:spcPts val="0"/>
              </a:spcAft>
              <a:defRPr sz="1200" b="0" i="0">
                <a:solidFill>
                  <a:srgbClr val="D4886B"/>
                </a:solidFill>
                <a:latin typeface="JetBrains Mono"/>
              </a:defRPr>
            </a:pPr>
            <a:r>
              <a:t>PostToolUse  │  Write|Edit</a:t>
            </a:r>
          </a:p>
        </p:txBody>
      </p:sp>
      <p:sp>
        <p:nvSpPr>
          <p:cNvPr id="9" name="TextBox 8"/>
          <p:cNvSpPr txBox="1"/>
          <p:nvPr/>
        </p:nvSpPr>
        <p:spPr>
          <a:xfrm>
            <a:off x="685800" y="2057400"/>
            <a:ext cx="3108960" cy="1188720"/>
          </a:xfrm>
          <a:prstGeom prst="rect">
            <a:avLst/>
          </a:prstGeom>
          <a:noFill/>
        </p:spPr>
        <p:txBody>
          <a:bodyPr wrap="square">
            <a:spAutoFit/>
          </a:bodyPr>
          <a:lstStyle/>
          <a:p>
            <a:pPr algn="l">
              <a:spcAft>
                <a:spcPts val="0"/>
              </a:spcAft>
              <a:defRPr sz="1300" b="0" i="0">
                <a:solidFill>
                  <a:srgbClr val="C4A882"/>
                </a:solidFill>
                <a:latin typeface="Calibri"/>
              </a:defRPr>
            </a:pPr>
            <a:r>
              <a:t>Run Prettier on every file</a:t>
            </a:r>
            <a:br/>
            <a:r>
              <a:t>Claude writes or edits.</a:t>
            </a:r>
            <a:br/>
            <a:r>
              <a:t>Always exit 0 so it never</a:t>
            </a:r>
            <a:br/>
            <a:r>
              <a:t>blocks Claude accidentally.</a:t>
            </a:r>
          </a:p>
        </p:txBody>
      </p:sp>
      <p:sp>
        <p:nvSpPr>
          <p:cNvPr id="10" name="Rounded Rectangle 9"/>
          <p:cNvSpPr/>
          <p:nvPr/>
        </p:nvSpPr>
        <p:spPr>
          <a:xfrm>
            <a:off x="594360" y="3337560"/>
            <a:ext cx="3291840" cy="16459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429000"/>
            <a:ext cx="3017520" cy="1463040"/>
          </a:xfrm>
          <a:prstGeom prst="rect">
            <a:avLst/>
          </a:prstGeom>
          <a:noFill/>
        </p:spPr>
        <p:txBody>
          <a:bodyPr wrap="square">
            <a:spAutoFit/>
          </a:bodyPr>
          <a:lstStyle/>
          <a:p>
            <a:pPr algn="l">
              <a:spcAft>
                <a:spcPts val="0"/>
              </a:spcAft>
              <a:defRPr sz="1100" b="0" i="0">
                <a:solidFill>
                  <a:srgbClr val="D4886B"/>
                </a:solidFill>
                <a:latin typeface="JetBrains Mono"/>
              </a:defRPr>
            </a:pPr>
            <a:r>
              <a:t>jq -r '.tool_input.file_path'</a:t>
            </a:r>
            <a:br/>
            <a:r>
              <a:t>| xargs prettier --write</a:t>
            </a:r>
            <a:br/>
            <a:r>
              <a:t>2&gt;/dev/null; exit 0</a:t>
            </a:r>
          </a:p>
        </p:txBody>
      </p:sp>
      <p:sp>
        <p:nvSpPr>
          <p:cNvPr id="12" name="Rounded Rectangle 11"/>
          <p:cNvSpPr/>
          <p:nvPr/>
        </p:nvSpPr>
        <p:spPr>
          <a:xfrm>
            <a:off x="4271404" y="1097280"/>
            <a:ext cx="3592436" cy="50749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526280" y="13716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727448" y="13716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928616" y="13716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0" y="1307592"/>
            <a:ext cx="2377440" cy="320040"/>
          </a:xfrm>
          <a:prstGeom prst="rect">
            <a:avLst/>
          </a:prstGeom>
          <a:noFill/>
        </p:spPr>
        <p:txBody>
          <a:bodyPr wrap="square">
            <a:spAutoFit/>
          </a:bodyPr>
          <a:lstStyle/>
          <a:p>
            <a:pPr algn="ctr">
              <a:spcAft>
                <a:spcPts val="0"/>
              </a:spcAft>
              <a:defRPr sz="1100" b="0" i="0">
                <a:solidFill>
                  <a:srgbClr val="7A6E5D"/>
                </a:solidFill>
                <a:latin typeface="Calibri"/>
              </a:defRPr>
            </a:pPr>
            <a:r>
              <a:t>Block Dangerous Commands</a:t>
            </a:r>
          </a:p>
        </p:txBody>
      </p:sp>
      <p:sp>
        <p:nvSpPr>
          <p:cNvPr id="17" name="TextBox 16"/>
          <p:cNvSpPr txBox="1"/>
          <p:nvPr/>
        </p:nvSpPr>
        <p:spPr>
          <a:xfrm>
            <a:off x="4526280" y="1737360"/>
            <a:ext cx="3108960" cy="274320"/>
          </a:xfrm>
          <a:prstGeom prst="rect">
            <a:avLst/>
          </a:prstGeom>
          <a:noFill/>
        </p:spPr>
        <p:txBody>
          <a:bodyPr wrap="square">
            <a:spAutoFit/>
          </a:bodyPr>
          <a:lstStyle/>
          <a:p>
            <a:pPr algn="l">
              <a:spcAft>
                <a:spcPts val="0"/>
              </a:spcAft>
              <a:defRPr sz="1200" b="0" i="0">
                <a:solidFill>
                  <a:srgbClr val="D4886B"/>
                </a:solidFill>
                <a:latin typeface="JetBrains Mono"/>
              </a:defRPr>
            </a:pPr>
            <a:r>
              <a:t>PreToolUse  │  Bash</a:t>
            </a:r>
          </a:p>
        </p:txBody>
      </p:sp>
      <p:sp>
        <p:nvSpPr>
          <p:cNvPr id="18" name="TextBox 17"/>
          <p:cNvSpPr txBox="1"/>
          <p:nvPr/>
        </p:nvSpPr>
        <p:spPr>
          <a:xfrm>
            <a:off x="4526280" y="2057400"/>
            <a:ext cx="3108960" cy="1188720"/>
          </a:xfrm>
          <a:prstGeom prst="rect">
            <a:avLst/>
          </a:prstGeom>
          <a:noFill/>
        </p:spPr>
        <p:txBody>
          <a:bodyPr wrap="square">
            <a:spAutoFit/>
          </a:bodyPr>
          <a:lstStyle/>
          <a:p>
            <a:pPr algn="l">
              <a:spcAft>
                <a:spcPts val="0"/>
              </a:spcAft>
              <a:defRPr sz="1300" b="0" i="0">
                <a:solidFill>
                  <a:srgbClr val="C4A882"/>
                </a:solidFill>
                <a:latin typeface="Calibri"/>
              </a:defRPr>
            </a:pPr>
            <a:r>
              <a:t>Prevent destructive commands</a:t>
            </a:r>
            <a:br/>
            <a:r>
              <a:t>before they execute: rm -rf,</a:t>
            </a:r>
            <a:br/>
            <a:r>
              <a:t>DROP TABLE, --force push.</a:t>
            </a:r>
            <a:br/>
            <a:r>
              <a:t>Exit code 2 = blocked.</a:t>
            </a:r>
          </a:p>
        </p:txBody>
      </p:sp>
      <p:sp>
        <p:nvSpPr>
          <p:cNvPr id="19" name="Rounded Rectangle 18"/>
          <p:cNvSpPr/>
          <p:nvPr/>
        </p:nvSpPr>
        <p:spPr>
          <a:xfrm>
            <a:off x="4434840" y="3337560"/>
            <a:ext cx="3291840" cy="16459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0" y="3429000"/>
            <a:ext cx="3017520" cy="1463040"/>
          </a:xfrm>
          <a:prstGeom prst="rect">
            <a:avLst/>
          </a:prstGeom>
          <a:noFill/>
        </p:spPr>
        <p:txBody>
          <a:bodyPr wrap="square">
            <a:spAutoFit/>
          </a:bodyPr>
          <a:lstStyle/>
          <a:p>
            <a:pPr algn="l">
              <a:spcAft>
                <a:spcPts val="0"/>
              </a:spcAft>
              <a:defRPr sz="1100" b="0" i="0">
                <a:solidFill>
                  <a:srgbClr val="D4886B"/>
                </a:solidFill>
                <a:latin typeface="JetBrains Mono"/>
              </a:defRPr>
            </a:pPr>
            <a:r>
              <a:t># Check for dangerous patterns</a:t>
            </a:r>
            <a:br/>
            <a:r>
              <a:t>for p in "rm -rf /" "DROP TABLE"</a:t>
            </a:r>
            <a:br/>
            <a:r>
              <a:t>  "--force"; do</a:t>
            </a:r>
            <a:br/>
            <a:r>
              <a:t>  grep -qiE "$p" &amp;&amp; exit 2</a:t>
            </a:r>
            <a:br/>
            <a:r>
              <a:t>done; exit 0</a:t>
            </a:r>
          </a:p>
        </p:txBody>
      </p:sp>
      <p:sp>
        <p:nvSpPr>
          <p:cNvPr id="21" name="Rounded Rectangle 20"/>
          <p:cNvSpPr/>
          <p:nvPr/>
        </p:nvSpPr>
        <p:spPr>
          <a:xfrm>
            <a:off x="8111884" y="1097280"/>
            <a:ext cx="3592436" cy="50749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366760" y="13716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567928" y="13716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769096" y="13716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52560" y="1307592"/>
            <a:ext cx="2377440" cy="320040"/>
          </a:xfrm>
          <a:prstGeom prst="rect">
            <a:avLst/>
          </a:prstGeom>
          <a:noFill/>
        </p:spPr>
        <p:txBody>
          <a:bodyPr wrap="square">
            <a:spAutoFit/>
          </a:bodyPr>
          <a:lstStyle/>
          <a:p>
            <a:pPr algn="ctr">
              <a:spcAft>
                <a:spcPts val="0"/>
              </a:spcAft>
              <a:defRPr sz="1100" b="0" i="0">
                <a:solidFill>
                  <a:srgbClr val="7A6E5D"/>
                </a:solidFill>
                <a:latin typeface="Calibri"/>
              </a:defRPr>
            </a:pPr>
            <a:r>
              <a:t>Auto-Test on Stop</a:t>
            </a:r>
          </a:p>
        </p:txBody>
      </p:sp>
      <p:sp>
        <p:nvSpPr>
          <p:cNvPr id="26" name="TextBox 25"/>
          <p:cNvSpPr txBox="1"/>
          <p:nvPr/>
        </p:nvSpPr>
        <p:spPr>
          <a:xfrm>
            <a:off x="8366760" y="1737360"/>
            <a:ext cx="3108960" cy="274320"/>
          </a:xfrm>
          <a:prstGeom prst="rect">
            <a:avLst/>
          </a:prstGeom>
          <a:noFill/>
        </p:spPr>
        <p:txBody>
          <a:bodyPr wrap="square">
            <a:spAutoFit/>
          </a:bodyPr>
          <a:lstStyle/>
          <a:p>
            <a:pPr algn="l">
              <a:spcAft>
                <a:spcPts val="0"/>
              </a:spcAft>
              <a:defRPr sz="1200" b="0" i="0">
                <a:solidFill>
                  <a:srgbClr val="D4886B"/>
                </a:solidFill>
                <a:latin typeface="JetBrains Mono"/>
              </a:defRPr>
            </a:pPr>
            <a:r>
              <a:t>Stop  │  (always fires)</a:t>
            </a:r>
          </a:p>
        </p:txBody>
      </p:sp>
      <p:sp>
        <p:nvSpPr>
          <p:cNvPr id="27" name="TextBox 26"/>
          <p:cNvSpPr txBox="1"/>
          <p:nvPr/>
        </p:nvSpPr>
        <p:spPr>
          <a:xfrm>
            <a:off x="8366760" y="2057400"/>
            <a:ext cx="3108960" cy="1188720"/>
          </a:xfrm>
          <a:prstGeom prst="rect">
            <a:avLst/>
          </a:prstGeom>
          <a:noFill/>
        </p:spPr>
        <p:txBody>
          <a:bodyPr wrap="square">
            <a:spAutoFit/>
          </a:bodyPr>
          <a:lstStyle/>
          <a:p>
            <a:pPr algn="l">
              <a:spcAft>
                <a:spcPts val="0"/>
              </a:spcAft>
              <a:defRPr sz="1300" b="0" i="0">
                <a:solidFill>
                  <a:srgbClr val="C4A882"/>
                </a:solidFill>
                <a:latin typeface="Calibri"/>
              </a:defRPr>
            </a:pPr>
            <a:r>
              <a:t>Prevent Claude from stopping</a:t>
            </a:r>
            <a:br/>
            <a:r>
              <a:t>until all tests pass. Check</a:t>
            </a:r>
            <a:br/>
            <a:r>
              <a:t>stop_hook_active to avoid</a:t>
            </a:r>
            <a:br/>
            <a:r>
              <a:t>infinite loops.</a:t>
            </a:r>
          </a:p>
        </p:txBody>
      </p:sp>
      <p:sp>
        <p:nvSpPr>
          <p:cNvPr id="28" name="Rounded Rectangle 27"/>
          <p:cNvSpPr/>
          <p:nvPr/>
        </p:nvSpPr>
        <p:spPr>
          <a:xfrm>
            <a:off x="8275320" y="3337560"/>
            <a:ext cx="3291840" cy="16459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12480" y="3429000"/>
            <a:ext cx="3017520" cy="1463040"/>
          </a:xfrm>
          <a:prstGeom prst="rect">
            <a:avLst/>
          </a:prstGeom>
          <a:noFill/>
        </p:spPr>
        <p:txBody>
          <a:bodyPr wrap="square">
            <a:spAutoFit/>
          </a:bodyPr>
          <a:lstStyle/>
          <a:p>
            <a:pPr algn="l">
              <a:spcAft>
                <a:spcPts val="0"/>
              </a:spcAft>
              <a:defRPr sz="1100" b="0" i="0">
                <a:solidFill>
                  <a:srgbClr val="D4886B"/>
                </a:solidFill>
                <a:latin typeface="JetBrains Mono"/>
              </a:defRPr>
            </a:pPr>
            <a:r>
              <a:t># CRITICAL: prevent loops</a:t>
            </a:r>
            <a:br/>
            <a:r>
              <a:t>if stop_hook_active; then</a:t>
            </a:r>
            <a:br/>
            <a:r>
              <a:t>  exit 0</a:t>
            </a:r>
            <a:br/>
            <a:r>
              <a:t>fi</a:t>
            </a:r>
            <a:br/>
            <a:r>
              <a:t>npm test || exit 2</a:t>
            </a:r>
          </a:p>
        </p:txBody>
      </p:sp>
      <p:sp>
        <p:nvSpPr>
          <p:cNvPr id="31" name="TextBox 3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8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Async Hooks &amp; Advanced Patterns</a:t>
            </a:r>
          </a:p>
        </p:txBody>
      </p:sp>
      <p:sp>
        <p:nvSpPr>
          <p:cNvPr id="3" name="Rounded Rectangle 2"/>
          <p:cNvSpPr/>
          <p:nvPr/>
        </p:nvSpPr>
        <p:spPr>
          <a:xfrm>
            <a:off x="451945" y="1177159"/>
            <a:ext cx="3754295" cy="3279227"/>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85800" y="14173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86968" y="14173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88136" y="14173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1353312"/>
            <a:ext cx="2468880" cy="320040"/>
          </a:xfrm>
          <a:prstGeom prst="rect">
            <a:avLst/>
          </a:prstGeom>
          <a:noFill/>
        </p:spPr>
        <p:txBody>
          <a:bodyPr wrap="square">
            <a:spAutoFit/>
          </a:bodyPr>
          <a:lstStyle/>
          <a:p>
            <a:pPr algn="ctr">
              <a:spcAft>
                <a:spcPts val="0"/>
              </a:spcAft>
              <a:defRPr sz="1100" b="0" i="0">
                <a:solidFill>
                  <a:srgbClr val="7A6E5D"/>
                </a:solidFill>
                <a:latin typeface="Calibri"/>
              </a:defRPr>
            </a:pPr>
            <a:r>
              <a:t>Async Hooks</a:t>
            </a:r>
          </a:p>
        </p:txBody>
      </p:sp>
      <p:sp>
        <p:nvSpPr>
          <p:cNvPr id="8" name="TextBox 7"/>
          <p:cNvSpPr txBox="1"/>
          <p:nvPr/>
        </p:nvSpPr>
        <p:spPr>
          <a:xfrm>
            <a:off x="731520" y="1737360"/>
            <a:ext cx="1828800" cy="274320"/>
          </a:xfrm>
          <a:prstGeom prst="rect">
            <a:avLst/>
          </a:prstGeom>
          <a:noFill/>
        </p:spPr>
        <p:txBody>
          <a:bodyPr wrap="square">
            <a:spAutoFit/>
          </a:bodyPr>
          <a:lstStyle/>
          <a:p>
            <a:pPr algn="l">
              <a:spcAft>
                <a:spcPts val="0"/>
              </a:spcAft>
              <a:defRPr sz="1300" b="0" i="0">
                <a:solidFill>
                  <a:srgbClr val="D4886B"/>
                </a:solidFill>
                <a:latin typeface="JetBrains Mono"/>
              </a:defRPr>
            </a:pPr>
            <a:r>
              <a:t>"async": true</a:t>
            </a:r>
          </a:p>
        </p:txBody>
      </p:sp>
      <p:sp>
        <p:nvSpPr>
          <p:cNvPr id="9" name="TextBox 8"/>
          <p:cNvSpPr txBox="1"/>
          <p:nvPr/>
        </p:nvSpPr>
        <p:spPr>
          <a:xfrm>
            <a:off x="640080" y="2057400"/>
            <a:ext cx="3291840" cy="2011680"/>
          </a:xfrm>
          <a:prstGeom prst="rect">
            <a:avLst/>
          </a:prstGeom>
          <a:noFill/>
        </p:spPr>
        <p:txBody>
          <a:bodyPr wrap="square">
            <a:spAutoFit/>
          </a:bodyPr>
          <a:lstStyle/>
          <a:p>
            <a:pPr>
              <a:spcBef>
                <a:spcPts val="200"/>
              </a:spcBef>
              <a:spcAft>
                <a:spcPts val="600"/>
              </a:spcAft>
            </a:pPr>
            <a:r>
              <a:rPr sz="1300">
                <a:solidFill>
                  <a:srgbClr val="D4886B"/>
                </a:solidFill>
                <a:latin typeface="Calibri"/>
              </a:rPr>
              <a:t>  ▸  </a:t>
            </a:r>
            <a:r>
              <a:rPr sz="1300">
                <a:solidFill>
                  <a:srgbClr val="C4A882"/>
                </a:solidFill>
                <a:latin typeface="Calibri"/>
              </a:rPr>
              <a:t>Run background tasks without blocking the workflow</a:t>
            </a:r>
          </a:p>
          <a:p>
            <a:pPr>
              <a:spcBef>
                <a:spcPts val="200"/>
              </a:spcBef>
              <a:spcAft>
                <a:spcPts val="600"/>
              </a:spcAft>
            </a:pPr>
            <a:r>
              <a:rPr sz="1300">
                <a:solidFill>
                  <a:srgbClr val="D4886B"/>
                </a:solidFill>
                <a:latin typeface="Calibri"/>
              </a:rPr>
              <a:t>  ▸  </a:t>
            </a:r>
            <a:r>
              <a:rPr sz="1300">
                <a:solidFill>
                  <a:srgbClr val="C4A882"/>
                </a:solidFill>
                <a:latin typeface="Calibri"/>
              </a:rPr>
              <a:t>Background test execution after file changes</a:t>
            </a:r>
          </a:p>
          <a:p>
            <a:pPr>
              <a:spcBef>
                <a:spcPts val="200"/>
              </a:spcBef>
              <a:spcAft>
                <a:spcPts val="600"/>
              </a:spcAft>
            </a:pPr>
            <a:r>
              <a:rPr sz="1300">
                <a:solidFill>
                  <a:srgbClr val="D4886B"/>
                </a:solidFill>
                <a:latin typeface="Calibri"/>
              </a:rPr>
              <a:t>  ▸  </a:t>
            </a:r>
            <a:r>
              <a:rPr sz="1300">
                <a:solidFill>
                  <a:srgbClr val="C4A882"/>
                </a:solidFill>
                <a:latin typeface="Calibri"/>
              </a:rPr>
              <a:t>Audit logging that won’t slow down development</a:t>
            </a:r>
          </a:p>
          <a:p>
            <a:pPr>
              <a:spcBef>
                <a:spcPts val="200"/>
              </a:spcBef>
              <a:spcAft>
                <a:spcPts val="600"/>
              </a:spcAft>
            </a:pPr>
            <a:r>
              <a:rPr sz="1300">
                <a:solidFill>
                  <a:srgbClr val="D4886B"/>
                </a:solidFill>
                <a:latin typeface="Calibri"/>
              </a:rPr>
              <a:t>  ▸  </a:t>
            </a:r>
            <a:r>
              <a:rPr sz="1300">
                <a:solidFill>
                  <a:srgbClr val="C4A882"/>
                </a:solidFill>
                <a:latin typeface="Calibri"/>
              </a:rPr>
              <a:t>Documentation generation triggered by code changes</a:t>
            </a:r>
          </a:p>
          <a:p>
            <a:pPr>
              <a:spcBef>
                <a:spcPts val="200"/>
              </a:spcBef>
              <a:spcAft>
                <a:spcPts val="600"/>
              </a:spcAft>
            </a:pPr>
            <a:r>
              <a:rPr sz="1300">
                <a:solidFill>
                  <a:srgbClr val="D4886B"/>
                </a:solidFill>
                <a:latin typeface="Calibri"/>
              </a:rPr>
              <a:t>  ▸  </a:t>
            </a:r>
            <a:r>
              <a:rPr sz="1300">
                <a:solidFill>
                  <a:srgbClr val="C4A882"/>
                </a:solidFill>
                <a:latin typeface="Calibri"/>
              </a:rPr>
              <a:t>Desktop notification dispatch</a:t>
            </a:r>
          </a:p>
        </p:txBody>
      </p:sp>
      <p:sp>
        <p:nvSpPr>
          <p:cNvPr id="10" name="Rounded Rectangle 9"/>
          <p:cNvSpPr/>
          <p:nvPr/>
        </p:nvSpPr>
        <p:spPr>
          <a:xfrm>
            <a:off x="4292425" y="1177159"/>
            <a:ext cx="3754295" cy="3279227"/>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526280" y="14173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727448" y="14173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928616" y="14173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212080" y="1353312"/>
            <a:ext cx="2468880" cy="320040"/>
          </a:xfrm>
          <a:prstGeom prst="rect">
            <a:avLst/>
          </a:prstGeom>
          <a:noFill/>
        </p:spPr>
        <p:txBody>
          <a:bodyPr wrap="square">
            <a:spAutoFit/>
          </a:bodyPr>
          <a:lstStyle/>
          <a:p>
            <a:pPr algn="ctr">
              <a:spcAft>
                <a:spcPts val="0"/>
              </a:spcAft>
              <a:defRPr sz="1100" b="0" i="0">
                <a:solidFill>
                  <a:srgbClr val="7A6E5D"/>
                </a:solidFill>
                <a:latin typeface="Calibri"/>
              </a:defRPr>
            </a:pPr>
            <a:r>
              <a:t>Advanced Patterns</a:t>
            </a:r>
          </a:p>
        </p:txBody>
      </p:sp>
      <p:sp>
        <p:nvSpPr>
          <p:cNvPr id="15" name="TextBox 14"/>
          <p:cNvSpPr txBox="1"/>
          <p:nvPr/>
        </p:nvSpPr>
        <p:spPr>
          <a:xfrm>
            <a:off x="4480560" y="1874520"/>
            <a:ext cx="3291840" cy="2194560"/>
          </a:xfrm>
          <a:prstGeom prst="rect">
            <a:avLst/>
          </a:prstGeom>
          <a:noFill/>
        </p:spPr>
        <p:txBody>
          <a:bodyPr wrap="square">
            <a:spAutoFit/>
          </a:bodyPr>
          <a:lstStyle/>
          <a:p>
            <a:pPr>
              <a:spcBef>
                <a:spcPts val="200"/>
              </a:spcBef>
              <a:spcAft>
                <a:spcPts val="600"/>
              </a:spcAft>
            </a:pPr>
            <a:r>
              <a:rPr sz="1300">
                <a:solidFill>
                  <a:srgbClr val="D4886B"/>
                </a:solidFill>
                <a:latin typeface="Calibri"/>
              </a:rPr>
              <a:t>  ▸  </a:t>
            </a:r>
            <a:r>
              <a:rPr sz="1300">
                <a:solidFill>
                  <a:srgbClr val="C4A882"/>
                </a:solidFill>
                <a:latin typeface="Calibri"/>
              </a:rPr>
              <a:t>Git branch-per-session (GitButler pattern)</a:t>
            </a:r>
          </a:p>
          <a:p>
            <a:pPr>
              <a:spcBef>
                <a:spcPts val="200"/>
              </a:spcBef>
              <a:spcAft>
                <a:spcPts val="600"/>
              </a:spcAft>
            </a:pPr>
            <a:r>
              <a:rPr sz="1300">
                <a:solidFill>
                  <a:srgbClr val="D4886B"/>
                </a:solidFill>
                <a:latin typeface="Calibri"/>
              </a:rPr>
              <a:t>  ▸  </a:t>
            </a:r>
            <a:r>
              <a:rPr sz="1300">
                <a:solidFill>
                  <a:srgbClr val="C4A882"/>
                </a:solidFill>
                <a:latin typeface="Calibri"/>
              </a:rPr>
              <a:t>Auto-approve safe operations (PermissionRequest)</a:t>
            </a:r>
          </a:p>
          <a:p>
            <a:pPr>
              <a:spcBef>
                <a:spcPts val="200"/>
              </a:spcBef>
              <a:spcAft>
                <a:spcPts val="600"/>
              </a:spcAft>
            </a:pPr>
            <a:r>
              <a:rPr sz="1300">
                <a:solidFill>
                  <a:srgbClr val="D4886B"/>
                </a:solidFill>
                <a:latin typeface="Calibri"/>
              </a:rPr>
              <a:t>  ▸  </a:t>
            </a:r>
            <a:r>
              <a:rPr sz="1300">
                <a:solidFill>
                  <a:srgbClr val="C4A882"/>
                </a:solidFill>
                <a:latin typeface="Calibri"/>
              </a:rPr>
              <a:t>Re-inject context after compaction (SessionStart)</a:t>
            </a:r>
          </a:p>
          <a:p>
            <a:pPr>
              <a:spcBef>
                <a:spcPts val="200"/>
              </a:spcBef>
              <a:spcAft>
                <a:spcPts val="600"/>
              </a:spcAft>
            </a:pPr>
            <a:r>
              <a:rPr sz="1300">
                <a:solidFill>
                  <a:srgbClr val="D4886B"/>
                </a:solidFill>
                <a:latin typeface="Calibri"/>
              </a:rPr>
              <a:t>  ▸  </a:t>
            </a:r>
            <a:r>
              <a:rPr sz="1300">
                <a:solidFill>
                  <a:srgbClr val="C4A882"/>
                </a:solidFill>
                <a:latin typeface="Calibri"/>
              </a:rPr>
              <a:t>Configuration change auditing (ConfigChange)</a:t>
            </a:r>
          </a:p>
          <a:p>
            <a:pPr>
              <a:spcBef>
                <a:spcPts val="200"/>
              </a:spcBef>
              <a:spcAft>
                <a:spcPts val="600"/>
              </a:spcAft>
            </a:pPr>
            <a:r>
              <a:rPr sz="1300">
                <a:solidFill>
                  <a:srgbClr val="D4886B"/>
                </a:solidFill>
                <a:latin typeface="Calibri"/>
              </a:rPr>
              <a:t>  ▸  </a:t>
            </a:r>
            <a:r>
              <a:rPr sz="1300">
                <a:solidFill>
                  <a:srgbClr val="C4A882"/>
                </a:solidFill>
                <a:latin typeface="Calibri"/>
              </a:rPr>
              <a:t>Desktop notifications on idle (Notification)</a:t>
            </a:r>
          </a:p>
        </p:txBody>
      </p:sp>
      <p:sp>
        <p:nvSpPr>
          <p:cNvPr id="16" name="Rounded Rectangle 15"/>
          <p:cNvSpPr/>
          <p:nvPr/>
        </p:nvSpPr>
        <p:spPr>
          <a:xfrm>
            <a:off x="8132905" y="1177159"/>
            <a:ext cx="3754295" cy="3279227"/>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366760" y="14173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567928" y="14173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769096" y="14173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52560" y="1353312"/>
            <a:ext cx="2468880" cy="320040"/>
          </a:xfrm>
          <a:prstGeom prst="rect">
            <a:avLst/>
          </a:prstGeom>
          <a:noFill/>
        </p:spPr>
        <p:txBody>
          <a:bodyPr wrap="square">
            <a:spAutoFit/>
          </a:bodyPr>
          <a:lstStyle/>
          <a:p>
            <a:pPr algn="ctr">
              <a:spcAft>
                <a:spcPts val="0"/>
              </a:spcAft>
              <a:defRPr sz="1100" b="0" i="0">
                <a:solidFill>
                  <a:srgbClr val="7A6E5D"/>
                </a:solidFill>
                <a:latin typeface="Calibri"/>
              </a:defRPr>
            </a:pPr>
            <a:r>
              <a:t>Execution Behaviors</a:t>
            </a:r>
          </a:p>
        </p:txBody>
      </p:sp>
      <p:sp>
        <p:nvSpPr>
          <p:cNvPr id="21" name="TextBox 20"/>
          <p:cNvSpPr txBox="1"/>
          <p:nvPr/>
        </p:nvSpPr>
        <p:spPr>
          <a:xfrm>
            <a:off x="8321040" y="1874520"/>
            <a:ext cx="3291840" cy="2194560"/>
          </a:xfrm>
          <a:prstGeom prst="rect">
            <a:avLst/>
          </a:prstGeom>
          <a:noFill/>
        </p:spPr>
        <p:txBody>
          <a:bodyPr wrap="square">
            <a:spAutoFit/>
          </a:bodyPr>
          <a:lstStyle/>
          <a:p>
            <a:pPr>
              <a:spcBef>
                <a:spcPts val="200"/>
              </a:spcBef>
              <a:spcAft>
                <a:spcPts val="600"/>
              </a:spcAft>
            </a:pPr>
            <a:r>
              <a:rPr sz="1200">
                <a:solidFill>
                  <a:srgbClr val="D4886B"/>
                </a:solidFill>
                <a:latin typeface="Calibri"/>
              </a:rPr>
              <a:t>  ▸  </a:t>
            </a:r>
            <a:r>
              <a:rPr sz="1200">
                <a:solidFill>
                  <a:srgbClr val="C4A882"/>
                </a:solidFill>
                <a:latin typeface="Calibri"/>
              </a:rPr>
              <a:t>Multiple matching hooks run in parallel – identical commands are auto-deduplicated</a:t>
            </a:r>
          </a:p>
          <a:p>
            <a:pPr>
              <a:spcBef>
                <a:spcPts val="200"/>
              </a:spcBef>
              <a:spcAft>
                <a:spcPts val="600"/>
              </a:spcAft>
            </a:pPr>
            <a:r>
              <a:rPr sz="1200">
                <a:solidFill>
                  <a:srgbClr val="D4886B"/>
                </a:solidFill>
                <a:latin typeface="Calibri"/>
              </a:rPr>
              <a:t>  ▸  </a:t>
            </a:r>
            <a:r>
              <a:rPr sz="1200">
                <a:solidFill>
                  <a:srgbClr val="C4A882"/>
                </a:solidFill>
                <a:latin typeface="Calibri"/>
              </a:rPr>
              <a:t>Default timeout: 10 minutes (600s) – configurable per hook via the timeout field</a:t>
            </a:r>
          </a:p>
          <a:p>
            <a:pPr>
              <a:spcBef>
                <a:spcPts val="200"/>
              </a:spcBef>
              <a:spcAft>
                <a:spcPts val="600"/>
              </a:spcAft>
            </a:pPr>
            <a:r>
              <a:rPr sz="1200">
                <a:solidFill>
                  <a:srgbClr val="D4886B"/>
                </a:solidFill>
                <a:latin typeface="Calibri"/>
              </a:rPr>
              <a:t>  ▸  </a:t>
            </a:r>
            <a:r>
              <a:rPr sz="1200">
                <a:solidFill>
                  <a:srgbClr val="C4A882"/>
                </a:solidFill>
                <a:latin typeface="Calibri"/>
              </a:rPr>
              <a:t>Command hooks add milliseconds of overhead – prompt/agent hooks benefit from async</a:t>
            </a:r>
          </a:p>
          <a:p>
            <a:pPr>
              <a:spcBef>
                <a:spcPts val="200"/>
              </a:spcBef>
              <a:spcAft>
                <a:spcPts val="600"/>
              </a:spcAft>
            </a:pPr>
            <a:r>
              <a:rPr sz="1200">
                <a:solidFill>
                  <a:srgbClr val="D4886B"/>
                </a:solidFill>
                <a:latin typeface="Calibri"/>
              </a:rPr>
              <a:t>  ▸  </a:t>
            </a:r>
            <a:r>
              <a:rPr sz="1200">
                <a:solidFill>
                  <a:srgbClr val="C4A882"/>
                </a:solidFill>
                <a:latin typeface="Calibri"/>
              </a:rPr>
              <a:t>Environment variables: CLAUDE_PROJECT_DIR, CLAUDE_ENV_FILE, CLAUDE_TOOL_INPUT_FILE_PATH</a:t>
            </a:r>
          </a:p>
        </p:txBody>
      </p:sp>
      <p:sp>
        <p:nvSpPr>
          <p:cNvPr id="22" name="TextBox 21"/>
          <p:cNvSpPr txBox="1"/>
          <p:nvPr/>
        </p:nvSpPr>
        <p:spPr>
          <a:xfrm>
            <a:off x="731520" y="6492240"/>
            <a:ext cx="5486400" cy="274320"/>
          </a:xfrm>
          <a:prstGeom prst="rect">
            <a:avLst/>
          </a:prstGeom>
          <a:noFill/>
        </p:spPr>
        <p:txBody>
          <a:bodyPr wrap="square">
            <a:spAutoFit/>
          </a:bodyPr>
          <a:lstStyle/>
          <a:p>
            <a:pPr algn="l">
              <a:spcAft>
                <a:spcPts val="0"/>
              </a:spcAft>
              <a:defRPr sz="900" b="0" i="0">
                <a:solidFill>
                  <a:srgbClr val="7A6E5D"/>
                </a:solidFill>
                <a:latin typeface="JetBrains Mono"/>
              </a:defRPr>
            </a:pPr>
            <a:r>
              <a:t>The Claude Beast  |  Claude Hooks</a:t>
            </a:r>
          </a:p>
        </p:txBody>
      </p:sp>
      <p:sp>
        <p:nvSpPr>
          <p:cNvPr id="23" name="TextBox 22"/>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9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10515600" cy="731520"/>
          </a:xfrm>
          <a:prstGeom prst="rect">
            <a:avLst/>
          </a:prstGeom>
          <a:noFill/>
        </p:spPr>
        <p:txBody>
          <a:bodyPr wrap="square">
            <a:spAutoFit/>
          </a:bodyPr>
          <a:lstStyle/>
          <a:p>
            <a:pPr algn="ctr">
              <a:spcAft>
                <a:spcPts val="0"/>
              </a:spcAft>
              <a:defRPr sz="4800" b="0" i="0">
                <a:solidFill>
                  <a:srgbClr val="E8D5B7"/>
                </a:solidFill>
                <a:latin typeface="Georgia"/>
              </a:defRPr>
            </a:pPr>
            <a:r>
              <a:t>Key Takeaways</a:t>
            </a:r>
          </a:p>
        </p:txBody>
      </p:sp>
      <p:sp>
        <p:nvSpPr>
          <p:cNvPr id="3" name="Rectangle 2"/>
          <p:cNvSpPr/>
          <p:nvPr/>
        </p:nvSpPr>
        <p:spPr>
          <a:xfrm>
            <a:off x="3992880" y="1399032"/>
            <a:ext cx="393192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46760" y="1801368"/>
            <a:ext cx="10500360" cy="35352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75360" y="21031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6528" y="21031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77696" y="21031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12520" y="2514600"/>
            <a:ext cx="4846320" cy="502920"/>
          </a:xfrm>
          <a:prstGeom prst="rect">
            <a:avLst/>
          </a:prstGeom>
          <a:noFill/>
        </p:spPr>
        <p:txBody>
          <a:bodyPr wrap="square">
            <a:spAutoFit/>
          </a:bodyPr>
          <a:lstStyle/>
          <a:p>
            <a:pPr>
              <a:spcAft>
                <a:spcPts val="400"/>
              </a:spcAft>
            </a:pPr>
            <a:r>
              <a:rPr sz="1600" b="1" dirty="0">
                <a:solidFill>
                  <a:srgbClr val="D4886B"/>
                </a:solidFill>
                <a:latin typeface="Calibri"/>
              </a:rPr>
              <a:t>1.  </a:t>
            </a:r>
            <a:r>
              <a:rPr sz="1500" dirty="0">
                <a:solidFill>
                  <a:srgbClr val="C4A882"/>
                </a:solidFill>
                <a:latin typeface="Calibri"/>
              </a:rPr>
              <a:t>Hooks are the killer extensibility feature that makes Claude Code uniquely programmable</a:t>
            </a:r>
          </a:p>
        </p:txBody>
      </p:sp>
      <p:sp>
        <p:nvSpPr>
          <p:cNvPr id="9" name="TextBox 8"/>
          <p:cNvSpPr txBox="1"/>
          <p:nvPr/>
        </p:nvSpPr>
        <p:spPr>
          <a:xfrm>
            <a:off x="1112520" y="3154680"/>
            <a:ext cx="4846320" cy="502920"/>
          </a:xfrm>
          <a:prstGeom prst="rect">
            <a:avLst/>
          </a:prstGeom>
          <a:noFill/>
        </p:spPr>
        <p:txBody>
          <a:bodyPr wrap="square">
            <a:spAutoFit/>
          </a:bodyPr>
          <a:lstStyle/>
          <a:p>
            <a:pPr>
              <a:spcAft>
                <a:spcPts val="400"/>
              </a:spcAft>
            </a:pPr>
            <a:r>
              <a:rPr sz="1600" b="1">
                <a:solidFill>
                  <a:srgbClr val="D4886B"/>
                </a:solidFill>
                <a:latin typeface="Calibri"/>
              </a:rPr>
              <a:t>2.  </a:t>
            </a:r>
            <a:r>
              <a:rPr sz="1500">
                <a:solidFill>
                  <a:srgbClr val="C4A882"/>
                </a:solidFill>
                <a:latin typeface="Calibri"/>
              </a:rPr>
              <a:t>Deterministic enforcement beats probabilistic suggestions – use hooks for hard rules</a:t>
            </a:r>
          </a:p>
        </p:txBody>
      </p:sp>
      <p:sp>
        <p:nvSpPr>
          <p:cNvPr id="10" name="TextBox 9"/>
          <p:cNvSpPr txBox="1"/>
          <p:nvPr/>
        </p:nvSpPr>
        <p:spPr>
          <a:xfrm>
            <a:off x="1112520" y="3794760"/>
            <a:ext cx="4846320" cy="502920"/>
          </a:xfrm>
          <a:prstGeom prst="rect">
            <a:avLst/>
          </a:prstGeom>
          <a:noFill/>
        </p:spPr>
        <p:txBody>
          <a:bodyPr wrap="square">
            <a:spAutoFit/>
          </a:bodyPr>
          <a:lstStyle/>
          <a:p>
            <a:pPr>
              <a:spcAft>
                <a:spcPts val="400"/>
              </a:spcAft>
            </a:pPr>
            <a:r>
              <a:rPr sz="1600" b="1">
                <a:solidFill>
                  <a:srgbClr val="D4886B"/>
                </a:solidFill>
                <a:latin typeface="Calibri"/>
              </a:rPr>
              <a:t>3.  </a:t>
            </a:r>
            <a:r>
              <a:rPr sz="1500">
                <a:solidFill>
                  <a:srgbClr val="C4A882"/>
                </a:solidFill>
                <a:latin typeface="Calibri"/>
              </a:rPr>
              <a:t>Three hook types (command / prompt / agent) serve speed, judgment, and verification needs</a:t>
            </a:r>
          </a:p>
        </p:txBody>
      </p:sp>
      <p:sp>
        <p:nvSpPr>
          <p:cNvPr id="11" name="TextBox 10"/>
          <p:cNvSpPr txBox="1"/>
          <p:nvPr/>
        </p:nvSpPr>
        <p:spPr>
          <a:xfrm>
            <a:off x="1112520" y="4434840"/>
            <a:ext cx="4846320" cy="502920"/>
          </a:xfrm>
          <a:prstGeom prst="rect">
            <a:avLst/>
          </a:prstGeom>
          <a:noFill/>
        </p:spPr>
        <p:txBody>
          <a:bodyPr wrap="square">
            <a:spAutoFit/>
          </a:bodyPr>
          <a:lstStyle/>
          <a:p>
            <a:pPr>
              <a:spcAft>
                <a:spcPts val="400"/>
              </a:spcAft>
            </a:pPr>
            <a:r>
              <a:rPr sz="1600" b="1">
                <a:solidFill>
                  <a:srgbClr val="D4886B"/>
                </a:solidFill>
                <a:latin typeface="Calibri"/>
              </a:rPr>
              <a:t>4.  </a:t>
            </a:r>
            <a:r>
              <a:rPr sz="1500">
                <a:solidFill>
                  <a:srgbClr val="C4A882"/>
                </a:solidFill>
                <a:latin typeface="Calibri"/>
              </a:rPr>
              <a:t>14+ lifecycle events cover the full session from start to finish</a:t>
            </a:r>
          </a:p>
        </p:txBody>
      </p:sp>
      <p:sp>
        <p:nvSpPr>
          <p:cNvPr id="12" name="TextBox 11"/>
          <p:cNvSpPr txBox="1"/>
          <p:nvPr/>
        </p:nvSpPr>
        <p:spPr>
          <a:xfrm>
            <a:off x="6233160" y="2514600"/>
            <a:ext cx="4846320" cy="502920"/>
          </a:xfrm>
          <a:prstGeom prst="rect">
            <a:avLst/>
          </a:prstGeom>
          <a:noFill/>
        </p:spPr>
        <p:txBody>
          <a:bodyPr wrap="square">
            <a:spAutoFit/>
          </a:bodyPr>
          <a:lstStyle/>
          <a:p>
            <a:pPr>
              <a:spcAft>
                <a:spcPts val="400"/>
              </a:spcAft>
            </a:pPr>
            <a:r>
              <a:rPr sz="1600" b="1">
                <a:solidFill>
                  <a:srgbClr val="D4886B"/>
                </a:solidFill>
                <a:latin typeface="Calibri"/>
              </a:rPr>
              <a:t>5.  </a:t>
            </a:r>
            <a:r>
              <a:rPr sz="1500">
                <a:solidFill>
                  <a:srgbClr val="C4A882"/>
                </a:solidFill>
                <a:latin typeface="Calibri"/>
              </a:rPr>
              <a:t>Matchers provide surgical precision with regex support for tools and MCP servers</a:t>
            </a:r>
          </a:p>
        </p:txBody>
      </p:sp>
      <p:sp>
        <p:nvSpPr>
          <p:cNvPr id="13" name="TextBox 12"/>
          <p:cNvSpPr txBox="1"/>
          <p:nvPr/>
        </p:nvSpPr>
        <p:spPr>
          <a:xfrm>
            <a:off x="6233160" y="3154680"/>
            <a:ext cx="4846320" cy="502920"/>
          </a:xfrm>
          <a:prstGeom prst="rect">
            <a:avLst/>
          </a:prstGeom>
          <a:noFill/>
        </p:spPr>
        <p:txBody>
          <a:bodyPr wrap="square">
            <a:spAutoFit/>
          </a:bodyPr>
          <a:lstStyle/>
          <a:p>
            <a:pPr>
              <a:spcAft>
                <a:spcPts val="400"/>
              </a:spcAft>
            </a:pPr>
            <a:r>
              <a:rPr sz="1600" b="1">
                <a:solidFill>
                  <a:srgbClr val="D4886B"/>
                </a:solidFill>
                <a:latin typeface="Calibri"/>
              </a:rPr>
              <a:t>6.  </a:t>
            </a:r>
            <a:r>
              <a:rPr sz="1500">
                <a:solidFill>
                  <a:srgbClr val="C4A882"/>
                </a:solidFill>
                <a:latin typeface="Calibri"/>
              </a:rPr>
              <a:t>Exit code 2 is the universal blocker – feed stderr back to Claude as feedback</a:t>
            </a:r>
          </a:p>
        </p:txBody>
      </p:sp>
      <p:sp>
        <p:nvSpPr>
          <p:cNvPr id="14" name="TextBox 13"/>
          <p:cNvSpPr txBox="1"/>
          <p:nvPr/>
        </p:nvSpPr>
        <p:spPr>
          <a:xfrm>
            <a:off x="6233160" y="3794760"/>
            <a:ext cx="4846320" cy="502920"/>
          </a:xfrm>
          <a:prstGeom prst="rect">
            <a:avLst/>
          </a:prstGeom>
          <a:noFill/>
        </p:spPr>
        <p:txBody>
          <a:bodyPr wrap="square">
            <a:spAutoFit/>
          </a:bodyPr>
          <a:lstStyle/>
          <a:p>
            <a:pPr>
              <a:spcAft>
                <a:spcPts val="400"/>
              </a:spcAft>
            </a:pPr>
            <a:r>
              <a:rPr sz="1600" b="1">
                <a:solidFill>
                  <a:srgbClr val="D4886B"/>
                </a:solidFill>
                <a:latin typeface="Calibri"/>
              </a:rPr>
              <a:t>7.  </a:t>
            </a:r>
            <a:r>
              <a:rPr sz="1500">
                <a:solidFill>
                  <a:srgbClr val="C4A882"/>
                </a:solidFill>
                <a:latin typeface="Calibri"/>
              </a:rPr>
              <a:t>Async hooks enable background operations without blocking the workflow</a:t>
            </a:r>
          </a:p>
        </p:txBody>
      </p:sp>
      <p:sp>
        <p:nvSpPr>
          <p:cNvPr id="15" name="TextBox 14"/>
          <p:cNvSpPr txBox="1"/>
          <p:nvPr/>
        </p:nvSpPr>
        <p:spPr>
          <a:xfrm>
            <a:off x="6233160" y="4434840"/>
            <a:ext cx="4846320" cy="502920"/>
          </a:xfrm>
          <a:prstGeom prst="rect">
            <a:avLst/>
          </a:prstGeom>
          <a:noFill/>
        </p:spPr>
        <p:txBody>
          <a:bodyPr wrap="square">
            <a:spAutoFit/>
          </a:bodyPr>
          <a:lstStyle/>
          <a:p>
            <a:pPr>
              <a:spcAft>
                <a:spcPts val="400"/>
              </a:spcAft>
            </a:pPr>
            <a:r>
              <a:rPr sz="1600" b="1">
                <a:solidFill>
                  <a:srgbClr val="D4886B"/>
                </a:solidFill>
                <a:latin typeface="Calibri"/>
              </a:rPr>
              <a:t>8.  </a:t>
            </a:r>
            <a:r>
              <a:rPr sz="1500">
                <a:solidFill>
                  <a:srgbClr val="C4A882"/>
                </a:solidFill>
                <a:latin typeface="Calibri"/>
              </a:rPr>
              <a:t>Security is your responsibility – hooks run with full user permissions, no sandbox</a:t>
            </a:r>
          </a:p>
        </p:txBody>
      </p:sp>
      <p:sp>
        <p:nvSpPr>
          <p:cNvPr id="16" name="TextBox 15"/>
          <p:cNvSpPr txBox="1"/>
          <p:nvPr/>
        </p:nvSpPr>
        <p:spPr>
          <a:xfrm>
            <a:off x="731520" y="5943600"/>
            <a:ext cx="10515600" cy="320040"/>
          </a:xfrm>
          <a:prstGeom prst="rect">
            <a:avLst/>
          </a:prstGeom>
          <a:noFill/>
        </p:spPr>
        <p:txBody>
          <a:bodyPr wrap="square">
            <a:spAutoFit/>
          </a:bodyPr>
          <a:lstStyle/>
          <a:p>
            <a:pPr algn="ctr">
              <a:spcAft>
                <a:spcPts val="0"/>
              </a:spcAft>
              <a:defRPr sz="1200" b="0" i="0">
                <a:solidFill>
                  <a:srgbClr val="7A6E5D"/>
                </a:solidFill>
                <a:latin typeface="JetBrains Mono"/>
              </a:defRPr>
            </a:pPr>
            <a:r>
              <a:t>The Claude Beast  |  Episode 04: Claude Hooks</a:t>
            </a:r>
          </a:p>
        </p:txBody>
      </p:sp>
      <p:sp>
        <p:nvSpPr>
          <p:cNvPr id="17" name="TextBox 16"/>
          <p:cNvSpPr txBox="1"/>
          <p:nvPr/>
        </p:nvSpPr>
        <p:spPr>
          <a:xfrm>
            <a:off x="731520" y="6263640"/>
            <a:ext cx="10515600" cy="320040"/>
          </a:xfrm>
          <a:prstGeom prst="rect">
            <a:avLst/>
          </a:prstGeom>
          <a:noFill/>
        </p:spPr>
        <p:txBody>
          <a:bodyPr wrap="square">
            <a:spAutoFit/>
          </a:bodyPr>
          <a:lstStyle/>
          <a:p>
            <a:pPr algn="ctr">
              <a:spcAft>
                <a:spcPts val="0"/>
              </a:spcAft>
              <a:defRPr sz="1100" b="0" i="0">
                <a:solidFill>
                  <a:srgbClr val="D4886B"/>
                </a:solidFill>
                <a:latin typeface="JetBrains Mono"/>
              </a:defRPr>
            </a:pPr>
            <a:r>
              <a:t>docs.anthropic.com/en/docs/claude-code/hooks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2903</Words>
  <Application>Microsoft Macintosh PowerPoint</Application>
  <PresentationFormat>Widescreen</PresentationFormat>
  <Paragraphs>275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Haim Ari</cp:lastModifiedBy>
  <cp:revision>4</cp:revision>
  <dcterms:created xsi:type="dcterms:W3CDTF">2013-01-27T09:14:16Z</dcterms:created>
  <dcterms:modified xsi:type="dcterms:W3CDTF">2026-02-26T10:36:51Z</dcterms:modified>
  <cp:category/>
</cp:coreProperties>
</file>