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t>Claude Plan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Read-Only Exploration for Safer, Smarter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Anthropic  |  Claude Code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What Is Plan Mode?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D4886B"/>
                </a:solidFill>
                <a:latin typeface="Calibri"/>
              </a:defRPr>
            </a:pPr>
            <a:r>
              <a:t>A built-in feature that separates research and analysis from code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621" y="1920240"/>
            <a:ext cx="5465379" cy="32918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488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21488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1488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Read-Only Mode</a:t>
            </a:r>
            <a:r>
              <a:rPr sz="1500">
                <a:solidFill>
                  <a:srgbClr val="C4A882"/>
                </a:solidFill>
                <a:latin typeface="Calibri"/>
              </a:rPr>
              <a:t> — Claude can read files, search code, and explore your project but cannot modify anything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Structured Plans</a:t>
            </a:r>
            <a:r>
              <a:rPr sz="1500">
                <a:solidFill>
                  <a:srgbClr val="C4A882"/>
                </a:solidFill>
                <a:latin typeface="Calibri"/>
              </a:rPr>
              <a:t> — Produces a markdown implementation plan written to disk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Safety First</a:t>
            </a:r>
            <a:r>
              <a:rPr sz="1500">
                <a:solidFill>
                  <a:srgbClr val="C4A882"/>
                </a:solidFill>
                <a:latin typeface="Calibri"/>
              </a:rPr>
              <a:t> — No accidental file edits, no unintended command execution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User Control</a:t>
            </a:r>
            <a:r>
              <a:rPr sz="1500">
                <a:solidFill>
                  <a:srgbClr val="C4A882"/>
                </a:solidFill>
                <a:latin typeface="Calibri"/>
              </a:rPr>
              <a:t> — Plans are reviewed, edited, and approved before any execution begins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5119" y="1920240"/>
            <a:ext cx="5182687" cy="32918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29400" y="21488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31736" y="21488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20848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The Plan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Standard markdown file in Claude's plans directory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Claude uses Edit tool internally to write its own plan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Configurable location via plansDirectory setting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Can be reviewed and iterated before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When to Use Plan Mode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Best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3657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Complex multi-file implementations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Large-scale refactors and migrations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Exploring unfamiliar repositories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Dependency and impact analysis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Architecture decision-making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Sensitive production code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When to Skip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5029200" cy="3657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30568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31736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Quick single-file edits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Boilerplate generation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Interactive experimentation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Typo corrections, single-line fixes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Stable codebase with trusted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52160"/>
            <a:ext cx="1069848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7A6E5D"/>
                </a:solidFill>
                <a:latin typeface="JetBrains Mono"/>
              </a:defRPr>
            </a:pPr>
            <a:r>
              <a:t>Rule of thumb: Match the tool to the complexity. Plan for multi-file, skip for trivial.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Activation Methods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257661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1288" y="15544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62456" y="15544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874520"/>
            <a:ext cx="192024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8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Shift +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E8D5B7"/>
                </a:solidFill>
                <a:latin typeface="Georgia"/>
              </a:defRPr>
            </a:pPr>
            <a:r>
              <a:t>Keyboard Shortcut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Cycle through modes:</a:t>
            </a:r>
            <a:br/>
            <a:r>
              <a:t>Normal &gt; Auto-Accept &gt; Plan &gt;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417320"/>
            <a:ext cx="2468880" cy="257661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75888" y="15544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77056" y="15544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78224" y="15544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21608" y="1874520"/>
            <a:ext cx="192024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8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/plan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E8D5B7"/>
                </a:solidFill>
                <a:latin typeface="Georgia"/>
              </a:defRPr>
            </a:pPr>
            <a:r>
              <a:t>Slash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063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Enter Plan Mode directly</a:t>
            </a:r>
            <a:br/>
            <a:r>
              <a:t>from the prompt (v2.1.0+)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417320"/>
            <a:ext cx="2468880" cy="257661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91656" y="15544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92824" y="15544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793992" y="15544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7376" y="1874520"/>
            <a:ext cx="192024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8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--permission-mode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E8D5B7"/>
                </a:solidFill>
                <a:latin typeface="Georgia"/>
              </a:defRPr>
            </a:pPr>
            <a:r>
              <a:t>CLI Flag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063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Launch Claude Code</a:t>
            </a:r>
            <a:br/>
            <a:r>
              <a:t>in Plan Mode from terminal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8824" y="1417320"/>
            <a:ext cx="2468880" cy="257661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07424" y="15544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308592" y="15544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09760" y="15544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53144" y="1874520"/>
            <a:ext cx="192024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8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53144" y="1920240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rPr dirty="0"/>
              <a:t>/model opus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E8D5B7"/>
                </a:solidFill>
                <a:latin typeface="Georgia"/>
              </a:defRPr>
            </a:pPr>
            <a:r>
              <a:t>Model 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3063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Opus for planning,</a:t>
            </a:r>
            <a:br/>
            <a:r>
              <a:t>Sonnet for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4-Phase Planning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377440" cy="259847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68780" y="1645920"/>
            <a:ext cx="502920" cy="502920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Research the codebase,</a:t>
            </a:r>
            <a:br/>
            <a:r>
              <a:t>read code, ask clarifying</a:t>
            </a:r>
            <a:br/>
            <a:r>
              <a:t>questions, run parallel</a:t>
            </a:r>
            <a:br/>
            <a:r>
              <a:t>explorations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3824" y="3054096"/>
            <a:ext cx="201168" cy="201168"/>
          </a:xfrm>
          <a:prstGeom prst="rightArrow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377440" cy="259847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66260" y="1645920"/>
            <a:ext cx="502920" cy="502920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Create detailed plan</a:t>
            </a:r>
            <a:br/>
            <a:r>
              <a:t>with specific files and</a:t>
            </a:r>
            <a:br/>
            <a:r>
              <a:t>changes, document</a:t>
            </a:r>
            <a:br/>
            <a:r>
              <a:t>alternatives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61304" y="3054096"/>
            <a:ext cx="201168" cy="201168"/>
          </a:xfrm>
          <a:prstGeom prst="rightArrow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377440" cy="259847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63740" y="1645920"/>
            <a:ext cx="502920" cy="502920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Clarify remaining</a:t>
            </a:r>
            <a:br/>
            <a:r>
              <a:t>questions, ensure alignment</a:t>
            </a:r>
            <a:br/>
            <a:r>
              <a:t>with user intent, read</a:t>
            </a:r>
            <a:br/>
            <a:r>
              <a:t>critical files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58784" y="3054096"/>
            <a:ext cx="201168" cy="201168"/>
          </a:xfrm>
          <a:prstGeom prst="rightArrow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23960" y="1417320"/>
            <a:ext cx="2377440" cy="259847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61220" y="1645920"/>
            <a:ext cx="502920" cy="502920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Final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7432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Write plan to file,</a:t>
            </a:r>
            <a:br/>
            <a:r>
              <a:t>include file paths,</a:t>
            </a:r>
            <a:br/>
            <a:r>
              <a:t>call exit_plan_mode,</a:t>
            </a:r>
            <a:br/>
            <a:r>
              <a:t>user approves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069848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C4A882"/>
                </a:solidFill>
                <a:latin typeface="Calibri"/>
              </a:defRPr>
            </a:pPr>
            <a:r>
              <a:t>After Phase 4: User reviews the plan, can edit the markdown directly, then exits Plan Mode to begin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opusplan Model Alias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D4886B"/>
                </a:solidFill>
                <a:latin typeface="Calibri"/>
              </a:defRPr>
            </a:pPr>
            <a:r>
              <a:t>Opus-quality reasoning for planning, Sonnet-speed for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954577" cy="198225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488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21488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1488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20848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Plan Phase: Opus 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1M context window for massive codebases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Superior reasoning for architecture decisions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Deep analysis of complex 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4954577" cy="198225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21488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31736" y="21488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0848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Execute Phase: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Fast, cost-efficient code generation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Handles implementation at lower cost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Ideal for straightforward coding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Subagent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Plan Subagent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029200" cy="16459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19202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19202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Dedicated subagent for planning tasks (v2.0.28+)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Supports resumption and reuse across sessions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Dynamic model selection per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Explore Subagent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029200" cy="16459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19202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30568" y="19202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31736" y="19202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Haiku-powered for efficient codebase searching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Saves context tokens via lightweight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Auto-delegated for comprehensive 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Built-in Agent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698480" cy="23774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Agent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Default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617720"/>
            <a:ext cx="9144000" cy="6350"/>
          </a:xfrm>
          <a:prstGeom prst="rect">
            <a:avLst/>
          </a:prstGeom>
          <a:solidFill>
            <a:srgbClr val="6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A07A"/>
                </a:solidFill>
                <a:latin typeface="JetBrains Mono"/>
              </a:defRPr>
            </a:pPr>
            <a:r>
              <a:t>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Fast codebase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Haiku 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A07A"/>
                </a:solidFill>
                <a:latin typeface="JetBrains Mono"/>
              </a:defRPr>
            </a:pPr>
            <a:r>
              <a:t>General-Purpose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01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Complex multi-step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Sonnet 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943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A07A"/>
                </a:solidFill>
                <a:latin typeface="JetBrains Mono"/>
              </a:defRPr>
            </a:pPr>
            <a:r>
              <a:t>Code-Reviewer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294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Code quality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52943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Sonnet 4.5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586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A07A"/>
                </a:solidFill>
                <a:latin typeface="JetBrains Mono"/>
              </a:defRPr>
            </a:pPr>
            <a:r>
              <a:t>Security-Auditor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5869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Vulnerability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586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Sonnet 4.5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79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A07A"/>
                </a:solidFill>
                <a:latin typeface="JetBrains Mono"/>
              </a:defRPr>
            </a:pPr>
            <a:r>
              <a:t>Debugger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879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879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Sonnet 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Agent Teams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D4886B"/>
                </a:solidFill>
                <a:latin typeface="Calibri"/>
              </a:defRPr>
            </a:pPr>
            <a:r>
              <a:t>Multi-agent coordination extends Plan Mode's concepts (Feb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E8D5B7"/>
                </a:solidFill>
                <a:latin typeface="Georgia"/>
              </a:defRPr>
            </a:pPr>
            <a:r>
              <a:t>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Main session that spawns</a:t>
            </a:r>
            <a:br/>
            <a:r>
              <a:t>teammates and coordinates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920240"/>
            <a:ext cx="246888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5888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77056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078224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E8D5B7"/>
                </a:solidFill>
                <a:latin typeface="Georgia"/>
              </a:defRPr>
            </a:pPr>
            <a:r>
              <a:t>Teammates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7432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Separate Claude Code</a:t>
            </a:r>
            <a:br/>
            <a:r>
              <a:t>instances on assigned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920240"/>
            <a:ext cx="246888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91656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92824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93992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E8D5B7"/>
                </a:solidFill>
                <a:latin typeface="Georgia"/>
              </a:defRPr>
            </a:pPr>
            <a:r>
              <a:t>Task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7432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Shared work items that</a:t>
            </a:r>
            <a:br/>
            <a:r>
              <a:t>teammates claim and 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1920240"/>
            <a:ext cx="246888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07424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08592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09760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E8D5B7"/>
                </a:solidFill>
                <a:latin typeface="Georgia"/>
              </a:defRPr>
            </a:pPr>
            <a:r>
              <a:t>Mailbox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7432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Messaging system for</a:t>
            </a:r>
            <a:br/>
            <a:r>
              <a:t>inter-agent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Georgia"/>
              </a:defRPr>
            </a:pPr>
            <a:r>
              <a:t>Plan Approval Flow for Teammates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17720"/>
            <a:ext cx="10698480" cy="16459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D4886B"/>
                </a:solidFill>
                <a:latin typeface="Calibri"/>
              </a:rPr>
              <a:t>  –  </a:t>
            </a:r>
            <a:r>
              <a:rPr sz="1300" b="1">
                <a:solidFill>
                  <a:srgbClr val="E8D5B7"/>
                </a:solidFill>
                <a:latin typeface="Calibri"/>
              </a:rPr>
              <a:t>Teammates can be required to plan before implementing</a:t>
            </a:r>
            <a:r>
              <a:rPr sz="1300">
                <a:solidFill>
                  <a:srgbClr val="C4A882"/>
                </a:solidFill>
                <a:latin typeface="Calibri"/>
              </a:rPr>
              <a:t> — "Require plan approval before changes"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D4886B"/>
                </a:solidFill>
                <a:latin typeface="Calibri"/>
              </a:rPr>
              <a:t>  –  </a:t>
            </a:r>
            <a:r>
              <a:rPr sz="1300">
                <a:solidFill>
                  <a:srgbClr val="C4A882"/>
                </a:solidFill>
                <a:latin typeface="Calibri"/>
              </a:rPr>
              <a:t>Teammate sends plan approval request to lead, who reviews and approves or rejects with feedback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D4886B"/>
                </a:solidFill>
                <a:latin typeface="Calibri"/>
              </a:rPr>
              <a:t>  –  </a:t>
            </a:r>
            <a:r>
              <a:rPr sz="1300">
                <a:solidFill>
                  <a:srgbClr val="C4A882"/>
                </a:solidFill>
                <a:latin typeface="Calibri"/>
              </a:rPr>
              <a:t>Best practice: Plan first with Plan Mode to define roles, then deploy Agent Teams for parallel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8 / 10</a:t>
            </a:r>
          </a:p>
        </p:txBody>
      </p:sp>
      <p:pic>
        <p:nvPicPr>
          <p:cNvPr id="39" name="Graphic 38" descr="Voice with solid fill">
            <a:extLst>
              <a:ext uri="{FF2B5EF4-FFF2-40B4-BE49-F238E27FC236}">
                <a16:creationId xmlns:a16="http://schemas.microsoft.com/office/drawing/2014/main" id="{658ACA67-4E32-0E0F-E333-38F40395F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0929" y="1350957"/>
            <a:ext cx="1323663" cy="1323663"/>
          </a:xfrm>
          <a:prstGeom prst="rect">
            <a:avLst/>
          </a:prstGeom>
        </p:spPr>
      </p:pic>
      <p:pic>
        <p:nvPicPr>
          <p:cNvPr id="41" name="Graphic 40" descr="Marketing with solid fill">
            <a:extLst>
              <a:ext uri="{FF2B5EF4-FFF2-40B4-BE49-F238E27FC236}">
                <a16:creationId xmlns:a16="http://schemas.microsoft.com/office/drawing/2014/main" id="{DFA1766D-F369-B9FF-BD95-79651EA88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4504" y="145611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Superpowers Plugin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320040"/>
            <a:ext cx="73152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3383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D4886B"/>
                </a:solidFill>
                <a:latin typeface="JetBrains Mono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D4886B"/>
                </a:solidFill>
                <a:latin typeface="Calibri"/>
              </a:defRPr>
            </a:pPr>
            <a:r>
              <a:t>Structured, enforced planning workflows on top of native Plan Mode (obra/superpowers)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Key Planning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223344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231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24231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2456" y="24231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/superpowers:brainstorm</a:t>
            </a:r>
            <a:r>
              <a:rPr sz="1400">
                <a:solidFill>
                  <a:srgbClr val="C4A882"/>
                </a:solidFill>
                <a:latin typeface="Calibri"/>
              </a:rPr>
              <a:t> — Refine rough ideas before coding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/superpowers:write-plan</a:t>
            </a:r>
            <a:r>
              <a:rPr sz="1400">
                <a:solidFill>
                  <a:srgbClr val="C4A882"/>
                </a:solidFill>
                <a:latin typeface="Calibri"/>
              </a:rPr>
              <a:t> — Create detailed implementation plans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/superpowers:execute-plan</a:t>
            </a:r>
            <a:r>
              <a:rPr sz="1400">
                <a:solidFill>
                  <a:srgbClr val="C4A882"/>
                </a:solidFill>
                <a:latin typeface="Calibri"/>
              </a:rPr>
              <a:t> — Run plans in batches with checkpoints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Enforced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5029200" cy="223344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29400" y="24231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30568" y="24231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31736" y="24231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Test-Driven Development</a:t>
            </a:r>
            <a:r>
              <a:rPr sz="1400">
                <a:solidFill>
                  <a:srgbClr val="C4A882"/>
                </a:solidFill>
                <a:latin typeface="Calibri"/>
              </a:rPr>
              <a:t> — RED-GREEN-REFACTOR cycle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Systematic Debugging</a:t>
            </a:r>
            <a:r>
              <a:rPr sz="1400">
                <a:solidFill>
                  <a:srgbClr val="C4A882"/>
                </a:solidFill>
                <a:latin typeface="Calibri"/>
              </a:rPr>
              <a:t> — 4-phase root cause analysis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Verification Before Completion</a:t>
            </a:r>
            <a:r>
              <a:rPr sz="1400">
                <a:solidFill>
                  <a:srgbClr val="C4A882"/>
                </a:solidFill>
                <a:latin typeface="Calibri"/>
              </a:rPr>
              <a:t> — Must verify before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Georgia"/>
              </a:defRPr>
            </a:pPr>
            <a:r>
              <a:t>Why Layer Superpowers on Native Plan Mode?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685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C4A882"/>
                </a:solidFill>
                <a:latin typeface="Calibri"/>
              </a:defRPr>
            </a:pPr>
            <a:r>
              <a:t>Persistent plans as markdown files survive across sessions  |  Token-efficient batch execution  |  Progress tracking on 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E8D5B7"/>
                </a:solidFill>
                <a:latin typeface="Georgia"/>
              </a:defRPr>
            </a:pPr>
            <a:r>
              <a:t>Plan Before You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19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Plan Mode enforces read-only exploration, producing structured plans before any execution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E8D5B7"/>
                </a:solidFill>
                <a:latin typeface="Georgia"/>
              </a:defRPr>
            </a:pPr>
            <a:r>
              <a:t>Match Tool to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Use Plan Mode for multi-file work; skip it for simple edits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9601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E8D5B7"/>
                </a:solidFill>
                <a:latin typeface="Georgia"/>
              </a:defRPr>
            </a:pPr>
            <a:r>
              <a:rPr dirty="0"/>
              <a:t>Optimize with opus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564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Opus-quality analysis + Sonnet-speed execution = best of both worlds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E8D5B7"/>
                </a:solidFill>
                <a:latin typeface="Georgia"/>
              </a:defRPr>
            </a:pPr>
            <a:r>
              <a:t>Scale with Agent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251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Plan first, then deploy parallel teammates for complex projects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92040"/>
            <a:ext cx="384048" cy="384048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E8D5B7"/>
                </a:solidFill>
                <a:latin typeface="Georgia"/>
              </a:defRPr>
            </a:pPr>
            <a:r>
              <a:t>Extend with Superpowers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93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Layer enforced workflows, persistent plans, and batch execution on 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36576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  |  Plan Mode  |  Think first, code second.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900</Words>
  <Application>Microsoft Macintosh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5</cp:revision>
  <dcterms:created xsi:type="dcterms:W3CDTF">2013-01-27T09:14:16Z</dcterms:created>
  <dcterms:modified xsi:type="dcterms:W3CDTF">2026-02-26T12:19:22Z</dcterms:modified>
  <cp:category/>
</cp:coreProperties>
</file>