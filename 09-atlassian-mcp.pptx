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3914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Claude Beast series. Today we are covering the Atlassian MCP server -- one of the most impactful MCP integrations available for Claude Code.</a:t>
            </a:r>
          </a:p>
          <a:p>
            <a:endParaRPr/>
          </a:p>
          <a:p>
            <a:r>
              <a:t>The Atlassian MCP connects Claude directly to Jira, Confluence, and Compass. Instead of constantly switching between your IDE, terminal, and browser tabs, you interact with all your Atlassian data through natural language right from your development environment.</a:t>
            </a:r>
          </a:p>
          <a:p>
            <a:endParaRPr/>
          </a:p>
          <a:p>
            <a:r>
              <a:t>By the end of this talk you will understand the two main server options, the 30+ tools available, how to set it up in under 15 minutes, and the real-world workflows that make it a game-changer for developer productivity.</a:t>
            </a:r>
          </a:p>
          <a:p>
            <a:endParaRPr/>
          </a:p>
          <a:p>
            <a:r>
              <a:t>Let's get started.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talk about the tool arsenal. The official Rovo MCP server provides over 30 tools organized across three products.</a:t>
            </a:r>
          </a:p>
          <a:p>
            <a:endParaRPr/>
          </a:p>
          <a:p>
            <a:r>
              <a:t>For Jira, you get 13 tools. These cover the full lifecycle: creating issues, editing fields, searching with JQL, transitioning workflow states, adding comments and worklogs, looking up user accounts, and querying project metadata.</a:t>
            </a:r>
          </a:p>
          <a:p>
            <a:endParaRPr/>
          </a:p>
          <a:p>
            <a:r>
              <a:t>For Confluence, there are 11 tools. You can create and update pages with Markdown, search using CQL, navigate page hierarchies, and manage both inline and footer comments.</a:t>
            </a:r>
          </a:p>
          <a:p>
            <a:endParaRPr/>
          </a:p>
          <a:p>
            <a:r>
              <a:t>Compass gets 6 tools for managing service catalog components and their relationships.</a:t>
            </a:r>
          </a:p>
          <a:p>
            <a:endParaRPr/>
          </a:p>
          <a:p>
            <a:r>
              <a:t>On top of these, there are shared platform tools: Rovo Search for natural language queries across both Jira and Confluence, a fetch tool for Atlassian Resource Identifiers, and user info tools. The community server adds even more: agile board management, sprint CRUD, bulk issue creation, and epic linking.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compare these two options side by side so you know which one to pick.</a:t>
            </a:r>
          </a:p>
          <a:p>
            <a:endParaRPr/>
          </a:p>
          <a:p>
            <a:r>
              <a:t>Choose the Official Rovo MCP when you are on Atlassian Cloud, want managed security with OAuth 2.1, need enterprise controls like audit logs and client allowlists, and want Compass support. Rate limits are tied to your plan tier, with Premium and Enterprise getting up to 1,000 requests per hour.</a:t>
            </a:r>
          </a:p>
          <a:p>
            <a:endParaRPr/>
          </a:p>
          <a:p>
            <a:r>
              <a:t>Choose the Community server when you need Server or Data Center support, want agile board and sprint management tools, need bulk operations like batch issue creation, or want full control over the server. It has no server-side rate limits -- only Atlassian API limits apply.</a:t>
            </a:r>
          </a:p>
          <a:p>
            <a:endParaRPr/>
          </a:p>
          <a:p>
            <a:r>
              <a:t>Many teams actually use both. The official server for day-to-day secure access, and the community server for advanced sprint planning workflows that need the extra agile tools.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Setup is straightforward with three paths to choose from.</a:t>
            </a:r>
          </a:p>
          <a:p>
            <a:endParaRPr/>
          </a:p>
          <a:p>
            <a:r>
              <a:t>Path A is the Official Remote MCP -- the simplest option. You just add a single URL endpoint to your .mcp.json file: https://mcp.atlassian.com/v1/mcp. Then run slash-mcp in Claude Code, authenticate via OAuth in your browser, and you are done. Two minutes, no Docker, no API tokens.</a:t>
            </a:r>
          </a:p>
          <a:p>
            <a:endParaRPr/>
          </a:p>
          <a:p>
            <a:r>
              <a:t>Path B is the Community server via Docker. Pull the image from GitHub Container Registry, set your environment variables for Jira and Confluence URLs, username, and API token. You can also set filters to limit which spaces and projects are visible, and enable READ_ONLY_MODE for safety.</a:t>
            </a:r>
          </a:p>
          <a:p>
            <a:endParaRPr/>
          </a:p>
          <a:p>
            <a:r>
              <a:t>Path C is the Community server via uvx -- no Docker needed. Same environment variables, just a different transport mechanism.</a:t>
            </a:r>
          </a:p>
          <a:p>
            <a:endParaRPr/>
          </a:p>
          <a:p>
            <a:r>
              <a:t>After any path, run slash-mcp in Claude Code to verify the server is connected and tools are available. For the community server, generate your API token at id.atlassian.com under security settings.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look at the workflows that make this integration truly powerful.</a:t>
            </a:r>
          </a:p>
          <a:p>
            <a:endParaRPr/>
          </a:p>
          <a:p>
            <a:r>
              <a:t>Context-aware coding is the most common use case. You are implementing a feature and instead of switching to Jira, you ask Claude: What are the acceptance criteria for PROJ-456? Claude reads the ticket and applies those requirements directly to the code being written.</a:t>
            </a:r>
          </a:p>
          <a:p>
            <a:endParaRPr/>
          </a:p>
          <a:p>
            <a:r>
              <a:t>PRD generation is a game-changer for product managers and engineers. Claude reads existing Confluence pages for architecture context, cross-references Jira tickets for feature status, generates a comprehensive Product Requirements Document, and writes it back to a new Confluence page.</a:t>
            </a:r>
          </a:p>
          <a:p>
            <a:endParaRPr/>
          </a:p>
          <a:p>
            <a:r>
              <a:t>Auto documentation covers everything from tech design docs to sprint retrospective notes generated from completed tickets.</a:t>
            </a:r>
          </a:p>
          <a:p>
            <a:endParaRPr/>
          </a:p>
          <a:p>
            <a:r>
              <a:t>Sprint planning with the community server is especially powerful -- you can list boards, manage sprints, create bulk issues from meeting notes, and track velocity.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share a real-world case study from Turo, the car-sharing platform.</a:t>
            </a:r>
          </a:p>
          <a:p>
            <a:endParaRPr/>
          </a:p>
          <a:p>
            <a:r>
              <a:t>Their engineering team published a detailed case study of their Claude Code plus MCP workflow. They combined mcp-atlassian for Jira and Confluence access with a SQLite database for persistent planning and Figma MCP for design-to-code workflows.</a:t>
            </a:r>
          </a:p>
          <a:p>
            <a:endParaRPr/>
          </a:p>
          <a:p>
            <a:r>
              <a:t>Their key innovation was the planning database. They discovered that AI needs persistent memory for long-running tasks. They created a SQLite schema where Claude decomposes markdown plans into tasks, dependencies, and progress logs.</a:t>
            </a:r>
          </a:p>
          <a:p>
            <a:endParaRPr/>
          </a:p>
          <a:p>
            <a:r>
              <a:t>The workflow goes like this: an engineer asks Claude to reference Jira tickets to seed a planning document. Claude generates a structured plan, decomposes it into the database, then executes tasks autonomously while tracking progress.</a:t>
            </a:r>
          </a:p>
          <a:p>
            <a:endParaRPr/>
          </a:p>
          <a:p>
            <a:r>
              <a:t>The result was transformative. Tech debt that was previously deferred because it was too labor-intensive -- like refactoring a 166-method monolithic service -- became feasible through AI-assisted autonomous execution. They achieved 30-plus minutes of autonomous AI work without losing context.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is critical when you are giving an AI access to your project management and documentation systems. Let's look at how both servers handle this.</a:t>
            </a:r>
          </a:p>
          <a:p>
            <a:endParaRPr/>
          </a:p>
          <a:p>
            <a:r>
              <a:t>The official Rovo MCP server uses OAuth 2.1, which means the AI client never sees your password. Every action respects your existing Atlassian Cloud permissions -- Claude can only do what you can do. Admins get full control: they decide which MCP clients can connect, and they get audit logs for all AI interactions with Jira and Confluence.</a:t>
            </a:r>
          </a:p>
          <a:p>
            <a:endParaRPr/>
          </a:p>
          <a:p>
            <a:r>
              <a:t>Nearly 40% of monthly active users on the Rovo MCP are enterprise customers, which shows the trust in the security model.</a:t>
            </a:r>
          </a:p>
          <a:p>
            <a:endParaRPr/>
          </a:p>
          <a:p>
            <a:r>
              <a:t>For the community server, security is user-managed. API tokens and Personal Access Tokens should never be committed to version control. Use .env files, keep them in .gitignore, and consider READ_ONLY_MODE for safety.</a:t>
            </a:r>
          </a:p>
          <a:p>
            <a:endParaRPr/>
          </a:p>
          <a:p>
            <a:r>
              <a:t>For both servers, remember: the MCP client can perform actions with your permissions. Use least privilege, review high-impact changes, and monitor audit logs.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real power of the Atlassian MCP emerges when you combine it with other MCP servers. This is the composability story.</a:t>
            </a:r>
          </a:p>
          <a:p>
            <a:endParaRPr/>
          </a:p>
          <a:p>
            <a:r>
              <a:t>Atlassian plus GitHub MCP lets you say: implement the feature described in JIRA-456 and create a pull request. Claude reads the Jira ticket for requirements, writes the code, and creates the PR -- all in one flow.</a:t>
            </a:r>
          </a:p>
          <a:p>
            <a:endParaRPr/>
          </a:p>
          <a:p>
            <a:r>
              <a:t>Atlassian plus Sentry MCP handles incident workflows. Claude checks Sentry for the error referenced in a bug ticket, analyzes the stack trace, and updates the Jira ticket with its findings.</a:t>
            </a:r>
          </a:p>
          <a:p>
            <a:endParaRPr/>
          </a:p>
          <a:p>
            <a:r>
              <a:t>Atlassian plus Figma MCP enables design-to-code. Select a design in Figma, Claude generates the code, and creates a Jira ticket for review.</a:t>
            </a:r>
          </a:p>
          <a:p>
            <a:endParaRPr/>
          </a:p>
          <a:p>
            <a:r>
              <a:t>Atlassian plus Database MCP covers data-driven workflows. Query production data, generate an incident report, and publish it to Confluence.</a:t>
            </a:r>
          </a:p>
          <a:p>
            <a:endParaRPr/>
          </a:p>
          <a:p>
            <a:r>
              <a:t>This is what makes MCP fundamentally different from one-off integrations. Each server adds capabilities, and Claude orchestrates across all of them.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wrap up with the key takeaways.</a:t>
            </a:r>
          </a:p>
          <a:p>
            <a:endParaRPr/>
          </a:p>
          <a:p>
            <a:r>
              <a:t>First, the Atlassian MCP eliminates context switching. Developers stay in their terminal or IDE instead of juggling Jira, Confluence, and code tabs.</a:t>
            </a:r>
          </a:p>
          <a:p>
            <a:endParaRPr/>
          </a:p>
          <a:p>
            <a:r>
              <a:t>Second, you have two clear paths. The Official Rovo MCP for cloud-hosted enterprise security with OAuth 2.1 and audit logs. The Community server for self-hosted deployments with advanced agile tools and on-prem support.</a:t>
            </a:r>
          </a:p>
          <a:p>
            <a:endParaRPr/>
          </a:p>
          <a:p>
            <a:r>
              <a:t>Third, the tool arsenal is comprehensive: 35-plus tools covering the full lifecycle of issues, pages, and components.</a:t>
            </a:r>
          </a:p>
          <a:p>
            <a:endParaRPr/>
          </a:p>
          <a:p>
            <a:r>
              <a:t>Fourth, natural language replaces syntax memorization. Say 'find all critical bugs in Project Alpha' instead of writing JQL.</a:t>
            </a:r>
          </a:p>
          <a:p>
            <a:endParaRPr/>
          </a:p>
          <a:p>
            <a:r>
              <a:t>Fifth, it is bidirectional -- not just reading data but creating issues, updating pages, transitioning tickets, and adding comments.</a:t>
            </a:r>
          </a:p>
          <a:p>
            <a:endParaRPr/>
          </a:p>
          <a:p>
            <a:r>
              <a:t>The Turo case study showed 30-plus minutes of autonomous execution, and the cross-tool workflows with GitHub, Sentry, and Figma show that MCP composability is the real multiplier. Setup takes about 15 minutes. The official server is now generally available. Go try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 SERIES</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The Claude Beast</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Atlassian MCP: Jira &amp; Confluence Integration</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Connecting Claude Code directly to your project management and documentation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rPr dirty="0"/>
              <a:t>35+ tools span Jira, Confluence, Compass, and cross-product search</a:t>
            </a:r>
          </a:p>
        </p:txBody>
      </p:sp>
      <p:sp>
        <p:nvSpPr>
          <p:cNvPr id="4" name="Rounded Rectangle 3"/>
          <p:cNvSpPr/>
          <p:nvPr/>
        </p:nvSpPr>
        <p:spPr>
          <a:xfrm>
            <a:off x="563354" y="2070538"/>
            <a:ext cx="5274091" cy="3069021"/>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62525" y="2364828"/>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3693" y="2364828"/>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4861" y="2364828"/>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2999" y="2314536"/>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rPr dirty="0"/>
              <a:t>OFFICIAL SERVER TOOLS</a:t>
            </a:r>
          </a:p>
        </p:txBody>
      </p:sp>
      <p:sp>
        <p:nvSpPr>
          <p:cNvPr id="9" name="TextBox 8"/>
          <p:cNvSpPr txBox="1"/>
          <p:nvPr/>
        </p:nvSpPr>
        <p:spPr>
          <a:xfrm>
            <a:off x="821698" y="2768846"/>
            <a:ext cx="4846320" cy="3611880"/>
          </a:xfrm>
          <a:prstGeom prst="rect">
            <a:avLst/>
          </a:prstGeom>
          <a:noFill/>
        </p:spPr>
        <p:txBody>
          <a:bodyPr wrap="square">
            <a:spAutoFit/>
          </a:bodyPr>
          <a:lstStyle/>
          <a:p>
            <a:pPr>
              <a:spcBef>
                <a:spcPts val="200"/>
              </a:spcBef>
              <a:spcAft>
                <a:spcPts val="800"/>
              </a:spcAft>
            </a:pPr>
            <a:r>
              <a:rPr sz="1500" dirty="0">
                <a:solidFill>
                  <a:srgbClr val="D4886B"/>
                </a:solidFill>
                <a:latin typeface="Calibri"/>
              </a:rPr>
              <a:t>  –  </a:t>
            </a:r>
            <a:r>
              <a:rPr sz="1500" b="1" dirty="0">
                <a:solidFill>
                  <a:srgbClr val="E8D5B7"/>
                </a:solidFill>
                <a:latin typeface="Calibri"/>
              </a:rPr>
              <a:t>13 Jira tools</a:t>
            </a:r>
            <a:r>
              <a:rPr sz="1500" dirty="0">
                <a:solidFill>
                  <a:srgbClr val="C4A882"/>
                </a:solidFill>
                <a:latin typeface="Calibri"/>
              </a:rPr>
              <a:t> — create, edit, search (JQL), transition, comment, worklog, metadata</a:t>
            </a:r>
          </a:p>
          <a:p>
            <a:pPr>
              <a:spcBef>
                <a:spcPts val="200"/>
              </a:spcBef>
              <a:spcAft>
                <a:spcPts val="800"/>
              </a:spcAft>
            </a:pPr>
            <a:r>
              <a:rPr sz="1500" dirty="0">
                <a:solidFill>
                  <a:srgbClr val="D4886B"/>
                </a:solidFill>
                <a:latin typeface="Calibri"/>
              </a:rPr>
              <a:t>  –  </a:t>
            </a:r>
            <a:r>
              <a:rPr sz="1500" b="1" dirty="0">
                <a:solidFill>
                  <a:srgbClr val="E8D5B7"/>
                </a:solidFill>
                <a:latin typeface="Calibri"/>
              </a:rPr>
              <a:t>11 Confluence tools</a:t>
            </a:r>
            <a:r>
              <a:rPr sz="1500" dirty="0">
                <a:solidFill>
                  <a:srgbClr val="C4A882"/>
                </a:solidFill>
                <a:latin typeface="Calibri"/>
              </a:rPr>
              <a:t> — create/update pages, search (CQL), inline &amp; footer comments</a:t>
            </a:r>
          </a:p>
          <a:p>
            <a:pPr>
              <a:spcBef>
                <a:spcPts val="200"/>
              </a:spcBef>
              <a:spcAft>
                <a:spcPts val="800"/>
              </a:spcAft>
            </a:pPr>
            <a:r>
              <a:rPr sz="1500" dirty="0">
                <a:solidFill>
                  <a:srgbClr val="D4886B"/>
                </a:solidFill>
                <a:latin typeface="Calibri"/>
              </a:rPr>
              <a:t>  –  </a:t>
            </a:r>
            <a:r>
              <a:rPr sz="1500" b="1" dirty="0">
                <a:solidFill>
                  <a:srgbClr val="E8D5B7"/>
                </a:solidFill>
                <a:latin typeface="Calibri"/>
              </a:rPr>
              <a:t>6 Compass tools</a:t>
            </a:r>
            <a:r>
              <a:rPr sz="1500" dirty="0">
                <a:solidFill>
                  <a:srgbClr val="C4A882"/>
                </a:solidFill>
                <a:latin typeface="Calibri"/>
              </a:rPr>
              <a:t> — components, relationships, custom field definitions</a:t>
            </a:r>
          </a:p>
        </p:txBody>
      </p:sp>
      <p:sp>
        <p:nvSpPr>
          <p:cNvPr id="10" name="Rounded Rectangle 9"/>
          <p:cNvSpPr/>
          <p:nvPr/>
        </p:nvSpPr>
        <p:spPr>
          <a:xfrm>
            <a:off x="6232634" y="2070538"/>
            <a:ext cx="5274091" cy="3069021"/>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31805" y="2364828"/>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32973" y="2364828"/>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34141" y="2364828"/>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12279" y="2314536"/>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rPr dirty="0"/>
              <a:t>COMMUNITY BONUS TOOLS</a:t>
            </a:r>
          </a:p>
        </p:txBody>
      </p:sp>
      <p:sp>
        <p:nvSpPr>
          <p:cNvPr id="15" name="TextBox 14"/>
          <p:cNvSpPr txBox="1"/>
          <p:nvPr/>
        </p:nvSpPr>
        <p:spPr>
          <a:xfrm>
            <a:off x="6490978" y="2768846"/>
            <a:ext cx="4846320" cy="3611880"/>
          </a:xfrm>
          <a:prstGeom prst="rect">
            <a:avLst/>
          </a:prstGeom>
          <a:noFill/>
        </p:spPr>
        <p:txBody>
          <a:bodyPr wrap="square">
            <a:spAutoFit/>
          </a:bodyPr>
          <a:lstStyle/>
          <a:p>
            <a:pPr>
              <a:spcBef>
                <a:spcPts val="200"/>
              </a:spcBef>
              <a:spcAft>
                <a:spcPts val="800"/>
              </a:spcAft>
            </a:pPr>
            <a:r>
              <a:rPr sz="1500" dirty="0">
                <a:solidFill>
                  <a:srgbClr val="D4886B"/>
                </a:solidFill>
                <a:latin typeface="Calibri"/>
              </a:rPr>
              <a:t>  –  </a:t>
            </a:r>
            <a:r>
              <a:rPr sz="1500" b="1" dirty="0">
                <a:solidFill>
                  <a:srgbClr val="E8D5B7"/>
                </a:solidFill>
                <a:latin typeface="Calibri"/>
              </a:rPr>
              <a:t>Agile boards</a:t>
            </a:r>
            <a:r>
              <a:rPr sz="1500" dirty="0">
                <a:solidFill>
                  <a:srgbClr val="C4A882"/>
                </a:solidFill>
                <a:latin typeface="Calibri"/>
              </a:rPr>
              <a:t> — list, get board issues</a:t>
            </a:r>
          </a:p>
          <a:p>
            <a:pPr>
              <a:spcBef>
                <a:spcPts val="200"/>
              </a:spcBef>
              <a:spcAft>
                <a:spcPts val="800"/>
              </a:spcAft>
            </a:pPr>
            <a:r>
              <a:rPr sz="1500" dirty="0">
                <a:solidFill>
                  <a:srgbClr val="D4886B"/>
                </a:solidFill>
                <a:latin typeface="Calibri"/>
              </a:rPr>
              <a:t>  –  </a:t>
            </a:r>
            <a:r>
              <a:rPr sz="1500" b="1" dirty="0">
                <a:solidFill>
                  <a:srgbClr val="E8D5B7"/>
                </a:solidFill>
                <a:latin typeface="Calibri"/>
              </a:rPr>
              <a:t>Sprint management</a:t>
            </a:r>
            <a:r>
              <a:rPr sz="1500" dirty="0">
                <a:solidFill>
                  <a:srgbClr val="C4A882"/>
                </a:solidFill>
                <a:latin typeface="Calibri"/>
              </a:rPr>
              <a:t> — create, update, get sprint issues, list sprints</a:t>
            </a:r>
          </a:p>
          <a:p>
            <a:pPr>
              <a:spcBef>
                <a:spcPts val="200"/>
              </a:spcBef>
              <a:spcAft>
                <a:spcPts val="800"/>
              </a:spcAft>
            </a:pPr>
            <a:r>
              <a:rPr sz="1500" dirty="0">
                <a:solidFill>
                  <a:srgbClr val="D4886B"/>
                </a:solidFill>
                <a:latin typeface="Calibri"/>
              </a:rPr>
              <a:t>  –  </a:t>
            </a:r>
            <a:r>
              <a:rPr sz="1500" b="1" dirty="0">
                <a:solidFill>
                  <a:srgbClr val="E8D5B7"/>
                </a:solidFill>
                <a:latin typeface="Calibri"/>
              </a:rPr>
              <a:t>Batch operations</a:t>
            </a:r>
            <a:r>
              <a:rPr sz="1500" dirty="0">
                <a:solidFill>
                  <a:srgbClr val="C4A882"/>
                </a:solidFill>
                <a:latin typeface="Calibri"/>
              </a:rPr>
              <a:t> — bulk issue creation</a:t>
            </a:r>
          </a:p>
          <a:p>
            <a:pPr>
              <a:spcBef>
                <a:spcPts val="200"/>
              </a:spcBef>
              <a:spcAft>
                <a:spcPts val="800"/>
              </a:spcAft>
            </a:pPr>
            <a:r>
              <a:rPr sz="1500" dirty="0">
                <a:solidFill>
                  <a:srgbClr val="D4886B"/>
                </a:solidFill>
                <a:latin typeface="Calibri"/>
              </a:rPr>
              <a:t>  –  </a:t>
            </a:r>
            <a:r>
              <a:rPr sz="1500" b="1" dirty="0">
                <a:solidFill>
                  <a:srgbClr val="E8D5B7"/>
                </a:solidFill>
                <a:latin typeface="Calibri"/>
              </a:rPr>
              <a:t>Epic linking</a:t>
            </a:r>
            <a:r>
              <a:rPr sz="1500" dirty="0">
                <a:solidFill>
                  <a:srgbClr val="C4A882"/>
                </a:solidFill>
                <a:latin typeface="Calibri"/>
              </a:rPr>
              <a:t> — link issues to epics</a:t>
            </a:r>
          </a:p>
          <a:p>
            <a:pPr>
              <a:spcBef>
                <a:spcPts val="200"/>
              </a:spcBef>
              <a:spcAft>
                <a:spcPts val="800"/>
              </a:spcAft>
            </a:pPr>
            <a:r>
              <a:rPr sz="1500" dirty="0">
                <a:solidFill>
                  <a:srgbClr val="D4886B"/>
                </a:solidFill>
                <a:latin typeface="Calibri"/>
              </a:rPr>
              <a:t>  –  </a:t>
            </a:r>
            <a:r>
              <a:rPr sz="1500" b="1" dirty="0">
                <a:solidFill>
                  <a:srgbClr val="E8D5B7"/>
                </a:solidFill>
                <a:latin typeface="Calibri"/>
              </a:rPr>
              <a:t>Attachments</a:t>
            </a:r>
            <a:r>
              <a:rPr sz="1500" dirty="0">
                <a:solidFill>
                  <a:srgbClr val="C4A882"/>
                </a:solidFill>
                <a:latin typeface="Calibri"/>
              </a:rPr>
              <a:t> — download from issues</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Choose Official for enterprise security, Community for agile power tools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rPr dirty="0"/>
              <a:t>Comparison</a:t>
            </a:r>
          </a:p>
        </p:txBody>
      </p:sp>
      <p:sp>
        <p:nvSpPr>
          <p:cNvPr id="4" name="Rounded Rectangle 3"/>
          <p:cNvSpPr/>
          <p:nvPr/>
        </p:nvSpPr>
        <p:spPr>
          <a:xfrm>
            <a:off x="54864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OFFICIAL ROVO MCP</a:t>
            </a:r>
          </a:p>
        </p:txBody>
      </p:sp>
      <p:sp>
        <p:nvSpPr>
          <p:cNvPr id="9" name="TextBox 8"/>
          <p:cNvSpPr txBox="1"/>
          <p:nvPr/>
        </p:nvSpPr>
        <p:spPr>
          <a:xfrm>
            <a:off x="77724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Hosting</a:t>
            </a:r>
            <a:r>
              <a:rPr sz="1500">
                <a:solidFill>
                  <a:srgbClr val="C4A882"/>
                </a:solidFill>
                <a:latin typeface="Calibri"/>
              </a:rPr>
              <a:t> — Cloud-hosted by Atlassian</a:t>
            </a:r>
          </a:p>
          <a:p>
            <a:pPr>
              <a:spcBef>
                <a:spcPts val="200"/>
              </a:spcBef>
              <a:spcAft>
                <a:spcPts val="800"/>
              </a:spcAft>
            </a:pPr>
            <a:r>
              <a:rPr sz="1500">
                <a:solidFill>
                  <a:srgbClr val="D4886B"/>
                </a:solidFill>
                <a:latin typeface="Calibri"/>
              </a:rPr>
              <a:t>  –  </a:t>
            </a:r>
            <a:r>
              <a:rPr sz="1500" b="1">
                <a:solidFill>
                  <a:srgbClr val="E8D5B7"/>
                </a:solidFill>
                <a:latin typeface="Calibri"/>
              </a:rPr>
              <a:t>Auth</a:t>
            </a:r>
            <a:r>
              <a:rPr sz="1500">
                <a:solidFill>
                  <a:srgbClr val="C4A882"/>
                </a:solidFill>
                <a:latin typeface="Calibri"/>
              </a:rPr>
              <a:t> — OAuth 2.1 (enterprise-grade)</a:t>
            </a:r>
          </a:p>
          <a:p>
            <a:pPr>
              <a:spcBef>
                <a:spcPts val="200"/>
              </a:spcBef>
              <a:spcAft>
                <a:spcPts val="800"/>
              </a:spcAft>
            </a:pPr>
            <a:r>
              <a:rPr sz="1500">
                <a:solidFill>
                  <a:srgbClr val="D4886B"/>
                </a:solidFill>
                <a:latin typeface="Calibri"/>
              </a:rPr>
              <a:t>  –  </a:t>
            </a:r>
            <a:r>
              <a:rPr sz="1500" b="1">
                <a:solidFill>
                  <a:srgbClr val="E8D5B7"/>
                </a:solidFill>
                <a:latin typeface="Calibri"/>
              </a:rPr>
              <a:t>Scope</a:t>
            </a:r>
            <a:r>
              <a:rPr sz="1500">
                <a:solidFill>
                  <a:srgbClr val="C4A882"/>
                </a:solidFill>
                <a:latin typeface="Calibri"/>
              </a:rPr>
              <a:t> — Jira + Confluence + Compass</a:t>
            </a:r>
          </a:p>
          <a:p>
            <a:pPr>
              <a:spcBef>
                <a:spcPts val="200"/>
              </a:spcBef>
              <a:spcAft>
                <a:spcPts val="800"/>
              </a:spcAft>
            </a:pPr>
            <a:r>
              <a:rPr sz="1500">
                <a:solidFill>
                  <a:srgbClr val="D4886B"/>
                </a:solidFill>
                <a:latin typeface="Calibri"/>
              </a:rPr>
              <a:t>  –  </a:t>
            </a:r>
            <a:r>
              <a:rPr sz="1500" b="1">
                <a:solidFill>
                  <a:srgbClr val="E8D5B7"/>
                </a:solidFill>
                <a:latin typeface="Calibri"/>
              </a:rPr>
              <a:t>Deployment</a:t>
            </a:r>
            <a:r>
              <a:rPr sz="1500">
                <a:solidFill>
                  <a:srgbClr val="C4A882"/>
                </a:solidFill>
                <a:latin typeface="Calibri"/>
              </a:rPr>
              <a:t> — Atlassian Cloud only</a:t>
            </a:r>
          </a:p>
          <a:p>
            <a:pPr>
              <a:spcBef>
                <a:spcPts val="200"/>
              </a:spcBef>
              <a:spcAft>
                <a:spcPts val="800"/>
              </a:spcAft>
            </a:pPr>
            <a:r>
              <a:rPr sz="1500">
                <a:solidFill>
                  <a:srgbClr val="D4886B"/>
                </a:solidFill>
                <a:latin typeface="Calibri"/>
              </a:rPr>
              <a:t>  –  </a:t>
            </a:r>
            <a:r>
              <a:rPr sz="1500" b="1">
                <a:solidFill>
                  <a:srgbClr val="E8D5B7"/>
                </a:solidFill>
                <a:latin typeface="Calibri"/>
              </a:rPr>
              <a:t>Admin</a:t>
            </a:r>
            <a:r>
              <a:rPr sz="1500">
                <a:solidFill>
                  <a:srgbClr val="C4A882"/>
                </a:solidFill>
                <a:latin typeface="Calibri"/>
              </a:rPr>
              <a:t> — Allowlists, audit logs, client restrictions</a:t>
            </a:r>
          </a:p>
          <a:p>
            <a:pPr>
              <a:spcBef>
                <a:spcPts val="200"/>
              </a:spcBef>
              <a:spcAft>
                <a:spcPts val="800"/>
              </a:spcAft>
            </a:pPr>
            <a:r>
              <a:rPr sz="1500">
                <a:solidFill>
                  <a:srgbClr val="D4886B"/>
                </a:solidFill>
                <a:latin typeface="Calibri"/>
              </a:rPr>
              <a:t>  –  </a:t>
            </a:r>
            <a:r>
              <a:rPr sz="1500" b="1">
                <a:solidFill>
                  <a:srgbClr val="E8D5B7"/>
                </a:solidFill>
                <a:latin typeface="Calibri"/>
              </a:rPr>
              <a:t>Rate limits</a:t>
            </a:r>
            <a:r>
              <a:rPr sz="1500">
                <a:solidFill>
                  <a:srgbClr val="C4A882"/>
                </a:solidFill>
                <a:latin typeface="Calibri"/>
              </a:rPr>
              <a:t> — Plan-based (up to 1,000 req/hr)</a:t>
            </a:r>
          </a:p>
        </p:txBody>
      </p:sp>
      <p:sp>
        <p:nvSpPr>
          <p:cNvPr id="10" name="Rounded Rectangle 9"/>
          <p:cNvSpPr/>
          <p:nvPr/>
        </p:nvSpPr>
        <p:spPr>
          <a:xfrm>
            <a:off x="621792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COMMUNITY (sooperset)</a:t>
            </a:r>
          </a:p>
        </p:txBody>
      </p:sp>
      <p:sp>
        <p:nvSpPr>
          <p:cNvPr id="15" name="TextBox 14"/>
          <p:cNvSpPr txBox="1"/>
          <p:nvPr/>
        </p:nvSpPr>
        <p:spPr>
          <a:xfrm>
            <a:off x="644652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Hosting</a:t>
            </a:r>
            <a:r>
              <a:rPr sz="1500">
                <a:solidFill>
                  <a:srgbClr val="C4A882"/>
                </a:solidFill>
                <a:latin typeface="Calibri"/>
              </a:rPr>
              <a:t> — Self-hosted (Docker / uvx)</a:t>
            </a:r>
          </a:p>
          <a:p>
            <a:pPr>
              <a:spcBef>
                <a:spcPts val="200"/>
              </a:spcBef>
              <a:spcAft>
                <a:spcPts val="800"/>
              </a:spcAft>
            </a:pPr>
            <a:r>
              <a:rPr sz="1500">
                <a:solidFill>
                  <a:srgbClr val="D4886B"/>
                </a:solidFill>
                <a:latin typeface="Calibri"/>
              </a:rPr>
              <a:t>  –  </a:t>
            </a:r>
            <a:r>
              <a:rPr sz="1500" b="1">
                <a:solidFill>
                  <a:srgbClr val="E8D5B7"/>
                </a:solidFill>
                <a:latin typeface="Calibri"/>
              </a:rPr>
              <a:t>Auth</a:t>
            </a:r>
            <a:r>
              <a:rPr sz="1500">
                <a:solidFill>
                  <a:srgbClr val="C4A882"/>
                </a:solidFill>
                <a:latin typeface="Calibri"/>
              </a:rPr>
              <a:t> — API tokens, PATs, OAuth 2.0</a:t>
            </a:r>
          </a:p>
          <a:p>
            <a:pPr>
              <a:spcBef>
                <a:spcPts val="200"/>
              </a:spcBef>
              <a:spcAft>
                <a:spcPts val="800"/>
              </a:spcAft>
            </a:pPr>
            <a:r>
              <a:rPr sz="1500">
                <a:solidFill>
                  <a:srgbClr val="D4886B"/>
                </a:solidFill>
                <a:latin typeface="Calibri"/>
              </a:rPr>
              <a:t>  –  </a:t>
            </a:r>
            <a:r>
              <a:rPr sz="1500" b="1">
                <a:solidFill>
                  <a:srgbClr val="E8D5B7"/>
                </a:solidFill>
                <a:latin typeface="Calibri"/>
              </a:rPr>
              <a:t>Scope</a:t>
            </a:r>
            <a:r>
              <a:rPr sz="1500">
                <a:solidFill>
                  <a:srgbClr val="C4A882"/>
                </a:solidFill>
                <a:latin typeface="Calibri"/>
              </a:rPr>
              <a:t> — Jira + Confluence (no Compass)</a:t>
            </a:r>
          </a:p>
          <a:p>
            <a:pPr>
              <a:spcBef>
                <a:spcPts val="200"/>
              </a:spcBef>
              <a:spcAft>
                <a:spcPts val="800"/>
              </a:spcAft>
            </a:pPr>
            <a:r>
              <a:rPr sz="1500">
                <a:solidFill>
                  <a:srgbClr val="D4886B"/>
                </a:solidFill>
                <a:latin typeface="Calibri"/>
              </a:rPr>
              <a:t>  –  </a:t>
            </a:r>
            <a:r>
              <a:rPr sz="1500" b="1">
                <a:solidFill>
                  <a:srgbClr val="E8D5B7"/>
                </a:solidFill>
                <a:latin typeface="Calibri"/>
              </a:rPr>
              <a:t>Deployment</a:t>
            </a:r>
            <a:r>
              <a:rPr sz="1500">
                <a:solidFill>
                  <a:srgbClr val="C4A882"/>
                </a:solidFill>
                <a:latin typeface="Calibri"/>
              </a:rPr>
              <a:t> — Cloud + Server/Data Center</a:t>
            </a:r>
          </a:p>
          <a:p>
            <a:pPr>
              <a:spcBef>
                <a:spcPts val="200"/>
              </a:spcBef>
              <a:spcAft>
                <a:spcPts val="800"/>
              </a:spcAft>
            </a:pPr>
            <a:r>
              <a:rPr sz="1500">
                <a:solidFill>
                  <a:srgbClr val="D4886B"/>
                </a:solidFill>
                <a:latin typeface="Calibri"/>
              </a:rPr>
              <a:t>  –  </a:t>
            </a:r>
            <a:r>
              <a:rPr sz="1500" b="1">
                <a:solidFill>
                  <a:srgbClr val="E8D5B7"/>
                </a:solidFill>
                <a:latin typeface="Calibri"/>
              </a:rPr>
              <a:t>Agile</a:t>
            </a:r>
            <a:r>
              <a:rPr sz="1500">
                <a:solidFill>
                  <a:srgbClr val="C4A882"/>
                </a:solidFill>
                <a:latin typeface="Calibri"/>
              </a:rPr>
              <a:t> — Full sprint/board management</a:t>
            </a:r>
          </a:p>
          <a:p>
            <a:pPr>
              <a:spcBef>
                <a:spcPts val="200"/>
              </a:spcBef>
              <a:spcAft>
                <a:spcPts val="800"/>
              </a:spcAft>
            </a:pPr>
            <a:r>
              <a:rPr sz="1500">
                <a:solidFill>
                  <a:srgbClr val="D4886B"/>
                </a:solidFill>
                <a:latin typeface="Calibri"/>
              </a:rPr>
              <a:t>  –  </a:t>
            </a:r>
            <a:r>
              <a:rPr sz="1500" b="1">
                <a:solidFill>
                  <a:srgbClr val="E8D5B7"/>
                </a:solidFill>
                <a:latin typeface="Calibri"/>
              </a:rPr>
              <a:t>License</a:t>
            </a:r>
            <a:r>
              <a:rPr sz="1500">
                <a:solidFill>
                  <a:srgbClr val="C4A882"/>
                </a:solidFill>
                <a:latin typeface="Calibri"/>
              </a:rPr>
              <a:t> — MIT open-source, 1.2k+ stars</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Three setup paths -- from one-line URL to full Docker deployment</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Setup</a:t>
            </a:r>
          </a:p>
        </p:txBody>
      </p:sp>
      <p:sp>
        <p:nvSpPr>
          <p:cNvPr id="4" name="Rounded Rectangle 3"/>
          <p:cNvSpPr/>
          <p:nvPr/>
        </p:nvSpPr>
        <p:spPr>
          <a:xfrm>
            <a:off x="54864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SETUP PATHS</a:t>
            </a:r>
          </a:p>
        </p:txBody>
      </p:sp>
      <p:sp>
        <p:nvSpPr>
          <p:cNvPr id="9" name="TextBox 8"/>
          <p:cNvSpPr txBox="1"/>
          <p:nvPr/>
        </p:nvSpPr>
        <p:spPr>
          <a:xfrm>
            <a:off x="77724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a:solidFill>
                  <a:srgbClr val="C4A882"/>
                </a:solidFill>
                <a:latin typeface="Calibri"/>
              </a:rPr>
              <a:t>Path A: Official Remote MCP (simplest)</a:t>
            </a:r>
          </a:p>
          <a:p>
            <a:pPr>
              <a:spcBef>
                <a:spcPts val="200"/>
              </a:spcBef>
              <a:spcAft>
                <a:spcPts val="800"/>
              </a:spcAft>
            </a:pPr>
            <a:r>
              <a:rPr sz="1500">
                <a:solidFill>
                  <a:srgbClr val="D4886B"/>
                </a:solidFill>
                <a:latin typeface="Calibri"/>
              </a:rPr>
              <a:t>  –  </a:t>
            </a:r>
            <a:r>
              <a:rPr sz="1500">
                <a:solidFill>
                  <a:srgbClr val="C4A882"/>
                </a:solidFill>
                <a:latin typeface="Calibri"/>
              </a:rPr>
              <a:t>One URL endpoint in .mcp.json</a:t>
            </a:r>
          </a:p>
          <a:p>
            <a:pPr>
              <a:spcBef>
                <a:spcPts val="200"/>
              </a:spcBef>
              <a:spcAft>
                <a:spcPts val="800"/>
              </a:spcAft>
            </a:pPr>
            <a:r>
              <a:rPr sz="1500">
                <a:solidFill>
                  <a:srgbClr val="D4886B"/>
                </a:solidFill>
                <a:latin typeface="Calibri"/>
              </a:rPr>
              <a:t>  –  </a:t>
            </a:r>
            <a:r>
              <a:rPr sz="1500" b="1">
                <a:solidFill>
                  <a:srgbClr val="E8D5B7"/>
                </a:solidFill>
                <a:latin typeface="Calibri"/>
              </a:rPr>
              <a:t>OAuth 2.1 via browser</a:t>
            </a:r>
            <a:r>
              <a:rPr sz="1500">
                <a:solidFill>
                  <a:srgbClr val="C4A882"/>
                </a:solidFill>
                <a:latin typeface="Calibri"/>
              </a:rPr>
              <a:t> — done in 2 min</a:t>
            </a:r>
          </a:p>
          <a:p>
            <a:pPr>
              <a:spcBef>
                <a:spcPts val="200"/>
              </a:spcBef>
              <a:spcAft>
                <a:spcPts val="800"/>
              </a:spcAft>
            </a:pPr>
            <a:r>
              <a:rPr sz="1500">
                <a:solidFill>
                  <a:srgbClr val="D4886B"/>
                </a:solidFill>
                <a:latin typeface="Calibri"/>
              </a:rPr>
              <a:t>  –  </a:t>
            </a:r>
            <a:r>
              <a:rPr sz="1500">
                <a:solidFill>
                  <a:srgbClr val="C4A882"/>
                </a:solidFill>
                <a:latin typeface="Calibri"/>
              </a:rPr>
              <a:t>Path B: Community via Docker</a:t>
            </a:r>
          </a:p>
          <a:p>
            <a:pPr>
              <a:spcBef>
                <a:spcPts val="200"/>
              </a:spcBef>
              <a:spcAft>
                <a:spcPts val="800"/>
              </a:spcAft>
            </a:pPr>
            <a:r>
              <a:rPr sz="1500">
                <a:solidFill>
                  <a:srgbClr val="D4886B"/>
                </a:solidFill>
                <a:latin typeface="Calibri"/>
              </a:rPr>
              <a:t>  –  </a:t>
            </a:r>
            <a:r>
              <a:rPr sz="1500">
                <a:solidFill>
                  <a:srgbClr val="C4A882"/>
                </a:solidFill>
                <a:latin typeface="Calibri"/>
              </a:rPr>
              <a:t>docker pull + configure env vars</a:t>
            </a:r>
          </a:p>
          <a:p>
            <a:pPr>
              <a:spcBef>
                <a:spcPts val="200"/>
              </a:spcBef>
              <a:spcAft>
                <a:spcPts val="800"/>
              </a:spcAft>
            </a:pPr>
            <a:r>
              <a:rPr sz="1500">
                <a:solidFill>
                  <a:srgbClr val="D4886B"/>
                </a:solidFill>
                <a:latin typeface="Calibri"/>
              </a:rPr>
              <a:t>  –  </a:t>
            </a:r>
            <a:r>
              <a:rPr sz="1500">
                <a:solidFill>
                  <a:srgbClr val="C4A882"/>
                </a:solidFill>
                <a:latin typeface="Calibri"/>
              </a:rPr>
              <a:t>Supports space/project filtering</a:t>
            </a:r>
          </a:p>
        </p:txBody>
      </p:sp>
      <p:sp>
        <p:nvSpPr>
          <p:cNvPr id="10" name="Rounded Rectangle 9"/>
          <p:cNvSpPr/>
          <p:nvPr/>
        </p:nvSpPr>
        <p:spPr>
          <a:xfrm>
            <a:off x="621792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KEY CONFIGURATION</a:t>
            </a:r>
          </a:p>
        </p:txBody>
      </p:sp>
      <p:sp>
        <p:nvSpPr>
          <p:cNvPr id="15" name="TextBox 14"/>
          <p:cNvSpPr txBox="1"/>
          <p:nvPr/>
        </p:nvSpPr>
        <p:spPr>
          <a:xfrm>
            <a:off x="644652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a:solidFill>
                  <a:srgbClr val="C4A882"/>
                </a:solidFill>
                <a:latin typeface="Calibri"/>
              </a:rPr>
              <a:t>Path C: Community via uvx (no Docker)</a:t>
            </a:r>
          </a:p>
          <a:p>
            <a:pPr>
              <a:spcBef>
                <a:spcPts val="200"/>
              </a:spcBef>
              <a:spcAft>
                <a:spcPts val="800"/>
              </a:spcAft>
            </a:pPr>
            <a:r>
              <a:rPr sz="1500">
                <a:solidFill>
                  <a:srgbClr val="D4886B"/>
                </a:solidFill>
                <a:latin typeface="Calibri"/>
              </a:rPr>
              <a:t>  –  </a:t>
            </a:r>
            <a:r>
              <a:rPr sz="1500">
                <a:solidFill>
                  <a:srgbClr val="C4A882"/>
                </a:solidFill>
                <a:latin typeface="Calibri"/>
              </a:rPr>
              <a:t>Same env vars, lighter footprint</a:t>
            </a:r>
          </a:p>
          <a:p>
            <a:pPr>
              <a:spcBef>
                <a:spcPts val="200"/>
              </a:spcBef>
              <a:spcAft>
                <a:spcPts val="800"/>
              </a:spcAft>
            </a:pPr>
            <a:r>
              <a:rPr sz="1500">
                <a:solidFill>
                  <a:srgbClr val="D4886B"/>
                </a:solidFill>
                <a:latin typeface="Calibri"/>
              </a:rPr>
              <a:t>  –  </a:t>
            </a:r>
            <a:r>
              <a:rPr sz="1500">
                <a:solidFill>
                  <a:srgbClr val="C4A882"/>
                </a:solidFill>
                <a:latin typeface="Calibri"/>
              </a:rPr>
              <a:t>Environment Variables:</a:t>
            </a:r>
          </a:p>
          <a:p>
            <a:pPr>
              <a:spcBef>
                <a:spcPts val="200"/>
              </a:spcBef>
              <a:spcAft>
                <a:spcPts val="800"/>
              </a:spcAft>
            </a:pPr>
            <a:r>
              <a:rPr sz="1500">
                <a:solidFill>
                  <a:srgbClr val="D4886B"/>
                </a:solidFill>
                <a:latin typeface="Calibri"/>
              </a:rPr>
              <a:t>  –  </a:t>
            </a:r>
            <a:r>
              <a:rPr sz="1500">
                <a:solidFill>
                  <a:srgbClr val="C4A882"/>
                </a:solidFill>
                <a:latin typeface="Calibri"/>
              </a:rPr>
              <a:t>CONFLUENCE_SPACES_FILTER</a:t>
            </a:r>
          </a:p>
          <a:p>
            <a:pPr>
              <a:spcBef>
                <a:spcPts val="200"/>
              </a:spcBef>
              <a:spcAft>
                <a:spcPts val="800"/>
              </a:spcAft>
            </a:pPr>
            <a:r>
              <a:rPr sz="1500">
                <a:solidFill>
                  <a:srgbClr val="D4886B"/>
                </a:solidFill>
                <a:latin typeface="Calibri"/>
              </a:rPr>
              <a:t>  –  </a:t>
            </a:r>
            <a:r>
              <a:rPr sz="1500">
                <a:solidFill>
                  <a:srgbClr val="C4A882"/>
                </a:solidFill>
                <a:latin typeface="Calibri"/>
              </a:rPr>
              <a:t>JIRA_PROJECTS_FILTER</a:t>
            </a:r>
          </a:p>
          <a:p>
            <a:pPr>
              <a:spcBef>
                <a:spcPts val="200"/>
              </a:spcBef>
              <a:spcAft>
                <a:spcPts val="800"/>
              </a:spcAft>
            </a:pPr>
            <a:r>
              <a:rPr sz="1500">
                <a:solidFill>
                  <a:srgbClr val="D4886B"/>
                </a:solidFill>
                <a:latin typeface="Calibri"/>
              </a:rPr>
              <a:t>  –  </a:t>
            </a:r>
            <a:r>
              <a:rPr sz="1500">
                <a:solidFill>
                  <a:srgbClr val="C4A882"/>
                </a:solidFill>
                <a:latin typeface="Calibri"/>
              </a:rPr>
              <a:t>READ_ONLY_MODE=true (safety)</a:t>
            </a:r>
          </a:p>
          <a:p>
            <a:pPr>
              <a:spcBef>
                <a:spcPts val="200"/>
              </a:spcBef>
              <a:spcAft>
                <a:spcPts val="800"/>
              </a:spcAft>
            </a:pPr>
            <a:r>
              <a:rPr sz="1500">
                <a:solidFill>
                  <a:srgbClr val="D4886B"/>
                </a:solidFill>
                <a:latin typeface="Calibri"/>
              </a:rPr>
              <a:t>  –  </a:t>
            </a:r>
            <a:r>
              <a:rPr sz="1500">
                <a:solidFill>
                  <a:srgbClr val="C4A882"/>
                </a:solidFill>
                <a:latin typeface="Calibri"/>
              </a:rPr>
              <a:t>MCP_VERBOSE=true (debugging)</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From context-aware coding to autonomous sprint planning</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Use Cases</a:t>
            </a:r>
          </a:p>
        </p:txBody>
      </p:sp>
      <p:sp>
        <p:nvSpPr>
          <p:cNvPr id="4" name="Rounded Rectangle 3"/>
          <p:cNvSpPr/>
          <p:nvPr/>
        </p:nvSpPr>
        <p:spPr>
          <a:xfrm>
            <a:off x="54864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DEVELOPER WORKFLOWS</a:t>
            </a:r>
          </a:p>
        </p:txBody>
      </p:sp>
      <p:sp>
        <p:nvSpPr>
          <p:cNvPr id="9" name="TextBox 8"/>
          <p:cNvSpPr txBox="1"/>
          <p:nvPr/>
        </p:nvSpPr>
        <p:spPr>
          <a:xfrm>
            <a:off x="77724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Context-Aware Coding</a:t>
            </a:r>
            <a:r>
              <a:rPr sz="1500">
                <a:solidFill>
                  <a:srgbClr val="C4A882"/>
                </a:solidFill>
                <a:latin typeface="Calibri"/>
              </a:rPr>
              <a:t> — Pull Jira ticket details while writing code -- acceptance criteria, blockers</a:t>
            </a:r>
          </a:p>
          <a:p>
            <a:pPr>
              <a:spcBef>
                <a:spcPts val="200"/>
              </a:spcBef>
              <a:spcAft>
                <a:spcPts val="800"/>
              </a:spcAft>
            </a:pPr>
            <a:r>
              <a:rPr sz="1500">
                <a:solidFill>
                  <a:srgbClr val="D4886B"/>
                </a:solidFill>
                <a:latin typeface="Calibri"/>
              </a:rPr>
              <a:t>  –  </a:t>
            </a:r>
            <a:r>
              <a:rPr sz="1500" b="1">
                <a:solidFill>
                  <a:srgbClr val="E8D5B7"/>
                </a:solidFill>
                <a:latin typeface="Calibri"/>
              </a:rPr>
              <a:t>PRD Generation</a:t>
            </a:r>
            <a:r>
              <a:rPr sz="1500">
                <a:solidFill>
                  <a:srgbClr val="C4A882"/>
                </a:solidFill>
                <a:latin typeface="Calibri"/>
              </a:rPr>
              <a:t> — Read Confluence specs + Jira epics, generate comprehensive PRDs, write back to Confluence</a:t>
            </a:r>
          </a:p>
          <a:p>
            <a:pPr>
              <a:spcBef>
                <a:spcPts val="200"/>
              </a:spcBef>
              <a:spcAft>
                <a:spcPts val="800"/>
              </a:spcAft>
            </a:pPr>
            <a:r>
              <a:rPr sz="1500">
                <a:solidFill>
                  <a:srgbClr val="D4886B"/>
                </a:solidFill>
                <a:latin typeface="Calibri"/>
              </a:rPr>
              <a:t>  –  </a:t>
            </a:r>
            <a:r>
              <a:rPr sz="1500" b="1">
                <a:solidFill>
                  <a:srgbClr val="E8D5B7"/>
                </a:solidFill>
                <a:latin typeface="Calibri"/>
              </a:rPr>
              <a:t>Auto Documentation</a:t>
            </a:r>
            <a:r>
              <a:rPr sz="1500">
                <a:solidFill>
                  <a:srgbClr val="C4A882"/>
                </a:solidFill>
                <a:latin typeface="Calibri"/>
              </a:rPr>
              <a:t> — Create tech design docs, sprint retros, and API docs from ticket data</a:t>
            </a:r>
          </a:p>
        </p:txBody>
      </p:sp>
      <p:sp>
        <p:nvSpPr>
          <p:cNvPr id="10" name="Rounded Rectangle 9"/>
          <p:cNvSpPr/>
          <p:nvPr/>
        </p:nvSpPr>
        <p:spPr>
          <a:xfrm>
            <a:off x="621792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TEAM WORKFLOWS</a:t>
            </a:r>
          </a:p>
        </p:txBody>
      </p:sp>
      <p:sp>
        <p:nvSpPr>
          <p:cNvPr id="15" name="TextBox 14"/>
          <p:cNvSpPr txBox="1"/>
          <p:nvPr/>
        </p:nvSpPr>
        <p:spPr>
          <a:xfrm>
            <a:off x="644652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Sprint Planning</a:t>
            </a:r>
            <a:r>
              <a:rPr sz="1500">
                <a:solidFill>
                  <a:srgbClr val="C4A882"/>
                </a:solidFill>
                <a:latin typeface="Calibri"/>
              </a:rPr>
              <a:t> — List boards, manage sprints, bulk create stories from meeting notes</a:t>
            </a:r>
          </a:p>
          <a:p>
            <a:pPr>
              <a:spcBef>
                <a:spcPts val="200"/>
              </a:spcBef>
              <a:spcAft>
                <a:spcPts val="800"/>
              </a:spcAft>
            </a:pPr>
            <a:r>
              <a:rPr sz="1500">
                <a:solidFill>
                  <a:srgbClr val="D4886B"/>
                </a:solidFill>
                <a:latin typeface="Calibri"/>
              </a:rPr>
              <a:t>  –  </a:t>
            </a:r>
            <a:r>
              <a:rPr sz="1500" b="1">
                <a:solidFill>
                  <a:srgbClr val="E8D5B7"/>
                </a:solidFill>
                <a:latin typeface="Calibri"/>
              </a:rPr>
              <a:t>Bug Triage</a:t>
            </a:r>
            <a:r>
              <a:rPr sz="1500">
                <a:solidFill>
                  <a:srgbClr val="C4A882"/>
                </a:solidFill>
                <a:latin typeface="Calibri"/>
              </a:rPr>
              <a:t> — Find critical bugs, read details, inspect code, comment with fix analysis</a:t>
            </a:r>
          </a:p>
          <a:p>
            <a:pPr>
              <a:spcBef>
                <a:spcPts val="200"/>
              </a:spcBef>
              <a:spcAft>
                <a:spcPts val="800"/>
              </a:spcAft>
            </a:pPr>
            <a:r>
              <a:rPr sz="1500">
                <a:solidFill>
                  <a:srgbClr val="D4886B"/>
                </a:solidFill>
                <a:latin typeface="Calibri"/>
              </a:rPr>
              <a:t>  –  </a:t>
            </a:r>
            <a:r>
              <a:rPr sz="1500" b="1">
                <a:solidFill>
                  <a:srgbClr val="E8D5B7"/>
                </a:solidFill>
                <a:latin typeface="Calibri"/>
              </a:rPr>
              <a:t>Meeting Notes to Tickets</a:t>
            </a:r>
            <a:r>
              <a:rPr sz="1500">
                <a:solidFill>
                  <a:srgbClr val="C4A882"/>
                </a:solidFill>
                <a:latin typeface="Calibri"/>
              </a:rPr>
              <a:t> — Parse notes and auto-create/update Jira issues</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Turo Engineering: 30+ minutes of autonomous AI execution with MCP</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Case Study</a:t>
            </a:r>
          </a:p>
        </p:txBody>
      </p:sp>
      <p:sp>
        <p:nvSpPr>
          <p:cNvPr id="4" name="TextBox 3"/>
          <p:cNvSpPr txBox="1"/>
          <p:nvPr/>
        </p:nvSpPr>
        <p:spPr>
          <a:xfrm>
            <a:off x="731520" y="1737360"/>
            <a:ext cx="6400800" cy="4389120"/>
          </a:xfrm>
          <a:prstGeom prst="rect">
            <a:avLst/>
          </a:prstGeom>
          <a:noFill/>
        </p:spPr>
        <p:txBody>
          <a:bodyPr wrap="square">
            <a:spAutoFit/>
          </a:bodyPr>
          <a:lstStyle/>
          <a:p>
            <a:pPr>
              <a:spcBef>
                <a:spcPts val="200"/>
              </a:spcBef>
              <a:spcAft>
                <a:spcPts val="1000"/>
              </a:spcAft>
            </a:pPr>
            <a:r>
              <a:rPr sz="1700">
                <a:solidFill>
                  <a:srgbClr val="D4886B"/>
                </a:solidFill>
                <a:latin typeface="Calibri"/>
              </a:rPr>
              <a:t>  –  </a:t>
            </a:r>
            <a:r>
              <a:rPr sz="1700" b="1">
                <a:solidFill>
                  <a:srgbClr val="E8D5B7"/>
                </a:solidFill>
                <a:latin typeface="Calibri"/>
              </a:rPr>
              <a:t>Stack</a:t>
            </a:r>
            <a:r>
              <a:rPr sz="1700">
                <a:solidFill>
                  <a:srgbClr val="C4A882"/>
                </a:solidFill>
                <a:latin typeface="Calibri"/>
              </a:rPr>
              <a:t> — mcp-atlassian + SQLite database + Figma MCP</a:t>
            </a:r>
          </a:p>
          <a:p>
            <a:pPr>
              <a:spcBef>
                <a:spcPts val="200"/>
              </a:spcBef>
              <a:spcAft>
                <a:spcPts val="1000"/>
              </a:spcAft>
            </a:pPr>
            <a:r>
              <a:rPr sz="1700">
                <a:solidFill>
                  <a:srgbClr val="D4886B"/>
                </a:solidFill>
                <a:latin typeface="Calibri"/>
              </a:rPr>
              <a:t>  –  </a:t>
            </a:r>
            <a:r>
              <a:rPr sz="1700" b="1">
                <a:solidFill>
                  <a:srgbClr val="E8D5B7"/>
                </a:solidFill>
                <a:latin typeface="Calibri"/>
              </a:rPr>
              <a:t>Innovation</a:t>
            </a:r>
            <a:r>
              <a:rPr sz="1700">
                <a:solidFill>
                  <a:srgbClr val="C4A882"/>
                </a:solidFill>
                <a:latin typeface="Calibri"/>
              </a:rPr>
              <a:t> — Persistent planning database for long tasks</a:t>
            </a:r>
          </a:p>
          <a:p>
            <a:pPr>
              <a:spcBef>
                <a:spcPts val="200"/>
              </a:spcBef>
              <a:spcAft>
                <a:spcPts val="1000"/>
              </a:spcAft>
            </a:pPr>
            <a:r>
              <a:rPr sz="1700">
                <a:solidFill>
                  <a:srgbClr val="D4886B"/>
                </a:solidFill>
                <a:latin typeface="Calibri"/>
              </a:rPr>
              <a:t>  –  </a:t>
            </a:r>
            <a:r>
              <a:rPr sz="1700">
                <a:solidFill>
                  <a:srgbClr val="C4A882"/>
                </a:solidFill>
                <a:latin typeface="Calibri"/>
              </a:rPr>
              <a:t>Claude decomposes markdown plans into tasks + dependencies</a:t>
            </a:r>
          </a:p>
          <a:p>
            <a:pPr>
              <a:spcBef>
                <a:spcPts val="200"/>
              </a:spcBef>
              <a:spcAft>
                <a:spcPts val="1000"/>
              </a:spcAft>
            </a:pPr>
            <a:r>
              <a:rPr sz="1700">
                <a:solidFill>
                  <a:srgbClr val="D4886B"/>
                </a:solidFill>
                <a:latin typeface="Calibri"/>
              </a:rPr>
              <a:t>  –  </a:t>
            </a:r>
            <a:r>
              <a:rPr sz="1700">
                <a:solidFill>
                  <a:srgbClr val="C4A882"/>
                </a:solidFill>
                <a:latin typeface="Calibri"/>
              </a:rPr>
              <a:t>Dynamic task selection, progress tracking across sessions</a:t>
            </a:r>
          </a:p>
          <a:p>
            <a:pPr>
              <a:spcBef>
                <a:spcPts val="200"/>
              </a:spcBef>
              <a:spcAft>
                <a:spcPts val="1000"/>
              </a:spcAft>
            </a:pPr>
            <a:r>
              <a:rPr sz="1700">
                <a:solidFill>
                  <a:srgbClr val="D4886B"/>
                </a:solidFill>
                <a:latin typeface="Calibri"/>
              </a:rPr>
              <a:t>  –  </a:t>
            </a:r>
            <a:r>
              <a:rPr sz="1700" b="1">
                <a:solidFill>
                  <a:srgbClr val="E8D5B7"/>
                </a:solidFill>
                <a:latin typeface="Calibri"/>
              </a:rPr>
              <a:t>Result</a:t>
            </a:r>
            <a:r>
              <a:rPr sz="1700">
                <a:solidFill>
                  <a:srgbClr val="C4A882"/>
                </a:solidFill>
                <a:latin typeface="Calibri"/>
              </a:rPr>
              <a:t> — Previously deferred tech debt became feasible</a:t>
            </a:r>
          </a:p>
          <a:p>
            <a:pPr>
              <a:spcBef>
                <a:spcPts val="200"/>
              </a:spcBef>
              <a:spcAft>
                <a:spcPts val="1000"/>
              </a:spcAft>
            </a:pPr>
            <a:r>
              <a:rPr sz="1700">
                <a:solidFill>
                  <a:srgbClr val="D4886B"/>
                </a:solidFill>
                <a:latin typeface="Calibri"/>
              </a:rPr>
              <a:t>  –  </a:t>
            </a:r>
            <a:r>
              <a:rPr sz="1700" b="1">
                <a:solidFill>
                  <a:srgbClr val="E8D5B7"/>
                </a:solidFill>
                <a:latin typeface="Calibri"/>
              </a:rPr>
              <a:t>Example</a:t>
            </a:r>
            <a:r>
              <a:rPr sz="1700">
                <a:solidFill>
                  <a:srgbClr val="C4A882"/>
                </a:solidFill>
                <a:latin typeface="Calibri"/>
              </a:rPr>
              <a:t> — Refactored 166-method monolithic service via AI</a:t>
            </a:r>
          </a:p>
        </p:txBody>
      </p:sp>
      <p:sp>
        <p:nvSpPr>
          <p:cNvPr id="5" name="Rounded Rectangle 4"/>
          <p:cNvSpPr/>
          <p:nvPr/>
        </p:nvSpPr>
        <p:spPr>
          <a:xfrm>
            <a:off x="7589520" y="1737360"/>
            <a:ext cx="4114800" cy="25603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818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019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220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810512"/>
            <a:ext cx="2926080" cy="320040"/>
          </a:xfrm>
          <a:prstGeom prst="rect">
            <a:avLst/>
          </a:prstGeom>
          <a:noFill/>
        </p:spPr>
        <p:txBody>
          <a:bodyPr wrap="square">
            <a:spAutoFit/>
          </a:bodyPr>
          <a:lstStyle/>
          <a:p>
            <a:pPr algn="ctr">
              <a:spcAft>
                <a:spcPts val="0"/>
              </a:spcAft>
              <a:defRPr sz="1100" b="0" i="0">
                <a:solidFill>
                  <a:srgbClr val="7A6E5D"/>
                </a:solidFill>
                <a:latin typeface="Calibri"/>
              </a:defRPr>
            </a:pPr>
            <a:r>
              <a:t>Key Insight</a:t>
            </a:r>
          </a:p>
        </p:txBody>
      </p:sp>
      <p:sp>
        <p:nvSpPr>
          <p:cNvPr id="10" name="TextBox 9"/>
          <p:cNvSpPr txBox="1"/>
          <p:nvPr/>
        </p:nvSpPr>
        <p:spPr>
          <a:xfrm>
            <a:off x="7863840" y="2331720"/>
            <a:ext cx="3566160" cy="1828800"/>
          </a:xfrm>
          <a:prstGeom prst="rect">
            <a:avLst/>
          </a:prstGeom>
          <a:noFill/>
        </p:spPr>
        <p:txBody>
          <a:bodyPr wrap="square">
            <a:spAutoFit/>
          </a:bodyPr>
          <a:lstStyle/>
          <a:p>
            <a:pPr algn="l">
              <a:spcAft>
                <a:spcPts val="0"/>
              </a:spcAft>
              <a:defRPr sz="1500" b="0" i="0">
                <a:solidFill>
                  <a:srgbClr val="E8D5B7"/>
                </a:solidFill>
                <a:latin typeface="Calibri"/>
              </a:defRPr>
            </a:pPr>
            <a:r>
              <a:t>Turo's key innovation: a persistent SQLite planning database that lets Claude decompose plans into tasks and track progress across sessions -- enabling 30+ minutes of autonomous execution.</a:t>
            </a:r>
          </a:p>
        </p:txBody>
      </p:sp>
      <p:sp>
        <p:nvSpPr>
          <p:cNvPr id="11" name="TextBox 1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Enterprise-ready security with OAuth 2.1, audit logs, and permission inheritance</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Security</a:t>
            </a:r>
          </a:p>
        </p:txBody>
      </p:sp>
      <p:sp>
        <p:nvSpPr>
          <p:cNvPr id="4" name="Rounded Rectangle 3"/>
          <p:cNvSpPr/>
          <p:nvPr/>
        </p:nvSpPr>
        <p:spPr>
          <a:xfrm>
            <a:off x="54864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OFFICIAL SERVER SECURITY</a:t>
            </a:r>
          </a:p>
        </p:txBody>
      </p:sp>
      <p:sp>
        <p:nvSpPr>
          <p:cNvPr id="9" name="TextBox 8"/>
          <p:cNvSpPr txBox="1"/>
          <p:nvPr/>
        </p:nvSpPr>
        <p:spPr>
          <a:xfrm>
            <a:off x="77724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OAuth 2.1</a:t>
            </a:r>
            <a:r>
              <a:rPr sz="1500">
                <a:solidFill>
                  <a:srgbClr val="C4A882"/>
                </a:solidFill>
                <a:latin typeface="Calibri"/>
              </a:rPr>
              <a:t> — AI client never sees passwords</a:t>
            </a:r>
          </a:p>
          <a:p>
            <a:pPr>
              <a:spcBef>
                <a:spcPts val="200"/>
              </a:spcBef>
              <a:spcAft>
                <a:spcPts val="800"/>
              </a:spcAft>
            </a:pPr>
            <a:r>
              <a:rPr sz="1500">
                <a:solidFill>
                  <a:srgbClr val="D4886B"/>
                </a:solidFill>
                <a:latin typeface="Calibri"/>
              </a:rPr>
              <a:t>  –  </a:t>
            </a:r>
            <a:r>
              <a:rPr sz="1500" b="1">
                <a:solidFill>
                  <a:srgbClr val="E8D5B7"/>
                </a:solidFill>
                <a:latin typeface="Calibri"/>
              </a:rPr>
              <a:t>Permission inheritance</a:t>
            </a:r>
            <a:r>
              <a:rPr sz="1500">
                <a:solidFill>
                  <a:srgbClr val="C4A882"/>
                </a:solidFill>
                <a:latin typeface="Calibri"/>
              </a:rPr>
              <a:t> — respects existing Atlassian Cloud permissions for every action</a:t>
            </a:r>
          </a:p>
          <a:p>
            <a:pPr>
              <a:spcBef>
                <a:spcPts val="200"/>
              </a:spcBef>
              <a:spcAft>
                <a:spcPts val="800"/>
              </a:spcAft>
            </a:pPr>
            <a:r>
              <a:rPr sz="1500">
                <a:solidFill>
                  <a:srgbClr val="D4886B"/>
                </a:solidFill>
                <a:latin typeface="Calibri"/>
              </a:rPr>
              <a:t>  –  </a:t>
            </a:r>
            <a:r>
              <a:rPr sz="1500" b="1">
                <a:solidFill>
                  <a:srgbClr val="E8D5B7"/>
                </a:solidFill>
                <a:latin typeface="Calibri"/>
              </a:rPr>
              <a:t>Admin controls</a:t>
            </a:r>
            <a:r>
              <a:rPr sz="1500">
                <a:solidFill>
                  <a:srgbClr val="C4A882"/>
                </a:solidFill>
                <a:latin typeface="Calibri"/>
              </a:rPr>
              <a:t> — allowlists for MCP clients, audit logs for all AI interactions</a:t>
            </a:r>
          </a:p>
          <a:p>
            <a:pPr>
              <a:spcBef>
                <a:spcPts val="200"/>
              </a:spcBef>
              <a:spcAft>
                <a:spcPts val="800"/>
              </a:spcAft>
            </a:pPr>
            <a:r>
              <a:rPr sz="1500">
                <a:solidFill>
                  <a:srgbClr val="D4886B"/>
                </a:solidFill>
                <a:latin typeface="Calibri"/>
              </a:rPr>
              <a:t>  –  </a:t>
            </a:r>
            <a:r>
              <a:rPr sz="1500">
                <a:solidFill>
                  <a:srgbClr val="C4A882"/>
                </a:solidFill>
                <a:latin typeface="Calibri"/>
              </a:rPr>
              <a:t>~40% of monthly active users are enterprise</a:t>
            </a:r>
          </a:p>
        </p:txBody>
      </p:sp>
      <p:sp>
        <p:nvSpPr>
          <p:cNvPr id="10" name="Rounded Rectangle 9"/>
          <p:cNvSpPr/>
          <p:nvPr/>
        </p:nvSpPr>
        <p:spPr>
          <a:xfrm>
            <a:off x="621792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COMMUNITY SERVER SECURITY</a:t>
            </a:r>
          </a:p>
        </p:txBody>
      </p:sp>
      <p:sp>
        <p:nvSpPr>
          <p:cNvPr id="15" name="TextBox 14"/>
          <p:cNvSpPr txBox="1"/>
          <p:nvPr/>
        </p:nvSpPr>
        <p:spPr>
          <a:xfrm>
            <a:off x="644652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API tokens / PATs</a:t>
            </a:r>
            <a:r>
              <a:rPr sz="1500">
                <a:solidFill>
                  <a:srgbClr val="C4A882"/>
                </a:solidFill>
                <a:latin typeface="Calibri"/>
              </a:rPr>
              <a:t> — never commit to git</a:t>
            </a:r>
          </a:p>
          <a:p>
            <a:pPr>
              <a:spcBef>
                <a:spcPts val="200"/>
              </a:spcBef>
              <a:spcAft>
                <a:spcPts val="800"/>
              </a:spcAft>
            </a:pPr>
            <a:r>
              <a:rPr sz="1500">
                <a:solidFill>
                  <a:srgbClr val="D4886B"/>
                </a:solidFill>
                <a:latin typeface="Calibri"/>
              </a:rPr>
              <a:t>  –  </a:t>
            </a:r>
            <a:r>
              <a:rPr sz="1500">
                <a:solidFill>
                  <a:srgbClr val="C4A882"/>
                </a:solidFill>
                <a:latin typeface="Calibri"/>
              </a:rPr>
              <a:t>Use .env files + .gitignore</a:t>
            </a:r>
          </a:p>
          <a:p>
            <a:pPr>
              <a:spcBef>
                <a:spcPts val="200"/>
              </a:spcBef>
              <a:spcAft>
                <a:spcPts val="800"/>
              </a:spcAft>
            </a:pPr>
            <a:r>
              <a:rPr sz="1500">
                <a:solidFill>
                  <a:srgbClr val="D4886B"/>
                </a:solidFill>
                <a:latin typeface="Calibri"/>
              </a:rPr>
              <a:t>  –  </a:t>
            </a:r>
            <a:r>
              <a:rPr sz="1500">
                <a:solidFill>
                  <a:srgbClr val="C4A882"/>
                </a:solidFill>
                <a:latin typeface="Calibri"/>
              </a:rPr>
              <a:t>READ_ONLY_MODE=true for safety</a:t>
            </a:r>
          </a:p>
          <a:p>
            <a:pPr>
              <a:spcBef>
                <a:spcPts val="200"/>
              </a:spcBef>
              <a:spcAft>
                <a:spcPts val="800"/>
              </a:spcAft>
            </a:pPr>
            <a:r>
              <a:rPr sz="1500">
                <a:solidFill>
                  <a:srgbClr val="D4886B"/>
                </a:solidFill>
                <a:latin typeface="Calibri"/>
              </a:rPr>
              <a:t>  –  </a:t>
            </a:r>
            <a:r>
              <a:rPr sz="1500">
                <a:solidFill>
                  <a:srgbClr val="C4A882"/>
                </a:solidFill>
                <a:latin typeface="Calibri"/>
              </a:rPr>
              <a:t>SSL verification for Server/Data Center</a:t>
            </a:r>
          </a:p>
          <a:p>
            <a:pPr>
              <a:spcBef>
                <a:spcPts val="200"/>
              </a:spcBef>
              <a:spcAft>
                <a:spcPts val="800"/>
              </a:spcAft>
            </a:pPr>
            <a:r>
              <a:rPr sz="1500">
                <a:solidFill>
                  <a:srgbClr val="D4886B"/>
                </a:solidFill>
                <a:latin typeface="Calibri"/>
              </a:rPr>
              <a:t>  –  </a:t>
            </a:r>
            <a:r>
              <a:rPr sz="1500">
                <a:solidFill>
                  <a:srgbClr val="C4A882"/>
                </a:solidFill>
                <a:latin typeface="Calibri"/>
              </a:rPr>
              <a:t>Both Servers: Use least privilege principle</a:t>
            </a:r>
          </a:p>
          <a:p>
            <a:pPr>
              <a:spcBef>
                <a:spcPts val="200"/>
              </a:spcBef>
              <a:spcAft>
                <a:spcPts val="800"/>
              </a:spcAft>
            </a:pPr>
            <a:r>
              <a:rPr sz="1500">
                <a:solidFill>
                  <a:srgbClr val="D4886B"/>
                </a:solidFill>
                <a:latin typeface="Calibri"/>
              </a:rPr>
              <a:t>  –  </a:t>
            </a:r>
            <a:r>
              <a:rPr sz="1500">
                <a:solidFill>
                  <a:srgbClr val="C4A882"/>
                </a:solidFill>
                <a:latin typeface="Calibri"/>
              </a:rPr>
              <a:t>Review high-impact changes before confirming</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Composing Atlassian MCP with GitHub, Sentry, Figma, and Database servers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Cross-Tool Workflows</a:t>
            </a:r>
          </a:p>
        </p:txBody>
      </p:sp>
      <p:sp>
        <p:nvSpPr>
          <p:cNvPr id="4" name="Rounded Rectangle 3"/>
          <p:cNvSpPr/>
          <p:nvPr/>
        </p:nvSpPr>
        <p:spPr>
          <a:xfrm>
            <a:off x="54864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JIRA + CODE WORKFLOWS</a:t>
            </a:r>
          </a:p>
        </p:txBody>
      </p:sp>
      <p:sp>
        <p:nvSpPr>
          <p:cNvPr id="9" name="TextBox 8"/>
          <p:cNvSpPr txBox="1"/>
          <p:nvPr/>
        </p:nvSpPr>
        <p:spPr>
          <a:xfrm>
            <a:off x="77724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Atlassian + GitHub MCP</a:t>
            </a:r>
            <a:r>
              <a:rPr sz="1500">
                <a:solidFill>
                  <a:srgbClr val="C4A882"/>
                </a:solidFill>
                <a:latin typeface="Calibri"/>
              </a:rPr>
              <a:t> — "Implement JIRA-456 and create a PR"</a:t>
            </a:r>
          </a:p>
          <a:p>
            <a:pPr>
              <a:spcBef>
                <a:spcPts val="200"/>
              </a:spcBef>
              <a:spcAft>
                <a:spcPts val="800"/>
              </a:spcAft>
            </a:pPr>
            <a:r>
              <a:rPr sz="1500">
                <a:solidFill>
                  <a:srgbClr val="D4886B"/>
                </a:solidFill>
                <a:latin typeface="Calibri"/>
              </a:rPr>
              <a:t>  –  </a:t>
            </a:r>
            <a:r>
              <a:rPr sz="1500" b="1">
                <a:solidFill>
                  <a:srgbClr val="E8D5B7"/>
                </a:solidFill>
                <a:latin typeface="Calibri"/>
              </a:rPr>
              <a:t>Atlassian + Sentry MCP</a:t>
            </a:r>
            <a:r>
              <a:rPr sz="1500">
                <a:solidFill>
                  <a:srgbClr val="C4A882"/>
                </a:solidFill>
                <a:latin typeface="Calibri"/>
              </a:rPr>
              <a:t> — "Check Sentry for BUG-789 error, update the ticket"</a:t>
            </a:r>
          </a:p>
        </p:txBody>
      </p:sp>
      <p:sp>
        <p:nvSpPr>
          <p:cNvPr id="10" name="Rounded Rectangle 9"/>
          <p:cNvSpPr/>
          <p:nvPr/>
        </p:nvSpPr>
        <p:spPr>
          <a:xfrm>
            <a:off x="621792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JIRA + OPERATIONS</a:t>
            </a:r>
          </a:p>
        </p:txBody>
      </p:sp>
      <p:sp>
        <p:nvSpPr>
          <p:cNvPr id="15" name="TextBox 14"/>
          <p:cNvSpPr txBox="1"/>
          <p:nvPr/>
        </p:nvSpPr>
        <p:spPr>
          <a:xfrm>
            <a:off x="644652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Atlassian + Figma MCP</a:t>
            </a:r>
            <a:r>
              <a:rPr sz="1500">
                <a:solidFill>
                  <a:srgbClr val="C4A882"/>
                </a:solidFill>
                <a:latin typeface="Calibri"/>
              </a:rPr>
              <a:t> — Design to code to Jira ticket for review</a:t>
            </a:r>
          </a:p>
          <a:p>
            <a:pPr>
              <a:spcBef>
                <a:spcPts val="200"/>
              </a:spcBef>
              <a:spcAft>
                <a:spcPts val="800"/>
              </a:spcAft>
            </a:pPr>
            <a:r>
              <a:rPr sz="1500">
                <a:solidFill>
                  <a:srgbClr val="D4886B"/>
                </a:solidFill>
                <a:latin typeface="Calibri"/>
              </a:rPr>
              <a:t>  –  </a:t>
            </a:r>
            <a:r>
              <a:rPr sz="1500" b="1">
                <a:solidFill>
                  <a:srgbClr val="E8D5B7"/>
                </a:solidFill>
                <a:latin typeface="Calibri"/>
              </a:rPr>
              <a:t>Atlassian + Database MCP</a:t>
            </a:r>
            <a:r>
              <a:rPr sz="1500">
                <a:solidFill>
                  <a:srgbClr val="C4A882"/>
                </a:solidFill>
                <a:latin typeface="Calibri"/>
              </a:rPr>
              <a:t> — Query data, generate incident reports in Confluence automatically</a:t>
            </a:r>
          </a:p>
          <a:p>
            <a:pPr>
              <a:spcBef>
                <a:spcPts val="200"/>
              </a:spcBef>
              <a:spcAft>
                <a:spcPts val="800"/>
              </a:spcAft>
            </a:pPr>
            <a:r>
              <a:rPr sz="1500">
                <a:solidFill>
                  <a:srgbClr val="D4886B"/>
                </a:solidFill>
                <a:latin typeface="Calibri"/>
              </a:rPr>
              <a:t>  –  </a:t>
            </a:r>
            <a:r>
              <a:rPr sz="1500">
                <a:solidFill>
                  <a:srgbClr val="C4A882"/>
                </a:solidFill>
                <a:latin typeface="Calibri"/>
              </a:rPr>
              <a:t>Each MCP server adds composable capabilities</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Atlassian MCP eliminates context switching and enables autonomous workflows</a:t>
            </a:r>
          </a:p>
        </p:txBody>
      </p:sp>
      <p:sp>
        <p:nvSpPr>
          <p:cNvPr id="4" name="Rounded Rectangle 3"/>
          <p:cNvSpPr/>
          <p:nvPr/>
        </p:nvSpPr>
        <p:spPr>
          <a:xfrm>
            <a:off x="54864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IMPACT</a:t>
            </a:r>
          </a:p>
        </p:txBody>
      </p:sp>
      <p:sp>
        <p:nvSpPr>
          <p:cNvPr id="9" name="TextBox 8"/>
          <p:cNvSpPr txBox="1"/>
          <p:nvPr/>
        </p:nvSpPr>
        <p:spPr>
          <a:xfrm>
            <a:off x="77724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b="1">
                <a:solidFill>
                  <a:srgbClr val="E8D5B7"/>
                </a:solidFill>
                <a:latin typeface="Calibri"/>
              </a:rPr>
              <a:t>Eliminates context switching</a:t>
            </a:r>
            <a:r>
              <a:rPr sz="1500">
                <a:solidFill>
                  <a:srgbClr val="C4A882"/>
                </a:solidFill>
                <a:latin typeface="Calibri"/>
              </a:rPr>
              <a:t> — stay in your IDE</a:t>
            </a:r>
          </a:p>
          <a:p>
            <a:pPr>
              <a:spcBef>
                <a:spcPts val="200"/>
              </a:spcBef>
              <a:spcAft>
                <a:spcPts val="800"/>
              </a:spcAft>
            </a:pPr>
            <a:r>
              <a:rPr sz="1500">
                <a:solidFill>
                  <a:srgbClr val="D4886B"/>
                </a:solidFill>
                <a:latin typeface="Calibri"/>
              </a:rPr>
              <a:t>  –  </a:t>
            </a:r>
            <a:r>
              <a:rPr sz="1500" b="1">
                <a:solidFill>
                  <a:srgbClr val="E8D5B7"/>
                </a:solidFill>
                <a:latin typeface="Calibri"/>
              </a:rPr>
              <a:t>Two paths</a:t>
            </a:r>
            <a:r>
              <a:rPr sz="1500">
                <a:solidFill>
                  <a:srgbClr val="C4A882"/>
                </a:solidFill>
                <a:latin typeface="Calibri"/>
              </a:rPr>
              <a:t> — Official (enterprise) vs Community (agile power)</a:t>
            </a:r>
          </a:p>
          <a:p>
            <a:pPr>
              <a:spcBef>
                <a:spcPts val="200"/>
              </a:spcBef>
              <a:spcAft>
                <a:spcPts val="800"/>
              </a:spcAft>
            </a:pPr>
            <a:r>
              <a:rPr sz="1500">
                <a:solidFill>
                  <a:srgbClr val="D4886B"/>
                </a:solidFill>
                <a:latin typeface="Calibri"/>
              </a:rPr>
              <a:t>  –  </a:t>
            </a:r>
            <a:r>
              <a:rPr sz="1500">
                <a:solidFill>
                  <a:srgbClr val="C4A882"/>
                </a:solidFill>
                <a:latin typeface="Calibri"/>
              </a:rPr>
              <a:t>35+ tools across Jira, Confluence, and Compass</a:t>
            </a:r>
          </a:p>
          <a:p>
            <a:pPr>
              <a:spcBef>
                <a:spcPts val="200"/>
              </a:spcBef>
              <a:spcAft>
                <a:spcPts val="800"/>
              </a:spcAft>
            </a:pPr>
            <a:r>
              <a:rPr sz="1500">
                <a:solidFill>
                  <a:srgbClr val="D4886B"/>
                </a:solidFill>
                <a:latin typeface="Calibri"/>
              </a:rPr>
              <a:t>  –  </a:t>
            </a:r>
            <a:r>
              <a:rPr sz="1500">
                <a:solidFill>
                  <a:srgbClr val="C4A882"/>
                </a:solidFill>
                <a:latin typeface="Calibri"/>
              </a:rPr>
              <a:t>Natural language replaces JQL/CQL memorization</a:t>
            </a:r>
          </a:p>
          <a:p>
            <a:pPr>
              <a:spcBef>
                <a:spcPts val="200"/>
              </a:spcBef>
              <a:spcAft>
                <a:spcPts val="800"/>
              </a:spcAft>
            </a:pPr>
            <a:r>
              <a:rPr sz="1500">
                <a:solidFill>
                  <a:srgbClr val="D4886B"/>
                </a:solidFill>
                <a:latin typeface="Calibri"/>
              </a:rPr>
              <a:t>  –  </a:t>
            </a:r>
            <a:r>
              <a:rPr sz="1500" b="1">
                <a:solidFill>
                  <a:srgbClr val="E8D5B7"/>
                </a:solidFill>
                <a:latin typeface="Calibri"/>
              </a:rPr>
              <a:t>Bidirectional</a:t>
            </a:r>
            <a:r>
              <a:rPr sz="1500">
                <a:solidFill>
                  <a:srgbClr val="C4A882"/>
                </a:solidFill>
                <a:latin typeface="Calibri"/>
              </a:rPr>
              <a:t> — reads AND writes issues, pages, comments</a:t>
            </a:r>
          </a:p>
        </p:txBody>
      </p:sp>
      <p:sp>
        <p:nvSpPr>
          <p:cNvPr id="10" name="Rounded Rectangle 9"/>
          <p:cNvSpPr/>
          <p:nvPr/>
        </p:nvSpPr>
        <p:spPr>
          <a:xfrm>
            <a:off x="6217920" y="1691640"/>
            <a:ext cx="5303520" cy="43891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46520" y="1828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47688" y="1828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48856" y="1828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1764792"/>
            <a:ext cx="4114800" cy="320040"/>
          </a:xfrm>
          <a:prstGeom prst="rect">
            <a:avLst/>
          </a:prstGeom>
          <a:noFill/>
        </p:spPr>
        <p:txBody>
          <a:bodyPr wrap="square">
            <a:spAutoFit/>
          </a:bodyPr>
          <a:lstStyle/>
          <a:p>
            <a:pPr algn="ctr">
              <a:spcAft>
                <a:spcPts val="0"/>
              </a:spcAft>
              <a:defRPr sz="1100" b="0" i="0">
                <a:solidFill>
                  <a:srgbClr val="7A6E5D"/>
                </a:solidFill>
                <a:latin typeface="Calibri"/>
              </a:defRPr>
            </a:pPr>
            <a:r>
              <a:t>GETTING STARTED</a:t>
            </a:r>
          </a:p>
        </p:txBody>
      </p:sp>
      <p:sp>
        <p:nvSpPr>
          <p:cNvPr id="15" name="TextBox 14"/>
          <p:cNvSpPr txBox="1"/>
          <p:nvPr/>
        </p:nvSpPr>
        <p:spPr>
          <a:xfrm>
            <a:off x="6446520" y="2240280"/>
            <a:ext cx="4846320" cy="3611880"/>
          </a:xfrm>
          <a:prstGeom prst="rect">
            <a:avLst/>
          </a:prstGeom>
          <a:noFill/>
        </p:spPr>
        <p:txBody>
          <a:bodyPr wrap="square">
            <a:spAutoFit/>
          </a:bodyPr>
          <a:lstStyle/>
          <a:p>
            <a:pPr>
              <a:spcBef>
                <a:spcPts val="200"/>
              </a:spcBef>
              <a:spcAft>
                <a:spcPts val="800"/>
              </a:spcAft>
            </a:pPr>
            <a:r>
              <a:rPr sz="1500">
                <a:solidFill>
                  <a:srgbClr val="D4886B"/>
                </a:solidFill>
                <a:latin typeface="Calibri"/>
              </a:rPr>
              <a:t>  –  </a:t>
            </a:r>
            <a:r>
              <a:rPr sz="1500">
                <a:solidFill>
                  <a:srgbClr val="C4A882"/>
                </a:solidFill>
                <a:latin typeface="Calibri"/>
              </a:rPr>
              <a:t>Setup in ~15 minutes (official is one URL)</a:t>
            </a:r>
          </a:p>
          <a:p>
            <a:pPr>
              <a:spcBef>
                <a:spcPts val="200"/>
              </a:spcBef>
              <a:spcAft>
                <a:spcPts val="800"/>
              </a:spcAft>
            </a:pPr>
            <a:r>
              <a:rPr sz="1500">
                <a:solidFill>
                  <a:srgbClr val="D4886B"/>
                </a:solidFill>
                <a:latin typeface="Calibri"/>
              </a:rPr>
              <a:t>  –  </a:t>
            </a:r>
            <a:r>
              <a:rPr sz="1500" b="1">
                <a:solidFill>
                  <a:srgbClr val="E8D5B7"/>
                </a:solidFill>
                <a:latin typeface="Calibri"/>
              </a:rPr>
              <a:t>Autonomous workflows</a:t>
            </a:r>
            <a:r>
              <a:rPr sz="1500">
                <a:solidFill>
                  <a:srgbClr val="C4A882"/>
                </a:solidFill>
                <a:latin typeface="Calibri"/>
              </a:rPr>
              <a:t> — 30+ min AI execution (Turo)</a:t>
            </a:r>
          </a:p>
          <a:p>
            <a:pPr>
              <a:spcBef>
                <a:spcPts val="200"/>
              </a:spcBef>
              <a:spcAft>
                <a:spcPts val="800"/>
              </a:spcAft>
            </a:pPr>
            <a:r>
              <a:rPr sz="1500">
                <a:solidFill>
                  <a:srgbClr val="D4886B"/>
                </a:solidFill>
                <a:latin typeface="Calibri"/>
              </a:rPr>
              <a:t>  –  </a:t>
            </a:r>
            <a:r>
              <a:rPr sz="1500">
                <a:solidFill>
                  <a:srgbClr val="C4A882"/>
                </a:solidFill>
                <a:latin typeface="Calibri"/>
              </a:rPr>
              <a:t>Composable with GitHub, Figma, Sentry MCPs</a:t>
            </a:r>
          </a:p>
          <a:p>
            <a:pPr>
              <a:spcBef>
                <a:spcPts val="200"/>
              </a:spcBef>
              <a:spcAft>
                <a:spcPts val="800"/>
              </a:spcAft>
            </a:pPr>
            <a:r>
              <a:rPr sz="1500">
                <a:solidFill>
                  <a:srgbClr val="D4886B"/>
                </a:solidFill>
                <a:latin typeface="Calibri"/>
              </a:rPr>
              <a:t>  –  </a:t>
            </a:r>
            <a:r>
              <a:rPr sz="1500" b="1">
                <a:solidFill>
                  <a:srgbClr val="E8D5B7"/>
                </a:solidFill>
                <a:latin typeface="Calibri"/>
              </a:rPr>
              <a:t>Enterprise-ready</a:t>
            </a:r>
            <a:r>
              <a:rPr sz="1500">
                <a:solidFill>
                  <a:srgbClr val="C4A882"/>
                </a:solidFill>
                <a:latin typeface="Calibri"/>
              </a:rPr>
              <a:t> — OAuth 2.1, audit logs, permissions</a:t>
            </a:r>
          </a:p>
          <a:p>
            <a:pPr>
              <a:spcBef>
                <a:spcPts val="200"/>
              </a:spcBef>
              <a:spcAft>
                <a:spcPts val="800"/>
              </a:spcAft>
            </a:pPr>
            <a:r>
              <a:rPr sz="1500">
                <a:solidFill>
                  <a:srgbClr val="D4886B"/>
                </a:solidFill>
                <a:latin typeface="Calibri"/>
              </a:rPr>
              <a:t>  –  </a:t>
            </a:r>
            <a:r>
              <a:rPr sz="1500">
                <a:solidFill>
                  <a:srgbClr val="C4A882"/>
                </a:solidFill>
                <a:latin typeface="Calibri"/>
              </a:rPr>
              <a:t>Official Rovo MCP is now GA (early 2026)</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2523</Words>
  <Application>Microsoft Macintosh PowerPoint</Application>
  <PresentationFormat>Widescreen</PresentationFormat>
  <Paragraphs>195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2</cp:revision>
  <dcterms:created xsi:type="dcterms:W3CDTF">2013-01-27T09:14:16Z</dcterms:created>
  <dcterms:modified xsi:type="dcterms:W3CDTF">2026-02-26T12:58:37Z</dcterms:modified>
  <cp:category/>
</cp:coreProperties>
</file>