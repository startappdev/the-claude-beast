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1" r:id="rId6"/>
    <p:sldId id="262" r:id="rId7"/>
    <p:sldId id="263" r:id="rId8"/>
    <p:sldId id="264"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32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3953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Claude Beast series. Today we're covering LSP -- the Language Server Protocol -- and how it transforms Claude Code from a text-processing tool into one with genuine semantic code understanding.</a:t>
            </a:r>
          </a:p>
          <a:p>
            <a:endParaRPr/>
          </a:p>
          <a:p>
            <a:r>
              <a:t>LSP is the same technology that powers VS Code, JetBrains, and every modern IDE. Since December 2025, Claude Code has native LSP integration, marking a significant leap in AI-assisted development.</a:t>
            </a:r>
          </a:p>
          <a:p>
            <a:endParaRPr/>
          </a:p>
          <a:p>
            <a:r>
              <a:t>Key message: LSP gives Claude "eyes" that understand code structure, not just text.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Language Server Protocol was created by Microsoft in 2016 to solve a fundamental scaling problem in developer tooling.</a:t>
            </a:r>
          </a:p>
          <a:p>
            <a:endParaRPr/>
          </a:p>
          <a:p>
            <a:r>
              <a:t>Before LSP: If you had 10 editors and 20 languages, you needed 200 separate implementations. That's why many editors only supported a handful of languages well.</a:t>
            </a:r>
          </a:p>
          <a:p>
            <a:endParaRPr/>
          </a:p>
          <a:p>
            <a:r>
              <a:t>After LSP: You need 10 editor integrations plus 20 language servers -- just 30 implementations total. A single language server like Pyright for Python works identically in VS Code, Neovim, Sublime Text, and now Claude Code.</a:t>
            </a:r>
          </a:p>
          <a:p>
            <a:endParaRPr/>
          </a:p>
          <a:p>
            <a:r>
              <a:t>Transition: So what exactly does LSP provide to an AI coding assistant?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Without LSP, AI coding agents rely on text-based grep searches. This is like reading code with blurry vision -- you see text patterns but miss the semantic meaning.</a:t>
            </a:r>
          </a:p>
          <a:p>
            <a:endParaRPr/>
          </a:p>
          <a:p>
            <a:r>
              <a:t>The grep approach returns false positives. It can't tell the difference between a local variable named 'config' and a module-level 'config' elsewhere. It burns tokens processing hundreds of irrelevant matches.</a:t>
            </a:r>
          </a:p>
          <a:p>
            <a:endParaRPr/>
          </a:p>
          <a:p>
            <a:r>
              <a:t>With LSP, Claude gains semantic understanding -- it knows the structure, types, and relationships of code, not just the text. After every edit, the language server reports type errors and missing imports automatically. If Claude introduces a bug, it notices and fixes it in the same turn.</a:t>
            </a:r>
          </a:p>
          <a:p>
            <a:endParaRPr/>
          </a:p>
          <a:p>
            <a:r>
              <a:t>Transition: Let's look at the specific operations Claude can now perform.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Claude Code exposes 9 core LSP operations that map to standard Language Server Protocol commands.</a:t>
            </a:r>
          </a:p>
          <a:p>
            <a:endParaRPr/>
          </a:p>
          <a:p>
            <a:r>
              <a:t>The most commonly used are goToDefinition, findReferences, and hover. These three alone cover most navigation needs.</a:t>
            </a:r>
          </a:p>
          <a:p>
            <a:endParaRPr/>
          </a:p>
          <a:p>
            <a:r>
              <a:t>goToDefinition jumps directly to where any function, class, or variable is defined. findReferences locates every usage of a symbol -- not text matches, but actual semantic references. hover gives you type signatures and documentation inline.</a:t>
            </a:r>
          </a:p>
          <a:p>
            <a:endParaRPr/>
          </a:p>
          <a:p>
            <a:r>
              <a:t>The call hierarchy operations (7, 8, 9) are especially powerful for understanding complex codebases -- you can trace who calls a function and what a function calls.</a:t>
            </a:r>
          </a:p>
          <a:p>
            <a:endParaRPr/>
          </a:p>
          <a:p>
            <a:r>
              <a:t>Key insight: LSP is for semantic operations. Grep remains appropriate for literal text searches like finding TODOs or config values.</a:t>
            </a:r>
          </a:p>
          <a:p>
            <a:endParaRPr/>
          </a:p>
          <a:p>
            <a:r>
              <a:t>Transition: Let's talk about the performance impact.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Setting up TypeScript LSP takes about 5 minutes.</a:t>
            </a:r>
          </a:p>
          <a:p>
            <a:endParaRPr/>
          </a:p>
          <a:p>
            <a:r>
              <a:t>Step 1: Enable the LSP tool. You can set ENABLE_LSP_TOOL=1 as an environment variable, add it to your shell profile, or put it in your settings.json file. The settings.json approach is recommended for teams.</a:t>
            </a:r>
          </a:p>
          <a:p>
            <a:endParaRPr/>
          </a:p>
          <a:p>
            <a:r>
              <a:t>Step 2: Install the language server binary. The plugin only configures the connection -- you need the actual server installed separately. For TypeScript, that's typescript-language-server and typescript via npm.</a:t>
            </a:r>
          </a:p>
          <a:p>
            <a:endParaRPr/>
          </a:p>
          <a:p>
            <a:r>
              <a:t>Step 3: Install the Claude Code plugin. Use the /plugin command and install from the official Anthropic marketplace.</a:t>
            </a:r>
          </a:p>
          <a:p>
            <a:endParaRPr/>
          </a:p>
          <a:p>
            <a:r>
              <a:t>Step 4: Restart Claude Code. LSP requires a fresh session to initialize properly.</a:t>
            </a:r>
          </a:p>
          <a:p>
            <a:endParaRPr/>
          </a:p>
          <a:p>
            <a:r>
              <a:t>To verify: ask Claude to go to a definition. If it gives you a file and line number instantly, LSP is working. If it says "I'm searching through the codebase," it's falling back to grep.</a:t>
            </a:r>
          </a:p>
          <a:p>
            <a:endParaRPr/>
          </a:p>
          <a:p>
            <a:r>
              <a:t>Transition: TypeScript is just the beginning -- LSP supports many more languages.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LSP support extends far beyond TypeScript.</a:t>
            </a:r>
          </a:p>
          <a:p>
            <a:endParaRPr/>
          </a:p>
          <a:p>
            <a:r>
              <a:t>The official Anthropic marketplace includes 11 languages covering the most popular ecosystems: TypeScript, Python with Pyright, Go with gopls, Rust with rust-analyzer, Java, C/C++, C#, Swift, Kotlin, Lua, and PHP.</a:t>
            </a:r>
          </a:p>
          <a:p>
            <a:endParaRPr/>
          </a:p>
          <a:p>
            <a:r>
              <a:t>The community marketplace from Piebald-AI extends this to 17+ languages, adding PowerShell, HTML/CSS, LaTeX, Julia, Vue, OCaml, and more. The community project has 253+ stars and 20+ contributors.</a:t>
            </a:r>
          </a:p>
          <a:p>
            <a:endParaRPr/>
          </a:p>
          <a:p>
            <a:r>
              <a:t>For multi-language projects, you install plugins for each language and Claude Code automatically activates the appropriate language server based on file extensions. No manual switching needed.</a:t>
            </a:r>
          </a:p>
          <a:p>
            <a:endParaRPr/>
          </a:p>
          <a:p>
            <a:r>
              <a:t>Notable ecosystem projects: cclsp is an MCP server approach with 566+ stars, and lsp-tools enforces best practices with hooks.</a:t>
            </a:r>
          </a:p>
          <a:p>
            <a:endParaRPr/>
          </a:p>
          <a:p>
            <a:r>
              <a:t>Transition: Speaking of best practices, let's talk about the Three Iron Laws.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lsp-tools plugin enforces Three Iron Laws -- mandatory behavioral constraints that dramatically improve code quality.</a:t>
            </a:r>
          </a:p>
          <a:p>
            <a:endParaRPr/>
          </a:p>
          <a:p>
            <a:r>
              <a:t>Law 1: Never modify unfamiliar code without goToDefinition first. Always understand the actual implementation before changing it. Function names can be misleading -- the implementation may not match what you'd assume from the name.</a:t>
            </a:r>
          </a:p>
          <a:p>
            <a:endParaRPr/>
          </a:p>
          <a:p>
            <a:r>
              <a:t>Law 2: Never refactor without findReferences impact analysis first. Before making any change, assess the full scope. This prevents the classic mistake of a quick refactor that misses half the call sites and breaks production.</a:t>
            </a:r>
          </a:p>
          <a:p>
            <a:endParaRPr/>
          </a:p>
          <a:p>
            <a:r>
              <a:t>Law 3: Never claim code works without LSP diagnostics verification. After every modification, check for type errors. LSP catches type mismatches, missing imports, and other issues immediately -- no need to wait for compilation or runtime.</a:t>
            </a:r>
          </a:p>
          <a:p>
            <a:endParaRPr/>
          </a:p>
          <a:p>
            <a:r>
              <a:t>The Pre-Edit Protocol summarizes this: Navigate to understand, Analyze references for impact, Inspect types, and only then make your edit.</a:t>
            </a:r>
          </a:p>
          <a:p>
            <a:endParaRPr/>
          </a:p>
          <a:p>
            <a:r>
              <a:t>Transition: Let's look at the setup and configuration details.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Configuration is straightforward with three levels of settings files.</a:t>
            </a:r>
          </a:p>
          <a:p>
            <a:endParaRPr/>
          </a:p>
          <a:p>
            <a:r>
              <a:t>User-level settings in ~/.claude/settings.json apply to all your projects. Project-level settings in .claude/settings.json are shared with your team via version control. Local settings in .claude/settings.local.json are gitignored for personal overrides.</a:t>
            </a:r>
          </a:p>
          <a:p>
            <a:endParaRPr/>
          </a:p>
          <a:p>
            <a:r>
              <a:t>The plugin configuration file (.lsp.json) has two required fields: the command to run the language server binary, and the extensionToLanguage mapping. Everything else is optional but useful -- transport mode, restart behavior, timeouts.</a:t>
            </a:r>
          </a:p>
          <a:p>
            <a:endParaRPr/>
          </a:p>
          <a:p>
            <a:r>
              <a:t>Common issues and fixes: If you see 'No LSP server available', you need to install the plugin and restart. If 'Executable not found', you need to install the actual language server binary. Cache issues can be fixed by clearing the plugins cache directory.</a:t>
            </a:r>
          </a:p>
          <a:p>
            <a:endParaRPr/>
          </a:p>
          <a:p>
            <a:r>
              <a:t>Debug tip: Run claude --debug for verbose logging, or check the /plugin Errors tab for server-specific issues.</a:t>
            </a:r>
          </a:p>
          <a:p>
            <a:endParaRPr/>
          </a:p>
          <a:p>
            <a:r>
              <a:t>Transition: Let's wrap up with the key takeaways.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recap the key takeaways.</a:t>
            </a:r>
          </a:p>
          <a:p>
            <a:endParaRPr/>
          </a:p>
          <a:p>
            <a:r>
              <a:t>First: LSP transforms Claude Code from a text processor into a tool with genuine semantic code understanding. It's the same technology powering every modern IDE, now feeding directly into AI reasoning.</a:t>
            </a:r>
          </a:p>
          <a:p>
            <a:endParaRPr/>
          </a:p>
          <a:p>
            <a:r>
              <a:t>Second: The performance gains are dramatic -- 900x faster navigation, 75% fewer tokens consumed, and elimination of false positives. This translates to faster development, lower costs, and better results.</a:t>
            </a:r>
          </a:p>
          <a:p>
            <a:endParaRPr/>
          </a:p>
          <a:p>
            <a:r>
              <a:t>Third: Support is broad -- 11 official languages plus 17+ via the community marketplace. Setup takes about 5 minutes per language.</a:t>
            </a:r>
          </a:p>
          <a:p>
            <a:endParaRPr/>
          </a:p>
          <a:p>
            <a:r>
              <a:t>Fourth: The Three Iron Laws provide a framework for best practices: always navigate to understand, analyze references for impact, inspect types, and only then make edits.</a:t>
            </a:r>
          </a:p>
          <a:p>
            <a:endParaRPr/>
          </a:p>
          <a:p>
            <a:r>
              <a:t>Fifth: The combination of Claude's 200K context window with LSP semantic understanding is uniquely powerful -- no other AI tool has this combination.</a:t>
            </a:r>
          </a:p>
          <a:p>
            <a:endParaRPr/>
          </a:p>
          <a:p>
            <a:r>
              <a:t>Your adoption path: start with your primary language, verify it works with a simple goToDefinition test, then expand. Share settings with your team via project-level configuration.</a:t>
            </a:r>
          </a:p>
          <a:p>
            <a:endParaRPr/>
          </a:p>
          <a:p>
            <a:r>
              <a:t>Thank you.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5486400" cy="365760"/>
          </a:xfrm>
          <a:prstGeom prst="rect">
            <a:avLst/>
          </a:prstGeom>
          <a:noFill/>
        </p:spPr>
        <p:txBody>
          <a:bodyPr wrap="square">
            <a:spAutoFit/>
          </a:bodyPr>
          <a:lstStyle/>
          <a:p>
            <a:pPr algn="l">
              <a:spcAft>
                <a:spcPts val="0"/>
              </a:spcAft>
              <a:defRPr sz="1300" b="0" i="0">
                <a:solidFill>
                  <a:srgbClr val="7A6E5D"/>
                </a:solidFill>
                <a:latin typeface="JetBrains Mono"/>
              </a:defRPr>
            </a:pPr>
            <a:r>
              <a:t>start.io  |  February 2026</a:t>
            </a:r>
          </a:p>
        </p:txBody>
      </p:sp>
      <p:sp>
        <p:nvSpPr>
          <p:cNvPr id="3" name="TextBox 2"/>
          <p:cNvSpPr txBox="1"/>
          <p:nvPr/>
        </p:nvSpPr>
        <p:spPr>
          <a:xfrm>
            <a:off x="731520" y="1828800"/>
            <a:ext cx="10515600" cy="1371600"/>
          </a:xfrm>
          <a:prstGeom prst="rect">
            <a:avLst/>
          </a:prstGeom>
          <a:noFill/>
        </p:spPr>
        <p:txBody>
          <a:bodyPr wrap="square">
            <a:spAutoFit/>
          </a:bodyPr>
          <a:lstStyle/>
          <a:p>
            <a:pPr algn="ctr">
              <a:spcAft>
                <a:spcPts val="0"/>
              </a:spcAft>
              <a:defRPr sz="5400" b="0" i="0">
                <a:solidFill>
                  <a:srgbClr val="E8D5B7"/>
                </a:solidFill>
                <a:latin typeface="Georgia"/>
              </a:defRPr>
            </a:pPr>
            <a:r>
              <a:t>THE CLAUDE BEAST</a:t>
            </a:r>
          </a:p>
        </p:txBody>
      </p:sp>
      <p:sp>
        <p:nvSpPr>
          <p:cNvPr id="4" name="TextBox 3"/>
          <p:cNvSpPr txBox="1"/>
          <p:nvPr/>
        </p:nvSpPr>
        <p:spPr>
          <a:xfrm>
            <a:off x="731520" y="3291840"/>
            <a:ext cx="10515600" cy="731520"/>
          </a:xfrm>
          <a:prstGeom prst="rect">
            <a:avLst/>
          </a:prstGeom>
          <a:noFill/>
        </p:spPr>
        <p:txBody>
          <a:bodyPr wrap="square">
            <a:spAutoFit/>
          </a:bodyPr>
          <a:lstStyle/>
          <a:p>
            <a:pPr algn="ctr">
              <a:spcAft>
                <a:spcPts val="0"/>
              </a:spcAft>
              <a:defRPr sz="2400" b="0" i="0">
                <a:solidFill>
                  <a:srgbClr val="C4A882"/>
                </a:solidFill>
                <a:latin typeface="Calibri"/>
              </a:defRPr>
            </a:pPr>
            <a:r>
              <a:t>LSP: Language Server Protocol</a:t>
            </a:r>
          </a:p>
        </p:txBody>
      </p:sp>
      <p:sp>
        <p:nvSpPr>
          <p:cNvPr id="5" name="Rectangle 4"/>
          <p:cNvSpPr/>
          <p:nvPr/>
        </p:nvSpPr>
        <p:spPr>
          <a:xfrm>
            <a:off x="4114800" y="4114800"/>
            <a:ext cx="3931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4389120"/>
            <a:ext cx="10515600" cy="457200"/>
          </a:xfrm>
          <a:prstGeom prst="rect">
            <a:avLst/>
          </a:prstGeom>
          <a:noFill/>
        </p:spPr>
        <p:txBody>
          <a:bodyPr wrap="square">
            <a:spAutoFit/>
          </a:bodyPr>
          <a:lstStyle/>
          <a:p>
            <a:pPr algn="ctr">
              <a:spcAft>
                <a:spcPts val="0"/>
              </a:spcAft>
              <a:defRPr sz="1600" b="0" i="1">
                <a:solidFill>
                  <a:srgbClr val="D4886B"/>
                </a:solidFill>
                <a:latin typeface="Calibri"/>
              </a:defRPr>
            </a:pPr>
            <a:r>
              <a:t>Semantic Code Intelligence for AI-Assisted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What is LSP?</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A standardized protocol between editors and language servers, created by Microsoft in 2016.</a:t>
            </a:r>
          </a:p>
        </p:txBody>
      </p:sp>
      <p:sp>
        <p:nvSpPr>
          <p:cNvPr id="4" name="Rounded Rectangle 3"/>
          <p:cNvSpPr/>
          <p:nvPr/>
        </p:nvSpPr>
        <p:spPr>
          <a:xfrm>
            <a:off x="731520" y="1920240"/>
            <a:ext cx="4846320" cy="2441553"/>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6128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6245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199339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Before LSP</a:t>
            </a:r>
          </a:p>
        </p:txBody>
      </p:sp>
      <p:sp>
        <p:nvSpPr>
          <p:cNvPr id="10" name="TextBox 9"/>
          <p:cNvSpPr txBox="1"/>
          <p:nvPr/>
        </p:nvSpPr>
        <p:spPr>
          <a:xfrm>
            <a:off x="960120" y="2468534"/>
            <a:ext cx="4389120" cy="1138773"/>
          </a:xfrm>
          <a:prstGeom prst="rect">
            <a:avLst/>
          </a:prstGeom>
          <a:noFill/>
        </p:spPr>
        <p:txBody>
          <a:bodyPr wrap="square">
            <a:spAutoFit/>
          </a:bodyPr>
          <a:lstStyle/>
          <a:p>
            <a:pPr>
              <a:spcBef>
                <a:spcPts val="200"/>
              </a:spcBef>
              <a:spcAft>
                <a:spcPts val="1000"/>
              </a:spcAft>
            </a:pPr>
            <a:r>
              <a:rPr sz="1600" dirty="0">
                <a:solidFill>
                  <a:srgbClr val="D4886B"/>
                </a:solidFill>
                <a:latin typeface="Calibri"/>
              </a:rPr>
              <a:t>  –  </a:t>
            </a:r>
            <a:r>
              <a:rPr sz="1600" dirty="0">
                <a:solidFill>
                  <a:srgbClr val="C4A882"/>
                </a:solidFill>
                <a:latin typeface="Calibri"/>
              </a:rPr>
              <a:t>Every editor needed its own
implementation for each language</a:t>
            </a:r>
          </a:p>
          <a:p>
            <a:pPr>
              <a:spcBef>
                <a:spcPts val="200"/>
              </a:spcBef>
              <a:spcAft>
                <a:spcPts val="1000"/>
              </a:spcAft>
            </a:pPr>
            <a:r>
              <a:rPr sz="1600" dirty="0">
                <a:solidFill>
                  <a:srgbClr val="D4886B"/>
                </a:solidFill>
                <a:latin typeface="Calibri"/>
              </a:rPr>
              <a:t>  –  </a:t>
            </a:r>
            <a:r>
              <a:rPr sz="1600" dirty="0">
                <a:solidFill>
                  <a:srgbClr val="C4A882"/>
                </a:solidFill>
                <a:latin typeface="Calibri"/>
              </a:rPr>
              <a:t>Combinatorial explosion</a:t>
            </a:r>
          </a:p>
        </p:txBody>
      </p:sp>
      <p:sp>
        <p:nvSpPr>
          <p:cNvPr id="11" name="Rounded Rectangle 10"/>
          <p:cNvSpPr/>
          <p:nvPr/>
        </p:nvSpPr>
        <p:spPr>
          <a:xfrm>
            <a:off x="6400800" y="1920240"/>
            <a:ext cx="4846320" cy="2441553"/>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29400" y="2057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6830568" y="2057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031736" y="2057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0" y="199339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After LSP</a:t>
            </a:r>
          </a:p>
        </p:txBody>
      </p:sp>
      <p:sp>
        <p:nvSpPr>
          <p:cNvPr id="17" name="TextBox 16"/>
          <p:cNvSpPr txBox="1"/>
          <p:nvPr/>
        </p:nvSpPr>
        <p:spPr>
          <a:xfrm>
            <a:off x="6629400" y="2468460"/>
            <a:ext cx="4389120" cy="2743200"/>
          </a:xfrm>
          <a:prstGeom prst="rect">
            <a:avLst/>
          </a:prstGeom>
          <a:noFill/>
        </p:spPr>
        <p:txBody>
          <a:bodyPr wrap="square">
            <a:spAutoFit/>
          </a:bodyPr>
          <a:lstStyle/>
          <a:p>
            <a:pPr>
              <a:spcBef>
                <a:spcPts val="200"/>
              </a:spcBef>
              <a:spcAft>
                <a:spcPts val="1000"/>
              </a:spcAft>
            </a:pPr>
            <a:r>
              <a:rPr sz="1600" dirty="0">
                <a:solidFill>
                  <a:srgbClr val="D4886B"/>
                </a:solidFill>
                <a:latin typeface="Calibri"/>
              </a:rPr>
              <a:t>  –  </a:t>
            </a:r>
            <a:r>
              <a:rPr sz="1600" dirty="0">
                <a:solidFill>
                  <a:srgbClr val="C4A882"/>
                </a:solidFill>
                <a:latin typeface="Calibri"/>
              </a:rPr>
              <a:t>One language server works in
VS Code, </a:t>
            </a:r>
            <a:r>
              <a:rPr sz="1600" dirty="0" err="1">
                <a:solidFill>
                  <a:srgbClr val="C4A882"/>
                </a:solidFill>
                <a:latin typeface="Calibri"/>
              </a:rPr>
              <a:t>Neovim</a:t>
            </a:r>
            <a:r>
              <a:rPr sz="1600" dirty="0">
                <a:solidFill>
                  <a:srgbClr val="C4A882"/>
                </a:solidFill>
                <a:latin typeface="Calibri"/>
              </a:rPr>
              <a:t>, and Claude Code</a:t>
            </a:r>
          </a:p>
          <a:p>
            <a:pPr>
              <a:spcBef>
                <a:spcPts val="200"/>
              </a:spcBef>
              <a:spcAft>
                <a:spcPts val="1000"/>
              </a:spcAft>
            </a:pPr>
            <a:r>
              <a:rPr sz="1600" dirty="0">
                <a:solidFill>
                  <a:srgbClr val="D4886B"/>
                </a:solidFill>
                <a:latin typeface="Calibri"/>
              </a:rPr>
              <a:t>  –  </a:t>
            </a:r>
            <a:r>
              <a:rPr sz="1600" dirty="0">
                <a:solidFill>
                  <a:srgbClr val="C4A882"/>
                </a:solidFill>
                <a:latin typeface="Calibri"/>
              </a:rPr>
              <a:t>Decoupled architecture</a:t>
            </a:r>
          </a:p>
          <a:p>
            <a:pPr>
              <a:spcBef>
                <a:spcPts val="200"/>
              </a:spcBef>
              <a:spcAft>
                <a:spcPts val="1000"/>
              </a:spcAft>
            </a:pPr>
            <a:r>
              <a:rPr sz="1600" dirty="0">
                <a:solidFill>
                  <a:srgbClr val="D4886B"/>
                </a:solidFill>
                <a:latin typeface="Calibri"/>
              </a:rPr>
              <a:t>  –  </a:t>
            </a:r>
            <a:r>
              <a:rPr sz="1600" dirty="0">
                <a:solidFill>
                  <a:srgbClr val="C4A882"/>
                </a:solidFill>
                <a:latin typeface="Calibri"/>
              </a:rPr>
              <a:t>Universal code intelligence</a:t>
            </a:r>
          </a:p>
        </p:txBody>
      </p:sp>
      <p:sp>
        <p:nvSpPr>
          <p:cNvPr id="18" name="TextBox 17"/>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Why LSP Matters for AI Coding Agents</a:t>
            </a:r>
          </a:p>
        </p:txBody>
      </p:sp>
      <p:sp>
        <p:nvSpPr>
          <p:cNvPr id="3" name="Rounded Rectangle 2"/>
          <p:cNvSpPr/>
          <p:nvPr/>
        </p:nvSpPr>
        <p:spPr>
          <a:xfrm>
            <a:off x="620110" y="1250732"/>
            <a:ext cx="5076497" cy="382576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153619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Without LSP  (grep-based)</a:t>
            </a:r>
          </a:p>
        </p:txBody>
      </p:sp>
      <p:sp>
        <p:nvSpPr>
          <p:cNvPr id="8" name="TextBox 7"/>
          <p:cNvSpPr txBox="1"/>
          <p:nvPr/>
        </p:nvSpPr>
        <p:spPr>
          <a:xfrm>
            <a:off x="1097280" y="2057400"/>
            <a:ext cx="4206240" cy="3657600"/>
          </a:xfrm>
          <a:prstGeom prst="rect">
            <a:avLst/>
          </a:prstGeom>
          <a:noFill/>
        </p:spPr>
        <p:txBody>
          <a:bodyPr wrap="square">
            <a:spAutoFit/>
          </a:bodyPr>
          <a:lstStyle/>
          <a:p>
            <a:pPr>
              <a:spcBef>
                <a:spcPts val="200"/>
              </a:spcBef>
              <a:spcAft>
                <a:spcPts val="1000"/>
              </a:spcAft>
            </a:pPr>
            <a:r>
              <a:rPr sz="1600">
                <a:solidFill>
                  <a:srgbClr val="D4886B"/>
                </a:solidFill>
                <a:latin typeface="Calibri"/>
              </a:rPr>
              <a:t>  –  </a:t>
            </a:r>
            <a:r>
              <a:rPr sz="1600">
                <a:solidFill>
                  <a:srgbClr val="C4A882"/>
                </a:solidFill>
                <a:latin typeface="Calibri"/>
              </a:rPr>
              <a:t>Returns false positives (comments,
strings, similar names)</a:t>
            </a:r>
          </a:p>
          <a:p>
            <a:pPr>
              <a:spcBef>
                <a:spcPts val="200"/>
              </a:spcBef>
              <a:spcAft>
                <a:spcPts val="1000"/>
              </a:spcAft>
            </a:pPr>
            <a:r>
              <a:rPr sz="1600">
                <a:solidFill>
                  <a:srgbClr val="D4886B"/>
                </a:solidFill>
                <a:latin typeface="Calibri"/>
              </a:rPr>
              <a:t>  –  </a:t>
            </a:r>
            <a:r>
              <a:rPr sz="1600">
                <a:solidFill>
                  <a:srgbClr val="C4A882"/>
                </a:solidFill>
                <a:latin typeface="Calibri"/>
              </a:rPr>
              <a:t>Takes seconds scanning raw files</a:t>
            </a:r>
          </a:p>
          <a:p>
            <a:pPr>
              <a:spcBef>
                <a:spcPts val="200"/>
              </a:spcBef>
              <a:spcAft>
                <a:spcPts val="1000"/>
              </a:spcAft>
            </a:pPr>
            <a:r>
              <a:rPr sz="1600">
                <a:solidFill>
                  <a:srgbClr val="D4886B"/>
                </a:solidFill>
                <a:latin typeface="Calibri"/>
              </a:rPr>
              <a:t>  –  </a:t>
            </a:r>
            <a:r>
              <a:rPr sz="1600">
                <a:solidFill>
                  <a:srgbClr val="C4A882"/>
                </a:solidFill>
                <a:latin typeface="Calibri"/>
              </a:rPr>
              <a:t>Cannot distinguish local vs.
module-level variables</a:t>
            </a:r>
          </a:p>
          <a:p>
            <a:pPr>
              <a:spcBef>
                <a:spcPts val="200"/>
              </a:spcBef>
              <a:spcAft>
                <a:spcPts val="1000"/>
              </a:spcAft>
            </a:pPr>
            <a:r>
              <a:rPr sz="1600">
                <a:solidFill>
                  <a:srgbClr val="D4886B"/>
                </a:solidFill>
                <a:latin typeface="Calibri"/>
              </a:rPr>
              <a:t>  –  </a:t>
            </a:r>
            <a:r>
              <a:rPr sz="1600">
                <a:solidFill>
                  <a:srgbClr val="C4A882"/>
                </a:solidFill>
                <a:latin typeface="Calibri"/>
              </a:rPr>
              <a:t>Burns excessive tokens processing
irrelevant matches</a:t>
            </a:r>
          </a:p>
        </p:txBody>
      </p:sp>
      <p:sp>
        <p:nvSpPr>
          <p:cNvPr id="9" name="Rounded Rectangle 8"/>
          <p:cNvSpPr/>
          <p:nvPr/>
        </p:nvSpPr>
        <p:spPr>
          <a:xfrm>
            <a:off x="6289390" y="1250732"/>
            <a:ext cx="5076497" cy="3825766"/>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629400"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30568"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7031736"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0" y="1536192"/>
            <a:ext cx="3840480" cy="320040"/>
          </a:xfrm>
          <a:prstGeom prst="rect">
            <a:avLst/>
          </a:prstGeom>
          <a:noFill/>
        </p:spPr>
        <p:txBody>
          <a:bodyPr wrap="square">
            <a:spAutoFit/>
          </a:bodyPr>
          <a:lstStyle/>
          <a:p>
            <a:pPr algn="ctr">
              <a:spcAft>
                <a:spcPts val="0"/>
              </a:spcAft>
              <a:defRPr sz="1100" b="0" i="0">
                <a:solidFill>
                  <a:srgbClr val="7A6E5D"/>
                </a:solidFill>
                <a:latin typeface="Calibri"/>
              </a:defRPr>
            </a:pPr>
            <a:r>
              <a:t>With LSP  (semantic)</a:t>
            </a:r>
          </a:p>
        </p:txBody>
      </p:sp>
      <p:sp>
        <p:nvSpPr>
          <p:cNvPr id="14" name="TextBox 13"/>
          <p:cNvSpPr txBox="1"/>
          <p:nvPr/>
        </p:nvSpPr>
        <p:spPr>
          <a:xfrm>
            <a:off x="6766560" y="2057400"/>
            <a:ext cx="4206240" cy="3657600"/>
          </a:xfrm>
          <a:prstGeom prst="rect">
            <a:avLst/>
          </a:prstGeom>
          <a:noFill/>
        </p:spPr>
        <p:txBody>
          <a:bodyPr wrap="square">
            <a:spAutoFit/>
          </a:bodyPr>
          <a:lstStyle/>
          <a:p>
            <a:pPr>
              <a:spcBef>
                <a:spcPts val="200"/>
              </a:spcBef>
              <a:spcAft>
                <a:spcPts val="1000"/>
              </a:spcAft>
            </a:pPr>
            <a:r>
              <a:rPr sz="1600">
                <a:solidFill>
                  <a:srgbClr val="D4886B"/>
                </a:solidFill>
                <a:latin typeface="Calibri"/>
              </a:rPr>
              <a:t>  –  </a:t>
            </a:r>
            <a:r>
              <a:rPr sz="1600">
                <a:solidFill>
                  <a:srgbClr val="C4A882"/>
                </a:solidFill>
                <a:latin typeface="Calibri"/>
              </a:rPr>
              <a:t>Type information &amp; documentation
inline</a:t>
            </a:r>
          </a:p>
          <a:p>
            <a:pPr>
              <a:spcBef>
                <a:spcPts val="200"/>
              </a:spcBef>
              <a:spcAft>
                <a:spcPts val="1000"/>
              </a:spcAft>
            </a:pPr>
            <a:r>
              <a:rPr sz="1600">
                <a:solidFill>
                  <a:srgbClr val="D4886B"/>
                </a:solidFill>
                <a:latin typeface="Calibri"/>
              </a:rPr>
              <a:t>  –  </a:t>
            </a:r>
            <a:r>
              <a:rPr sz="1600">
                <a:solidFill>
                  <a:srgbClr val="C4A882"/>
                </a:solidFill>
                <a:latin typeface="Calibri"/>
              </a:rPr>
              <a:t>Instant jump-to-definition</a:t>
            </a:r>
          </a:p>
          <a:p>
            <a:pPr>
              <a:spcBef>
                <a:spcPts val="200"/>
              </a:spcBef>
              <a:spcAft>
                <a:spcPts val="1000"/>
              </a:spcAft>
            </a:pPr>
            <a:r>
              <a:rPr sz="1600">
                <a:solidFill>
                  <a:srgbClr val="D4886B"/>
                </a:solidFill>
                <a:latin typeface="Calibri"/>
              </a:rPr>
              <a:t>  –  </a:t>
            </a:r>
            <a:r>
              <a:rPr sz="1600">
                <a:solidFill>
                  <a:srgbClr val="C4A882"/>
                </a:solidFill>
                <a:latin typeface="Calibri"/>
              </a:rPr>
              <a:t>Scope-aware reference finding</a:t>
            </a:r>
          </a:p>
          <a:p>
            <a:pPr>
              <a:spcBef>
                <a:spcPts val="200"/>
              </a:spcBef>
              <a:spcAft>
                <a:spcPts val="1000"/>
              </a:spcAft>
            </a:pPr>
            <a:r>
              <a:rPr sz="1600">
                <a:solidFill>
                  <a:srgbClr val="D4886B"/>
                </a:solidFill>
                <a:latin typeface="Calibri"/>
              </a:rPr>
              <a:t>  –  </a:t>
            </a:r>
            <a:r>
              <a:rPr sz="1600">
                <a:solidFill>
                  <a:srgbClr val="C4A882"/>
                </a:solidFill>
                <a:latin typeface="Calibri"/>
              </a:rPr>
              <a:t>Auto-diagnostics after every edit
-- self-correcting errors</a:t>
            </a:r>
          </a:p>
        </p:txBody>
      </p:sp>
      <p:sp>
        <p:nvSpPr>
          <p:cNvPr id="15" name="TextBox 1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9 Core LSP Operations</a:t>
            </a:r>
          </a:p>
        </p:txBody>
      </p:sp>
      <p:sp>
        <p:nvSpPr>
          <p:cNvPr id="3" name="TextBox 2"/>
          <p:cNvSpPr txBox="1"/>
          <p:nvPr/>
        </p:nvSpPr>
        <p:spPr>
          <a:xfrm>
            <a:off x="731520" y="1051560"/>
            <a:ext cx="10515600" cy="365760"/>
          </a:xfrm>
          <a:prstGeom prst="rect">
            <a:avLst/>
          </a:prstGeom>
          <a:noFill/>
        </p:spPr>
        <p:txBody>
          <a:bodyPr wrap="square">
            <a:spAutoFit/>
          </a:bodyPr>
          <a:lstStyle/>
          <a:p>
            <a:pPr algn="ctr">
              <a:spcAft>
                <a:spcPts val="0"/>
              </a:spcAft>
              <a:defRPr sz="1400" b="0" i="1">
                <a:solidFill>
                  <a:srgbClr val="D4886B"/>
                </a:solidFill>
                <a:latin typeface="Calibri"/>
              </a:defRPr>
            </a:pPr>
            <a:r>
              <a:t>Claude Code exposes these standard LSP commands for semantic code navigation</a:t>
            </a:r>
          </a:p>
        </p:txBody>
      </p:sp>
      <p:sp>
        <p:nvSpPr>
          <p:cNvPr id="4" name="Rounded Rectangle 3"/>
          <p:cNvSpPr/>
          <p:nvPr/>
        </p:nvSpPr>
        <p:spPr>
          <a:xfrm>
            <a:off x="731520" y="16916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8288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1</a:t>
            </a:r>
          </a:p>
        </p:txBody>
      </p:sp>
      <p:sp>
        <p:nvSpPr>
          <p:cNvPr id="6" name="TextBox 5"/>
          <p:cNvSpPr txBox="1"/>
          <p:nvPr/>
        </p:nvSpPr>
        <p:spPr>
          <a:xfrm>
            <a:off x="1325880" y="18013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goToDefinition</a:t>
            </a:r>
          </a:p>
        </p:txBody>
      </p:sp>
      <p:sp>
        <p:nvSpPr>
          <p:cNvPr id="7" name="TextBox 6"/>
          <p:cNvSpPr txBox="1"/>
          <p:nvPr/>
        </p:nvSpPr>
        <p:spPr>
          <a:xfrm>
            <a:off x="1325880" y="21945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Jump to where a symbol is defined</a:t>
            </a:r>
          </a:p>
        </p:txBody>
      </p:sp>
      <p:sp>
        <p:nvSpPr>
          <p:cNvPr id="8" name="Rounded Rectangle 7"/>
          <p:cNvSpPr/>
          <p:nvPr/>
        </p:nvSpPr>
        <p:spPr>
          <a:xfrm>
            <a:off x="4297680" y="16916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80560" y="18288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2</a:t>
            </a:r>
          </a:p>
        </p:txBody>
      </p:sp>
      <p:sp>
        <p:nvSpPr>
          <p:cNvPr id="10" name="TextBox 9"/>
          <p:cNvSpPr txBox="1"/>
          <p:nvPr/>
        </p:nvSpPr>
        <p:spPr>
          <a:xfrm>
            <a:off x="4892040" y="18013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findReferences</a:t>
            </a:r>
          </a:p>
        </p:txBody>
      </p:sp>
      <p:sp>
        <p:nvSpPr>
          <p:cNvPr id="11" name="TextBox 10"/>
          <p:cNvSpPr txBox="1"/>
          <p:nvPr/>
        </p:nvSpPr>
        <p:spPr>
          <a:xfrm>
            <a:off x="4892040" y="21945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Locate all usages of a symbol</a:t>
            </a:r>
          </a:p>
        </p:txBody>
      </p:sp>
      <p:sp>
        <p:nvSpPr>
          <p:cNvPr id="12" name="Rounded Rectangle 11"/>
          <p:cNvSpPr/>
          <p:nvPr/>
        </p:nvSpPr>
        <p:spPr>
          <a:xfrm>
            <a:off x="7863840" y="16916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0" y="18288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3</a:t>
            </a:r>
          </a:p>
        </p:txBody>
      </p:sp>
      <p:sp>
        <p:nvSpPr>
          <p:cNvPr id="14" name="TextBox 13"/>
          <p:cNvSpPr txBox="1"/>
          <p:nvPr/>
        </p:nvSpPr>
        <p:spPr>
          <a:xfrm>
            <a:off x="8458200" y="18013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hover</a:t>
            </a:r>
          </a:p>
        </p:txBody>
      </p:sp>
      <p:sp>
        <p:nvSpPr>
          <p:cNvPr id="15" name="TextBox 14"/>
          <p:cNvSpPr txBox="1"/>
          <p:nvPr/>
        </p:nvSpPr>
        <p:spPr>
          <a:xfrm>
            <a:off x="8458200" y="21945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Get type signatures &amp; docs inline</a:t>
            </a:r>
          </a:p>
        </p:txBody>
      </p:sp>
      <p:sp>
        <p:nvSpPr>
          <p:cNvPr id="16" name="Rounded Rectangle 15"/>
          <p:cNvSpPr/>
          <p:nvPr/>
        </p:nvSpPr>
        <p:spPr>
          <a:xfrm>
            <a:off x="731520" y="30632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2004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4</a:t>
            </a:r>
          </a:p>
        </p:txBody>
      </p:sp>
      <p:sp>
        <p:nvSpPr>
          <p:cNvPr id="18" name="TextBox 17"/>
          <p:cNvSpPr txBox="1"/>
          <p:nvPr/>
        </p:nvSpPr>
        <p:spPr>
          <a:xfrm>
            <a:off x="1325880" y="31729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goToImplementation</a:t>
            </a:r>
          </a:p>
        </p:txBody>
      </p:sp>
      <p:sp>
        <p:nvSpPr>
          <p:cNvPr id="19" name="TextBox 18"/>
          <p:cNvSpPr txBox="1"/>
          <p:nvPr/>
        </p:nvSpPr>
        <p:spPr>
          <a:xfrm>
            <a:off x="1325880" y="35661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Navigate interface to concrete class</a:t>
            </a:r>
          </a:p>
        </p:txBody>
      </p:sp>
      <p:sp>
        <p:nvSpPr>
          <p:cNvPr id="20" name="Rounded Rectangle 19"/>
          <p:cNvSpPr/>
          <p:nvPr/>
        </p:nvSpPr>
        <p:spPr>
          <a:xfrm>
            <a:off x="4297680" y="30632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0" y="32004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5</a:t>
            </a:r>
          </a:p>
        </p:txBody>
      </p:sp>
      <p:sp>
        <p:nvSpPr>
          <p:cNvPr id="22" name="TextBox 21"/>
          <p:cNvSpPr txBox="1"/>
          <p:nvPr/>
        </p:nvSpPr>
        <p:spPr>
          <a:xfrm>
            <a:off x="4892040" y="31729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documentSymbol</a:t>
            </a:r>
          </a:p>
        </p:txBody>
      </p:sp>
      <p:sp>
        <p:nvSpPr>
          <p:cNvPr id="23" name="TextBox 22"/>
          <p:cNvSpPr txBox="1"/>
          <p:nvPr/>
        </p:nvSpPr>
        <p:spPr>
          <a:xfrm>
            <a:off x="4892040" y="35661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View hierarchical file structure</a:t>
            </a:r>
          </a:p>
        </p:txBody>
      </p:sp>
      <p:sp>
        <p:nvSpPr>
          <p:cNvPr id="24" name="Rounded Rectangle 23"/>
          <p:cNvSpPr/>
          <p:nvPr/>
        </p:nvSpPr>
        <p:spPr>
          <a:xfrm>
            <a:off x="7863840" y="30632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046720" y="32004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6</a:t>
            </a:r>
          </a:p>
        </p:txBody>
      </p:sp>
      <p:sp>
        <p:nvSpPr>
          <p:cNvPr id="26" name="TextBox 25"/>
          <p:cNvSpPr txBox="1"/>
          <p:nvPr/>
        </p:nvSpPr>
        <p:spPr>
          <a:xfrm>
            <a:off x="8458200" y="31729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workspaceSymbol</a:t>
            </a:r>
          </a:p>
        </p:txBody>
      </p:sp>
      <p:sp>
        <p:nvSpPr>
          <p:cNvPr id="27" name="TextBox 26"/>
          <p:cNvSpPr txBox="1"/>
          <p:nvPr/>
        </p:nvSpPr>
        <p:spPr>
          <a:xfrm>
            <a:off x="8458200" y="35661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Search symbols across workspace</a:t>
            </a:r>
          </a:p>
        </p:txBody>
      </p:sp>
      <p:sp>
        <p:nvSpPr>
          <p:cNvPr id="28" name="Rounded Rectangle 27"/>
          <p:cNvSpPr/>
          <p:nvPr/>
        </p:nvSpPr>
        <p:spPr>
          <a:xfrm>
            <a:off x="731520" y="44348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45720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7</a:t>
            </a:r>
          </a:p>
        </p:txBody>
      </p:sp>
      <p:sp>
        <p:nvSpPr>
          <p:cNvPr id="30" name="TextBox 29"/>
          <p:cNvSpPr txBox="1"/>
          <p:nvPr/>
        </p:nvSpPr>
        <p:spPr>
          <a:xfrm>
            <a:off x="1325880" y="45445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prepareCallHierarchy</a:t>
            </a:r>
          </a:p>
        </p:txBody>
      </p:sp>
      <p:sp>
        <p:nvSpPr>
          <p:cNvPr id="31" name="TextBox 30"/>
          <p:cNvSpPr txBox="1"/>
          <p:nvPr/>
        </p:nvSpPr>
        <p:spPr>
          <a:xfrm>
            <a:off x="1325880" y="49377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Initialize call hierarchy analysis</a:t>
            </a:r>
          </a:p>
        </p:txBody>
      </p:sp>
      <p:sp>
        <p:nvSpPr>
          <p:cNvPr id="32" name="Rounded Rectangle 31"/>
          <p:cNvSpPr/>
          <p:nvPr/>
        </p:nvSpPr>
        <p:spPr>
          <a:xfrm>
            <a:off x="4297680" y="44348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80560" y="45720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8</a:t>
            </a:r>
          </a:p>
        </p:txBody>
      </p:sp>
      <p:sp>
        <p:nvSpPr>
          <p:cNvPr id="34" name="TextBox 33"/>
          <p:cNvSpPr txBox="1"/>
          <p:nvPr/>
        </p:nvSpPr>
        <p:spPr>
          <a:xfrm>
            <a:off x="4892040" y="45445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incomingCalls</a:t>
            </a:r>
          </a:p>
        </p:txBody>
      </p:sp>
      <p:sp>
        <p:nvSpPr>
          <p:cNvPr id="35" name="TextBox 34"/>
          <p:cNvSpPr txBox="1"/>
          <p:nvPr/>
        </p:nvSpPr>
        <p:spPr>
          <a:xfrm>
            <a:off x="4892040" y="49377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Find all callers of a function</a:t>
            </a:r>
          </a:p>
        </p:txBody>
      </p:sp>
      <p:sp>
        <p:nvSpPr>
          <p:cNvPr id="36" name="Rounded Rectangle 35"/>
          <p:cNvSpPr/>
          <p:nvPr/>
        </p:nvSpPr>
        <p:spPr>
          <a:xfrm>
            <a:off x="7863840" y="4434840"/>
            <a:ext cx="3383280" cy="123444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46720" y="4572000"/>
            <a:ext cx="365760" cy="365760"/>
          </a:xfrm>
          <a:prstGeom prst="rect">
            <a:avLst/>
          </a:prstGeom>
          <a:noFill/>
        </p:spPr>
        <p:txBody>
          <a:bodyPr wrap="square">
            <a:spAutoFit/>
          </a:bodyPr>
          <a:lstStyle/>
          <a:p>
            <a:pPr algn="ctr">
              <a:spcAft>
                <a:spcPts val="0"/>
              </a:spcAft>
              <a:defRPr sz="1800" b="1" i="0">
                <a:solidFill>
                  <a:srgbClr val="D4886B"/>
                </a:solidFill>
                <a:latin typeface="JetBrains Mono"/>
              </a:defRPr>
            </a:pPr>
            <a:r>
              <a:t>9</a:t>
            </a:r>
          </a:p>
        </p:txBody>
      </p:sp>
      <p:sp>
        <p:nvSpPr>
          <p:cNvPr id="38" name="TextBox 37"/>
          <p:cNvSpPr txBox="1"/>
          <p:nvPr/>
        </p:nvSpPr>
        <p:spPr>
          <a:xfrm>
            <a:off x="8458200" y="4544568"/>
            <a:ext cx="2560320" cy="365760"/>
          </a:xfrm>
          <a:prstGeom prst="rect">
            <a:avLst/>
          </a:prstGeom>
          <a:noFill/>
        </p:spPr>
        <p:txBody>
          <a:bodyPr wrap="square">
            <a:spAutoFit/>
          </a:bodyPr>
          <a:lstStyle/>
          <a:p>
            <a:pPr algn="l">
              <a:spcAft>
                <a:spcPts val="0"/>
              </a:spcAft>
              <a:defRPr sz="1500" b="1" i="0">
                <a:solidFill>
                  <a:srgbClr val="E8A07A"/>
                </a:solidFill>
                <a:latin typeface="JetBrains Mono"/>
              </a:defRPr>
            </a:pPr>
            <a:r>
              <a:t>outgoingCalls</a:t>
            </a:r>
          </a:p>
        </p:txBody>
      </p:sp>
      <p:sp>
        <p:nvSpPr>
          <p:cNvPr id="39" name="TextBox 38"/>
          <p:cNvSpPr txBox="1"/>
          <p:nvPr/>
        </p:nvSpPr>
        <p:spPr>
          <a:xfrm>
            <a:off x="8458200" y="4937760"/>
            <a:ext cx="2560320" cy="640080"/>
          </a:xfrm>
          <a:prstGeom prst="rect">
            <a:avLst/>
          </a:prstGeom>
          <a:noFill/>
        </p:spPr>
        <p:txBody>
          <a:bodyPr wrap="square">
            <a:spAutoFit/>
          </a:bodyPr>
          <a:lstStyle/>
          <a:p>
            <a:pPr algn="l">
              <a:spcAft>
                <a:spcPts val="0"/>
              </a:spcAft>
              <a:defRPr sz="1300" b="0" i="0">
                <a:solidFill>
                  <a:srgbClr val="C4A882"/>
                </a:solidFill>
                <a:latin typeface="Calibri"/>
              </a:defRPr>
            </a:pPr>
            <a:r>
              <a:t>Find all functions a target calls</a:t>
            </a:r>
          </a:p>
        </p:txBody>
      </p:sp>
      <p:sp>
        <p:nvSpPr>
          <p:cNvPr id="40" name="TextBox 39"/>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TypeScript LSP Setup</a:t>
            </a:r>
          </a:p>
        </p:txBody>
      </p:sp>
      <p:sp>
        <p:nvSpPr>
          <p:cNvPr id="3" name="Rounded Rectangle 2"/>
          <p:cNvSpPr/>
          <p:nvPr/>
        </p:nvSpPr>
        <p:spPr>
          <a:xfrm>
            <a:off x="731520" y="1371600"/>
            <a:ext cx="52120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05840" y="1508760"/>
            <a:ext cx="4572000" cy="365760"/>
          </a:xfrm>
          <a:prstGeom prst="rect">
            <a:avLst/>
          </a:prstGeom>
          <a:noFill/>
        </p:spPr>
        <p:txBody>
          <a:bodyPr wrap="square">
            <a:spAutoFit/>
          </a:bodyPr>
          <a:lstStyle/>
          <a:p>
            <a:pPr algn="l">
              <a:spcAft>
                <a:spcPts val="0"/>
              </a:spcAft>
              <a:defRPr sz="1800" b="1" i="0">
                <a:solidFill>
                  <a:srgbClr val="E8D5B7"/>
                </a:solidFill>
                <a:latin typeface="Georgia"/>
              </a:defRPr>
            </a:pPr>
            <a:r>
              <a:t>1   Enable the LSP Tool</a:t>
            </a:r>
          </a:p>
        </p:txBody>
      </p:sp>
      <p:sp>
        <p:nvSpPr>
          <p:cNvPr id="5" name="TextBox 4"/>
          <p:cNvSpPr txBox="1"/>
          <p:nvPr/>
        </p:nvSpPr>
        <p:spPr>
          <a:xfrm>
            <a:off x="1005840" y="1920240"/>
            <a:ext cx="4572000" cy="457200"/>
          </a:xfrm>
          <a:prstGeom prst="rect">
            <a:avLst/>
          </a:prstGeom>
          <a:noFill/>
        </p:spPr>
        <p:txBody>
          <a:bodyPr wrap="square">
            <a:spAutoFit/>
          </a:bodyPr>
          <a:lstStyle/>
          <a:p>
            <a:pPr algn="l">
              <a:spcAft>
                <a:spcPts val="0"/>
              </a:spcAft>
              <a:defRPr sz="1300" b="0" i="0">
                <a:solidFill>
                  <a:srgbClr val="D4886B"/>
                </a:solidFill>
                <a:latin typeface="JetBrains Mono"/>
              </a:defRPr>
            </a:pPr>
            <a:r>
              <a:t>export ENABLE_LSP_TOOL=1   or add to ~/.claude/settings.json</a:t>
            </a:r>
          </a:p>
        </p:txBody>
      </p:sp>
      <p:sp>
        <p:nvSpPr>
          <p:cNvPr id="6" name="Rounded Rectangle 5"/>
          <p:cNvSpPr/>
          <p:nvPr/>
        </p:nvSpPr>
        <p:spPr>
          <a:xfrm>
            <a:off x="6217920" y="1371600"/>
            <a:ext cx="52120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1508760"/>
            <a:ext cx="4572000" cy="365760"/>
          </a:xfrm>
          <a:prstGeom prst="rect">
            <a:avLst/>
          </a:prstGeom>
          <a:noFill/>
        </p:spPr>
        <p:txBody>
          <a:bodyPr wrap="square">
            <a:spAutoFit/>
          </a:bodyPr>
          <a:lstStyle/>
          <a:p>
            <a:pPr algn="l">
              <a:spcAft>
                <a:spcPts val="0"/>
              </a:spcAft>
              <a:defRPr sz="1800" b="1" i="0">
                <a:solidFill>
                  <a:srgbClr val="E8D5B7"/>
                </a:solidFill>
                <a:latin typeface="Georgia"/>
              </a:defRPr>
            </a:pPr>
            <a:r>
              <a:t>2   Install Language Server</a:t>
            </a:r>
          </a:p>
        </p:txBody>
      </p:sp>
      <p:sp>
        <p:nvSpPr>
          <p:cNvPr id="8" name="TextBox 7"/>
          <p:cNvSpPr txBox="1"/>
          <p:nvPr/>
        </p:nvSpPr>
        <p:spPr>
          <a:xfrm>
            <a:off x="6492240" y="1920240"/>
            <a:ext cx="4572000" cy="457200"/>
          </a:xfrm>
          <a:prstGeom prst="rect">
            <a:avLst/>
          </a:prstGeom>
          <a:noFill/>
        </p:spPr>
        <p:txBody>
          <a:bodyPr wrap="square">
            <a:spAutoFit/>
          </a:bodyPr>
          <a:lstStyle/>
          <a:p>
            <a:pPr algn="l">
              <a:spcAft>
                <a:spcPts val="0"/>
              </a:spcAft>
              <a:defRPr sz="1300" b="0" i="0">
                <a:solidFill>
                  <a:srgbClr val="D4886B"/>
                </a:solidFill>
                <a:latin typeface="JetBrains Mono"/>
              </a:defRPr>
            </a:pPr>
            <a:r>
              <a:t>npm install -g typescript-language-server typescript</a:t>
            </a:r>
          </a:p>
        </p:txBody>
      </p:sp>
      <p:sp>
        <p:nvSpPr>
          <p:cNvPr id="9" name="Rounded Rectangle 8"/>
          <p:cNvSpPr/>
          <p:nvPr/>
        </p:nvSpPr>
        <p:spPr>
          <a:xfrm>
            <a:off x="731520" y="2834640"/>
            <a:ext cx="52120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971800"/>
            <a:ext cx="4572000" cy="365760"/>
          </a:xfrm>
          <a:prstGeom prst="rect">
            <a:avLst/>
          </a:prstGeom>
          <a:noFill/>
        </p:spPr>
        <p:txBody>
          <a:bodyPr wrap="square">
            <a:spAutoFit/>
          </a:bodyPr>
          <a:lstStyle/>
          <a:p>
            <a:pPr algn="l">
              <a:spcAft>
                <a:spcPts val="0"/>
              </a:spcAft>
              <a:defRPr sz="1800" b="1" i="0">
                <a:solidFill>
                  <a:srgbClr val="E8D5B7"/>
                </a:solidFill>
                <a:latin typeface="Georgia"/>
              </a:defRPr>
            </a:pPr>
            <a:r>
              <a:t>3   Install the Plugin</a:t>
            </a:r>
          </a:p>
        </p:txBody>
      </p:sp>
      <p:sp>
        <p:nvSpPr>
          <p:cNvPr id="11" name="TextBox 10"/>
          <p:cNvSpPr txBox="1"/>
          <p:nvPr/>
        </p:nvSpPr>
        <p:spPr>
          <a:xfrm>
            <a:off x="1005840" y="3383280"/>
            <a:ext cx="4572000" cy="457200"/>
          </a:xfrm>
          <a:prstGeom prst="rect">
            <a:avLst/>
          </a:prstGeom>
          <a:noFill/>
        </p:spPr>
        <p:txBody>
          <a:bodyPr wrap="square">
            <a:spAutoFit/>
          </a:bodyPr>
          <a:lstStyle/>
          <a:p>
            <a:pPr algn="l">
              <a:spcAft>
                <a:spcPts val="0"/>
              </a:spcAft>
              <a:defRPr sz="1300" b="0" i="0">
                <a:solidFill>
                  <a:srgbClr val="D4886B"/>
                </a:solidFill>
                <a:latin typeface="JetBrains Mono"/>
              </a:defRPr>
            </a:pPr>
            <a:r>
              <a:t>/plugin install typescript-lsp@claude-plugins-official</a:t>
            </a:r>
          </a:p>
        </p:txBody>
      </p:sp>
      <p:sp>
        <p:nvSpPr>
          <p:cNvPr id="12" name="Rounded Rectangle 11"/>
          <p:cNvSpPr/>
          <p:nvPr/>
        </p:nvSpPr>
        <p:spPr>
          <a:xfrm>
            <a:off x="6217920" y="2834640"/>
            <a:ext cx="5212080" cy="118872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971800"/>
            <a:ext cx="4572000" cy="365760"/>
          </a:xfrm>
          <a:prstGeom prst="rect">
            <a:avLst/>
          </a:prstGeom>
          <a:noFill/>
        </p:spPr>
        <p:txBody>
          <a:bodyPr wrap="square">
            <a:spAutoFit/>
          </a:bodyPr>
          <a:lstStyle/>
          <a:p>
            <a:pPr algn="l">
              <a:spcAft>
                <a:spcPts val="0"/>
              </a:spcAft>
              <a:defRPr sz="1800" b="1" i="0">
                <a:solidFill>
                  <a:srgbClr val="E8D5B7"/>
                </a:solidFill>
                <a:latin typeface="Georgia"/>
              </a:defRPr>
            </a:pPr>
            <a:r>
              <a:t>4   Restart Claude Code</a:t>
            </a:r>
          </a:p>
        </p:txBody>
      </p:sp>
      <p:sp>
        <p:nvSpPr>
          <p:cNvPr id="14" name="TextBox 13"/>
          <p:cNvSpPr txBox="1"/>
          <p:nvPr/>
        </p:nvSpPr>
        <p:spPr>
          <a:xfrm>
            <a:off x="6492240" y="3383280"/>
            <a:ext cx="4572000" cy="457200"/>
          </a:xfrm>
          <a:prstGeom prst="rect">
            <a:avLst/>
          </a:prstGeom>
          <a:noFill/>
        </p:spPr>
        <p:txBody>
          <a:bodyPr wrap="square">
            <a:spAutoFit/>
          </a:bodyPr>
          <a:lstStyle/>
          <a:p>
            <a:pPr algn="l">
              <a:spcAft>
                <a:spcPts val="0"/>
              </a:spcAft>
              <a:defRPr sz="1300" b="0" i="0">
                <a:solidFill>
                  <a:srgbClr val="D4886B"/>
                </a:solidFill>
                <a:latin typeface="JetBrains Mono"/>
              </a:defRPr>
            </a:pPr>
            <a:r>
              <a:t>LSP requires a fresh session to initialize properly</a:t>
            </a:r>
          </a:p>
        </p:txBody>
      </p:sp>
      <p:sp>
        <p:nvSpPr>
          <p:cNvPr id="15" name="Rounded Rectangle 14"/>
          <p:cNvSpPr/>
          <p:nvPr/>
        </p:nvSpPr>
        <p:spPr>
          <a:xfrm>
            <a:off x="731520" y="4389120"/>
            <a:ext cx="10698480" cy="18288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960120" y="452628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1161288" y="452628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1362456" y="452628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45920" y="446227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Verify It Works</a:t>
            </a:r>
          </a:p>
        </p:txBody>
      </p:sp>
      <p:sp>
        <p:nvSpPr>
          <p:cNvPr id="20" name="TextBox 19"/>
          <p:cNvSpPr txBox="1"/>
          <p:nvPr/>
        </p:nvSpPr>
        <p:spPr>
          <a:xfrm>
            <a:off x="1097280" y="4983480"/>
            <a:ext cx="9601200" cy="365760"/>
          </a:xfrm>
          <a:prstGeom prst="rect">
            <a:avLst/>
          </a:prstGeom>
          <a:noFill/>
        </p:spPr>
        <p:txBody>
          <a:bodyPr wrap="square">
            <a:spAutoFit/>
          </a:bodyPr>
          <a:lstStyle/>
          <a:p>
            <a:pPr algn="l">
              <a:spcAft>
                <a:spcPts val="0"/>
              </a:spcAft>
              <a:defRPr sz="1600" b="0" i="0">
                <a:solidFill>
                  <a:srgbClr val="E8D5B7"/>
                </a:solidFill>
                <a:latin typeface="Calibri"/>
              </a:defRPr>
            </a:pPr>
            <a:r>
              <a:t>Ask:  "Go to the definition of the main function"</a:t>
            </a:r>
          </a:p>
        </p:txBody>
      </p:sp>
      <p:sp>
        <p:nvSpPr>
          <p:cNvPr id="21" name="TextBox 20"/>
          <p:cNvSpPr txBox="1"/>
          <p:nvPr/>
        </p:nvSpPr>
        <p:spPr>
          <a:xfrm>
            <a:off x="1097280" y="5394960"/>
            <a:ext cx="5029200" cy="365760"/>
          </a:xfrm>
          <a:prstGeom prst="rect">
            <a:avLst/>
          </a:prstGeom>
          <a:noFill/>
        </p:spPr>
        <p:txBody>
          <a:bodyPr wrap="square">
            <a:spAutoFit/>
          </a:bodyPr>
          <a:lstStyle/>
          <a:p>
            <a:pPr algn="l">
              <a:spcAft>
                <a:spcPts val="0"/>
              </a:spcAft>
              <a:defRPr sz="1400" b="0" i="0">
                <a:solidFill>
                  <a:srgbClr val="5BBF4A"/>
                </a:solidFill>
                <a:latin typeface="Calibri"/>
              </a:defRPr>
            </a:pPr>
            <a:r>
              <a:t>Working:  "The function main is defined in src/index.ts at line 42"</a:t>
            </a:r>
          </a:p>
        </p:txBody>
      </p:sp>
      <p:sp>
        <p:nvSpPr>
          <p:cNvPr id="22" name="TextBox 21"/>
          <p:cNvSpPr txBox="1"/>
          <p:nvPr/>
        </p:nvSpPr>
        <p:spPr>
          <a:xfrm>
            <a:off x="6400800" y="5394960"/>
            <a:ext cx="5029200" cy="365760"/>
          </a:xfrm>
          <a:prstGeom prst="rect">
            <a:avLst/>
          </a:prstGeom>
          <a:noFill/>
        </p:spPr>
        <p:txBody>
          <a:bodyPr wrap="square">
            <a:spAutoFit/>
          </a:bodyPr>
          <a:lstStyle/>
          <a:p>
            <a:pPr algn="l">
              <a:spcAft>
                <a:spcPts val="0"/>
              </a:spcAft>
              <a:defRPr sz="1400" b="0" i="0">
                <a:solidFill>
                  <a:srgbClr val="E05A4F"/>
                </a:solidFill>
                <a:latin typeface="Calibri"/>
              </a:defRPr>
            </a:pPr>
            <a:r>
              <a:t>Not working:  "I'm searching through the codebase for main..."</a:t>
            </a:r>
          </a:p>
        </p:txBody>
      </p:sp>
      <p:sp>
        <p:nvSpPr>
          <p:cNvPr id="23" name="TextBox 22"/>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6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Multi-Language Support</a:t>
            </a:r>
          </a:p>
        </p:txBody>
      </p:sp>
      <p:sp>
        <p:nvSpPr>
          <p:cNvPr id="3" name="TextBox 2"/>
          <p:cNvSpPr txBox="1"/>
          <p:nvPr/>
        </p:nvSpPr>
        <p:spPr>
          <a:xfrm>
            <a:off x="731520" y="1371600"/>
            <a:ext cx="5029200" cy="457200"/>
          </a:xfrm>
          <a:prstGeom prst="rect">
            <a:avLst/>
          </a:prstGeom>
          <a:noFill/>
        </p:spPr>
        <p:txBody>
          <a:bodyPr wrap="square">
            <a:spAutoFit/>
          </a:bodyPr>
          <a:lstStyle/>
          <a:p>
            <a:pPr algn="l">
              <a:spcAft>
                <a:spcPts val="0"/>
              </a:spcAft>
              <a:defRPr sz="2000" b="1" i="0">
                <a:solidFill>
                  <a:srgbClr val="E8D5B7"/>
                </a:solidFill>
                <a:latin typeface="Georgia"/>
              </a:defRPr>
            </a:pPr>
            <a:r>
              <a:t>11 Official Anthropic Languages</a:t>
            </a:r>
          </a:p>
        </p:txBody>
      </p:sp>
      <p:sp>
        <p:nvSpPr>
          <p:cNvPr id="4" name="TextBox 3"/>
          <p:cNvSpPr txBox="1"/>
          <p:nvPr/>
        </p:nvSpPr>
        <p:spPr>
          <a:xfrm>
            <a:off x="914400" y="1920240"/>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TypeScript / JavaScript</a:t>
            </a:r>
          </a:p>
        </p:txBody>
      </p:sp>
      <p:sp>
        <p:nvSpPr>
          <p:cNvPr id="5" name="TextBox 4"/>
          <p:cNvSpPr txBox="1"/>
          <p:nvPr/>
        </p:nvSpPr>
        <p:spPr>
          <a:xfrm>
            <a:off x="3474720" y="1920240"/>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Python (Pyright)</a:t>
            </a:r>
          </a:p>
        </p:txBody>
      </p:sp>
      <p:sp>
        <p:nvSpPr>
          <p:cNvPr id="6" name="TextBox 5"/>
          <p:cNvSpPr txBox="1"/>
          <p:nvPr/>
        </p:nvSpPr>
        <p:spPr>
          <a:xfrm>
            <a:off x="914400" y="2304288"/>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Go (gopls)</a:t>
            </a:r>
          </a:p>
        </p:txBody>
      </p:sp>
      <p:sp>
        <p:nvSpPr>
          <p:cNvPr id="7" name="TextBox 6"/>
          <p:cNvSpPr txBox="1"/>
          <p:nvPr/>
        </p:nvSpPr>
        <p:spPr>
          <a:xfrm>
            <a:off x="3474720" y="2304288"/>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Rust (rust-analyzer)</a:t>
            </a:r>
          </a:p>
        </p:txBody>
      </p:sp>
      <p:sp>
        <p:nvSpPr>
          <p:cNvPr id="8" name="TextBox 7"/>
          <p:cNvSpPr txBox="1"/>
          <p:nvPr/>
        </p:nvSpPr>
        <p:spPr>
          <a:xfrm>
            <a:off x="914400" y="2688336"/>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Java (jdtls)</a:t>
            </a:r>
          </a:p>
        </p:txBody>
      </p:sp>
      <p:sp>
        <p:nvSpPr>
          <p:cNvPr id="9" name="TextBox 8"/>
          <p:cNvSpPr txBox="1"/>
          <p:nvPr/>
        </p:nvSpPr>
        <p:spPr>
          <a:xfrm>
            <a:off x="3474720" y="2688336"/>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C/C++ (clangd)</a:t>
            </a:r>
          </a:p>
        </p:txBody>
      </p:sp>
      <p:sp>
        <p:nvSpPr>
          <p:cNvPr id="10" name="TextBox 9"/>
          <p:cNvSpPr txBox="1"/>
          <p:nvPr/>
        </p:nvSpPr>
        <p:spPr>
          <a:xfrm>
            <a:off x="914400" y="3072384"/>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C# (csharp-ls)</a:t>
            </a:r>
          </a:p>
        </p:txBody>
      </p:sp>
      <p:sp>
        <p:nvSpPr>
          <p:cNvPr id="11" name="TextBox 10"/>
          <p:cNvSpPr txBox="1"/>
          <p:nvPr/>
        </p:nvSpPr>
        <p:spPr>
          <a:xfrm>
            <a:off x="3474720" y="3072384"/>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Swift (sourcekit-lsp)</a:t>
            </a:r>
          </a:p>
        </p:txBody>
      </p:sp>
      <p:sp>
        <p:nvSpPr>
          <p:cNvPr id="12" name="TextBox 11"/>
          <p:cNvSpPr txBox="1"/>
          <p:nvPr/>
        </p:nvSpPr>
        <p:spPr>
          <a:xfrm>
            <a:off x="914400" y="3456432"/>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Kotlin</a:t>
            </a:r>
          </a:p>
        </p:txBody>
      </p:sp>
      <p:sp>
        <p:nvSpPr>
          <p:cNvPr id="13" name="TextBox 12"/>
          <p:cNvSpPr txBox="1"/>
          <p:nvPr/>
        </p:nvSpPr>
        <p:spPr>
          <a:xfrm>
            <a:off x="3474720" y="3456432"/>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Lua</a:t>
            </a:r>
          </a:p>
        </p:txBody>
      </p:sp>
      <p:sp>
        <p:nvSpPr>
          <p:cNvPr id="14" name="TextBox 13"/>
          <p:cNvSpPr txBox="1"/>
          <p:nvPr/>
        </p:nvSpPr>
        <p:spPr>
          <a:xfrm>
            <a:off x="914400" y="3840480"/>
            <a:ext cx="2468880" cy="365760"/>
          </a:xfrm>
          <a:prstGeom prst="rect">
            <a:avLst/>
          </a:prstGeom>
          <a:noFill/>
        </p:spPr>
        <p:txBody>
          <a:bodyPr wrap="square">
            <a:spAutoFit/>
          </a:bodyPr>
          <a:lstStyle/>
          <a:p>
            <a:pPr algn="l">
              <a:spcAft>
                <a:spcPts val="0"/>
              </a:spcAft>
              <a:defRPr sz="1400" b="0" i="0">
                <a:solidFill>
                  <a:srgbClr val="C4A882"/>
                </a:solidFill>
                <a:latin typeface="Calibri"/>
              </a:defRPr>
            </a:pPr>
            <a:r>
              <a:t>▸  PHP (intelephense)</a:t>
            </a:r>
          </a:p>
        </p:txBody>
      </p:sp>
      <p:sp>
        <p:nvSpPr>
          <p:cNvPr id="15" name="TextBox 14"/>
          <p:cNvSpPr txBox="1"/>
          <p:nvPr/>
        </p:nvSpPr>
        <p:spPr>
          <a:xfrm>
            <a:off x="6400800" y="1371600"/>
            <a:ext cx="5029200" cy="457200"/>
          </a:xfrm>
          <a:prstGeom prst="rect">
            <a:avLst/>
          </a:prstGeom>
          <a:noFill/>
        </p:spPr>
        <p:txBody>
          <a:bodyPr wrap="square">
            <a:spAutoFit/>
          </a:bodyPr>
          <a:lstStyle/>
          <a:p>
            <a:pPr algn="l">
              <a:spcAft>
                <a:spcPts val="0"/>
              </a:spcAft>
              <a:defRPr sz="2000" b="1" i="0">
                <a:solidFill>
                  <a:srgbClr val="E8D5B7"/>
                </a:solidFill>
                <a:latin typeface="Georgia"/>
              </a:defRPr>
            </a:pPr>
            <a:r>
              <a:t>17+ Community Languages</a:t>
            </a:r>
          </a:p>
        </p:txBody>
      </p:sp>
      <p:sp>
        <p:nvSpPr>
          <p:cNvPr id="16" name="TextBox 15"/>
          <p:cNvSpPr txBox="1"/>
          <p:nvPr/>
        </p:nvSpPr>
        <p:spPr>
          <a:xfrm>
            <a:off x="6400800" y="1828800"/>
            <a:ext cx="5029200" cy="365760"/>
          </a:xfrm>
          <a:prstGeom prst="rect">
            <a:avLst/>
          </a:prstGeom>
          <a:noFill/>
        </p:spPr>
        <p:txBody>
          <a:bodyPr wrap="square">
            <a:spAutoFit/>
          </a:bodyPr>
          <a:lstStyle/>
          <a:p>
            <a:pPr algn="l">
              <a:spcAft>
                <a:spcPts val="0"/>
              </a:spcAft>
              <a:defRPr sz="1400" b="0" i="0">
                <a:solidFill>
                  <a:srgbClr val="7A6E5D"/>
                </a:solidFill>
                <a:latin typeface="JetBrains Mono"/>
              </a:defRPr>
            </a:pPr>
            <a:r>
              <a:t>Piebald-AI/claude-code-lsps</a:t>
            </a:r>
          </a:p>
        </p:txBody>
      </p:sp>
      <p:sp>
        <p:nvSpPr>
          <p:cNvPr id="17" name="TextBox 16"/>
          <p:cNvSpPr txBox="1"/>
          <p:nvPr/>
        </p:nvSpPr>
        <p:spPr>
          <a:xfrm>
            <a:off x="6583680" y="2377440"/>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All 11 official  +  PowerShell</a:t>
            </a:r>
          </a:p>
        </p:txBody>
      </p:sp>
      <p:sp>
        <p:nvSpPr>
          <p:cNvPr id="18" name="TextBox 17"/>
          <p:cNvSpPr txBox="1"/>
          <p:nvPr/>
        </p:nvSpPr>
        <p:spPr>
          <a:xfrm>
            <a:off x="6583680" y="2761488"/>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HTML / CSS</a:t>
            </a:r>
          </a:p>
        </p:txBody>
      </p:sp>
      <p:sp>
        <p:nvSpPr>
          <p:cNvPr id="19" name="TextBox 18"/>
          <p:cNvSpPr txBox="1"/>
          <p:nvPr/>
        </p:nvSpPr>
        <p:spPr>
          <a:xfrm>
            <a:off x="6583680" y="3145536"/>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LaTeX (texlab)</a:t>
            </a:r>
          </a:p>
        </p:txBody>
      </p:sp>
      <p:sp>
        <p:nvSpPr>
          <p:cNvPr id="20" name="TextBox 19"/>
          <p:cNvSpPr txBox="1"/>
          <p:nvPr/>
        </p:nvSpPr>
        <p:spPr>
          <a:xfrm>
            <a:off x="6583680" y="3529584"/>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Julia</a:t>
            </a:r>
          </a:p>
        </p:txBody>
      </p:sp>
      <p:sp>
        <p:nvSpPr>
          <p:cNvPr id="21" name="TextBox 20"/>
          <p:cNvSpPr txBox="1"/>
          <p:nvPr/>
        </p:nvSpPr>
        <p:spPr>
          <a:xfrm>
            <a:off x="6583680" y="3913632"/>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Vue (v2.x)</a:t>
            </a:r>
          </a:p>
        </p:txBody>
      </p:sp>
      <p:sp>
        <p:nvSpPr>
          <p:cNvPr id="22" name="TextBox 21"/>
          <p:cNvSpPr txBox="1"/>
          <p:nvPr/>
        </p:nvSpPr>
        <p:spPr>
          <a:xfrm>
            <a:off x="6583680" y="4297680"/>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OCaml</a:t>
            </a:r>
          </a:p>
        </p:txBody>
      </p:sp>
      <p:sp>
        <p:nvSpPr>
          <p:cNvPr id="23" name="TextBox 22"/>
          <p:cNvSpPr txBox="1"/>
          <p:nvPr/>
        </p:nvSpPr>
        <p:spPr>
          <a:xfrm>
            <a:off x="6583680" y="4681728"/>
            <a:ext cx="3657600" cy="365760"/>
          </a:xfrm>
          <a:prstGeom prst="rect">
            <a:avLst/>
          </a:prstGeom>
          <a:noFill/>
        </p:spPr>
        <p:txBody>
          <a:bodyPr wrap="square">
            <a:spAutoFit/>
          </a:bodyPr>
          <a:lstStyle/>
          <a:p>
            <a:pPr algn="l">
              <a:spcAft>
                <a:spcPts val="0"/>
              </a:spcAft>
              <a:defRPr sz="1400" b="0" i="0">
                <a:solidFill>
                  <a:srgbClr val="C4A882"/>
                </a:solidFill>
                <a:latin typeface="Calibri"/>
              </a:defRPr>
            </a:pPr>
            <a:r>
              <a:t>▸  BSL / 1C:Enterprise</a:t>
            </a:r>
          </a:p>
        </p:txBody>
      </p:sp>
      <p:sp>
        <p:nvSpPr>
          <p:cNvPr id="24" name="Rounded Rectangle 23"/>
          <p:cNvSpPr/>
          <p:nvPr/>
        </p:nvSpPr>
        <p:spPr>
          <a:xfrm>
            <a:off x="731520" y="5120640"/>
            <a:ext cx="10698480" cy="10972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60120" y="52578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61288" y="52578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362456" y="52578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5532120"/>
            <a:ext cx="2743200" cy="365760"/>
          </a:xfrm>
          <a:prstGeom prst="rect">
            <a:avLst/>
          </a:prstGeom>
          <a:noFill/>
        </p:spPr>
        <p:txBody>
          <a:bodyPr wrap="square">
            <a:spAutoFit/>
          </a:bodyPr>
          <a:lstStyle/>
          <a:p>
            <a:pPr algn="l">
              <a:spcAft>
                <a:spcPts val="0"/>
              </a:spcAft>
              <a:defRPr sz="1600" b="1" i="0">
                <a:solidFill>
                  <a:srgbClr val="D4886B"/>
                </a:solidFill>
                <a:latin typeface="Calibri"/>
              </a:defRPr>
            </a:pPr>
            <a:r>
              <a:t>Multi-language projects:</a:t>
            </a:r>
          </a:p>
        </p:txBody>
      </p:sp>
      <p:sp>
        <p:nvSpPr>
          <p:cNvPr id="29" name="TextBox 28"/>
          <p:cNvSpPr txBox="1"/>
          <p:nvPr/>
        </p:nvSpPr>
        <p:spPr>
          <a:xfrm>
            <a:off x="3931920" y="5532120"/>
            <a:ext cx="7315200" cy="822960"/>
          </a:xfrm>
          <a:prstGeom prst="rect">
            <a:avLst/>
          </a:prstGeom>
          <a:noFill/>
        </p:spPr>
        <p:txBody>
          <a:bodyPr wrap="square">
            <a:spAutoFit/>
          </a:bodyPr>
          <a:lstStyle/>
          <a:p>
            <a:pPr algn="l">
              <a:spcAft>
                <a:spcPts val="0"/>
              </a:spcAft>
              <a:defRPr sz="1500" b="0" i="0">
                <a:solidFill>
                  <a:srgbClr val="E8D5B7"/>
                </a:solidFill>
                <a:latin typeface="Calibri"/>
              </a:defRPr>
            </a:pPr>
            <a:r>
              <a:t>Install plugins for each language. Claude Code automatically activates the right server based on file extensions.</a:t>
            </a:r>
          </a:p>
        </p:txBody>
      </p:sp>
      <p:sp>
        <p:nvSpPr>
          <p:cNvPr id="30" name="TextBox 29"/>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7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The Three Iron Laws of LSP Usage</a:t>
            </a:r>
          </a:p>
        </p:txBody>
      </p:sp>
      <p:sp>
        <p:nvSpPr>
          <p:cNvPr id="3" name="Rounded Rectangle 2"/>
          <p:cNvSpPr/>
          <p:nvPr/>
        </p:nvSpPr>
        <p:spPr>
          <a:xfrm>
            <a:off x="731520" y="1324303"/>
            <a:ext cx="3399046" cy="3415863"/>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874520"/>
            <a:ext cx="2926080" cy="320040"/>
          </a:xfrm>
          <a:prstGeom prst="rect">
            <a:avLst/>
          </a:prstGeom>
          <a:noFill/>
        </p:spPr>
        <p:txBody>
          <a:bodyPr wrap="square">
            <a:spAutoFit/>
          </a:bodyPr>
          <a:lstStyle/>
          <a:p>
            <a:pPr algn="l">
              <a:spcAft>
                <a:spcPts val="0"/>
              </a:spcAft>
              <a:defRPr sz="1300" b="1" i="0">
                <a:solidFill>
                  <a:srgbClr val="D4886B"/>
                </a:solidFill>
                <a:latin typeface="JetBrains Mono"/>
              </a:defRPr>
            </a:pPr>
            <a:r>
              <a:t>LAW 1</a:t>
            </a:r>
          </a:p>
        </p:txBody>
      </p:sp>
      <p:sp>
        <p:nvSpPr>
          <p:cNvPr id="8" name="TextBox 7"/>
          <p:cNvSpPr txBox="1"/>
          <p:nvPr/>
        </p:nvSpPr>
        <p:spPr>
          <a:xfrm>
            <a:off x="1005840" y="2286000"/>
            <a:ext cx="2926080" cy="1097280"/>
          </a:xfrm>
          <a:prstGeom prst="rect">
            <a:avLst/>
          </a:prstGeom>
          <a:noFill/>
        </p:spPr>
        <p:txBody>
          <a:bodyPr wrap="square">
            <a:spAutoFit/>
          </a:bodyPr>
          <a:lstStyle/>
          <a:p>
            <a:pPr algn="l">
              <a:spcAft>
                <a:spcPts val="0"/>
              </a:spcAft>
              <a:defRPr sz="1700" b="1" i="0">
                <a:solidFill>
                  <a:srgbClr val="E8D5B7"/>
                </a:solidFill>
                <a:latin typeface="Georgia"/>
              </a:defRPr>
            </a:pPr>
            <a:r>
              <a:t>No Modifying Unfamiliar Code</a:t>
            </a:r>
            <a:br/>
            <a:r>
              <a:t>Without goToDefinition First</a:t>
            </a:r>
          </a:p>
        </p:txBody>
      </p:sp>
      <p:sp>
        <p:nvSpPr>
          <p:cNvPr id="9" name="TextBox 8"/>
          <p:cNvSpPr txBox="1"/>
          <p:nvPr/>
        </p:nvSpPr>
        <p:spPr>
          <a:xfrm>
            <a:off x="1005840" y="3429000"/>
            <a:ext cx="2926080" cy="1828800"/>
          </a:xfrm>
          <a:prstGeom prst="rect">
            <a:avLst/>
          </a:prstGeom>
          <a:noFill/>
        </p:spPr>
        <p:txBody>
          <a:bodyPr wrap="square">
            <a:spAutoFit/>
          </a:bodyPr>
          <a:lstStyle/>
          <a:p>
            <a:pPr algn="l">
              <a:spcAft>
                <a:spcPts val="0"/>
              </a:spcAft>
              <a:defRPr sz="1400" b="0" i="0">
                <a:solidFill>
                  <a:srgbClr val="C4A882"/>
                </a:solidFill>
                <a:latin typeface="Calibri"/>
              </a:defRPr>
            </a:pPr>
            <a:r>
              <a:t>Always understand implementation</a:t>
            </a:r>
            <a:br/>
            <a:r>
              <a:t>before changing it. Prevents assumptions</a:t>
            </a:r>
            <a:br/>
            <a:r>
              <a:t>based on function names.</a:t>
            </a:r>
          </a:p>
        </p:txBody>
      </p:sp>
      <p:sp>
        <p:nvSpPr>
          <p:cNvPr id="10" name="Rounded Rectangle 9"/>
          <p:cNvSpPr/>
          <p:nvPr/>
        </p:nvSpPr>
        <p:spPr>
          <a:xfrm>
            <a:off x="4480559" y="1324303"/>
            <a:ext cx="3399046" cy="3415863"/>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4709159"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910327"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111495"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54879" y="1874520"/>
            <a:ext cx="2926080" cy="320040"/>
          </a:xfrm>
          <a:prstGeom prst="rect">
            <a:avLst/>
          </a:prstGeom>
          <a:noFill/>
        </p:spPr>
        <p:txBody>
          <a:bodyPr wrap="square">
            <a:spAutoFit/>
          </a:bodyPr>
          <a:lstStyle/>
          <a:p>
            <a:pPr algn="l">
              <a:spcAft>
                <a:spcPts val="0"/>
              </a:spcAft>
              <a:defRPr sz="1300" b="1" i="0">
                <a:solidFill>
                  <a:srgbClr val="D4886B"/>
                </a:solidFill>
                <a:latin typeface="JetBrains Mono"/>
              </a:defRPr>
            </a:pPr>
            <a:r>
              <a:t>LAW 2</a:t>
            </a:r>
          </a:p>
        </p:txBody>
      </p:sp>
      <p:sp>
        <p:nvSpPr>
          <p:cNvPr id="15" name="TextBox 14"/>
          <p:cNvSpPr txBox="1"/>
          <p:nvPr/>
        </p:nvSpPr>
        <p:spPr>
          <a:xfrm>
            <a:off x="4754879" y="2286000"/>
            <a:ext cx="2926080" cy="1097280"/>
          </a:xfrm>
          <a:prstGeom prst="rect">
            <a:avLst/>
          </a:prstGeom>
          <a:noFill/>
        </p:spPr>
        <p:txBody>
          <a:bodyPr wrap="square">
            <a:spAutoFit/>
          </a:bodyPr>
          <a:lstStyle/>
          <a:p>
            <a:pPr algn="l">
              <a:spcAft>
                <a:spcPts val="0"/>
              </a:spcAft>
              <a:defRPr sz="1700" b="1" i="0">
                <a:solidFill>
                  <a:srgbClr val="E8D5B7"/>
                </a:solidFill>
                <a:latin typeface="Georgia"/>
              </a:defRPr>
            </a:pPr>
            <a:r>
              <a:t>No Refactoring Without</a:t>
            </a:r>
            <a:br/>
            <a:r>
              <a:t>findReferences Impact Analysis</a:t>
            </a:r>
          </a:p>
        </p:txBody>
      </p:sp>
      <p:sp>
        <p:nvSpPr>
          <p:cNvPr id="16" name="TextBox 15"/>
          <p:cNvSpPr txBox="1"/>
          <p:nvPr/>
        </p:nvSpPr>
        <p:spPr>
          <a:xfrm>
            <a:off x="4754879" y="3429000"/>
            <a:ext cx="2926080" cy="1828800"/>
          </a:xfrm>
          <a:prstGeom prst="rect">
            <a:avLst/>
          </a:prstGeom>
          <a:noFill/>
        </p:spPr>
        <p:txBody>
          <a:bodyPr wrap="square">
            <a:spAutoFit/>
          </a:bodyPr>
          <a:lstStyle/>
          <a:p>
            <a:pPr algn="l">
              <a:spcAft>
                <a:spcPts val="0"/>
              </a:spcAft>
              <a:defRPr sz="1400" b="0" i="0">
                <a:solidFill>
                  <a:srgbClr val="C4A882"/>
                </a:solidFill>
                <a:latin typeface="Calibri"/>
              </a:defRPr>
            </a:pPr>
            <a:r>
              <a:t>Always assess the full scope of changes.</a:t>
            </a:r>
            <a:br/>
            <a:r>
              <a:t>Prevents the 'quick refactor' that</a:t>
            </a:r>
            <a:br/>
            <a:r>
              <a:t>misses half the call sites.</a:t>
            </a:r>
          </a:p>
        </p:txBody>
      </p:sp>
      <p:sp>
        <p:nvSpPr>
          <p:cNvPr id="17" name="Rounded Rectangle 16"/>
          <p:cNvSpPr/>
          <p:nvPr/>
        </p:nvSpPr>
        <p:spPr>
          <a:xfrm>
            <a:off x="8229598" y="1324303"/>
            <a:ext cx="3399046" cy="3415863"/>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458198" y="16002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659366" y="16002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8860534" y="16002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503918" y="1874520"/>
            <a:ext cx="2926080" cy="320040"/>
          </a:xfrm>
          <a:prstGeom prst="rect">
            <a:avLst/>
          </a:prstGeom>
          <a:noFill/>
        </p:spPr>
        <p:txBody>
          <a:bodyPr wrap="square">
            <a:spAutoFit/>
          </a:bodyPr>
          <a:lstStyle/>
          <a:p>
            <a:pPr algn="l">
              <a:spcAft>
                <a:spcPts val="0"/>
              </a:spcAft>
              <a:defRPr sz="1300" b="1" i="0">
                <a:solidFill>
                  <a:srgbClr val="D4886B"/>
                </a:solidFill>
                <a:latin typeface="JetBrains Mono"/>
              </a:defRPr>
            </a:pPr>
            <a:r>
              <a:t>LAW 3</a:t>
            </a:r>
          </a:p>
        </p:txBody>
      </p:sp>
      <p:sp>
        <p:nvSpPr>
          <p:cNvPr id="22" name="TextBox 21"/>
          <p:cNvSpPr txBox="1"/>
          <p:nvPr/>
        </p:nvSpPr>
        <p:spPr>
          <a:xfrm>
            <a:off x="8503918" y="2286000"/>
            <a:ext cx="2926080" cy="1097280"/>
          </a:xfrm>
          <a:prstGeom prst="rect">
            <a:avLst/>
          </a:prstGeom>
          <a:noFill/>
        </p:spPr>
        <p:txBody>
          <a:bodyPr wrap="square">
            <a:spAutoFit/>
          </a:bodyPr>
          <a:lstStyle/>
          <a:p>
            <a:pPr algn="l">
              <a:spcAft>
                <a:spcPts val="0"/>
              </a:spcAft>
              <a:defRPr sz="1700" b="1" i="0">
                <a:solidFill>
                  <a:srgbClr val="E8D5B7"/>
                </a:solidFill>
                <a:latin typeface="Georgia"/>
              </a:defRPr>
            </a:pPr>
            <a:r>
              <a:t>No Claiming Code Works</a:t>
            </a:r>
            <a:br/>
            <a:r>
              <a:t>Without LSP Diagnostics</a:t>
            </a:r>
          </a:p>
        </p:txBody>
      </p:sp>
      <p:sp>
        <p:nvSpPr>
          <p:cNvPr id="23" name="TextBox 22"/>
          <p:cNvSpPr txBox="1"/>
          <p:nvPr/>
        </p:nvSpPr>
        <p:spPr>
          <a:xfrm>
            <a:off x="8503918" y="3429000"/>
            <a:ext cx="2926080" cy="1828800"/>
          </a:xfrm>
          <a:prstGeom prst="rect">
            <a:avLst/>
          </a:prstGeom>
          <a:noFill/>
        </p:spPr>
        <p:txBody>
          <a:bodyPr wrap="square">
            <a:spAutoFit/>
          </a:bodyPr>
          <a:lstStyle/>
          <a:p>
            <a:pPr algn="l">
              <a:spcAft>
                <a:spcPts val="0"/>
              </a:spcAft>
              <a:defRPr sz="1400" b="0" i="0">
                <a:solidFill>
                  <a:srgbClr val="C4A882"/>
                </a:solidFill>
                <a:latin typeface="Calibri"/>
              </a:defRPr>
            </a:pPr>
            <a:r>
              <a:t>Always check for type errors after</a:t>
            </a:r>
            <a:br/>
            <a:r>
              <a:t>modifications. Catches mismatches</a:t>
            </a:r>
            <a:br/>
            <a:r>
              <a:t>and missing imports immediately.</a:t>
            </a:r>
          </a:p>
        </p:txBody>
      </p:sp>
      <p:sp>
        <p:nvSpPr>
          <p:cNvPr id="25" name="TextBox 24"/>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8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Setup &amp; Configuration</a:t>
            </a:r>
          </a:p>
        </p:txBody>
      </p:sp>
      <p:sp>
        <p:nvSpPr>
          <p:cNvPr id="3" name="Rounded Rectangle 2"/>
          <p:cNvSpPr/>
          <p:nvPr/>
        </p:nvSpPr>
        <p:spPr>
          <a:xfrm>
            <a:off x="731520" y="1097280"/>
            <a:ext cx="5212080" cy="28620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60120" y="12344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61288" y="12344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62456" y="12344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117043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Settings File Locations</a:t>
            </a:r>
          </a:p>
        </p:txBody>
      </p:sp>
      <p:sp>
        <p:nvSpPr>
          <p:cNvPr id="8" name="TextBox 7"/>
          <p:cNvSpPr txBox="1"/>
          <p:nvPr/>
        </p:nvSpPr>
        <p:spPr>
          <a:xfrm>
            <a:off x="1097280" y="1691640"/>
            <a:ext cx="4572000" cy="320040"/>
          </a:xfrm>
          <a:prstGeom prst="rect">
            <a:avLst/>
          </a:prstGeom>
          <a:noFill/>
        </p:spPr>
        <p:txBody>
          <a:bodyPr wrap="square">
            <a:spAutoFit/>
          </a:bodyPr>
          <a:lstStyle/>
          <a:p>
            <a:pPr algn="l">
              <a:spcAft>
                <a:spcPts val="0"/>
              </a:spcAft>
              <a:defRPr sz="1300" b="0" i="0">
                <a:solidFill>
                  <a:srgbClr val="E8D5B7"/>
                </a:solidFill>
                <a:latin typeface="JetBrains Mono"/>
              </a:defRPr>
            </a:pPr>
            <a:r>
              <a:t>▸  User (global):  ~/.claude/settings.json</a:t>
            </a:r>
          </a:p>
        </p:txBody>
      </p:sp>
      <p:sp>
        <p:nvSpPr>
          <p:cNvPr id="9" name="TextBox 8"/>
          <p:cNvSpPr txBox="1"/>
          <p:nvPr/>
        </p:nvSpPr>
        <p:spPr>
          <a:xfrm>
            <a:off x="1554480" y="1965960"/>
            <a:ext cx="4114800" cy="274320"/>
          </a:xfrm>
          <a:prstGeom prst="rect">
            <a:avLst/>
          </a:prstGeom>
          <a:noFill/>
        </p:spPr>
        <p:txBody>
          <a:bodyPr wrap="square">
            <a:spAutoFit/>
          </a:bodyPr>
          <a:lstStyle/>
          <a:p>
            <a:pPr algn="l">
              <a:spcAft>
                <a:spcPts val="0"/>
              </a:spcAft>
              <a:defRPr sz="1100" b="0" i="0">
                <a:solidFill>
                  <a:srgbClr val="7A6E5D"/>
                </a:solidFill>
                <a:latin typeface="Calibri"/>
              </a:defRPr>
            </a:pPr>
            <a:r>
              <a:t>Personal plugins, all projects</a:t>
            </a:r>
          </a:p>
        </p:txBody>
      </p:sp>
      <p:sp>
        <p:nvSpPr>
          <p:cNvPr id="10" name="TextBox 9"/>
          <p:cNvSpPr txBox="1"/>
          <p:nvPr/>
        </p:nvSpPr>
        <p:spPr>
          <a:xfrm>
            <a:off x="1097280" y="2286000"/>
            <a:ext cx="4572000" cy="320040"/>
          </a:xfrm>
          <a:prstGeom prst="rect">
            <a:avLst/>
          </a:prstGeom>
          <a:noFill/>
        </p:spPr>
        <p:txBody>
          <a:bodyPr wrap="square">
            <a:spAutoFit/>
          </a:bodyPr>
          <a:lstStyle/>
          <a:p>
            <a:pPr algn="l">
              <a:spcAft>
                <a:spcPts val="0"/>
              </a:spcAft>
              <a:defRPr sz="1300" b="0" i="0">
                <a:solidFill>
                  <a:srgbClr val="E8D5B7"/>
                </a:solidFill>
                <a:latin typeface="JetBrains Mono"/>
              </a:defRPr>
            </a:pPr>
            <a:r>
              <a:t>▸  Project (shared):  .claude/settings.json</a:t>
            </a:r>
          </a:p>
        </p:txBody>
      </p:sp>
      <p:sp>
        <p:nvSpPr>
          <p:cNvPr id="11" name="TextBox 10"/>
          <p:cNvSpPr txBox="1"/>
          <p:nvPr/>
        </p:nvSpPr>
        <p:spPr>
          <a:xfrm>
            <a:off x="1554480" y="2560320"/>
            <a:ext cx="4114800" cy="274320"/>
          </a:xfrm>
          <a:prstGeom prst="rect">
            <a:avLst/>
          </a:prstGeom>
          <a:noFill/>
        </p:spPr>
        <p:txBody>
          <a:bodyPr wrap="square">
            <a:spAutoFit/>
          </a:bodyPr>
          <a:lstStyle/>
          <a:p>
            <a:pPr algn="l">
              <a:spcAft>
                <a:spcPts val="0"/>
              </a:spcAft>
              <a:defRPr sz="1100" b="0" i="0">
                <a:solidFill>
                  <a:srgbClr val="7A6E5D"/>
                </a:solidFill>
                <a:latin typeface="Calibri"/>
              </a:defRPr>
            </a:pPr>
            <a:r>
              <a:t>Team plugins via version control</a:t>
            </a:r>
          </a:p>
        </p:txBody>
      </p:sp>
      <p:sp>
        <p:nvSpPr>
          <p:cNvPr id="12" name="TextBox 11"/>
          <p:cNvSpPr txBox="1"/>
          <p:nvPr/>
        </p:nvSpPr>
        <p:spPr>
          <a:xfrm>
            <a:off x="1097280" y="2880360"/>
            <a:ext cx="4572000" cy="320040"/>
          </a:xfrm>
          <a:prstGeom prst="rect">
            <a:avLst/>
          </a:prstGeom>
          <a:noFill/>
        </p:spPr>
        <p:txBody>
          <a:bodyPr wrap="square">
            <a:spAutoFit/>
          </a:bodyPr>
          <a:lstStyle/>
          <a:p>
            <a:pPr algn="l">
              <a:spcAft>
                <a:spcPts val="0"/>
              </a:spcAft>
              <a:defRPr sz="1300" b="0" i="0">
                <a:solidFill>
                  <a:srgbClr val="E8D5B7"/>
                </a:solidFill>
                <a:latin typeface="JetBrains Mono"/>
              </a:defRPr>
            </a:pPr>
            <a:r>
              <a:t>▸  Local (private):  .claude/settings.local.json</a:t>
            </a:r>
          </a:p>
        </p:txBody>
      </p:sp>
      <p:sp>
        <p:nvSpPr>
          <p:cNvPr id="13" name="TextBox 12"/>
          <p:cNvSpPr txBox="1"/>
          <p:nvPr/>
        </p:nvSpPr>
        <p:spPr>
          <a:xfrm>
            <a:off x="1554480" y="3337560"/>
            <a:ext cx="4114800" cy="274320"/>
          </a:xfrm>
          <a:prstGeom prst="rect">
            <a:avLst/>
          </a:prstGeom>
          <a:noFill/>
        </p:spPr>
        <p:txBody>
          <a:bodyPr wrap="square">
            <a:spAutoFit/>
          </a:bodyPr>
          <a:lstStyle/>
          <a:p>
            <a:pPr algn="l">
              <a:spcAft>
                <a:spcPts val="0"/>
              </a:spcAft>
              <a:defRPr sz="1100" b="0" i="0">
                <a:solidFill>
                  <a:srgbClr val="7A6E5D"/>
                </a:solidFill>
                <a:latin typeface="Calibri"/>
              </a:defRPr>
            </a:pPr>
            <a:r>
              <a:rPr dirty="0"/>
              <a:t>Project-specific, </a:t>
            </a:r>
            <a:r>
              <a:rPr dirty="0" err="1"/>
              <a:t>gitignored</a:t>
            </a:r>
            <a:endParaRPr dirty="0"/>
          </a:p>
        </p:txBody>
      </p:sp>
      <p:sp>
        <p:nvSpPr>
          <p:cNvPr id="14" name="Rounded Rectangle 13"/>
          <p:cNvSpPr/>
          <p:nvPr/>
        </p:nvSpPr>
        <p:spPr>
          <a:xfrm>
            <a:off x="6217920" y="1097280"/>
            <a:ext cx="5212080" cy="2862072"/>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446520" y="123444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647688" y="123444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848856" y="123444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1170432"/>
            <a:ext cx="4023360" cy="320040"/>
          </a:xfrm>
          <a:prstGeom prst="rect">
            <a:avLst/>
          </a:prstGeom>
          <a:noFill/>
        </p:spPr>
        <p:txBody>
          <a:bodyPr wrap="square">
            <a:spAutoFit/>
          </a:bodyPr>
          <a:lstStyle/>
          <a:p>
            <a:pPr algn="ctr">
              <a:spcAft>
                <a:spcPts val="0"/>
              </a:spcAft>
              <a:defRPr sz="1100" b="0" i="0">
                <a:solidFill>
                  <a:srgbClr val="7A6E5D"/>
                </a:solidFill>
                <a:latin typeface="Calibri"/>
              </a:defRPr>
            </a:pPr>
            <a:r>
              <a:t>Plugin Configuration (.lsp.json)</a:t>
            </a:r>
          </a:p>
        </p:txBody>
      </p:sp>
      <p:sp>
        <p:nvSpPr>
          <p:cNvPr id="19" name="TextBox 18"/>
          <p:cNvSpPr txBox="1"/>
          <p:nvPr/>
        </p:nvSpPr>
        <p:spPr>
          <a:xfrm>
            <a:off x="6583680" y="1691640"/>
            <a:ext cx="4572000" cy="320040"/>
          </a:xfrm>
          <a:prstGeom prst="rect">
            <a:avLst/>
          </a:prstGeom>
          <a:noFill/>
        </p:spPr>
        <p:txBody>
          <a:bodyPr wrap="square">
            <a:spAutoFit/>
          </a:bodyPr>
          <a:lstStyle/>
          <a:p>
            <a:pPr algn="l">
              <a:spcAft>
                <a:spcPts val="0"/>
              </a:spcAft>
              <a:defRPr sz="1200" b="0" i="0">
                <a:solidFill>
                  <a:srgbClr val="C4A882"/>
                </a:solidFill>
                <a:latin typeface="JetBrains Mono"/>
              </a:defRPr>
            </a:pPr>
            <a:r>
              <a:t>▸  "command"       Language server binary (required)</a:t>
            </a:r>
          </a:p>
        </p:txBody>
      </p:sp>
      <p:sp>
        <p:nvSpPr>
          <p:cNvPr id="20" name="TextBox 19"/>
          <p:cNvSpPr txBox="1"/>
          <p:nvPr/>
        </p:nvSpPr>
        <p:spPr>
          <a:xfrm>
            <a:off x="6583680" y="2039112"/>
            <a:ext cx="4572000" cy="320040"/>
          </a:xfrm>
          <a:prstGeom prst="rect">
            <a:avLst/>
          </a:prstGeom>
          <a:noFill/>
        </p:spPr>
        <p:txBody>
          <a:bodyPr wrap="square">
            <a:spAutoFit/>
          </a:bodyPr>
          <a:lstStyle/>
          <a:p>
            <a:pPr algn="l">
              <a:spcAft>
                <a:spcPts val="0"/>
              </a:spcAft>
              <a:defRPr sz="1200" b="0" i="0">
                <a:solidFill>
                  <a:srgbClr val="C4A882"/>
                </a:solidFill>
                <a:latin typeface="JetBrains Mono"/>
              </a:defRPr>
            </a:pPr>
            <a:r>
              <a:t>▸  "extensionToLanguage"   File ext mapping (required)</a:t>
            </a:r>
          </a:p>
        </p:txBody>
      </p:sp>
      <p:sp>
        <p:nvSpPr>
          <p:cNvPr id="21" name="TextBox 20"/>
          <p:cNvSpPr txBox="1"/>
          <p:nvPr/>
        </p:nvSpPr>
        <p:spPr>
          <a:xfrm>
            <a:off x="6583680" y="2386584"/>
            <a:ext cx="4572000" cy="320040"/>
          </a:xfrm>
          <a:prstGeom prst="rect">
            <a:avLst/>
          </a:prstGeom>
          <a:noFill/>
        </p:spPr>
        <p:txBody>
          <a:bodyPr wrap="square">
            <a:spAutoFit/>
          </a:bodyPr>
          <a:lstStyle/>
          <a:p>
            <a:pPr algn="l">
              <a:spcAft>
                <a:spcPts val="0"/>
              </a:spcAft>
              <a:defRPr sz="1200" b="0" i="0">
                <a:solidFill>
                  <a:srgbClr val="C4A882"/>
                </a:solidFill>
                <a:latin typeface="JetBrains Mono"/>
              </a:defRPr>
            </a:pPr>
            <a:r>
              <a:t>▸  "args"          CLI arguments for the server</a:t>
            </a:r>
          </a:p>
        </p:txBody>
      </p:sp>
      <p:sp>
        <p:nvSpPr>
          <p:cNvPr id="22" name="TextBox 21"/>
          <p:cNvSpPr txBox="1"/>
          <p:nvPr/>
        </p:nvSpPr>
        <p:spPr>
          <a:xfrm>
            <a:off x="6583680" y="2734056"/>
            <a:ext cx="4572000" cy="320040"/>
          </a:xfrm>
          <a:prstGeom prst="rect">
            <a:avLst/>
          </a:prstGeom>
          <a:noFill/>
        </p:spPr>
        <p:txBody>
          <a:bodyPr wrap="square">
            <a:spAutoFit/>
          </a:bodyPr>
          <a:lstStyle/>
          <a:p>
            <a:pPr algn="l">
              <a:spcAft>
                <a:spcPts val="0"/>
              </a:spcAft>
              <a:defRPr sz="1200" b="0" i="0">
                <a:solidFill>
                  <a:srgbClr val="C4A882"/>
                </a:solidFill>
                <a:latin typeface="JetBrains Mono"/>
              </a:defRPr>
            </a:pPr>
            <a:r>
              <a:t>▸  "transport"     stdio (default) or socket</a:t>
            </a:r>
          </a:p>
        </p:txBody>
      </p:sp>
      <p:sp>
        <p:nvSpPr>
          <p:cNvPr id="23" name="TextBox 22"/>
          <p:cNvSpPr txBox="1"/>
          <p:nvPr/>
        </p:nvSpPr>
        <p:spPr>
          <a:xfrm>
            <a:off x="6583680" y="3081528"/>
            <a:ext cx="4572000" cy="320040"/>
          </a:xfrm>
          <a:prstGeom prst="rect">
            <a:avLst/>
          </a:prstGeom>
          <a:noFill/>
        </p:spPr>
        <p:txBody>
          <a:bodyPr wrap="square">
            <a:spAutoFit/>
          </a:bodyPr>
          <a:lstStyle/>
          <a:p>
            <a:pPr algn="l">
              <a:spcAft>
                <a:spcPts val="0"/>
              </a:spcAft>
              <a:defRPr sz="1200" b="0" i="0">
                <a:solidFill>
                  <a:srgbClr val="C4A882"/>
                </a:solidFill>
                <a:latin typeface="JetBrains Mono"/>
              </a:defRPr>
            </a:pPr>
            <a:r>
              <a:t>▸  "restartOnCrash"   Auto-restart on failure</a:t>
            </a:r>
          </a:p>
        </p:txBody>
      </p:sp>
      <p:sp>
        <p:nvSpPr>
          <p:cNvPr id="24" name="Rounded Rectangle 23"/>
          <p:cNvSpPr/>
          <p:nvPr/>
        </p:nvSpPr>
        <p:spPr>
          <a:xfrm>
            <a:off x="731520" y="4206240"/>
            <a:ext cx="10698480" cy="228600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60120" y="434340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61288" y="434340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362456" y="434340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45920" y="4279392"/>
            <a:ext cx="9509760" cy="320040"/>
          </a:xfrm>
          <a:prstGeom prst="rect">
            <a:avLst/>
          </a:prstGeom>
          <a:noFill/>
        </p:spPr>
        <p:txBody>
          <a:bodyPr wrap="square">
            <a:spAutoFit/>
          </a:bodyPr>
          <a:lstStyle/>
          <a:p>
            <a:pPr algn="ctr">
              <a:spcAft>
                <a:spcPts val="0"/>
              </a:spcAft>
              <a:defRPr sz="1100" b="0" i="0">
                <a:solidFill>
                  <a:srgbClr val="7A6E5D"/>
                </a:solidFill>
                <a:latin typeface="Calibri"/>
              </a:defRPr>
            </a:pPr>
            <a:r>
              <a:t>Quick Troubleshooting</a:t>
            </a:r>
          </a:p>
        </p:txBody>
      </p:sp>
      <p:sp>
        <p:nvSpPr>
          <p:cNvPr id="29" name="TextBox 28"/>
          <p:cNvSpPr txBox="1"/>
          <p:nvPr/>
        </p:nvSpPr>
        <p:spPr>
          <a:xfrm>
            <a:off x="1097280" y="4800600"/>
            <a:ext cx="3657600" cy="320040"/>
          </a:xfrm>
          <a:prstGeom prst="rect">
            <a:avLst/>
          </a:prstGeom>
          <a:noFill/>
        </p:spPr>
        <p:txBody>
          <a:bodyPr wrap="square">
            <a:spAutoFit/>
          </a:bodyPr>
          <a:lstStyle/>
          <a:p>
            <a:pPr algn="l">
              <a:spcAft>
                <a:spcPts val="0"/>
              </a:spcAft>
              <a:defRPr sz="1300" b="0" i="0">
                <a:solidFill>
                  <a:srgbClr val="E05A4F"/>
                </a:solidFill>
                <a:latin typeface="Calibri"/>
              </a:defRPr>
            </a:pPr>
            <a:r>
              <a:t>"No LSP server available"</a:t>
            </a:r>
          </a:p>
        </p:txBody>
      </p:sp>
      <p:sp>
        <p:nvSpPr>
          <p:cNvPr id="30" name="TextBox 29"/>
          <p:cNvSpPr txBox="1"/>
          <p:nvPr/>
        </p:nvSpPr>
        <p:spPr>
          <a:xfrm>
            <a:off x="5029200" y="4800600"/>
            <a:ext cx="5943600" cy="320040"/>
          </a:xfrm>
          <a:prstGeom prst="rect">
            <a:avLst/>
          </a:prstGeom>
          <a:noFill/>
        </p:spPr>
        <p:txBody>
          <a:bodyPr wrap="square">
            <a:spAutoFit/>
          </a:bodyPr>
          <a:lstStyle/>
          <a:p>
            <a:pPr algn="l">
              <a:spcAft>
                <a:spcPts val="0"/>
              </a:spcAft>
              <a:defRPr sz="1300" b="0" i="0">
                <a:solidFill>
                  <a:srgbClr val="5BBF4A"/>
                </a:solidFill>
                <a:latin typeface="Calibri"/>
              </a:defRPr>
            </a:pPr>
            <a:r>
              <a:t>→  Install plugin + restart Claude Code</a:t>
            </a:r>
          </a:p>
        </p:txBody>
      </p:sp>
      <p:sp>
        <p:nvSpPr>
          <p:cNvPr id="31" name="TextBox 30"/>
          <p:cNvSpPr txBox="1"/>
          <p:nvPr/>
        </p:nvSpPr>
        <p:spPr>
          <a:xfrm>
            <a:off x="1097280" y="5184648"/>
            <a:ext cx="3657600" cy="320040"/>
          </a:xfrm>
          <a:prstGeom prst="rect">
            <a:avLst/>
          </a:prstGeom>
          <a:noFill/>
        </p:spPr>
        <p:txBody>
          <a:bodyPr wrap="square">
            <a:spAutoFit/>
          </a:bodyPr>
          <a:lstStyle/>
          <a:p>
            <a:pPr algn="l">
              <a:spcAft>
                <a:spcPts val="0"/>
              </a:spcAft>
              <a:defRPr sz="1300" b="0" i="0">
                <a:solidFill>
                  <a:srgbClr val="E05A4F"/>
                </a:solidFill>
                <a:latin typeface="Calibri"/>
              </a:defRPr>
            </a:pPr>
            <a:r>
              <a:t>"Executable not found"</a:t>
            </a:r>
          </a:p>
        </p:txBody>
      </p:sp>
      <p:sp>
        <p:nvSpPr>
          <p:cNvPr id="32" name="TextBox 31"/>
          <p:cNvSpPr txBox="1"/>
          <p:nvPr/>
        </p:nvSpPr>
        <p:spPr>
          <a:xfrm>
            <a:off x="5029200" y="5184648"/>
            <a:ext cx="5943600" cy="320040"/>
          </a:xfrm>
          <a:prstGeom prst="rect">
            <a:avLst/>
          </a:prstGeom>
          <a:noFill/>
        </p:spPr>
        <p:txBody>
          <a:bodyPr wrap="square">
            <a:spAutoFit/>
          </a:bodyPr>
          <a:lstStyle/>
          <a:p>
            <a:pPr algn="l">
              <a:spcAft>
                <a:spcPts val="0"/>
              </a:spcAft>
              <a:defRPr sz="1300" b="0" i="0">
                <a:solidFill>
                  <a:srgbClr val="5BBF4A"/>
                </a:solidFill>
                <a:latin typeface="Calibri"/>
              </a:defRPr>
            </a:pPr>
            <a:r>
              <a:t>→  Install the binary (npm/pip/brew)</a:t>
            </a:r>
          </a:p>
        </p:txBody>
      </p:sp>
      <p:sp>
        <p:nvSpPr>
          <p:cNvPr id="33" name="TextBox 32"/>
          <p:cNvSpPr txBox="1"/>
          <p:nvPr/>
        </p:nvSpPr>
        <p:spPr>
          <a:xfrm>
            <a:off x="1097280" y="5568696"/>
            <a:ext cx="3657600" cy="320040"/>
          </a:xfrm>
          <a:prstGeom prst="rect">
            <a:avLst/>
          </a:prstGeom>
          <a:noFill/>
        </p:spPr>
        <p:txBody>
          <a:bodyPr wrap="square">
            <a:spAutoFit/>
          </a:bodyPr>
          <a:lstStyle/>
          <a:p>
            <a:pPr algn="l">
              <a:spcAft>
                <a:spcPts val="0"/>
              </a:spcAft>
              <a:defRPr sz="1300" b="0" i="0">
                <a:solidFill>
                  <a:srgbClr val="E05A4F"/>
                </a:solidFill>
                <a:latin typeface="Calibri"/>
              </a:defRPr>
            </a:pPr>
            <a:r>
              <a:t>Plugin installed but silent</a:t>
            </a:r>
          </a:p>
        </p:txBody>
      </p:sp>
      <p:sp>
        <p:nvSpPr>
          <p:cNvPr id="34" name="TextBox 33"/>
          <p:cNvSpPr txBox="1"/>
          <p:nvPr/>
        </p:nvSpPr>
        <p:spPr>
          <a:xfrm>
            <a:off x="5029200" y="5568696"/>
            <a:ext cx="5943600" cy="320040"/>
          </a:xfrm>
          <a:prstGeom prst="rect">
            <a:avLst/>
          </a:prstGeom>
          <a:noFill/>
        </p:spPr>
        <p:txBody>
          <a:bodyPr wrap="square">
            <a:spAutoFit/>
          </a:bodyPr>
          <a:lstStyle/>
          <a:p>
            <a:pPr algn="l">
              <a:spcAft>
                <a:spcPts val="0"/>
              </a:spcAft>
              <a:defRPr sz="1300" b="0" i="0">
                <a:solidFill>
                  <a:srgbClr val="5BBF4A"/>
                </a:solidFill>
                <a:latin typeface="Calibri"/>
              </a:defRPr>
            </a:pPr>
            <a:r>
              <a:t>→  Clear cache: rm -rf ~/.claude/plugins/cache</a:t>
            </a:r>
          </a:p>
        </p:txBody>
      </p:sp>
      <p:sp>
        <p:nvSpPr>
          <p:cNvPr id="35" name="TextBox 34"/>
          <p:cNvSpPr txBox="1"/>
          <p:nvPr/>
        </p:nvSpPr>
        <p:spPr>
          <a:xfrm>
            <a:off x="1097280" y="5952744"/>
            <a:ext cx="3657600" cy="320040"/>
          </a:xfrm>
          <a:prstGeom prst="rect">
            <a:avLst/>
          </a:prstGeom>
          <a:noFill/>
        </p:spPr>
        <p:txBody>
          <a:bodyPr wrap="square">
            <a:spAutoFit/>
          </a:bodyPr>
          <a:lstStyle/>
          <a:p>
            <a:pPr algn="l">
              <a:spcAft>
                <a:spcPts val="0"/>
              </a:spcAft>
              <a:defRPr sz="1300" b="0" i="0">
                <a:solidFill>
                  <a:srgbClr val="E05A4F"/>
                </a:solidFill>
                <a:latin typeface="Calibri"/>
              </a:defRPr>
            </a:pPr>
            <a:r>
              <a:t>Diagnostics not updating</a:t>
            </a:r>
          </a:p>
        </p:txBody>
      </p:sp>
      <p:sp>
        <p:nvSpPr>
          <p:cNvPr id="36" name="TextBox 35"/>
          <p:cNvSpPr txBox="1"/>
          <p:nvPr/>
        </p:nvSpPr>
        <p:spPr>
          <a:xfrm>
            <a:off x="5029200" y="5952744"/>
            <a:ext cx="5943600" cy="320040"/>
          </a:xfrm>
          <a:prstGeom prst="rect">
            <a:avLst/>
          </a:prstGeom>
          <a:noFill/>
        </p:spPr>
        <p:txBody>
          <a:bodyPr wrap="square">
            <a:spAutoFit/>
          </a:bodyPr>
          <a:lstStyle/>
          <a:p>
            <a:pPr algn="l">
              <a:spcAft>
                <a:spcPts val="0"/>
              </a:spcAft>
              <a:defRPr sz="1300" b="0" i="0">
                <a:solidFill>
                  <a:srgbClr val="5BBF4A"/>
                </a:solidFill>
                <a:latin typeface="Calibri"/>
              </a:defRPr>
            </a:pPr>
            <a:r>
              <a:t>→  Check /plugin Errors tab, force refresh</a:t>
            </a:r>
          </a:p>
        </p:txBody>
      </p:sp>
      <p:sp>
        <p:nvSpPr>
          <p:cNvPr id="37" name="TextBox 36"/>
          <p:cNvSpPr txBox="1"/>
          <p:nvPr/>
        </p:nvSpPr>
        <p:spPr>
          <a:xfrm>
            <a:off x="10515600" y="6492240"/>
            <a:ext cx="1371600" cy="274320"/>
          </a:xfrm>
          <a:prstGeom prst="rect">
            <a:avLst/>
          </a:prstGeom>
          <a:noFill/>
        </p:spPr>
        <p:txBody>
          <a:bodyPr wrap="square">
            <a:spAutoFit/>
          </a:bodyPr>
          <a:lstStyle/>
          <a:p>
            <a:pPr algn="r">
              <a:spcAft>
                <a:spcPts val="0"/>
              </a:spcAft>
              <a:defRPr sz="900" b="0" i="0">
                <a:solidFill>
                  <a:srgbClr val="7A6E5D"/>
                </a:solidFill>
                <a:latin typeface="JetBrains Mono"/>
              </a:defRPr>
            </a:pPr>
            <a:r>
              <a:t>9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515600" cy="731520"/>
          </a:xfrm>
          <a:prstGeom prst="rect">
            <a:avLst/>
          </a:prstGeom>
          <a:noFill/>
        </p:spPr>
        <p:txBody>
          <a:bodyPr wrap="square">
            <a:spAutoFit/>
          </a:bodyPr>
          <a:lstStyle/>
          <a:p>
            <a:pPr algn="ctr">
              <a:spcAft>
                <a:spcPts val="0"/>
              </a:spcAft>
              <a:defRPr sz="3400" b="0" i="0">
                <a:solidFill>
                  <a:srgbClr val="E8D5B7"/>
                </a:solidFill>
                <a:latin typeface="Georgia"/>
              </a:defRPr>
            </a:pPr>
            <a:r>
              <a:t>Key Takeaways</a:t>
            </a:r>
          </a:p>
        </p:txBody>
      </p:sp>
      <p:sp>
        <p:nvSpPr>
          <p:cNvPr id="3" name="TextBox 2"/>
          <p:cNvSpPr txBox="1"/>
          <p:nvPr/>
        </p:nvSpPr>
        <p:spPr>
          <a:xfrm>
            <a:off x="731520" y="1371600"/>
            <a:ext cx="6400800" cy="4114800"/>
          </a:xfrm>
          <a:prstGeom prst="rect">
            <a:avLst/>
          </a:prstGeom>
          <a:noFill/>
        </p:spPr>
        <p:txBody>
          <a:bodyPr wrap="square">
            <a:spAutoFit/>
          </a:bodyPr>
          <a:lstStyle/>
          <a:p>
            <a:pPr>
              <a:spcBef>
                <a:spcPts val="200"/>
              </a:spcBef>
              <a:spcAft>
                <a:spcPts val="800"/>
              </a:spcAft>
            </a:pPr>
            <a:r>
              <a:rPr sz="1700">
                <a:solidFill>
                  <a:srgbClr val="D4886B"/>
                </a:solidFill>
                <a:latin typeface="Calibri"/>
              </a:rPr>
              <a:t>  –  </a:t>
            </a:r>
            <a:r>
              <a:rPr sz="1700">
                <a:solidFill>
                  <a:srgbClr val="C4A882"/>
                </a:solidFill>
                <a:latin typeface="Calibri"/>
              </a:rPr>
              <a:t>LSP transforms Claude Code from a text processor
into a tool with genuine semantic code understanding</a:t>
            </a:r>
          </a:p>
          <a:p>
            <a:pPr>
              <a:spcBef>
                <a:spcPts val="200"/>
              </a:spcBef>
              <a:spcAft>
                <a:spcPts val="800"/>
              </a:spcAft>
            </a:pPr>
            <a:r>
              <a:rPr sz="1700">
                <a:solidFill>
                  <a:srgbClr val="D4886B"/>
                </a:solidFill>
                <a:latin typeface="Calibri"/>
              </a:rPr>
              <a:t>  –  </a:t>
            </a:r>
            <a:r>
              <a:rPr sz="1700">
                <a:solidFill>
                  <a:srgbClr val="C4A882"/>
                </a:solidFill>
                <a:latin typeface="Calibri"/>
              </a:rPr>
              <a:t>900x faster navigation, 75% fewer tokens,
and elimination of false positives</a:t>
            </a:r>
          </a:p>
          <a:p>
            <a:pPr>
              <a:spcBef>
                <a:spcPts val="200"/>
              </a:spcBef>
              <a:spcAft>
                <a:spcPts val="800"/>
              </a:spcAft>
            </a:pPr>
            <a:r>
              <a:rPr sz="1700">
                <a:solidFill>
                  <a:srgbClr val="D4886B"/>
                </a:solidFill>
                <a:latin typeface="Calibri"/>
              </a:rPr>
              <a:t>  –  </a:t>
            </a:r>
            <a:r>
              <a:rPr sz="1700">
                <a:solidFill>
                  <a:srgbClr val="C4A882"/>
                </a:solidFill>
                <a:latin typeface="Calibri"/>
              </a:rPr>
              <a:t>11 official + 17+ community languages supported
with 5-minute setup per language</a:t>
            </a:r>
          </a:p>
          <a:p>
            <a:pPr>
              <a:spcBef>
                <a:spcPts val="200"/>
              </a:spcBef>
              <a:spcAft>
                <a:spcPts val="800"/>
              </a:spcAft>
            </a:pPr>
            <a:r>
              <a:rPr sz="1700">
                <a:solidFill>
                  <a:srgbClr val="D4886B"/>
                </a:solidFill>
                <a:latin typeface="Calibri"/>
              </a:rPr>
              <a:t>  –  </a:t>
            </a:r>
            <a:r>
              <a:rPr sz="1700">
                <a:solidFill>
                  <a:srgbClr val="C4A882"/>
                </a:solidFill>
                <a:latin typeface="Calibri"/>
              </a:rPr>
              <a:t>The Three Iron Laws enforce best practices:
Navigate, Analyze, Inspect, then Edit</a:t>
            </a:r>
          </a:p>
          <a:p>
            <a:pPr>
              <a:spcBef>
                <a:spcPts val="200"/>
              </a:spcBef>
              <a:spcAft>
                <a:spcPts val="800"/>
              </a:spcAft>
            </a:pPr>
            <a:r>
              <a:rPr sz="1700">
                <a:solidFill>
                  <a:srgbClr val="D4886B"/>
                </a:solidFill>
                <a:latin typeface="Calibri"/>
              </a:rPr>
              <a:t>  –  </a:t>
            </a:r>
            <a:r>
              <a:rPr sz="1700">
                <a:solidFill>
                  <a:srgbClr val="C4A882"/>
                </a:solidFill>
                <a:latin typeface="Calibri"/>
              </a:rPr>
              <a:t>200K context window + LSP semantic understanding
= uniquely powerful AI development</a:t>
            </a:r>
          </a:p>
        </p:txBody>
      </p:sp>
      <p:sp>
        <p:nvSpPr>
          <p:cNvPr id="4" name="Rounded Rectangle 3"/>
          <p:cNvSpPr/>
          <p:nvPr/>
        </p:nvSpPr>
        <p:spPr>
          <a:xfrm>
            <a:off x="7514897" y="1371600"/>
            <a:ext cx="4006543" cy="3154680"/>
          </a:xfrm>
          <a:prstGeom prst="roundRect">
            <a:avLst/>
          </a:prstGeom>
          <a:solidFill>
            <a:srgbClr val="252220"/>
          </a:solidFill>
          <a:ln w="12700">
            <a:solidFill>
              <a:srgbClr val="6B5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818120" y="1508760"/>
            <a:ext cx="109728" cy="109728"/>
          </a:xfrm>
          <a:prstGeom prst="ellipse">
            <a:avLst/>
          </a:prstGeom>
          <a:solidFill>
            <a:srgbClr val="E05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19288" y="1508760"/>
            <a:ext cx="109728" cy="109728"/>
          </a:xfrm>
          <a:prstGeom prst="ellipse">
            <a:avLst/>
          </a:prstGeom>
          <a:solidFill>
            <a:srgbClr val="E5B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0456" y="1508760"/>
            <a:ext cx="109728" cy="109728"/>
          </a:xfrm>
          <a:prstGeom prst="ellipse">
            <a:avLst/>
          </a:prstGeom>
          <a:solidFill>
            <a:srgbClr val="5BBF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0" y="1444752"/>
            <a:ext cx="2743200" cy="320040"/>
          </a:xfrm>
          <a:prstGeom prst="rect">
            <a:avLst/>
          </a:prstGeom>
          <a:noFill/>
        </p:spPr>
        <p:txBody>
          <a:bodyPr wrap="square">
            <a:spAutoFit/>
          </a:bodyPr>
          <a:lstStyle/>
          <a:p>
            <a:pPr algn="ctr">
              <a:spcAft>
                <a:spcPts val="0"/>
              </a:spcAft>
              <a:defRPr sz="1100" b="0" i="0">
                <a:solidFill>
                  <a:srgbClr val="7A6E5D"/>
                </a:solidFill>
                <a:latin typeface="Calibri"/>
              </a:defRPr>
            </a:pPr>
            <a:r>
              <a:t>Adoption Path</a:t>
            </a:r>
          </a:p>
        </p:txBody>
      </p:sp>
      <p:sp>
        <p:nvSpPr>
          <p:cNvPr id="9" name="TextBox 8"/>
          <p:cNvSpPr txBox="1"/>
          <p:nvPr/>
        </p:nvSpPr>
        <p:spPr>
          <a:xfrm>
            <a:off x="7863840" y="1965960"/>
            <a:ext cx="3383280" cy="365760"/>
          </a:xfrm>
          <a:prstGeom prst="rect">
            <a:avLst/>
          </a:prstGeom>
          <a:noFill/>
        </p:spPr>
        <p:txBody>
          <a:bodyPr wrap="square">
            <a:spAutoFit/>
          </a:bodyPr>
          <a:lstStyle/>
          <a:p>
            <a:pPr algn="l">
              <a:spcAft>
                <a:spcPts val="0"/>
              </a:spcAft>
              <a:defRPr sz="1400" b="0" i="0">
                <a:solidFill>
                  <a:srgbClr val="C4A882"/>
                </a:solidFill>
                <a:latin typeface="Calibri"/>
              </a:defRPr>
            </a:pPr>
            <a:r>
              <a:t>1. Enable LSP for primary language</a:t>
            </a:r>
          </a:p>
        </p:txBody>
      </p:sp>
      <p:sp>
        <p:nvSpPr>
          <p:cNvPr id="10" name="TextBox 9"/>
          <p:cNvSpPr txBox="1"/>
          <p:nvPr/>
        </p:nvSpPr>
        <p:spPr>
          <a:xfrm>
            <a:off x="7863840" y="2468880"/>
            <a:ext cx="3383280" cy="365760"/>
          </a:xfrm>
          <a:prstGeom prst="rect">
            <a:avLst/>
          </a:prstGeom>
          <a:noFill/>
        </p:spPr>
        <p:txBody>
          <a:bodyPr wrap="square">
            <a:spAutoFit/>
          </a:bodyPr>
          <a:lstStyle/>
          <a:p>
            <a:pPr algn="l">
              <a:spcAft>
                <a:spcPts val="0"/>
              </a:spcAft>
              <a:defRPr sz="1400" b="0" i="0">
                <a:solidFill>
                  <a:srgbClr val="C4A882"/>
                </a:solidFill>
                <a:latin typeface="Calibri"/>
              </a:defRPr>
            </a:pPr>
            <a:r>
              <a:t>2. Verify with goToDefinition test</a:t>
            </a:r>
          </a:p>
        </p:txBody>
      </p:sp>
      <p:sp>
        <p:nvSpPr>
          <p:cNvPr id="11" name="TextBox 10"/>
          <p:cNvSpPr txBox="1"/>
          <p:nvPr/>
        </p:nvSpPr>
        <p:spPr>
          <a:xfrm>
            <a:off x="7863840" y="2971800"/>
            <a:ext cx="3383280" cy="365760"/>
          </a:xfrm>
          <a:prstGeom prst="rect">
            <a:avLst/>
          </a:prstGeom>
          <a:noFill/>
        </p:spPr>
        <p:txBody>
          <a:bodyPr wrap="square">
            <a:spAutoFit/>
          </a:bodyPr>
          <a:lstStyle/>
          <a:p>
            <a:pPr algn="l">
              <a:spcAft>
                <a:spcPts val="0"/>
              </a:spcAft>
              <a:defRPr sz="1400" b="0" i="0">
                <a:solidFill>
                  <a:srgbClr val="C4A882"/>
                </a:solidFill>
                <a:latin typeface="Calibri"/>
              </a:defRPr>
            </a:pPr>
            <a:r>
              <a:t>3. Add plugins for other languages</a:t>
            </a:r>
          </a:p>
        </p:txBody>
      </p:sp>
      <p:sp>
        <p:nvSpPr>
          <p:cNvPr id="12" name="TextBox 11"/>
          <p:cNvSpPr txBox="1"/>
          <p:nvPr/>
        </p:nvSpPr>
        <p:spPr>
          <a:xfrm>
            <a:off x="7863840" y="3474720"/>
            <a:ext cx="3383280" cy="365760"/>
          </a:xfrm>
          <a:prstGeom prst="rect">
            <a:avLst/>
          </a:prstGeom>
          <a:noFill/>
        </p:spPr>
        <p:txBody>
          <a:bodyPr wrap="square">
            <a:spAutoFit/>
          </a:bodyPr>
          <a:lstStyle/>
          <a:p>
            <a:pPr algn="l">
              <a:spcAft>
                <a:spcPts val="0"/>
              </a:spcAft>
              <a:defRPr sz="1400" b="0" i="0">
                <a:solidFill>
                  <a:srgbClr val="C4A882"/>
                </a:solidFill>
                <a:latin typeface="Calibri"/>
              </a:defRPr>
            </a:pPr>
            <a:r>
              <a:t>4. Consider lsp-tools for best practices</a:t>
            </a:r>
          </a:p>
        </p:txBody>
      </p:sp>
      <p:sp>
        <p:nvSpPr>
          <p:cNvPr id="13" name="TextBox 12"/>
          <p:cNvSpPr txBox="1"/>
          <p:nvPr/>
        </p:nvSpPr>
        <p:spPr>
          <a:xfrm>
            <a:off x="7863840" y="3977640"/>
            <a:ext cx="3383280" cy="365760"/>
          </a:xfrm>
          <a:prstGeom prst="rect">
            <a:avLst/>
          </a:prstGeom>
          <a:noFill/>
        </p:spPr>
        <p:txBody>
          <a:bodyPr wrap="square">
            <a:spAutoFit/>
          </a:bodyPr>
          <a:lstStyle/>
          <a:p>
            <a:pPr algn="l">
              <a:spcAft>
                <a:spcPts val="0"/>
              </a:spcAft>
              <a:defRPr sz="1400" b="0" i="0">
                <a:solidFill>
                  <a:srgbClr val="C4A882"/>
                </a:solidFill>
                <a:latin typeface="Calibri"/>
              </a:defRPr>
            </a:pPr>
            <a:r>
              <a:t>5. Share settings via .claude/settings.json</a:t>
            </a:r>
          </a:p>
        </p:txBody>
      </p:sp>
      <p:sp>
        <p:nvSpPr>
          <p:cNvPr id="14" name="Rectangle 13"/>
          <p:cNvSpPr/>
          <p:nvPr/>
        </p:nvSpPr>
        <p:spPr>
          <a:xfrm>
            <a:off x="1828800" y="5760720"/>
            <a:ext cx="8503920" cy="18288"/>
          </a:xfrm>
          <a:prstGeom prst="rect">
            <a:avLst/>
          </a:prstGeom>
          <a:solidFill>
            <a:srgbClr val="D488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5943600"/>
            <a:ext cx="9144000" cy="457200"/>
          </a:xfrm>
          <a:prstGeom prst="rect">
            <a:avLst/>
          </a:prstGeom>
          <a:noFill/>
        </p:spPr>
        <p:txBody>
          <a:bodyPr wrap="square">
            <a:spAutoFit/>
          </a:bodyPr>
          <a:lstStyle/>
          <a:p>
            <a:pPr algn="ctr">
              <a:spcAft>
                <a:spcPts val="0"/>
              </a:spcAft>
              <a:defRPr sz="1400" b="0" i="0">
                <a:solidFill>
                  <a:srgbClr val="7A6E5D"/>
                </a:solidFill>
                <a:latin typeface="JetBrains Mono"/>
              </a:defRPr>
            </a:pPr>
            <a:r>
              <a:t>The Claude Beast  |  LSP Integration  |  start.io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81</TotalTime>
  <Words>2258</Words>
  <Application>Microsoft Macintosh PowerPoint</Application>
  <PresentationFormat>Widescreen</PresentationFormat>
  <Paragraphs>234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Haim Ari</cp:lastModifiedBy>
  <cp:revision>6</cp:revision>
  <dcterms:created xsi:type="dcterms:W3CDTF">2013-01-27T09:14:16Z</dcterms:created>
  <dcterms:modified xsi:type="dcterms:W3CDTF">2026-02-26T11:57:55Z</dcterms:modified>
  <cp:category/>
</cp:coreProperties>
</file>