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60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Title</a:t>
            </a:r>
          </a:p>
          <a:p>
            <a:endParaRPr/>
          </a:p>
          <a:p>
            <a:r>
              <a:t>Opening: Welcome to The Claude Beast series. Today we're covering Claude Worktrees -- first-class support for running multiple Claude Code sessions in parallel, each with its own isolated copy of the repository.</a:t>
            </a:r>
          </a:p>
          <a:p>
            <a:endParaRPr/>
          </a:p>
          <a:p>
            <a:r>
              <a:t>Key points:</a:t>
            </a:r>
          </a:p>
          <a:p>
            <a:r>
              <a:t>- Worktrees use Git's native worktree feature under the hood</a:t>
            </a:r>
          </a:p>
          <a:p>
            <a:r>
              <a:t>- The --worktree flag creates an isolated directory with its own branch</a:t>
            </a:r>
          </a:p>
          <a:p>
            <a:r>
              <a:t>- Available across CLI, Desktop, IDE extensions, web, and mobile</a:t>
            </a:r>
          </a:p>
          <a:p>
            <a:r>
              <a:t>- Announced February 21, 2026 by Boris Cherny, the creator of Claude Code</a:t>
            </a:r>
          </a:p>
          <a:p>
            <a:endParaRPr/>
          </a:p>
          <a:p>
            <a:r>
              <a:t>Transition: Let's start with what worktrees are and why they matter.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What Are Worktrees?</a:t>
            </a:r>
          </a:p>
          <a:p>
            <a:endParaRPr/>
          </a:p>
          <a:p>
            <a:r>
              <a:t>Opening: Claude Worktrees bring Git's native worktree feature into Claude Code with first-class CLI support.</a:t>
            </a:r>
          </a:p>
          <a:p>
            <a:endParaRPr/>
          </a:p>
          <a:p>
            <a:r>
              <a:t>When you run claude --worktree feature-auth, Claude Code creates a directory at .claude/worktrees/feature-auth/, checks out a new branch called worktree-feature-auth from the default remote branch, and starts a Claude session inside that directory.</a:t>
            </a:r>
          </a:p>
          <a:p>
            <a:endParaRPr/>
          </a:p>
          <a:p>
            <a:r>
              <a:t>You can use a named worktree or let Claude auto-generate a random name like "bright-running-fox". You can also ask Claude to create a worktree during a session.</a:t>
            </a:r>
          </a:p>
          <a:p>
            <a:endParaRPr/>
          </a:p>
          <a:p>
            <a:r>
              <a:t>Under the hood: each worktree gets its own copy of all files and its own branch, but shares the .git history with the main repository. On session exit, cleanup is automatic.</a:t>
            </a:r>
          </a:p>
          <a:p>
            <a:endParaRPr/>
          </a:p>
          <a:p>
            <a:r>
              <a:t>Important: add .claude/worktrees/ to your .gitignore.</a:t>
            </a:r>
          </a:p>
          <a:p>
            <a:endParaRPr/>
          </a:p>
          <a:p>
            <a:r>
              <a:t>Transition: Let's look at the isolation model.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Isolation Model</a:t>
            </a:r>
          </a:p>
          <a:p>
            <a:endParaRPr/>
          </a:p>
          <a:p>
            <a:r>
              <a:t>Opening: Understanding the isolation model is critical for effective worktree usage.</a:t>
            </a:r>
          </a:p>
          <a:p>
            <a:endParaRPr/>
          </a:p>
          <a:p>
            <a:r>
              <a:t>Shared: all worktrees share the same .git directory, which means they share the full repository history, remote connections, Git configuration, and the refs/objects database. This is what makes worktrees lightweight -- you're not cloning the entire repository.</a:t>
            </a:r>
          </a:p>
          <a:p>
            <a:endParaRPr/>
          </a:p>
          <a:p>
            <a:r>
              <a:t>Separate: each worktree has its own working directory with its own copy of files, its own branch, its own staging area, its own uncommitted changes, and its own Claude Code session context.</a:t>
            </a:r>
          </a:p>
          <a:p>
            <a:endParaRPr/>
          </a:p>
          <a:p>
            <a:r>
              <a:t>Cleanup is automatic. If you exit with no changes, the worktree and its branch are removed. If you have changes or commits, Claude prompts you to keep or remove them.</a:t>
            </a:r>
          </a:p>
          <a:p>
            <a:endParaRPr/>
          </a:p>
          <a:p>
            <a:r>
              <a:t>Important note: each worktree needs its own dependency installation (npm install, etc.) since node_modules are per-directory.</a:t>
            </a:r>
          </a:p>
          <a:p>
            <a:endParaRPr/>
          </a:p>
          <a:p>
            <a:r>
              <a:t>Transition: Let's see the key use cases.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Use Cases</a:t>
            </a:r>
          </a:p>
          <a:p>
            <a:endParaRPr/>
          </a:p>
          <a:p>
            <a:r>
              <a:t>Opening: Four high-impact use cases for Claude Worktrees.</a:t>
            </a:r>
          </a:p>
          <a:p>
            <a:endParaRPr/>
          </a:p>
          <a:p>
            <a:r>
              <a:t>First, parallel feature and bugfix. Instead of stashing your work and switching branches, just open a new worktree. True parallel development without context loss.</a:t>
            </a:r>
          </a:p>
          <a:p>
            <a:endParaRPr/>
          </a:p>
          <a:p>
            <a:r>
              <a:t>Second, the three-agent pattern. One agent writes code, one writes tests, one reviews -- each in its own worktree. This eliminates the sequential bottleneck of code-test-review.</a:t>
            </a:r>
          </a:p>
          <a:p>
            <a:endParaRPr/>
          </a:p>
          <a:p>
            <a:r>
              <a:t>Third, competing debugging hypotheses. Instead of testing theories sequentially (and suffering from anchoring bias), test them in parallel. Each hypothesis gets its own isolated environment.</a:t>
            </a:r>
          </a:p>
          <a:p>
            <a:endParaRPr/>
          </a:p>
          <a:p>
            <a:r>
              <a:t>Fourth, long-running refactors. Start a worktree for a big refactor and let it run while you continue normal work in the main tree.</a:t>
            </a:r>
          </a:p>
          <a:p>
            <a:endParaRPr/>
          </a:p>
          <a:p>
            <a:r>
              <a:t>Transition: Let's see how worktrees integrate with sub-agents and agent teams.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Integration with Agents</a:t>
            </a:r>
          </a:p>
          <a:p>
            <a:endParaRPr/>
          </a:p>
          <a:p>
            <a:r>
              <a:t>Opening: Worktrees integrate deeply with Claude's sub-agent and agent team features.</a:t>
            </a:r>
          </a:p>
          <a:p>
            <a:endParaRPr/>
          </a:p>
          <a:p>
            <a:r>
              <a:t>For sub-agents, set isolation: worktree in the agent's YAML frontmatter. Each subagent gets its own worktree with its own file copy. Changes don't conflict with the main session. Auto-cleanup happens if no changes are made.</a:t>
            </a:r>
          </a:p>
          <a:p>
            <a:endParaRPr/>
          </a:p>
          <a:p>
            <a:r>
              <a:t>The comparison with agent teams is important. Worktrees provide file isolation with results flowing back to the parent. Agent teams provide full coordination with peer-to-peer messaging and Claude-managed orchestration.</a:t>
            </a:r>
          </a:p>
          <a:p>
            <a:endParaRPr/>
          </a:p>
          <a:p>
            <a:r>
              <a:t>The guidance: use worktrees when you want to orchestrate parallel sessions manually. Use agent teams when you want Claude to manage the coordination automatically.</a:t>
            </a:r>
          </a:p>
          <a:p>
            <a:endParaRPr/>
          </a:p>
          <a:p>
            <a:r>
              <a:t>In practice, agent teams often use worktrees under the hood for the file isolation layer.</a:t>
            </a:r>
          </a:p>
          <a:p>
            <a:endParaRPr/>
          </a:p>
          <a:p>
            <a:r>
              <a:t>Transition: Let's talk about the advanced features.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7: Practical Workflow</a:t>
            </a:r>
          </a:p>
          <a:p>
            <a:endParaRPr/>
          </a:p>
          <a:p>
            <a:r>
              <a:t>Opening: Here's the most common workflow: three terminals, three worktrees, three parallel Claude sessions.</a:t>
            </a:r>
          </a:p>
          <a:p>
            <a:endParaRPr/>
          </a:p>
          <a:p>
            <a:r>
              <a:t>Terminal 1 runs claude --worktree feature-auth for authentication work. Terminal 2 runs claude --worktree bugfix-123 for a critical bug. Terminal 3 runs claude --worktree refactor-db for database refactoring.</a:t>
            </a:r>
          </a:p>
          <a:p>
            <a:endParaRPr/>
          </a:p>
          <a:p>
            <a:r>
              <a:t>Each session works on its own files, on its own branch. Changes in one never interfere with another.</a:t>
            </a:r>
          </a:p>
          <a:p>
            <a:endParaRPr/>
          </a:p>
          <a:p>
            <a:r>
              <a:t>When done, merging uses standard Git workflows. Each worktree produces commits on its branch -- merge via PR, direct merge, or cherry-pick. No special tooling needed.</a:t>
            </a:r>
          </a:p>
          <a:p>
            <a:endParaRPr/>
          </a:p>
          <a:p>
            <a:r>
              <a:t>This eliminates the most painful part of context-switching: the constant stash-switch-unstash cycle. Each task has its own persistent workspace.</a:t>
            </a:r>
          </a:p>
          <a:p>
            <a:endParaRPr/>
          </a:p>
          <a:p>
            <a:r>
              <a:t>Transition: Let's look at known limitations.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8: Limitations &amp; Tips</a:t>
            </a:r>
          </a:p>
          <a:p>
            <a:endParaRPr/>
          </a:p>
          <a:p>
            <a:r>
              <a:t>Opening: Some limitations to be aware of.</a:t>
            </a:r>
          </a:p>
          <a:p>
            <a:endParaRPr/>
          </a:p>
          <a:p>
            <a:r>
              <a:t>The most notable: .claude/ subdirectories like skills, agents, and docs are not automatically copied into worktrees. This is tracked as GitHub issue 28041 and expected to be fixed.</a:t>
            </a:r>
          </a:p>
          <a:p>
            <a:endParaRPr/>
          </a:p>
          <a:p>
            <a:r>
              <a:t>Each worktree needs its own dependency installation. Disk space can add up since each worktree is a full copy of working files. And there's no shared Claude session context between worktrees.</a:t>
            </a:r>
          </a:p>
          <a:p>
            <a:endParaRPr/>
          </a:p>
          <a:p>
            <a:r>
              <a:t>Best practices: use descriptive names, close worktrees when done, run dependency install after creation, and keep the count manageable -- 2 to 4 simultaneous worktrees is ideal.</a:t>
            </a:r>
          </a:p>
          <a:p>
            <a:endParaRPr/>
          </a:p>
          <a:p>
            <a:r>
              <a:t>The rule of thumb: worktrees for file isolation, agent teams for coordination.</a:t>
            </a:r>
          </a:p>
          <a:p>
            <a:endParaRPr/>
          </a:p>
          <a:p>
            <a:r>
              <a:t>Transition: Let's close with the big picture.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9: Ecosystem</a:t>
            </a:r>
          </a:p>
          <a:p>
            <a:endParaRPr/>
          </a:p>
          <a:p>
            <a:r>
              <a:t>Opening: Let's see where worktrees fit in the Claude Code parallelism progression.</a:t>
            </a:r>
          </a:p>
          <a:p>
            <a:endParaRPr/>
          </a:p>
          <a:p>
            <a:r>
              <a:t>Level 0: Solo session. One Claude, one branch, one task.</a:t>
            </a:r>
          </a:p>
          <a:p>
            <a:endParaRPr/>
          </a:p>
          <a:p>
            <a:r>
              <a:t>Level 1: Sub-agents. Parallel workers with results flowing back to the parent agent.</a:t>
            </a:r>
          </a:p>
          <a:p>
            <a:endParaRPr/>
          </a:p>
          <a:p>
            <a:r>
              <a:t>Level 2: Worktrees. Parallel isolated sessions with file-level isolation.</a:t>
            </a:r>
          </a:p>
          <a:p>
            <a:endParaRPr/>
          </a:p>
          <a:p>
            <a:r>
              <a:t>Level 3: Agent Teams. Full coordinated multi-agent with peer-to-peer messaging.</a:t>
            </a:r>
          </a:p>
          <a:p>
            <a:endParaRPr/>
          </a:p>
          <a:p>
            <a:r>
              <a:t>The key insight: worktrees are the file-isolation layer that makes all other parallelism safe. Both sub-agents and agent teams use worktrees under the hood for conflict-free file editing.</a:t>
            </a:r>
          </a:p>
          <a:p>
            <a:endParaRPr/>
          </a:p>
          <a:p>
            <a:r>
              <a:t>Transition: Let's wrap 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10: Closing</a:t>
            </a:r>
          </a:p>
          <a:p>
            <a:endParaRPr/>
          </a:p>
          <a:p>
            <a:r>
              <a:t>Opening: Three key takeaways.</a:t>
            </a:r>
          </a:p>
          <a:p>
            <a:endParaRPr/>
          </a:p>
          <a:p>
            <a:r>
              <a:t>First, worktrees eliminate context switching. No more stash-switch-unstash cycles. Each task gets a persistent, isolated workspace.</a:t>
            </a:r>
          </a:p>
          <a:p>
            <a:endParaRPr/>
          </a:p>
          <a:p>
            <a:r>
              <a:t>Second, worktrees are the foundation of parallelism in Claude Code. They provide the file-isolation layer that makes sub-agents and agent teams safe. Without worktrees, parallel agents would constantly conflict on file edits.</a:t>
            </a:r>
          </a:p>
          <a:p>
            <a:endParaRPr/>
          </a:p>
          <a:p>
            <a:r>
              <a:t>Third, one-command simplicity. claude --worktree feature-name. Auto-branching, auto-cleanup, available everywhere.</a:t>
            </a:r>
          </a:p>
          <a:p>
            <a:endParaRPr/>
          </a:p>
          <a:p>
            <a:r>
              <a:t>Worktrees are a deceptively simple feature with profound implications. They're what transforms Claude Code from a tool that does one thing at a time into a platform for parallel development.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Claude Worktrees</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Parallel Isolated Development Sessions via Git Worktrees</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--worktree flag  |  Auto-cleanup  |  CLI + Desktop + IDE</a:t>
            </a:r>
          </a:p>
        </p:txBody>
      </p:sp>
      <p:sp>
        <p:nvSpPr>
          <p:cNvPr id="7" name="TextBox 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Are Claude Worktrees?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Multiple working directories from one repository -- each with its own branch and files</a:t>
            </a:r>
          </a:p>
        </p:txBody>
      </p:sp>
      <p:sp>
        <p:nvSpPr>
          <p:cNvPr id="4" name="Rounded Rectangle 3"/>
          <p:cNvSpPr/>
          <p:nvPr/>
        </p:nvSpPr>
        <p:spPr>
          <a:xfrm>
            <a:off x="731520" y="1737360"/>
            <a:ext cx="1051560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Core Concept</a:t>
            </a:r>
          </a:p>
        </p:txBody>
      </p:sp>
      <p:sp>
        <p:nvSpPr>
          <p:cNvPr id="9" name="TextBox 8"/>
          <p:cNvSpPr txBox="1"/>
          <p:nvPr/>
        </p:nvSpPr>
        <p:spPr>
          <a:xfrm>
            <a:off x="1097280" y="2240280"/>
            <a:ext cx="9875520" cy="731520"/>
          </a:xfrm>
          <a:prstGeom prst="rect">
            <a:avLst/>
          </a:prstGeom>
          <a:noFill/>
        </p:spPr>
        <p:txBody>
          <a:bodyPr wrap="square">
            <a:spAutoFit/>
          </a:bodyPr>
          <a:lstStyle/>
          <a:p>
            <a:pPr algn="l">
              <a:spcAft>
                <a:spcPts val="0"/>
              </a:spcAft>
              <a:defRPr sz="1600" b="0" i="0">
                <a:solidFill>
                  <a:srgbClr val="E8D5B7"/>
                </a:solidFill>
                <a:latin typeface="Calibri"/>
              </a:defRPr>
            </a:pPr>
            <a:r>
              <a:t>Git worktrees create multiple working directories that share the same .git history. Claude Code wraps this with --worktree (-w) for one-command creation, automatic branching, session isolation, and cleanup on exit.</a:t>
            </a:r>
          </a:p>
        </p:txBody>
      </p:sp>
      <p:sp>
        <p:nvSpPr>
          <p:cNvPr id="10" name="Rounded Rectangle 9"/>
          <p:cNvSpPr/>
          <p:nvPr/>
        </p:nvSpPr>
        <p:spPr>
          <a:xfrm>
            <a:off x="731519" y="3200400"/>
            <a:ext cx="5217335" cy="25172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60120" y="33375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61288" y="33375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62456" y="33375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32735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Usage</a:t>
            </a:r>
          </a:p>
        </p:txBody>
      </p:sp>
      <p:sp>
        <p:nvSpPr>
          <p:cNvPr id="15" name="TextBox 14"/>
          <p:cNvSpPr txBox="1"/>
          <p:nvPr/>
        </p:nvSpPr>
        <p:spPr>
          <a:xfrm>
            <a:off x="1005840" y="374904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 Named worktree</a:t>
            </a:r>
          </a:p>
        </p:txBody>
      </p:sp>
      <p:sp>
        <p:nvSpPr>
          <p:cNvPr id="16" name="TextBox 15"/>
          <p:cNvSpPr txBox="1"/>
          <p:nvPr/>
        </p:nvSpPr>
        <p:spPr>
          <a:xfrm>
            <a:off x="1005840" y="4023360"/>
            <a:ext cx="4572000" cy="274320"/>
          </a:xfrm>
          <a:prstGeom prst="rect">
            <a:avLst/>
          </a:prstGeom>
          <a:noFill/>
        </p:spPr>
        <p:txBody>
          <a:bodyPr wrap="square">
            <a:spAutoFit/>
          </a:bodyPr>
          <a:lstStyle/>
          <a:p>
            <a:pPr algn="l">
              <a:spcAft>
                <a:spcPts val="0"/>
              </a:spcAft>
              <a:defRPr sz="1300" b="0" i="0">
                <a:solidFill>
                  <a:srgbClr val="D4886B"/>
                </a:solidFill>
                <a:latin typeface="JetBrains Mono"/>
              </a:defRPr>
            </a:pPr>
            <a:r>
              <a:t>claude --worktree feature-auth</a:t>
            </a:r>
          </a:p>
        </p:txBody>
      </p:sp>
      <p:sp>
        <p:nvSpPr>
          <p:cNvPr id="17" name="TextBox 16"/>
          <p:cNvSpPr txBox="1"/>
          <p:nvPr/>
        </p:nvSpPr>
        <p:spPr>
          <a:xfrm>
            <a:off x="1005840" y="438912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 Auto-generated name</a:t>
            </a:r>
          </a:p>
        </p:txBody>
      </p:sp>
      <p:sp>
        <p:nvSpPr>
          <p:cNvPr id="18" name="TextBox 17"/>
          <p:cNvSpPr txBox="1"/>
          <p:nvPr/>
        </p:nvSpPr>
        <p:spPr>
          <a:xfrm>
            <a:off x="1005840" y="4663440"/>
            <a:ext cx="4572000" cy="274320"/>
          </a:xfrm>
          <a:prstGeom prst="rect">
            <a:avLst/>
          </a:prstGeom>
          <a:noFill/>
        </p:spPr>
        <p:txBody>
          <a:bodyPr wrap="square">
            <a:spAutoFit/>
          </a:bodyPr>
          <a:lstStyle/>
          <a:p>
            <a:pPr algn="l">
              <a:spcAft>
                <a:spcPts val="0"/>
              </a:spcAft>
              <a:defRPr sz="1300" b="0" i="0">
                <a:solidFill>
                  <a:srgbClr val="D4886B"/>
                </a:solidFill>
                <a:latin typeface="JetBrains Mono"/>
              </a:defRPr>
            </a:pPr>
            <a:r>
              <a:t>claude --worktree  # or: claude -w</a:t>
            </a:r>
          </a:p>
        </p:txBody>
      </p:sp>
      <p:sp>
        <p:nvSpPr>
          <p:cNvPr id="19" name="TextBox 18"/>
          <p:cNvSpPr txBox="1"/>
          <p:nvPr/>
        </p:nvSpPr>
        <p:spPr>
          <a:xfrm>
            <a:off x="1005840" y="502920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 During a session</a:t>
            </a:r>
          </a:p>
        </p:txBody>
      </p:sp>
      <p:sp>
        <p:nvSpPr>
          <p:cNvPr id="20" name="TextBox 19"/>
          <p:cNvSpPr txBox="1"/>
          <p:nvPr/>
        </p:nvSpPr>
        <p:spPr>
          <a:xfrm>
            <a:off x="1005840" y="5303520"/>
            <a:ext cx="4572000" cy="274320"/>
          </a:xfrm>
          <a:prstGeom prst="rect">
            <a:avLst/>
          </a:prstGeom>
          <a:noFill/>
        </p:spPr>
        <p:txBody>
          <a:bodyPr wrap="square">
            <a:spAutoFit/>
          </a:bodyPr>
          <a:lstStyle/>
          <a:p>
            <a:pPr algn="l">
              <a:spcAft>
                <a:spcPts val="0"/>
              </a:spcAft>
              <a:defRPr sz="1300" b="0" i="0">
                <a:solidFill>
                  <a:srgbClr val="D4886B"/>
                </a:solidFill>
                <a:latin typeface="JetBrains Mono"/>
              </a:defRPr>
            </a:pPr>
            <a:r>
              <a:t>"work in a worktree"</a:t>
            </a:r>
          </a:p>
        </p:txBody>
      </p:sp>
      <p:sp>
        <p:nvSpPr>
          <p:cNvPr id="21" name="Rounded Rectangle 20"/>
          <p:cNvSpPr/>
          <p:nvPr/>
        </p:nvSpPr>
        <p:spPr>
          <a:xfrm>
            <a:off x="6309359" y="3200400"/>
            <a:ext cx="5217335" cy="25172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537960" y="33375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739128" y="33375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940296" y="33375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60" y="32735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Under the Hood</a:t>
            </a:r>
          </a:p>
        </p:txBody>
      </p:sp>
      <p:sp>
        <p:nvSpPr>
          <p:cNvPr id="26" name="TextBox 25"/>
          <p:cNvSpPr txBox="1"/>
          <p:nvPr/>
        </p:nvSpPr>
        <p:spPr>
          <a:xfrm>
            <a:off x="6583680" y="3749040"/>
            <a:ext cx="4572000" cy="16459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Creates .claude/worktrees/&lt;name&gt;/</a:t>
            </a:r>
          </a:p>
          <a:p>
            <a:pPr>
              <a:spcBef>
                <a:spcPts val="200"/>
              </a:spcBef>
              <a:spcAft>
                <a:spcPts val="800"/>
              </a:spcAft>
            </a:pPr>
            <a:r>
              <a:rPr sz="1400">
                <a:solidFill>
                  <a:srgbClr val="D4886B"/>
                </a:solidFill>
                <a:latin typeface="Calibri"/>
              </a:rPr>
              <a:t>–  </a:t>
            </a:r>
            <a:r>
              <a:rPr sz="1400">
                <a:solidFill>
                  <a:srgbClr val="C4A882"/>
                </a:solidFill>
                <a:latin typeface="Calibri"/>
              </a:rPr>
              <a:t>Branches from default remote branch</a:t>
            </a:r>
          </a:p>
          <a:p>
            <a:pPr>
              <a:spcBef>
                <a:spcPts val="200"/>
              </a:spcBef>
              <a:spcAft>
                <a:spcPts val="800"/>
              </a:spcAft>
            </a:pPr>
            <a:r>
              <a:rPr sz="1400">
                <a:solidFill>
                  <a:srgbClr val="D4886B"/>
                </a:solidFill>
                <a:latin typeface="Calibri"/>
              </a:rPr>
              <a:t>–  </a:t>
            </a:r>
            <a:r>
              <a:rPr sz="1400">
                <a:solidFill>
                  <a:srgbClr val="C4A882"/>
                </a:solidFill>
                <a:latin typeface="Calibri"/>
              </a:rPr>
              <a:t>Branch named worktree-&lt;name&gt;</a:t>
            </a:r>
          </a:p>
          <a:p>
            <a:pPr>
              <a:spcBef>
                <a:spcPts val="200"/>
              </a:spcBef>
              <a:spcAft>
                <a:spcPts val="800"/>
              </a:spcAft>
            </a:pPr>
            <a:r>
              <a:rPr sz="1400">
                <a:solidFill>
                  <a:srgbClr val="D4886B"/>
                </a:solidFill>
                <a:latin typeface="Calibri"/>
              </a:rPr>
              <a:t>–  </a:t>
            </a:r>
            <a:r>
              <a:rPr sz="1400">
                <a:solidFill>
                  <a:srgbClr val="C4A882"/>
                </a:solidFill>
                <a:latin typeface="Calibri"/>
              </a:rPr>
              <a:t>Full file copy, shared .git history</a:t>
            </a:r>
          </a:p>
          <a:p>
            <a:pPr>
              <a:spcBef>
                <a:spcPts val="200"/>
              </a:spcBef>
              <a:spcAft>
                <a:spcPts val="800"/>
              </a:spcAft>
            </a:pPr>
            <a:r>
              <a:rPr sz="1400">
                <a:solidFill>
                  <a:srgbClr val="D4886B"/>
                </a:solidFill>
                <a:latin typeface="Calibri"/>
              </a:rPr>
              <a:t>–  </a:t>
            </a:r>
            <a:r>
              <a:rPr sz="1400">
                <a:solidFill>
                  <a:srgbClr val="C4A882"/>
                </a:solidFill>
                <a:latin typeface="Calibri"/>
              </a:rPr>
              <a:t>Auto-cleanup on session exit</a:t>
            </a:r>
          </a:p>
        </p:txBody>
      </p:sp>
      <p:sp>
        <p:nvSpPr>
          <p:cNvPr id="27" name="TextBox 26"/>
          <p:cNvSpPr txBox="1"/>
          <p:nvPr/>
        </p:nvSpPr>
        <p:spPr>
          <a:xfrm>
            <a:off x="731520" y="5865876"/>
            <a:ext cx="10515600" cy="365760"/>
          </a:xfrm>
          <a:prstGeom prst="rect">
            <a:avLst/>
          </a:prstGeom>
          <a:noFill/>
        </p:spPr>
        <p:txBody>
          <a:bodyPr wrap="square">
            <a:spAutoFit/>
          </a:bodyPr>
          <a:lstStyle/>
          <a:p>
            <a:pPr algn="l">
              <a:spcAft>
                <a:spcPts val="0"/>
              </a:spcAft>
              <a:defRPr sz="1200" b="0" i="0">
                <a:solidFill>
                  <a:srgbClr val="7A6E5D"/>
                </a:solidFill>
                <a:latin typeface="JetBrains Mono"/>
              </a:defRPr>
            </a:pPr>
            <a:r>
              <a:rPr dirty="0"/>
              <a:t>Add .</a:t>
            </a:r>
            <a:r>
              <a:rPr dirty="0" err="1"/>
              <a:t>claude</a:t>
            </a:r>
            <a:r>
              <a:rPr dirty="0"/>
              <a:t>/</a:t>
            </a:r>
            <a:r>
              <a:rPr dirty="0" err="1"/>
              <a:t>worktrees</a:t>
            </a:r>
            <a:r>
              <a:rPr dirty="0"/>
              <a:t>/ to your .</a:t>
            </a:r>
            <a:r>
              <a:rPr dirty="0" err="1"/>
              <a:t>gitignore</a:t>
            </a:r>
            <a:r>
              <a:rPr dirty="0"/>
              <a:t> to prevent </a:t>
            </a:r>
            <a:r>
              <a:rPr dirty="0" err="1"/>
              <a:t>worktree</a:t>
            </a:r>
            <a:r>
              <a:rPr dirty="0"/>
              <a:t> contents from appearing as untracked files</a:t>
            </a:r>
          </a:p>
        </p:txBody>
      </p:sp>
      <p:sp>
        <p:nvSpPr>
          <p:cNvPr id="28" name="TextBox 2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Isolation Model</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What is shared vs. what is separate across worktrees</a:t>
            </a:r>
          </a:p>
        </p:txBody>
      </p:sp>
      <p:sp>
        <p:nvSpPr>
          <p:cNvPr id="4" name="Rounded Rectangle 3"/>
          <p:cNvSpPr/>
          <p:nvPr/>
        </p:nvSpPr>
        <p:spPr>
          <a:xfrm>
            <a:off x="731520" y="1737360"/>
            <a:ext cx="5120640" cy="27432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Shared (via single .git)</a:t>
            </a:r>
          </a:p>
        </p:txBody>
      </p:sp>
      <p:sp>
        <p:nvSpPr>
          <p:cNvPr id="9" name="TextBox 8"/>
          <p:cNvSpPr txBox="1"/>
          <p:nvPr/>
        </p:nvSpPr>
        <p:spPr>
          <a:xfrm>
            <a:off x="1005840" y="2286000"/>
            <a:ext cx="4572000" cy="2011680"/>
          </a:xfrm>
          <a:prstGeom prst="rect">
            <a:avLst/>
          </a:prstGeom>
          <a:noFill/>
        </p:spPr>
        <p:txBody>
          <a:bodyPr wrap="square">
            <a:spAutoFit/>
          </a:bodyPr>
          <a:lstStyle/>
          <a:p>
            <a:pPr>
              <a:spcBef>
                <a:spcPts val="200"/>
              </a:spcBef>
              <a:spcAft>
                <a:spcPts val="800"/>
              </a:spcAft>
            </a:pPr>
            <a:r>
              <a:rPr sz="1500">
                <a:solidFill>
                  <a:srgbClr val="D4886B"/>
                </a:solidFill>
                <a:latin typeface="Calibri"/>
              </a:rPr>
              <a:t>–  </a:t>
            </a:r>
            <a:r>
              <a:rPr sz="1500">
                <a:solidFill>
                  <a:srgbClr val="C4A882"/>
                </a:solidFill>
                <a:latin typeface="Calibri"/>
              </a:rPr>
              <a:t>Full repository history (all commits, all branches)</a:t>
            </a:r>
          </a:p>
          <a:p>
            <a:pPr>
              <a:spcBef>
                <a:spcPts val="200"/>
              </a:spcBef>
              <a:spcAft>
                <a:spcPts val="800"/>
              </a:spcAft>
            </a:pPr>
            <a:r>
              <a:rPr sz="1500">
                <a:solidFill>
                  <a:srgbClr val="D4886B"/>
                </a:solidFill>
                <a:latin typeface="Calibri"/>
              </a:rPr>
              <a:t>–  </a:t>
            </a:r>
            <a:r>
              <a:rPr sz="1500">
                <a:solidFill>
                  <a:srgbClr val="C4A882"/>
                </a:solidFill>
                <a:latin typeface="Calibri"/>
              </a:rPr>
              <a:t>Remote connections (origin, upstream)</a:t>
            </a:r>
          </a:p>
          <a:p>
            <a:pPr>
              <a:spcBef>
                <a:spcPts val="200"/>
              </a:spcBef>
              <a:spcAft>
                <a:spcPts val="800"/>
              </a:spcAft>
            </a:pPr>
            <a:r>
              <a:rPr sz="1500">
                <a:solidFill>
                  <a:srgbClr val="D4886B"/>
                </a:solidFill>
                <a:latin typeface="Calibri"/>
              </a:rPr>
              <a:t>–  </a:t>
            </a:r>
            <a:r>
              <a:rPr sz="1500">
                <a:solidFill>
                  <a:srgbClr val="C4A882"/>
                </a:solidFill>
                <a:latin typeface="Calibri"/>
              </a:rPr>
              <a:t>Git configuration (.gitconfig, hooks)</a:t>
            </a:r>
          </a:p>
          <a:p>
            <a:pPr>
              <a:spcBef>
                <a:spcPts val="200"/>
              </a:spcBef>
              <a:spcAft>
                <a:spcPts val="800"/>
              </a:spcAft>
            </a:pPr>
            <a:r>
              <a:rPr sz="1500">
                <a:solidFill>
                  <a:srgbClr val="D4886B"/>
                </a:solidFill>
                <a:latin typeface="Calibri"/>
              </a:rPr>
              <a:t>–  </a:t>
            </a:r>
            <a:r>
              <a:rPr sz="1500">
                <a:solidFill>
                  <a:srgbClr val="C4A882"/>
                </a:solidFill>
                <a:latin typeface="Calibri"/>
              </a:rPr>
              <a:t>Refs and objects database</a:t>
            </a:r>
          </a:p>
        </p:txBody>
      </p:sp>
      <p:sp>
        <p:nvSpPr>
          <p:cNvPr id="10" name="Rounded Rectangle 9"/>
          <p:cNvSpPr/>
          <p:nvPr/>
        </p:nvSpPr>
        <p:spPr>
          <a:xfrm>
            <a:off x="6309360" y="1737360"/>
            <a:ext cx="5120640" cy="27432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53796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73912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94029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23760" y="18105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Separate (per worktree)</a:t>
            </a:r>
          </a:p>
        </p:txBody>
      </p:sp>
      <p:sp>
        <p:nvSpPr>
          <p:cNvPr id="15" name="TextBox 14"/>
          <p:cNvSpPr txBox="1"/>
          <p:nvPr/>
        </p:nvSpPr>
        <p:spPr>
          <a:xfrm>
            <a:off x="6583680" y="2286000"/>
            <a:ext cx="4572000" cy="2011680"/>
          </a:xfrm>
          <a:prstGeom prst="rect">
            <a:avLst/>
          </a:prstGeom>
          <a:noFill/>
        </p:spPr>
        <p:txBody>
          <a:bodyPr wrap="square">
            <a:spAutoFit/>
          </a:bodyPr>
          <a:lstStyle/>
          <a:p>
            <a:pPr>
              <a:spcBef>
                <a:spcPts val="200"/>
              </a:spcBef>
              <a:spcAft>
                <a:spcPts val="800"/>
              </a:spcAft>
            </a:pPr>
            <a:r>
              <a:rPr sz="1500">
                <a:solidFill>
                  <a:srgbClr val="D4886B"/>
                </a:solidFill>
                <a:latin typeface="Calibri"/>
              </a:rPr>
              <a:t>–  </a:t>
            </a:r>
            <a:r>
              <a:rPr sz="1500">
                <a:solidFill>
                  <a:srgbClr val="C4A882"/>
                </a:solidFill>
                <a:latin typeface="Calibri"/>
              </a:rPr>
              <a:t>Working directory (own copy of all files)</a:t>
            </a:r>
          </a:p>
          <a:p>
            <a:pPr>
              <a:spcBef>
                <a:spcPts val="200"/>
              </a:spcBef>
              <a:spcAft>
                <a:spcPts val="800"/>
              </a:spcAft>
            </a:pPr>
            <a:r>
              <a:rPr sz="1500">
                <a:solidFill>
                  <a:srgbClr val="D4886B"/>
                </a:solidFill>
                <a:latin typeface="Calibri"/>
              </a:rPr>
              <a:t>–  </a:t>
            </a:r>
            <a:r>
              <a:rPr sz="1500">
                <a:solidFill>
                  <a:srgbClr val="C4A882"/>
                </a:solidFill>
                <a:latin typeface="Calibri"/>
              </a:rPr>
              <a:t>Checked-out branch (worktree-&lt;name&gt;)</a:t>
            </a:r>
          </a:p>
          <a:p>
            <a:pPr>
              <a:spcBef>
                <a:spcPts val="200"/>
              </a:spcBef>
              <a:spcAft>
                <a:spcPts val="800"/>
              </a:spcAft>
            </a:pPr>
            <a:r>
              <a:rPr sz="1500">
                <a:solidFill>
                  <a:srgbClr val="D4886B"/>
                </a:solidFill>
                <a:latin typeface="Calibri"/>
              </a:rPr>
              <a:t>–  </a:t>
            </a:r>
            <a:r>
              <a:rPr sz="1500">
                <a:solidFill>
                  <a:srgbClr val="C4A882"/>
                </a:solidFill>
                <a:latin typeface="Calibri"/>
              </a:rPr>
              <a:t>Index / staging area</a:t>
            </a:r>
          </a:p>
          <a:p>
            <a:pPr>
              <a:spcBef>
                <a:spcPts val="200"/>
              </a:spcBef>
              <a:spcAft>
                <a:spcPts val="800"/>
              </a:spcAft>
            </a:pPr>
            <a:r>
              <a:rPr sz="1500">
                <a:solidFill>
                  <a:srgbClr val="D4886B"/>
                </a:solidFill>
                <a:latin typeface="Calibri"/>
              </a:rPr>
              <a:t>–  </a:t>
            </a:r>
            <a:r>
              <a:rPr sz="1500">
                <a:solidFill>
                  <a:srgbClr val="C4A882"/>
                </a:solidFill>
                <a:latin typeface="Calibri"/>
              </a:rPr>
              <a:t>Uncommitted changes</a:t>
            </a:r>
          </a:p>
          <a:p>
            <a:pPr>
              <a:spcBef>
                <a:spcPts val="200"/>
              </a:spcBef>
              <a:spcAft>
                <a:spcPts val="800"/>
              </a:spcAft>
            </a:pPr>
            <a:r>
              <a:rPr sz="1500">
                <a:solidFill>
                  <a:srgbClr val="D4886B"/>
                </a:solidFill>
                <a:latin typeface="Calibri"/>
              </a:rPr>
              <a:t>–  </a:t>
            </a:r>
            <a:r>
              <a:rPr sz="1500">
                <a:solidFill>
                  <a:srgbClr val="C4A882"/>
                </a:solidFill>
                <a:latin typeface="Calibri"/>
              </a:rPr>
              <a:t>Claude Code session context</a:t>
            </a:r>
          </a:p>
        </p:txBody>
      </p:sp>
      <p:sp>
        <p:nvSpPr>
          <p:cNvPr id="16" name="TextBox 15"/>
          <p:cNvSpPr txBox="1"/>
          <p:nvPr/>
        </p:nvSpPr>
        <p:spPr>
          <a:xfrm>
            <a:off x="731520" y="4754880"/>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t>Cleanup Behavior on Exit</a:t>
            </a:r>
          </a:p>
        </p:txBody>
      </p:sp>
      <p:sp>
        <p:nvSpPr>
          <p:cNvPr id="17" name="Rounded Rectangle 16"/>
          <p:cNvSpPr/>
          <p:nvPr/>
        </p:nvSpPr>
        <p:spPr>
          <a:xfrm>
            <a:off x="731520" y="5212080"/>
            <a:ext cx="5303520" cy="868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285232"/>
            <a:ext cx="4937760" cy="320040"/>
          </a:xfrm>
          <a:prstGeom prst="rect">
            <a:avLst/>
          </a:prstGeom>
          <a:noFill/>
        </p:spPr>
        <p:txBody>
          <a:bodyPr wrap="square">
            <a:spAutoFit/>
          </a:bodyPr>
          <a:lstStyle/>
          <a:p>
            <a:pPr algn="l">
              <a:spcAft>
                <a:spcPts val="0"/>
              </a:spcAft>
              <a:defRPr sz="1400" b="1" i="0">
                <a:solidFill>
                  <a:srgbClr val="E8D5B7"/>
                </a:solidFill>
                <a:latin typeface="Calibri"/>
              </a:defRPr>
            </a:pPr>
            <a:r>
              <a:t>No changes made</a:t>
            </a:r>
          </a:p>
        </p:txBody>
      </p:sp>
      <p:sp>
        <p:nvSpPr>
          <p:cNvPr id="19" name="TextBox 18"/>
          <p:cNvSpPr txBox="1"/>
          <p:nvPr/>
        </p:nvSpPr>
        <p:spPr>
          <a:xfrm>
            <a:off x="914400" y="5623560"/>
            <a:ext cx="4937760" cy="320040"/>
          </a:xfrm>
          <a:prstGeom prst="rect">
            <a:avLst/>
          </a:prstGeom>
          <a:noFill/>
        </p:spPr>
        <p:txBody>
          <a:bodyPr wrap="square">
            <a:spAutoFit/>
          </a:bodyPr>
          <a:lstStyle/>
          <a:p>
            <a:pPr algn="l">
              <a:spcAft>
                <a:spcPts val="0"/>
              </a:spcAft>
              <a:defRPr sz="1300" b="0" i="0">
                <a:solidFill>
                  <a:srgbClr val="C4A882"/>
                </a:solidFill>
                <a:latin typeface="Calibri"/>
              </a:defRPr>
            </a:pPr>
            <a:r>
              <a:t>Worktree + branch removed automatically</a:t>
            </a:r>
          </a:p>
        </p:txBody>
      </p:sp>
      <p:sp>
        <p:nvSpPr>
          <p:cNvPr id="20" name="Rounded Rectangle 19"/>
          <p:cNvSpPr/>
          <p:nvPr/>
        </p:nvSpPr>
        <p:spPr>
          <a:xfrm>
            <a:off x="6309360" y="5212080"/>
            <a:ext cx="5303520" cy="868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5285232"/>
            <a:ext cx="4937760" cy="320040"/>
          </a:xfrm>
          <a:prstGeom prst="rect">
            <a:avLst/>
          </a:prstGeom>
          <a:noFill/>
        </p:spPr>
        <p:txBody>
          <a:bodyPr wrap="square">
            <a:spAutoFit/>
          </a:bodyPr>
          <a:lstStyle/>
          <a:p>
            <a:pPr algn="l">
              <a:spcAft>
                <a:spcPts val="0"/>
              </a:spcAft>
              <a:defRPr sz="1400" b="1" i="0">
                <a:solidFill>
                  <a:srgbClr val="E8D5B7"/>
                </a:solidFill>
                <a:latin typeface="Calibri"/>
              </a:defRPr>
            </a:pPr>
            <a:r>
              <a:t>Changes or commits exist</a:t>
            </a:r>
          </a:p>
        </p:txBody>
      </p:sp>
      <p:sp>
        <p:nvSpPr>
          <p:cNvPr id="22" name="TextBox 21"/>
          <p:cNvSpPr txBox="1"/>
          <p:nvPr/>
        </p:nvSpPr>
        <p:spPr>
          <a:xfrm>
            <a:off x="6492240" y="5623560"/>
            <a:ext cx="4937760" cy="320040"/>
          </a:xfrm>
          <a:prstGeom prst="rect">
            <a:avLst/>
          </a:prstGeom>
          <a:noFill/>
        </p:spPr>
        <p:txBody>
          <a:bodyPr wrap="square">
            <a:spAutoFit/>
          </a:bodyPr>
          <a:lstStyle/>
          <a:p>
            <a:pPr algn="l">
              <a:spcAft>
                <a:spcPts val="0"/>
              </a:spcAft>
              <a:defRPr sz="1300" b="0" i="0">
                <a:solidFill>
                  <a:srgbClr val="C4A882"/>
                </a:solidFill>
                <a:latin typeface="Calibri"/>
              </a:defRPr>
            </a:pPr>
            <a:r>
              <a:t>Claude prompts: keep or remove</a:t>
            </a:r>
          </a:p>
        </p:txBody>
      </p:sp>
      <p:sp>
        <p:nvSpPr>
          <p:cNvPr id="23" name="TextBox 2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High-Impact Use Cases</a:t>
            </a:r>
          </a:p>
        </p:txBody>
      </p:sp>
      <p:sp>
        <p:nvSpPr>
          <p:cNvPr id="3" name="Rounded Rectangle 2"/>
          <p:cNvSpPr/>
          <p:nvPr/>
        </p:nvSpPr>
        <p:spPr>
          <a:xfrm>
            <a:off x="731520" y="137160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44475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Parallel Feature + Bugfix</a:t>
            </a:r>
          </a:p>
        </p:txBody>
      </p:sp>
      <p:sp>
        <p:nvSpPr>
          <p:cNvPr id="8" name="TextBox 7"/>
          <p:cNvSpPr txBox="1"/>
          <p:nvPr/>
        </p:nvSpPr>
        <p:spPr>
          <a:xfrm>
            <a:off x="1005840" y="1828800"/>
            <a:ext cx="457200" cy="320040"/>
          </a:xfrm>
          <a:prstGeom prst="rect">
            <a:avLst/>
          </a:prstGeom>
          <a:noFill/>
        </p:spPr>
        <p:txBody>
          <a:bodyPr wrap="square">
            <a:spAutoFit/>
          </a:bodyPr>
          <a:lstStyle/>
          <a:p>
            <a:pPr algn="l">
              <a:spcAft>
                <a:spcPts val="0"/>
              </a:spcAft>
              <a:defRPr sz="2000" b="1" i="0">
                <a:solidFill>
                  <a:srgbClr val="D4886B"/>
                </a:solidFill>
                <a:latin typeface="Georgia"/>
              </a:defRPr>
            </a:pPr>
            <a:r>
              <a:t>1</a:t>
            </a:r>
          </a:p>
        </p:txBody>
      </p:sp>
      <p:sp>
        <p:nvSpPr>
          <p:cNvPr id="9" name="TextBox 8"/>
          <p:cNvSpPr txBox="1"/>
          <p:nvPr/>
        </p:nvSpPr>
        <p:spPr>
          <a:xfrm>
            <a:off x="1463040" y="1828800"/>
            <a:ext cx="9326880" cy="548640"/>
          </a:xfrm>
          <a:prstGeom prst="rect">
            <a:avLst/>
          </a:prstGeom>
          <a:noFill/>
        </p:spPr>
        <p:txBody>
          <a:bodyPr wrap="square">
            <a:spAutoFit/>
          </a:bodyPr>
          <a:lstStyle/>
          <a:p>
            <a:pPr algn="l">
              <a:spcAft>
                <a:spcPts val="0"/>
              </a:spcAft>
              <a:defRPr sz="1400" b="0" i="0">
                <a:solidFill>
                  <a:srgbClr val="C4A882"/>
                </a:solidFill>
                <a:latin typeface="Calibri"/>
              </a:defRPr>
            </a:pPr>
            <a:r>
              <a:t>Work on a new feature in one worktree while fixing a bug in another.</a:t>
            </a:r>
            <a:br/>
            <a:r>
              <a:t>No stashing, no branch switching -- true parallel development.</a:t>
            </a:r>
          </a:p>
        </p:txBody>
      </p:sp>
      <p:sp>
        <p:nvSpPr>
          <p:cNvPr id="10" name="Rounded Rectangle 9"/>
          <p:cNvSpPr/>
          <p:nvPr/>
        </p:nvSpPr>
        <p:spPr>
          <a:xfrm>
            <a:off x="731520" y="265176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60120" y="27889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61288" y="27889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62456" y="27889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272491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Three-Agent Pattern</a:t>
            </a:r>
          </a:p>
        </p:txBody>
      </p:sp>
      <p:sp>
        <p:nvSpPr>
          <p:cNvPr id="15" name="TextBox 14"/>
          <p:cNvSpPr txBox="1"/>
          <p:nvPr/>
        </p:nvSpPr>
        <p:spPr>
          <a:xfrm>
            <a:off x="1005840" y="3108960"/>
            <a:ext cx="457200" cy="320040"/>
          </a:xfrm>
          <a:prstGeom prst="rect">
            <a:avLst/>
          </a:prstGeom>
          <a:noFill/>
        </p:spPr>
        <p:txBody>
          <a:bodyPr wrap="square">
            <a:spAutoFit/>
          </a:bodyPr>
          <a:lstStyle/>
          <a:p>
            <a:pPr algn="l">
              <a:spcAft>
                <a:spcPts val="0"/>
              </a:spcAft>
              <a:defRPr sz="2000" b="1" i="0">
                <a:solidFill>
                  <a:srgbClr val="D4886B"/>
                </a:solidFill>
                <a:latin typeface="Georgia"/>
              </a:defRPr>
            </a:pPr>
            <a:r>
              <a:t>2</a:t>
            </a:r>
          </a:p>
        </p:txBody>
      </p:sp>
      <p:sp>
        <p:nvSpPr>
          <p:cNvPr id="16" name="TextBox 15"/>
          <p:cNvSpPr txBox="1"/>
          <p:nvPr/>
        </p:nvSpPr>
        <p:spPr>
          <a:xfrm>
            <a:off x="1463040" y="3108960"/>
            <a:ext cx="9326880" cy="548640"/>
          </a:xfrm>
          <a:prstGeom prst="rect">
            <a:avLst/>
          </a:prstGeom>
          <a:noFill/>
        </p:spPr>
        <p:txBody>
          <a:bodyPr wrap="square">
            <a:spAutoFit/>
          </a:bodyPr>
          <a:lstStyle/>
          <a:p>
            <a:pPr algn="l">
              <a:spcAft>
                <a:spcPts val="0"/>
              </a:spcAft>
              <a:defRPr sz="1400" b="0" i="0">
                <a:solidFill>
                  <a:srgbClr val="C4A882"/>
                </a:solidFill>
                <a:latin typeface="Calibri"/>
              </a:defRPr>
            </a:pPr>
            <a:r>
              <a:t>One agent writes code, one writes tests, one reviews -- all in separate worktrees.</a:t>
            </a:r>
            <a:br/>
            <a:r>
              <a:t>Eliminates sequential bottlenecks in the code-test-review cycle.</a:t>
            </a:r>
          </a:p>
        </p:txBody>
      </p:sp>
      <p:sp>
        <p:nvSpPr>
          <p:cNvPr id="17" name="Rounded Rectangle 16"/>
          <p:cNvSpPr/>
          <p:nvPr/>
        </p:nvSpPr>
        <p:spPr>
          <a:xfrm>
            <a:off x="731520" y="393192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60120" y="40690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61288" y="40690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362456" y="40690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45920" y="400507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Competing Debugging Hypotheses</a:t>
            </a:r>
          </a:p>
        </p:txBody>
      </p:sp>
      <p:sp>
        <p:nvSpPr>
          <p:cNvPr id="22" name="TextBox 21"/>
          <p:cNvSpPr txBox="1"/>
          <p:nvPr/>
        </p:nvSpPr>
        <p:spPr>
          <a:xfrm>
            <a:off x="1005840" y="4389120"/>
            <a:ext cx="457200" cy="320040"/>
          </a:xfrm>
          <a:prstGeom prst="rect">
            <a:avLst/>
          </a:prstGeom>
          <a:noFill/>
        </p:spPr>
        <p:txBody>
          <a:bodyPr wrap="square">
            <a:spAutoFit/>
          </a:bodyPr>
          <a:lstStyle/>
          <a:p>
            <a:pPr algn="l">
              <a:spcAft>
                <a:spcPts val="0"/>
              </a:spcAft>
              <a:defRPr sz="2000" b="1" i="0">
                <a:solidFill>
                  <a:srgbClr val="D4886B"/>
                </a:solidFill>
                <a:latin typeface="Georgia"/>
              </a:defRPr>
            </a:pPr>
            <a:r>
              <a:t>3</a:t>
            </a:r>
          </a:p>
        </p:txBody>
      </p:sp>
      <p:sp>
        <p:nvSpPr>
          <p:cNvPr id="23" name="TextBox 22"/>
          <p:cNvSpPr txBox="1"/>
          <p:nvPr/>
        </p:nvSpPr>
        <p:spPr>
          <a:xfrm>
            <a:off x="1463040" y="4389120"/>
            <a:ext cx="9326880" cy="548640"/>
          </a:xfrm>
          <a:prstGeom prst="rect">
            <a:avLst/>
          </a:prstGeom>
          <a:noFill/>
        </p:spPr>
        <p:txBody>
          <a:bodyPr wrap="square">
            <a:spAutoFit/>
          </a:bodyPr>
          <a:lstStyle/>
          <a:p>
            <a:pPr algn="l">
              <a:spcAft>
                <a:spcPts val="0"/>
              </a:spcAft>
              <a:defRPr sz="1400" b="0" i="0">
                <a:solidFill>
                  <a:srgbClr val="C4A882"/>
                </a:solidFill>
                <a:latin typeface="Calibri"/>
              </a:defRPr>
            </a:pPr>
            <a:r>
              <a:t>Test different theories in parallel and converge faster.</a:t>
            </a:r>
            <a:br/>
            <a:r>
              <a:t>Each hypothesis gets its own isolated environment.</a:t>
            </a:r>
          </a:p>
        </p:txBody>
      </p:sp>
      <p:sp>
        <p:nvSpPr>
          <p:cNvPr id="24" name="Rounded Rectangle 23"/>
          <p:cNvSpPr/>
          <p:nvPr/>
        </p:nvSpPr>
        <p:spPr>
          <a:xfrm>
            <a:off x="731520" y="521208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60120" y="53492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61288" y="53492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362456" y="53492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45920" y="528523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Long-Running Refactors</a:t>
            </a:r>
          </a:p>
        </p:txBody>
      </p:sp>
      <p:sp>
        <p:nvSpPr>
          <p:cNvPr id="29" name="TextBox 28"/>
          <p:cNvSpPr txBox="1"/>
          <p:nvPr/>
        </p:nvSpPr>
        <p:spPr>
          <a:xfrm>
            <a:off x="1005840" y="5669280"/>
            <a:ext cx="457200" cy="320040"/>
          </a:xfrm>
          <a:prstGeom prst="rect">
            <a:avLst/>
          </a:prstGeom>
          <a:noFill/>
        </p:spPr>
        <p:txBody>
          <a:bodyPr wrap="square">
            <a:spAutoFit/>
          </a:bodyPr>
          <a:lstStyle/>
          <a:p>
            <a:pPr algn="l">
              <a:spcAft>
                <a:spcPts val="0"/>
              </a:spcAft>
              <a:defRPr sz="2000" b="1" i="0">
                <a:solidFill>
                  <a:srgbClr val="D4886B"/>
                </a:solidFill>
                <a:latin typeface="Georgia"/>
              </a:defRPr>
            </a:pPr>
            <a:r>
              <a:t>4</a:t>
            </a:r>
          </a:p>
        </p:txBody>
      </p:sp>
      <p:sp>
        <p:nvSpPr>
          <p:cNvPr id="30" name="TextBox 29"/>
          <p:cNvSpPr txBox="1"/>
          <p:nvPr/>
        </p:nvSpPr>
        <p:spPr>
          <a:xfrm>
            <a:off x="1463040" y="5669280"/>
            <a:ext cx="9326880" cy="548640"/>
          </a:xfrm>
          <a:prstGeom prst="rect">
            <a:avLst/>
          </a:prstGeom>
          <a:noFill/>
        </p:spPr>
        <p:txBody>
          <a:bodyPr wrap="square">
            <a:spAutoFit/>
          </a:bodyPr>
          <a:lstStyle/>
          <a:p>
            <a:pPr algn="l">
              <a:spcAft>
                <a:spcPts val="0"/>
              </a:spcAft>
              <a:defRPr sz="1400" b="0" i="0">
                <a:solidFill>
                  <a:srgbClr val="C4A882"/>
                </a:solidFill>
                <a:latin typeface="Calibri"/>
              </a:defRPr>
            </a:pPr>
            <a:r>
              <a:t>Start a worktree for a time-consuming refactor while continuing other work.</a:t>
            </a:r>
            <a:br/>
            <a:r>
              <a:t>The main tree stays clean for other tasks.</a:t>
            </a:r>
          </a:p>
        </p:txBody>
      </p:sp>
      <p:sp>
        <p:nvSpPr>
          <p:cNvPr id="31" name="TextBox 3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Integration: Sub-Agents &amp; Agent Teams</a:t>
            </a:r>
          </a:p>
        </p:txBody>
      </p:sp>
      <p:sp>
        <p:nvSpPr>
          <p:cNvPr id="3" name="TextBox 2"/>
          <p:cNvSpPr txBox="1"/>
          <p:nvPr/>
        </p:nvSpPr>
        <p:spPr>
          <a:xfrm>
            <a:off x="7315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SUBAGENT WORKTREE ISOLATION</a:t>
            </a:r>
          </a:p>
        </p:txBody>
      </p:sp>
      <p:sp>
        <p:nvSpPr>
          <p:cNvPr id="4" name="Rounded Rectangle 3"/>
          <p:cNvSpPr/>
          <p:nvPr/>
        </p:nvSpPr>
        <p:spPr>
          <a:xfrm>
            <a:off x="731520" y="1828800"/>
            <a:ext cx="5120640" cy="1645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9659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9659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9659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9019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Agent Frontmatter</a:t>
            </a:r>
          </a:p>
        </p:txBody>
      </p:sp>
      <p:sp>
        <p:nvSpPr>
          <p:cNvPr id="9" name="TextBox 8"/>
          <p:cNvSpPr txBox="1"/>
          <p:nvPr/>
        </p:nvSpPr>
        <p:spPr>
          <a:xfrm>
            <a:off x="1005840" y="2377440"/>
            <a:ext cx="4572000" cy="914400"/>
          </a:xfrm>
          <a:prstGeom prst="rect">
            <a:avLst/>
          </a:prstGeom>
          <a:noFill/>
        </p:spPr>
        <p:txBody>
          <a:bodyPr wrap="square">
            <a:spAutoFit/>
          </a:bodyPr>
          <a:lstStyle/>
          <a:p>
            <a:pPr algn="l">
              <a:spcAft>
                <a:spcPts val="0"/>
              </a:spcAft>
              <a:defRPr sz="1300" b="0" i="0">
                <a:solidFill>
                  <a:srgbClr val="D4886B"/>
                </a:solidFill>
                <a:latin typeface="JetBrains Mono"/>
              </a:defRPr>
            </a:pPr>
            <a:r>
              <a:t>---</a:t>
            </a:r>
            <a:br/>
            <a:r>
              <a:t>name: parallel-worker</a:t>
            </a:r>
            <a:br/>
            <a:r>
              <a:t>description: Isolated parallel work</a:t>
            </a:r>
            <a:br/>
            <a:r>
              <a:t>isolation: worktree</a:t>
            </a:r>
            <a:br/>
            <a:r>
              <a:t>---</a:t>
            </a:r>
          </a:p>
        </p:txBody>
      </p:sp>
      <p:sp>
        <p:nvSpPr>
          <p:cNvPr id="10" name="TextBox 9"/>
          <p:cNvSpPr txBox="1"/>
          <p:nvPr/>
        </p:nvSpPr>
        <p:spPr>
          <a:xfrm>
            <a:off x="731520" y="3749039"/>
            <a:ext cx="5029200" cy="182880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Each subagent gets its own worktree</a:t>
            </a:r>
          </a:p>
          <a:p>
            <a:pPr>
              <a:spcBef>
                <a:spcPts val="200"/>
              </a:spcBef>
              <a:spcAft>
                <a:spcPts val="800"/>
              </a:spcAft>
            </a:pPr>
            <a:r>
              <a:rPr sz="1400">
                <a:solidFill>
                  <a:srgbClr val="D4886B"/>
                </a:solidFill>
                <a:latin typeface="Calibri"/>
              </a:rPr>
              <a:t>–  </a:t>
            </a:r>
            <a:r>
              <a:rPr sz="1400">
                <a:solidFill>
                  <a:srgbClr val="C4A882"/>
                </a:solidFill>
                <a:latin typeface="Calibri"/>
              </a:rPr>
              <a:t>File changes don't conflict with main session</a:t>
            </a:r>
          </a:p>
          <a:p>
            <a:pPr>
              <a:spcBef>
                <a:spcPts val="200"/>
              </a:spcBef>
              <a:spcAft>
                <a:spcPts val="800"/>
              </a:spcAft>
            </a:pPr>
            <a:r>
              <a:rPr sz="1400">
                <a:solidFill>
                  <a:srgbClr val="D4886B"/>
                </a:solidFill>
                <a:latin typeface="Calibri"/>
              </a:rPr>
              <a:t>–  </a:t>
            </a:r>
            <a:r>
              <a:rPr sz="1400">
                <a:solidFill>
                  <a:srgbClr val="C4A882"/>
                </a:solidFill>
                <a:latin typeface="Calibri"/>
              </a:rPr>
              <a:t>Auto-cleanup if no changes made</a:t>
            </a:r>
          </a:p>
          <a:p>
            <a:pPr>
              <a:spcBef>
                <a:spcPts val="200"/>
              </a:spcBef>
              <a:spcAft>
                <a:spcPts val="800"/>
              </a:spcAft>
            </a:pPr>
            <a:r>
              <a:rPr sz="1400">
                <a:solidFill>
                  <a:srgbClr val="D4886B"/>
                </a:solidFill>
                <a:latin typeface="Calibri"/>
              </a:rPr>
              <a:t>–  </a:t>
            </a:r>
            <a:r>
              <a:rPr sz="1400">
                <a:solidFill>
                  <a:srgbClr val="C4A882"/>
                </a:solidFill>
                <a:latin typeface="Calibri"/>
              </a:rPr>
              <a:t>Natural language: "use worktrees for your agents"</a:t>
            </a:r>
          </a:p>
        </p:txBody>
      </p:sp>
      <p:sp>
        <p:nvSpPr>
          <p:cNvPr id="11" name="TextBox 10"/>
          <p:cNvSpPr txBox="1"/>
          <p:nvPr/>
        </p:nvSpPr>
        <p:spPr>
          <a:xfrm>
            <a:off x="66751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WORKTREES VS AGENT TEAMS</a:t>
            </a:r>
          </a:p>
        </p:txBody>
      </p:sp>
      <p:sp>
        <p:nvSpPr>
          <p:cNvPr id="12" name="TextBox 11"/>
          <p:cNvSpPr txBox="1"/>
          <p:nvPr/>
        </p:nvSpPr>
        <p:spPr>
          <a:xfrm>
            <a:off x="6675120" y="1828800"/>
            <a:ext cx="1645920" cy="365760"/>
          </a:xfrm>
          <a:prstGeom prst="rect">
            <a:avLst/>
          </a:prstGeom>
          <a:noFill/>
        </p:spPr>
        <p:txBody>
          <a:bodyPr wrap="square">
            <a:spAutoFit/>
          </a:bodyPr>
          <a:lstStyle/>
          <a:p>
            <a:pPr algn="l">
              <a:spcAft>
                <a:spcPts val="0"/>
              </a:spcAft>
              <a:defRPr sz="1300" b="1" i="0">
                <a:solidFill>
                  <a:srgbClr val="D4886B"/>
                </a:solidFill>
                <a:latin typeface="Calibri"/>
              </a:defRPr>
            </a:pPr>
            <a:r>
              <a:t>Aspect</a:t>
            </a:r>
          </a:p>
        </p:txBody>
      </p:sp>
      <p:sp>
        <p:nvSpPr>
          <p:cNvPr id="13" name="TextBox 12"/>
          <p:cNvSpPr txBox="1"/>
          <p:nvPr/>
        </p:nvSpPr>
        <p:spPr>
          <a:xfrm>
            <a:off x="8412480" y="1828800"/>
            <a:ext cx="1645920" cy="365760"/>
          </a:xfrm>
          <a:prstGeom prst="rect">
            <a:avLst/>
          </a:prstGeom>
          <a:noFill/>
        </p:spPr>
        <p:txBody>
          <a:bodyPr wrap="square">
            <a:spAutoFit/>
          </a:bodyPr>
          <a:lstStyle/>
          <a:p>
            <a:pPr algn="l">
              <a:spcAft>
                <a:spcPts val="0"/>
              </a:spcAft>
              <a:defRPr sz="1300" b="1" i="0">
                <a:solidFill>
                  <a:srgbClr val="D4886B"/>
                </a:solidFill>
                <a:latin typeface="Calibri"/>
              </a:defRPr>
            </a:pPr>
            <a:r>
              <a:t>Worktrees</a:t>
            </a:r>
          </a:p>
        </p:txBody>
      </p:sp>
      <p:sp>
        <p:nvSpPr>
          <p:cNvPr id="14" name="TextBox 13"/>
          <p:cNvSpPr txBox="1"/>
          <p:nvPr/>
        </p:nvSpPr>
        <p:spPr>
          <a:xfrm>
            <a:off x="10149840" y="1828800"/>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Agent Teams</a:t>
            </a:r>
          </a:p>
        </p:txBody>
      </p:sp>
      <p:sp>
        <p:nvSpPr>
          <p:cNvPr id="15" name="TextBox 14"/>
          <p:cNvSpPr txBox="1"/>
          <p:nvPr/>
        </p:nvSpPr>
        <p:spPr>
          <a:xfrm>
            <a:off x="6675120" y="2377440"/>
            <a:ext cx="1645920" cy="365760"/>
          </a:xfrm>
          <a:prstGeom prst="rect">
            <a:avLst/>
          </a:prstGeom>
          <a:noFill/>
        </p:spPr>
        <p:txBody>
          <a:bodyPr wrap="square">
            <a:spAutoFit/>
          </a:bodyPr>
          <a:lstStyle/>
          <a:p>
            <a:pPr algn="l">
              <a:spcAft>
                <a:spcPts val="0"/>
              </a:spcAft>
              <a:defRPr sz="1300" b="0" i="0">
                <a:solidFill>
                  <a:srgbClr val="E8D5B7"/>
                </a:solidFill>
                <a:latin typeface="Calibri"/>
              </a:defRPr>
            </a:pPr>
            <a:r>
              <a:t>Scope</a:t>
            </a:r>
          </a:p>
        </p:txBody>
      </p:sp>
      <p:sp>
        <p:nvSpPr>
          <p:cNvPr id="16" name="TextBox 15"/>
          <p:cNvSpPr txBox="1"/>
          <p:nvPr/>
        </p:nvSpPr>
        <p:spPr>
          <a:xfrm>
            <a:off x="8412480" y="2377440"/>
            <a:ext cx="1645920" cy="365760"/>
          </a:xfrm>
          <a:prstGeom prst="rect">
            <a:avLst/>
          </a:prstGeom>
          <a:noFill/>
        </p:spPr>
        <p:txBody>
          <a:bodyPr wrap="square">
            <a:spAutoFit/>
          </a:bodyPr>
          <a:lstStyle/>
          <a:p>
            <a:pPr algn="l">
              <a:spcAft>
                <a:spcPts val="0"/>
              </a:spcAft>
              <a:defRPr sz="1300" b="0" i="0">
                <a:solidFill>
                  <a:srgbClr val="C4A882"/>
                </a:solidFill>
                <a:latin typeface="Calibri"/>
              </a:defRPr>
            </a:pPr>
            <a:r>
              <a:t>File isolation</a:t>
            </a:r>
          </a:p>
        </p:txBody>
      </p:sp>
      <p:sp>
        <p:nvSpPr>
          <p:cNvPr id="17" name="TextBox 16"/>
          <p:cNvSpPr txBox="1"/>
          <p:nvPr/>
        </p:nvSpPr>
        <p:spPr>
          <a:xfrm>
            <a:off x="10149840" y="2377440"/>
            <a:ext cx="1371600" cy="365760"/>
          </a:xfrm>
          <a:prstGeom prst="rect">
            <a:avLst/>
          </a:prstGeom>
          <a:noFill/>
        </p:spPr>
        <p:txBody>
          <a:bodyPr wrap="square">
            <a:spAutoFit/>
          </a:bodyPr>
          <a:lstStyle/>
          <a:p>
            <a:pPr algn="l">
              <a:spcAft>
                <a:spcPts val="0"/>
              </a:spcAft>
              <a:defRPr sz="1300" b="0" i="0">
                <a:solidFill>
                  <a:srgbClr val="C4A882"/>
                </a:solidFill>
                <a:latin typeface="Calibri"/>
              </a:defRPr>
            </a:pPr>
            <a:r>
              <a:t>Full coordination</a:t>
            </a:r>
          </a:p>
        </p:txBody>
      </p:sp>
      <p:sp>
        <p:nvSpPr>
          <p:cNvPr id="18" name="TextBox 17"/>
          <p:cNvSpPr txBox="1"/>
          <p:nvPr/>
        </p:nvSpPr>
        <p:spPr>
          <a:xfrm>
            <a:off x="6675120" y="2926080"/>
            <a:ext cx="1645920" cy="365760"/>
          </a:xfrm>
          <a:prstGeom prst="rect">
            <a:avLst/>
          </a:prstGeom>
          <a:noFill/>
        </p:spPr>
        <p:txBody>
          <a:bodyPr wrap="square">
            <a:spAutoFit/>
          </a:bodyPr>
          <a:lstStyle/>
          <a:p>
            <a:pPr algn="l">
              <a:spcAft>
                <a:spcPts val="0"/>
              </a:spcAft>
              <a:defRPr sz="1300" b="0" i="0">
                <a:solidFill>
                  <a:srgbClr val="E8D5B7"/>
                </a:solidFill>
                <a:latin typeface="Calibri"/>
              </a:defRPr>
            </a:pPr>
            <a:r>
              <a:t>Communication</a:t>
            </a:r>
          </a:p>
        </p:txBody>
      </p:sp>
      <p:sp>
        <p:nvSpPr>
          <p:cNvPr id="19" name="TextBox 18"/>
          <p:cNvSpPr txBox="1"/>
          <p:nvPr/>
        </p:nvSpPr>
        <p:spPr>
          <a:xfrm>
            <a:off x="8412480" y="2926080"/>
            <a:ext cx="1645920" cy="365760"/>
          </a:xfrm>
          <a:prstGeom prst="rect">
            <a:avLst/>
          </a:prstGeom>
          <a:noFill/>
        </p:spPr>
        <p:txBody>
          <a:bodyPr wrap="square">
            <a:spAutoFit/>
          </a:bodyPr>
          <a:lstStyle/>
          <a:p>
            <a:pPr algn="l">
              <a:spcAft>
                <a:spcPts val="0"/>
              </a:spcAft>
              <a:defRPr sz="1300" b="0" i="0">
                <a:solidFill>
                  <a:srgbClr val="C4A882"/>
                </a:solidFill>
                <a:latin typeface="Calibri"/>
              </a:defRPr>
            </a:pPr>
            <a:r>
              <a:t>Results to parent</a:t>
            </a:r>
          </a:p>
        </p:txBody>
      </p:sp>
      <p:sp>
        <p:nvSpPr>
          <p:cNvPr id="20" name="TextBox 19"/>
          <p:cNvSpPr txBox="1"/>
          <p:nvPr/>
        </p:nvSpPr>
        <p:spPr>
          <a:xfrm>
            <a:off x="10149840" y="2926080"/>
            <a:ext cx="1371600" cy="365760"/>
          </a:xfrm>
          <a:prstGeom prst="rect">
            <a:avLst/>
          </a:prstGeom>
          <a:noFill/>
        </p:spPr>
        <p:txBody>
          <a:bodyPr wrap="square">
            <a:spAutoFit/>
          </a:bodyPr>
          <a:lstStyle/>
          <a:p>
            <a:pPr algn="l">
              <a:spcAft>
                <a:spcPts val="0"/>
              </a:spcAft>
              <a:defRPr sz="1300" b="0" i="0">
                <a:solidFill>
                  <a:srgbClr val="C4A882"/>
                </a:solidFill>
                <a:latin typeface="Calibri"/>
              </a:defRPr>
            </a:pPr>
            <a:r>
              <a:t>Peer-to-peer</a:t>
            </a:r>
          </a:p>
        </p:txBody>
      </p:sp>
      <p:sp>
        <p:nvSpPr>
          <p:cNvPr id="21" name="TextBox 20"/>
          <p:cNvSpPr txBox="1"/>
          <p:nvPr/>
        </p:nvSpPr>
        <p:spPr>
          <a:xfrm>
            <a:off x="6675120" y="3474720"/>
            <a:ext cx="1645920" cy="365760"/>
          </a:xfrm>
          <a:prstGeom prst="rect">
            <a:avLst/>
          </a:prstGeom>
          <a:noFill/>
        </p:spPr>
        <p:txBody>
          <a:bodyPr wrap="square">
            <a:spAutoFit/>
          </a:bodyPr>
          <a:lstStyle/>
          <a:p>
            <a:pPr algn="l">
              <a:spcAft>
                <a:spcPts val="0"/>
              </a:spcAft>
              <a:defRPr sz="1300" b="0" i="0">
                <a:solidFill>
                  <a:srgbClr val="E8D5B7"/>
                </a:solidFill>
                <a:latin typeface="Calibri"/>
              </a:defRPr>
            </a:pPr>
            <a:r>
              <a:t>Orchestration</a:t>
            </a:r>
          </a:p>
        </p:txBody>
      </p:sp>
      <p:sp>
        <p:nvSpPr>
          <p:cNvPr id="22" name="TextBox 21"/>
          <p:cNvSpPr txBox="1"/>
          <p:nvPr/>
        </p:nvSpPr>
        <p:spPr>
          <a:xfrm>
            <a:off x="8412480" y="3474720"/>
            <a:ext cx="1645920" cy="365760"/>
          </a:xfrm>
          <a:prstGeom prst="rect">
            <a:avLst/>
          </a:prstGeom>
          <a:noFill/>
        </p:spPr>
        <p:txBody>
          <a:bodyPr wrap="square">
            <a:spAutoFit/>
          </a:bodyPr>
          <a:lstStyle/>
          <a:p>
            <a:pPr algn="l">
              <a:spcAft>
                <a:spcPts val="0"/>
              </a:spcAft>
              <a:defRPr sz="1300" b="0" i="0">
                <a:solidFill>
                  <a:srgbClr val="C4A882"/>
                </a:solidFill>
                <a:latin typeface="Calibri"/>
              </a:defRPr>
            </a:pPr>
            <a:r>
              <a:t>You manage</a:t>
            </a:r>
          </a:p>
        </p:txBody>
      </p:sp>
      <p:sp>
        <p:nvSpPr>
          <p:cNvPr id="23" name="TextBox 22"/>
          <p:cNvSpPr txBox="1"/>
          <p:nvPr/>
        </p:nvSpPr>
        <p:spPr>
          <a:xfrm>
            <a:off x="10149840" y="3474720"/>
            <a:ext cx="1371600" cy="365760"/>
          </a:xfrm>
          <a:prstGeom prst="rect">
            <a:avLst/>
          </a:prstGeom>
          <a:noFill/>
        </p:spPr>
        <p:txBody>
          <a:bodyPr wrap="square">
            <a:spAutoFit/>
          </a:bodyPr>
          <a:lstStyle/>
          <a:p>
            <a:pPr algn="l">
              <a:spcAft>
                <a:spcPts val="0"/>
              </a:spcAft>
              <a:defRPr sz="1300" b="0" i="0">
                <a:solidFill>
                  <a:srgbClr val="C4A882"/>
                </a:solidFill>
                <a:latin typeface="Calibri"/>
              </a:defRPr>
            </a:pPr>
            <a:r>
              <a:t>Claude manages</a:t>
            </a:r>
          </a:p>
        </p:txBody>
      </p:sp>
      <p:sp>
        <p:nvSpPr>
          <p:cNvPr id="24" name="TextBox 23"/>
          <p:cNvSpPr txBox="1"/>
          <p:nvPr/>
        </p:nvSpPr>
        <p:spPr>
          <a:xfrm>
            <a:off x="6675120" y="4023360"/>
            <a:ext cx="1645920" cy="365760"/>
          </a:xfrm>
          <a:prstGeom prst="rect">
            <a:avLst/>
          </a:prstGeom>
          <a:noFill/>
        </p:spPr>
        <p:txBody>
          <a:bodyPr wrap="square">
            <a:spAutoFit/>
          </a:bodyPr>
          <a:lstStyle/>
          <a:p>
            <a:pPr algn="l">
              <a:spcAft>
                <a:spcPts val="0"/>
              </a:spcAft>
              <a:defRPr sz="1300" b="0" i="0">
                <a:solidFill>
                  <a:srgbClr val="E8D5B7"/>
                </a:solidFill>
                <a:latin typeface="Calibri"/>
              </a:defRPr>
            </a:pPr>
            <a:r>
              <a:t>Best for</a:t>
            </a:r>
          </a:p>
        </p:txBody>
      </p:sp>
      <p:sp>
        <p:nvSpPr>
          <p:cNvPr id="25" name="TextBox 24"/>
          <p:cNvSpPr txBox="1"/>
          <p:nvPr/>
        </p:nvSpPr>
        <p:spPr>
          <a:xfrm>
            <a:off x="8412480" y="4023360"/>
            <a:ext cx="1645920" cy="365760"/>
          </a:xfrm>
          <a:prstGeom prst="rect">
            <a:avLst/>
          </a:prstGeom>
          <a:noFill/>
        </p:spPr>
        <p:txBody>
          <a:bodyPr wrap="square">
            <a:spAutoFit/>
          </a:bodyPr>
          <a:lstStyle/>
          <a:p>
            <a:pPr algn="l">
              <a:spcAft>
                <a:spcPts val="0"/>
              </a:spcAft>
              <a:defRPr sz="1300" b="0" i="0">
                <a:solidFill>
                  <a:srgbClr val="C4A882"/>
                </a:solidFill>
                <a:latin typeface="Calibri"/>
              </a:defRPr>
            </a:pPr>
            <a:r>
              <a:t>Parallel editing</a:t>
            </a:r>
          </a:p>
        </p:txBody>
      </p:sp>
      <p:sp>
        <p:nvSpPr>
          <p:cNvPr id="26" name="TextBox 25"/>
          <p:cNvSpPr txBox="1"/>
          <p:nvPr/>
        </p:nvSpPr>
        <p:spPr>
          <a:xfrm>
            <a:off x="10149840" y="4023360"/>
            <a:ext cx="1371600" cy="365760"/>
          </a:xfrm>
          <a:prstGeom prst="rect">
            <a:avLst/>
          </a:prstGeom>
          <a:noFill/>
        </p:spPr>
        <p:txBody>
          <a:bodyPr wrap="square">
            <a:spAutoFit/>
          </a:bodyPr>
          <a:lstStyle/>
          <a:p>
            <a:pPr algn="l">
              <a:spcAft>
                <a:spcPts val="0"/>
              </a:spcAft>
              <a:defRPr sz="1300" b="0" i="0">
                <a:solidFill>
                  <a:srgbClr val="C4A882"/>
                </a:solidFill>
                <a:latin typeface="Calibri"/>
              </a:defRPr>
            </a:pPr>
            <a:r>
              <a:t>Complex collaboration</a:t>
            </a:r>
          </a:p>
        </p:txBody>
      </p:sp>
      <p:sp>
        <p:nvSpPr>
          <p:cNvPr id="27" name="Rounded Rectangle 26"/>
          <p:cNvSpPr/>
          <p:nvPr/>
        </p:nvSpPr>
        <p:spPr>
          <a:xfrm>
            <a:off x="731520" y="5394959"/>
            <a:ext cx="10728960" cy="90073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60120" y="5532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61288" y="5532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362456" y="5532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45920" y="546811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Guidance</a:t>
            </a:r>
          </a:p>
        </p:txBody>
      </p:sp>
      <p:sp>
        <p:nvSpPr>
          <p:cNvPr id="32" name="TextBox 31"/>
          <p:cNvSpPr txBox="1"/>
          <p:nvPr/>
        </p:nvSpPr>
        <p:spPr>
          <a:xfrm>
            <a:off x="1005840" y="5852160"/>
            <a:ext cx="10241280" cy="365760"/>
          </a:xfrm>
          <a:prstGeom prst="rect">
            <a:avLst/>
          </a:prstGeom>
          <a:noFill/>
        </p:spPr>
        <p:txBody>
          <a:bodyPr wrap="square">
            <a:spAutoFit/>
          </a:bodyPr>
          <a:lstStyle/>
          <a:p>
            <a:pPr algn="l">
              <a:spcAft>
                <a:spcPts val="0"/>
              </a:spcAft>
              <a:defRPr sz="1400" b="0" i="0">
                <a:solidFill>
                  <a:srgbClr val="E8D5B7"/>
                </a:solidFill>
                <a:latin typeface="Calibri"/>
              </a:defRPr>
            </a:pPr>
            <a:r>
              <a:t>Worktrees for manual parallel sessions (you orchestrate). Agent Teams for automated parallel coordination (Claude orchestrates).</a:t>
            </a:r>
          </a:p>
        </p:txBody>
      </p:sp>
      <p:sp>
        <p:nvSpPr>
          <p:cNvPr id="33" name="TextBox 3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Practical Workflow: Three Terminals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Three parallel Claude sessions, each working independently on different tasks</a:t>
            </a:r>
          </a:p>
        </p:txBody>
      </p:sp>
      <p:sp>
        <p:nvSpPr>
          <p:cNvPr id="4" name="Rounded Rectangle 3"/>
          <p:cNvSpPr/>
          <p:nvPr/>
        </p:nvSpPr>
        <p:spPr>
          <a:xfrm>
            <a:off x="731520" y="1737360"/>
            <a:ext cx="3234559" cy="209891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2103120" cy="320040"/>
          </a:xfrm>
          <a:prstGeom prst="rect">
            <a:avLst/>
          </a:prstGeom>
          <a:noFill/>
        </p:spPr>
        <p:txBody>
          <a:bodyPr wrap="square">
            <a:spAutoFit/>
          </a:bodyPr>
          <a:lstStyle/>
          <a:p>
            <a:pPr algn="ctr">
              <a:spcAft>
                <a:spcPts val="0"/>
              </a:spcAft>
              <a:defRPr sz="1100" b="0" i="0">
                <a:solidFill>
                  <a:srgbClr val="7A6E5D"/>
                </a:solidFill>
                <a:latin typeface="Calibri"/>
              </a:defRPr>
            </a:pPr>
            <a:r>
              <a:t>Terminal 1: Feature</a:t>
            </a:r>
          </a:p>
        </p:txBody>
      </p:sp>
      <p:sp>
        <p:nvSpPr>
          <p:cNvPr id="9" name="TextBox 8"/>
          <p:cNvSpPr txBox="1"/>
          <p:nvPr/>
        </p:nvSpPr>
        <p:spPr>
          <a:xfrm>
            <a:off x="914400" y="2286000"/>
            <a:ext cx="2926080" cy="365760"/>
          </a:xfrm>
          <a:prstGeom prst="rect">
            <a:avLst/>
          </a:prstGeom>
          <a:noFill/>
        </p:spPr>
        <p:txBody>
          <a:bodyPr wrap="square">
            <a:spAutoFit/>
          </a:bodyPr>
          <a:lstStyle/>
          <a:p>
            <a:pPr algn="l">
              <a:spcAft>
                <a:spcPts val="0"/>
              </a:spcAft>
              <a:defRPr sz="1200" b="0" i="0">
                <a:solidFill>
                  <a:srgbClr val="D4886B"/>
                </a:solidFill>
                <a:latin typeface="JetBrains Mono"/>
              </a:defRPr>
            </a:pPr>
            <a:r>
              <a:t>claude --worktree feature-auth</a:t>
            </a:r>
          </a:p>
        </p:txBody>
      </p:sp>
      <p:sp>
        <p:nvSpPr>
          <p:cNvPr id="10" name="TextBox 9"/>
          <p:cNvSpPr txBox="1"/>
          <p:nvPr/>
        </p:nvSpPr>
        <p:spPr>
          <a:xfrm>
            <a:off x="914400" y="2743200"/>
            <a:ext cx="2926080" cy="1371600"/>
          </a:xfrm>
          <a:prstGeom prst="rect">
            <a:avLst/>
          </a:prstGeom>
          <a:noFill/>
        </p:spPr>
        <p:txBody>
          <a:bodyPr wrap="square">
            <a:spAutoFit/>
          </a:bodyPr>
          <a:lstStyle/>
          <a:p>
            <a:pPr algn="l">
              <a:spcAft>
                <a:spcPts val="0"/>
              </a:spcAft>
              <a:defRPr sz="1400" b="0" i="0">
                <a:solidFill>
                  <a:srgbClr val="C4A882"/>
                </a:solidFill>
                <a:latin typeface="Calibri"/>
              </a:defRPr>
            </a:pPr>
            <a:r>
              <a:t>Working on authentication</a:t>
            </a:r>
            <a:br/>
            <a:r>
              <a:t>refactor in isolated branch</a:t>
            </a:r>
            <a:br/>
            <a:r>
              <a:t>worktree-feature-auth</a:t>
            </a:r>
          </a:p>
        </p:txBody>
      </p:sp>
      <p:sp>
        <p:nvSpPr>
          <p:cNvPr id="11" name="Rounded Rectangle 10"/>
          <p:cNvSpPr/>
          <p:nvPr/>
        </p:nvSpPr>
        <p:spPr>
          <a:xfrm>
            <a:off x="4343400" y="1737360"/>
            <a:ext cx="3234559" cy="209891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200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77316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97433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57800" y="1810512"/>
            <a:ext cx="2103120" cy="320040"/>
          </a:xfrm>
          <a:prstGeom prst="rect">
            <a:avLst/>
          </a:prstGeom>
          <a:noFill/>
        </p:spPr>
        <p:txBody>
          <a:bodyPr wrap="square">
            <a:spAutoFit/>
          </a:bodyPr>
          <a:lstStyle/>
          <a:p>
            <a:pPr algn="ctr">
              <a:spcAft>
                <a:spcPts val="0"/>
              </a:spcAft>
              <a:defRPr sz="1100" b="0" i="0">
                <a:solidFill>
                  <a:srgbClr val="7A6E5D"/>
                </a:solidFill>
                <a:latin typeface="Calibri"/>
              </a:defRPr>
            </a:pPr>
            <a:r>
              <a:t>Terminal 2: Bugfix</a:t>
            </a:r>
          </a:p>
        </p:txBody>
      </p:sp>
      <p:sp>
        <p:nvSpPr>
          <p:cNvPr id="16" name="TextBox 15"/>
          <p:cNvSpPr txBox="1"/>
          <p:nvPr/>
        </p:nvSpPr>
        <p:spPr>
          <a:xfrm>
            <a:off x="4526280" y="2286000"/>
            <a:ext cx="2926080" cy="365760"/>
          </a:xfrm>
          <a:prstGeom prst="rect">
            <a:avLst/>
          </a:prstGeom>
          <a:noFill/>
        </p:spPr>
        <p:txBody>
          <a:bodyPr wrap="square">
            <a:spAutoFit/>
          </a:bodyPr>
          <a:lstStyle/>
          <a:p>
            <a:pPr algn="l">
              <a:spcAft>
                <a:spcPts val="0"/>
              </a:spcAft>
              <a:defRPr sz="1200" b="0" i="0">
                <a:solidFill>
                  <a:srgbClr val="D4886B"/>
                </a:solidFill>
                <a:latin typeface="JetBrains Mono"/>
              </a:defRPr>
            </a:pPr>
            <a:r>
              <a:t>claude --worktree bugfix-123</a:t>
            </a:r>
          </a:p>
        </p:txBody>
      </p:sp>
      <p:sp>
        <p:nvSpPr>
          <p:cNvPr id="17" name="TextBox 16"/>
          <p:cNvSpPr txBox="1"/>
          <p:nvPr/>
        </p:nvSpPr>
        <p:spPr>
          <a:xfrm>
            <a:off x="4526280" y="2743200"/>
            <a:ext cx="2926080" cy="1371600"/>
          </a:xfrm>
          <a:prstGeom prst="rect">
            <a:avLst/>
          </a:prstGeom>
          <a:noFill/>
        </p:spPr>
        <p:txBody>
          <a:bodyPr wrap="square">
            <a:spAutoFit/>
          </a:bodyPr>
          <a:lstStyle/>
          <a:p>
            <a:pPr algn="l">
              <a:spcAft>
                <a:spcPts val="0"/>
              </a:spcAft>
              <a:defRPr sz="1400" b="0" i="0">
                <a:solidFill>
                  <a:srgbClr val="C4A882"/>
                </a:solidFill>
                <a:latin typeface="Calibri"/>
              </a:defRPr>
            </a:pPr>
            <a:r>
              <a:t>Fixing critical bug in</a:t>
            </a:r>
            <a:br/>
            <a:r>
              <a:t>isolated branch</a:t>
            </a:r>
            <a:br/>
            <a:r>
              <a:t>worktree-bugfix-123</a:t>
            </a:r>
          </a:p>
        </p:txBody>
      </p:sp>
      <p:sp>
        <p:nvSpPr>
          <p:cNvPr id="18" name="Rounded Rectangle 17"/>
          <p:cNvSpPr/>
          <p:nvPr/>
        </p:nvSpPr>
        <p:spPr>
          <a:xfrm>
            <a:off x="7955280" y="1737360"/>
            <a:ext cx="3234559" cy="209891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18388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38504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58621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0" y="1810512"/>
            <a:ext cx="2103120" cy="320040"/>
          </a:xfrm>
          <a:prstGeom prst="rect">
            <a:avLst/>
          </a:prstGeom>
          <a:noFill/>
        </p:spPr>
        <p:txBody>
          <a:bodyPr wrap="square">
            <a:spAutoFit/>
          </a:bodyPr>
          <a:lstStyle/>
          <a:p>
            <a:pPr algn="ctr">
              <a:spcAft>
                <a:spcPts val="0"/>
              </a:spcAft>
              <a:defRPr sz="1100" b="0" i="0">
                <a:solidFill>
                  <a:srgbClr val="7A6E5D"/>
                </a:solidFill>
                <a:latin typeface="Calibri"/>
              </a:defRPr>
            </a:pPr>
            <a:r>
              <a:t>Terminal 3: Refactor</a:t>
            </a:r>
          </a:p>
        </p:txBody>
      </p:sp>
      <p:sp>
        <p:nvSpPr>
          <p:cNvPr id="23" name="TextBox 22"/>
          <p:cNvSpPr txBox="1"/>
          <p:nvPr/>
        </p:nvSpPr>
        <p:spPr>
          <a:xfrm>
            <a:off x="8138160" y="2286000"/>
            <a:ext cx="2926080" cy="365760"/>
          </a:xfrm>
          <a:prstGeom prst="rect">
            <a:avLst/>
          </a:prstGeom>
          <a:noFill/>
        </p:spPr>
        <p:txBody>
          <a:bodyPr wrap="square">
            <a:spAutoFit/>
          </a:bodyPr>
          <a:lstStyle/>
          <a:p>
            <a:pPr algn="l">
              <a:spcAft>
                <a:spcPts val="0"/>
              </a:spcAft>
              <a:defRPr sz="1200" b="0" i="0">
                <a:solidFill>
                  <a:srgbClr val="D4886B"/>
                </a:solidFill>
                <a:latin typeface="JetBrains Mono"/>
              </a:defRPr>
            </a:pPr>
            <a:r>
              <a:t>claude --worktree refactor-db</a:t>
            </a:r>
          </a:p>
        </p:txBody>
      </p:sp>
      <p:sp>
        <p:nvSpPr>
          <p:cNvPr id="24" name="TextBox 23"/>
          <p:cNvSpPr txBox="1"/>
          <p:nvPr/>
        </p:nvSpPr>
        <p:spPr>
          <a:xfrm>
            <a:off x="8138160" y="2743200"/>
            <a:ext cx="2926080" cy="1371600"/>
          </a:xfrm>
          <a:prstGeom prst="rect">
            <a:avLst/>
          </a:prstGeom>
          <a:noFill/>
        </p:spPr>
        <p:txBody>
          <a:bodyPr wrap="square">
            <a:spAutoFit/>
          </a:bodyPr>
          <a:lstStyle/>
          <a:p>
            <a:pPr algn="l">
              <a:spcAft>
                <a:spcPts val="0"/>
              </a:spcAft>
              <a:defRPr sz="1400" b="0" i="0">
                <a:solidFill>
                  <a:srgbClr val="C4A882"/>
                </a:solidFill>
                <a:latin typeface="Calibri"/>
              </a:defRPr>
            </a:pPr>
            <a:r>
              <a:t>Database refactoring in</a:t>
            </a:r>
            <a:br/>
            <a:r>
              <a:t>isolated branch</a:t>
            </a:r>
            <a:br/>
            <a:r>
              <a:t>worktree-refactor-db</a:t>
            </a:r>
          </a:p>
        </p:txBody>
      </p:sp>
      <p:sp>
        <p:nvSpPr>
          <p:cNvPr id="25" name="TextBox 24"/>
          <p:cNvSpPr txBox="1"/>
          <p:nvPr/>
        </p:nvSpPr>
        <p:spPr>
          <a:xfrm>
            <a:off x="731520" y="4765916"/>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rPr dirty="0"/>
              <a:t>When Done: Standard Git Merge</a:t>
            </a:r>
          </a:p>
        </p:txBody>
      </p:sp>
      <p:sp>
        <p:nvSpPr>
          <p:cNvPr id="26" name="Rounded Rectangle 25"/>
          <p:cNvSpPr/>
          <p:nvPr/>
        </p:nvSpPr>
        <p:spPr>
          <a:xfrm>
            <a:off x="731520" y="5349240"/>
            <a:ext cx="10714246" cy="92543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60120" y="5486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161288" y="5486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362456" y="5486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5715000"/>
            <a:ext cx="10241280" cy="457200"/>
          </a:xfrm>
          <a:prstGeom prst="rect">
            <a:avLst/>
          </a:prstGeom>
          <a:noFill/>
        </p:spPr>
        <p:txBody>
          <a:bodyPr wrap="square">
            <a:spAutoFit/>
          </a:bodyPr>
          <a:lstStyle/>
          <a:p>
            <a:pPr algn="l">
              <a:spcAft>
                <a:spcPts val="0"/>
              </a:spcAft>
              <a:defRPr sz="1400" b="0" i="0">
                <a:solidFill>
                  <a:srgbClr val="E8D5B7"/>
                </a:solidFill>
                <a:latin typeface="Calibri"/>
              </a:defRPr>
            </a:pPr>
            <a:r>
              <a:t>Each worktree produces commits on its own branch. Merge via standard Git workflows: PR, merge, or cherry-pick. No special tooling needed.</a:t>
            </a:r>
          </a:p>
        </p:txBody>
      </p:sp>
      <p:sp>
        <p:nvSpPr>
          <p:cNvPr id="31" name="TextBox 3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Known Limitations &amp; Tips</a:t>
            </a:r>
          </a:p>
        </p:txBody>
      </p:sp>
      <p:sp>
        <p:nvSpPr>
          <p:cNvPr id="3" name="TextBox 2"/>
          <p:cNvSpPr txBox="1"/>
          <p:nvPr/>
        </p:nvSpPr>
        <p:spPr>
          <a:xfrm>
            <a:off x="7315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KNOWN LIMITATIONS</a:t>
            </a:r>
          </a:p>
        </p:txBody>
      </p:sp>
      <p:sp>
        <p:nvSpPr>
          <p:cNvPr id="4" name="TextBox 3"/>
          <p:cNvSpPr txBox="1"/>
          <p:nvPr/>
        </p:nvSpPr>
        <p:spPr>
          <a:xfrm>
            <a:off x="731520" y="1828800"/>
            <a:ext cx="5029200" cy="274320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.claude/ subdirectories (skills, agents, docs) not auto-copied to worktrees</a:t>
            </a:r>
          </a:p>
          <a:p>
            <a:pPr>
              <a:spcBef>
                <a:spcPts val="200"/>
              </a:spcBef>
              <a:spcAft>
                <a:spcPts val="800"/>
              </a:spcAft>
            </a:pPr>
            <a:r>
              <a:rPr sz="1400">
                <a:solidFill>
                  <a:srgbClr val="D4886B"/>
                </a:solidFill>
                <a:latin typeface="Calibri"/>
              </a:rPr>
              <a:t>–  </a:t>
            </a:r>
            <a:r>
              <a:rPr sz="1400">
                <a:solidFill>
                  <a:srgbClr val="C4A882"/>
                </a:solidFill>
                <a:latin typeface="Calibri"/>
              </a:rPr>
              <a:t>Each worktree needs its own npm install / dependency setup</a:t>
            </a:r>
          </a:p>
          <a:p>
            <a:pPr>
              <a:spcBef>
                <a:spcPts val="200"/>
              </a:spcBef>
              <a:spcAft>
                <a:spcPts val="800"/>
              </a:spcAft>
            </a:pPr>
            <a:r>
              <a:rPr sz="1400">
                <a:solidFill>
                  <a:srgbClr val="D4886B"/>
                </a:solidFill>
                <a:latin typeface="Calibri"/>
              </a:rPr>
              <a:t>–  </a:t>
            </a:r>
            <a:r>
              <a:rPr sz="1400">
                <a:solidFill>
                  <a:srgbClr val="C4A882"/>
                </a:solidFill>
                <a:latin typeface="Calibri"/>
              </a:rPr>
              <a:t>Disk space: each worktree is a full copy of working files</a:t>
            </a:r>
          </a:p>
          <a:p>
            <a:pPr>
              <a:spcBef>
                <a:spcPts val="200"/>
              </a:spcBef>
              <a:spcAft>
                <a:spcPts val="800"/>
              </a:spcAft>
            </a:pPr>
            <a:r>
              <a:rPr sz="1400">
                <a:solidFill>
                  <a:srgbClr val="D4886B"/>
                </a:solidFill>
                <a:latin typeface="Calibri"/>
              </a:rPr>
              <a:t>–  </a:t>
            </a:r>
            <a:r>
              <a:rPr sz="1400">
                <a:solidFill>
                  <a:srgbClr val="C4A882"/>
                </a:solidFill>
                <a:latin typeface="Calibri"/>
              </a:rPr>
              <a:t>Git locks: some operations may conflict across worktrees</a:t>
            </a:r>
          </a:p>
          <a:p>
            <a:pPr>
              <a:spcBef>
                <a:spcPts val="200"/>
              </a:spcBef>
              <a:spcAft>
                <a:spcPts val="800"/>
              </a:spcAft>
            </a:pPr>
            <a:r>
              <a:rPr sz="1400">
                <a:solidFill>
                  <a:srgbClr val="D4886B"/>
                </a:solidFill>
                <a:latin typeface="Calibri"/>
              </a:rPr>
              <a:t>–  </a:t>
            </a:r>
            <a:r>
              <a:rPr sz="1400">
                <a:solidFill>
                  <a:srgbClr val="C4A882"/>
                </a:solidFill>
                <a:latin typeface="Calibri"/>
              </a:rPr>
              <a:t>No shared Claude session context between worktrees</a:t>
            </a:r>
          </a:p>
        </p:txBody>
      </p:sp>
      <p:sp>
        <p:nvSpPr>
          <p:cNvPr id="5" name="TextBox 4"/>
          <p:cNvSpPr txBox="1"/>
          <p:nvPr/>
        </p:nvSpPr>
        <p:spPr>
          <a:xfrm>
            <a:off x="66751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BEST PRACTICES</a:t>
            </a:r>
          </a:p>
        </p:txBody>
      </p:sp>
      <p:sp>
        <p:nvSpPr>
          <p:cNvPr id="6" name="TextBox 5"/>
          <p:cNvSpPr txBox="1"/>
          <p:nvPr/>
        </p:nvSpPr>
        <p:spPr>
          <a:xfrm>
            <a:off x="6675120" y="1828800"/>
            <a:ext cx="4754880" cy="3200400"/>
          </a:xfrm>
          <a:prstGeom prst="rect">
            <a:avLst/>
          </a:prstGeom>
          <a:noFill/>
        </p:spPr>
        <p:txBody>
          <a:bodyPr wrap="square">
            <a:spAutoFit/>
          </a:bodyPr>
          <a:lstStyle/>
          <a:p>
            <a:pPr>
              <a:spcBef>
                <a:spcPts val="200"/>
              </a:spcBef>
              <a:spcAft>
                <a:spcPts val="1000"/>
              </a:spcAft>
            </a:pPr>
            <a:r>
              <a:rPr sz="1400">
                <a:solidFill>
                  <a:srgbClr val="D4886B"/>
                </a:solidFill>
                <a:latin typeface="Calibri"/>
              </a:rPr>
              <a:t>  –  </a:t>
            </a:r>
            <a:r>
              <a:rPr sz="1400">
                <a:solidFill>
                  <a:srgbClr val="C4A882"/>
                </a:solidFill>
                <a:latin typeface="Calibri"/>
              </a:rPr>
              <a:t>Add .claude/worktrees/ to .gitignore</a:t>
            </a:r>
          </a:p>
          <a:p>
            <a:pPr>
              <a:spcBef>
                <a:spcPts val="200"/>
              </a:spcBef>
              <a:spcAft>
                <a:spcPts val="1000"/>
              </a:spcAft>
            </a:pPr>
            <a:r>
              <a:rPr sz="1400">
                <a:solidFill>
                  <a:srgbClr val="D4886B"/>
                </a:solidFill>
                <a:latin typeface="Calibri"/>
              </a:rPr>
              <a:t>  –  </a:t>
            </a:r>
            <a:r>
              <a:rPr sz="1400" b="1">
                <a:solidFill>
                  <a:srgbClr val="E8D5B7"/>
                </a:solidFill>
                <a:latin typeface="Calibri"/>
              </a:rPr>
              <a:t>Use descriptive names</a:t>
            </a:r>
            <a:r>
              <a:rPr sz="1400">
                <a:solidFill>
                  <a:srgbClr val="C4A882"/>
                </a:solidFill>
                <a:latin typeface="Calibri"/>
              </a:rPr>
              <a:t> — feature-auth, not wt-1</a:t>
            </a:r>
          </a:p>
          <a:p>
            <a:pPr>
              <a:spcBef>
                <a:spcPts val="200"/>
              </a:spcBef>
              <a:spcAft>
                <a:spcPts val="1000"/>
              </a:spcAft>
            </a:pPr>
            <a:r>
              <a:rPr sz="1400">
                <a:solidFill>
                  <a:srgbClr val="D4886B"/>
                </a:solidFill>
                <a:latin typeface="Calibri"/>
              </a:rPr>
              <a:t>  –  </a:t>
            </a:r>
            <a:r>
              <a:rPr sz="1400" b="1">
                <a:solidFill>
                  <a:srgbClr val="E8D5B7"/>
                </a:solidFill>
                <a:latin typeface="Calibri"/>
              </a:rPr>
              <a:t>Close worktrees when done</a:t>
            </a:r>
            <a:r>
              <a:rPr sz="1400">
                <a:solidFill>
                  <a:srgbClr val="C4A882"/>
                </a:solidFill>
                <a:latin typeface="Calibri"/>
              </a:rPr>
              <a:t> — avoid stale branches</a:t>
            </a:r>
          </a:p>
          <a:p>
            <a:pPr>
              <a:spcBef>
                <a:spcPts val="200"/>
              </a:spcBef>
              <a:spcAft>
                <a:spcPts val="1000"/>
              </a:spcAft>
            </a:pPr>
            <a:r>
              <a:rPr sz="1400">
                <a:solidFill>
                  <a:srgbClr val="D4886B"/>
                </a:solidFill>
                <a:latin typeface="Calibri"/>
              </a:rPr>
              <a:t>  –  </a:t>
            </a:r>
            <a:r>
              <a:rPr sz="1400">
                <a:solidFill>
                  <a:srgbClr val="C4A882"/>
                </a:solidFill>
                <a:latin typeface="Calibri"/>
              </a:rPr>
              <a:t>Run dependency install after creating worktree</a:t>
            </a:r>
          </a:p>
          <a:p>
            <a:pPr>
              <a:spcBef>
                <a:spcPts val="200"/>
              </a:spcBef>
              <a:spcAft>
                <a:spcPts val="1000"/>
              </a:spcAft>
            </a:pPr>
            <a:r>
              <a:rPr sz="1400">
                <a:solidFill>
                  <a:srgbClr val="D4886B"/>
                </a:solidFill>
                <a:latin typeface="Calibri"/>
              </a:rPr>
              <a:t>  –  </a:t>
            </a:r>
            <a:r>
              <a:rPr sz="1400">
                <a:solidFill>
                  <a:srgbClr val="C4A882"/>
                </a:solidFill>
                <a:latin typeface="Calibri"/>
              </a:rPr>
              <a:t>Use worktrees for file isolation, agent teams for coordination</a:t>
            </a:r>
          </a:p>
          <a:p>
            <a:pPr>
              <a:spcBef>
                <a:spcPts val="200"/>
              </a:spcBef>
              <a:spcAft>
                <a:spcPts val="1000"/>
              </a:spcAft>
            </a:pPr>
            <a:r>
              <a:rPr sz="1400">
                <a:solidFill>
                  <a:srgbClr val="D4886B"/>
                </a:solidFill>
                <a:latin typeface="Calibri"/>
              </a:rPr>
              <a:t>  –  </a:t>
            </a:r>
            <a:r>
              <a:rPr sz="1400" b="1">
                <a:solidFill>
                  <a:srgbClr val="E8D5B7"/>
                </a:solidFill>
                <a:latin typeface="Calibri"/>
              </a:rPr>
              <a:t>Keep worktree count manageable</a:t>
            </a:r>
            <a:r>
              <a:rPr sz="1400">
                <a:solidFill>
                  <a:srgbClr val="C4A882"/>
                </a:solidFill>
                <a:latin typeface="Calibri"/>
              </a:rPr>
              <a:t> — 2-4 simultaneous is ideal</a:t>
            </a:r>
          </a:p>
        </p:txBody>
      </p:sp>
      <p:sp>
        <p:nvSpPr>
          <p:cNvPr id="7" name="Rounded Rectangle 6"/>
          <p:cNvSpPr/>
          <p:nvPr/>
        </p:nvSpPr>
        <p:spPr>
          <a:xfrm>
            <a:off x="731520" y="5212080"/>
            <a:ext cx="10698480" cy="107310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60120" y="53492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1288" y="53492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62456" y="53492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528523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Known Issue (GitHub #28041)</a:t>
            </a:r>
          </a:p>
        </p:txBody>
      </p:sp>
      <p:sp>
        <p:nvSpPr>
          <p:cNvPr id="12" name="TextBox 11"/>
          <p:cNvSpPr txBox="1"/>
          <p:nvPr/>
        </p:nvSpPr>
        <p:spPr>
          <a:xfrm>
            <a:off x="1005840" y="5669280"/>
            <a:ext cx="10241280" cy="457200"/>
          </a:xfrm>
          <a:prstGeom prst="rect">
            <a:avLst/>
          </a:prstGeom>
          <a:noFill/>
        </p:spPr>
        <p:txBody>
          <a:bodyPr wrap="square">
            <a:spAutoFit/>
          </a:bodyPr>
          <a:lstStyle/>
          <a:p>
            <a:pPr algn="l">
              <a:spcAft>
                <a:spcPts val="0"/>
              </a:spcAft>
              <a:defRPr sz="1300" b="0" i="0">
                <a:solidFill>
                  <a:srgbClr val="C4A882"/>
                </a:solidFill>
                <a:latin typeface="Calibri"/>
              </a:defRPr>
            </a:pPr>
            <a:r>
              <a:t>.claude/ subdirectories (skills, agents, docs, rules) are not automatically copied into worktrees. Only the worktree's own .claude/ directory is created. Tracked as a bug -- expected to be fixed.</a:t>
            </a:r>
          </a:p>
        </p:txBody>
      </p:sp>
      <p:sp>
        <p:nvSpPr>
          <p:cNvPr id="13" name="TextBox 1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Worktrees in the Claude Code Ecosystem</a:t>
            </a:r>
          </a:p>
        </p:txBody>
      </p:sp>
      <p:sp>
        <p:nvSpPr>
          <p:cNvPr id="3" name="TextBox 2"/>
          <p:cNvSpPr txBox="1"/>
          <p:nvPr/>
        </p:nvSpPr>
        <p:spPr>
          <a:xfrm>
            <a:off x="731520" y="1371600"/>
            <a:ext cx="10515600" cy="457200"/>
          </a:xfrm>
          <a:prstGeom prst="rect">
            <a:avLst/>
          </a:prstGeom>
          <a:noFill/>
        </p:spPr>
        <p:txBody>
          <a:bodyPr wrap="square">
            <a:spAutoFit/>
          </a:bodyPr>
          <a:lstStyle/>
          <a:p>
            <a:pPr algn="l">
              <a:spcAft>
                <a:spcPts val="0"/>
              </a:spcAft>
              <a:defRPr sz="2400" b="0" i="0">
                <a:solidFill>
                  <a:srgbClr val="E8D5B7"/>
                </a:solidFill>
                <a:latin typeface="Georgia"/>
              </a:defRPr>
            </a:pPr>
            <a:r>
              <a:t>The Parallelism Progression</a:t>
            </a:r>
          </a:p>
        </p:txBody>
      </p:sp>
      <p:sp>
        <p:nvSpPr>
          <p:cNvPr id="4" name="Rounded Rectangle 3"/>
          <p:cNvSpPr/>
          <p:nvPr/>
        </p:nvSpPr>
        <p:spPr>
          <a:xfrm>
            <a:off x="731520" y="1920240"/>
            <a:ext cx="10698480" cy="731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86000"/>
            <a:ext cx="1097280" cy="320040"/>
          </a:xfrm>
          <a:prstGeom prst="rect">
            <a:avLst/>
          </a:prstGeom>
          <a:noFill/>
        </p:spPr>
        <p:txBody>
          <a:bodyPr wrap="square">
            <a:spAutoFit/>
          </a:bodyPr>
          <a:lstStyle/>
          <a:p>
            <a:pPr algn="l">
              <a:spcAft>
                <a:spcPts val="0"/>
              </a:spcAft>
              <a:defRPr sz="1400" b="1" i="0">
                <a:solidFill>
                  <a:srgbClr val="D4886B"/>
                </a:solidFill>
                <a:latin typeface="Calibri"/>
              </a:defRPr>
            </a:pPr>
            <a:r>
              <a:t>Level 0</a:t>
            </a:r>
          </a:p>
        </p:txBody>
      </p:sp>
      <p:sp>
        <p:nvSpPr>
          <p:cNvPr id="9" name="TextBox 8"/>
          <p:cNvSpPr txBox="1"/>
          <p:nvPr/>
        </p:nvSpPr>
        <p:spPr>
          <a:xfrm>
            <a:off x="2286000" y="2286000"/>
            <a:ext cx="2286000" cy="320040"/>
          </a:xfrm>
          <a:prstGeom prst="rect">
            <a:avLst/>
          </a:prstGeom>
          <a:noFill/>
        </p:spPr>
        <p:txBody>
          <a:bodyPr wrap="square">
            <a:spAutoFit/>
          </a:bodyPr>
          <a:lstStyle/>
          <a:p>
            <a:pPr algn="l">
              <a:spcAft>
                <a:spcPts val="0"/>
              </a:spcAft>
              <a:defRPr sz="1600" b="1" i="0">
                <a:solidFill>
                  <a:srgbClr val="E8D5B7"/>
                </a:solidFill>
                <a:latin typeface="Calibri"/>
              </a:defRPr>
            </a:pPr>
            <a:r>
              <a:t>Solo Session</a:t>
            </a:r>
          </a:p>
        </p:txBody>
      </p:sp>
      <p:sp>
        <p:nvSpPr>
          <p:cNvPr id="10" name="TextBox 9"/>
          <p:cNvSpPr txBox="1"/>
          <p:nvPr/>
        </p:nvSpPr>
        <p:spPr>
          <a:xfrm>
            <a:off x="4754880" y="2286000"/>
            <a:ext cx="6400800" cy="320040"/>
          </a:xfrm>
          <a:prstGeom prst="rect">
            <a:avLst/>
          </a:prstGeom>
          <a:noFill/>
        </p:spPr>
        <p:txBody>
          <a:bodyPr wrap="square">
            <a:spAutoFit/>
          </a:bodyPr>
          <a:lstStyle/>
          <a:p>
            <a:pPr algn="l">
              <a:spcAft>
                <a:spcPts val="0"/>
              </a:spcAft>
              <a:defRPr sz="1400" b="0" i="0">
                <a:solidFill>
                  <a:srgbClr val="C4A882"/>
                </a:solidFill>
                <a:latin typeface="Calibri"/>
              </a:defRPr>
            </a:pPr>
            <a:r>
              <a:t>One Claude, one branch, one task</a:t>
            </a:r>
          </a:p>
        </p:txBody>
      </p:sp>
      <p:sp>
        <p:nvSpPr>
          <p:cNvPr id="11" name="Rounded Rectangle 10"/>
          <p:cNvSpPr/>
          <p:nvPr/>
        </p:nvSpPr>
        <p:spPr>
          <a:xfrm>
            <a:off x="731520" y="2788920"/>
            <a:ext cx="10698480" cy="731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60120" y="29260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61288" y="29260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362456" y="29260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154680"/>
            <a:ext cx="1097280" cy="320040"/>
          </a:xfrm>
          <a:prstGeom prst="rect">
            <a:avLst/>
          </a:prstGeom>
          <a:noFill/>
        </p:spPr>
        <p:txBody>
          <a:bodyPr wrap="square">
            <a:spAutoFit/>
          </a:bodyPr>
          <a:lstStyle/>
          <a:p>
            <a:pPr algn="l">
              <a:spcAft>
                <a:spcPts val="0"/>
              </a:spcAft>
              <a:defRPr sz="1400" b="1" i="0">
                <a:solidFill>
                  <a:srgbClr val="D4886B"/>
                </a:solidFill>
                <a:latin typeface="Calibri"/>
              </a:defRPr>
            </a:pPr>
            <a:r>
              <a:t>Level 1</a:t>
            </a:r>
          </a:p>
        </p:txBody>
      </p:sp>
      <p:sp>
        <p:nvSpPr>
          <p:cNvPr id="16" name="TextBox 15"/>
          <p:cNvSpPr txBox="1"/>
          <p:nvPr/>
        </p:nvSpPr>
        <p:spPr>
          <a:xfrm>
            <a:off x="2286000" y="3154680"/>
            <a:ext cx="2286000" cy="320040"/>
          </a:xfrm>
          <a:prstGeom prst="rect">
            <a:avLst/>
          </a:prstGeom>
          <a:noFill/>
        </p:spPr>
        <p:txBody>
          <a:bodyPr wrap="square">
            <a:spAutoFit/>
          </a:bodyPr>
          <a:lstStyle/>
          <a:p>
            <a:pPr algn="l">
              <a:spcAft>
                <a:spcPts val="0"/>
              </a:spcAft>
              <a:defRPr sz="1600" b="1" i="0">
                <a:solidFill>
                  <a:srgbClr val="E8D5B7"/>
                </a:solidFill>
                <a:latin typeface="Calibri"/>
              </a:defRPr>
            </a:pPr>
            <a:r>
              <a:t>Sub-Agents</a:t>
            </a:r>
          </a:p>
        </p:txBody>
      </p:sp>
      <p:sp>
        <p:nvSpPr>
          <p:cNvPr id="17" name="TextBox 16"/>
          <p:cNvSpPr txBox="1"/>
          <p:nvPr/>
        </p:nvSpPr>
        <p:spPr>
          <a:xfrm>
            <a:off x="4754880" y="3154680"/>
            <a:ext cx="6400800" cy="320040"/>
          </a:xfrm>
          <a:prstGeom prst="rect">
            <a:avLst/>
          </a:prstGeom>
          <a:noFill/>
        </p:spPr>
        <p:txBody>
          <a:bodyPr wrap="square">
            <a:spAutoFit/>
          </a:bodyPr>
          <a:lstStyle/>
          <a:p>
            <a:pPr algn="l">
              <a:spcAft>
                <a:spcPts val="0"/>
              </a:spcAft>
              <a:defRPr sz="1400" b="0" i="0">
                <a:solidFill>
                  <a:srgbClr val="C4A882"/>
                </a:solidFill>
                <a:latin typeface="Calibri"/>
              </a:defRPr>
            </a:pPr>
            <a:r>
              <a:t>Parallel workers, results flow back to parent</a:t>
            </a:r>
          </a:p>
        </p:txBody>
      </p:sp>
      <p:sp>
        <p:nvSpPr>
          <p:cNvPr id="18" name="Rounded Rectangle 17"/>
          <p:cNvSpPr/>
          <p:nvPr/>
        </p:nvSpPr>
        <p:spPr>
          <a:xfrm>
            <a:off x="731520" y="3657600"/>
            <a:ext cx="10698480" cy="731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60120" y="3794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61288" y="3794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362456" y="3794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023360"/>
            <a:ext cx="1097280" cy="320040"/>
          </a:xfrm>
          <a:prstGeom prst="rect">
            <a:avLst/>
          </a:prstGeom>
          <a:noFill/>
        </p:spPr>
        <p:txBody>
          <a:bodyPr wrap="square">
            <a:spAutoFit/>
          </a:bodyPr>
          <a:lstStyle/>
          <a:p>
            <a:pPr algn="l">
              <a:spcAft>
                <a:spcPts val="0"/>
              </a:spcAft>
              <a:defRPr sz="1400" b="1" i="0">
                <a:solidFill>
                  <a:srgbClr val="D4886B"/>
                </a:solidFill>
                <a:latin typeface="Calibri"/>
              </a:defRPr>
            </a:pPr>
            <a:r>
              <a:t>Level 2</a:t>
            </a:r>
          </a:p>
        </p:txBody>
      </p:sp>
      <p:sp>
        <p:nvSpPr>
          <p:cNvPr id="23" name="TextBox 22"/>
          <p:cNvSpPr txBox="1"/>
          <p:nvPr/>
        </p:nvSpPr>
        <p:spPr>
          <a:xfrm>
            <a:off x="2286000" y="4023360"/>
            <a:ext cx="2286000" cy="320040"/>
          </a:xfrm>
          <a:prstGeom prst="rect">
            <a:avLst/>
          </a:prstGeom>
          <a:noFill/>
        </p:spPr>
        <p:txBody>
          <a:bodyPr wrap="square">
            <a:spAutoFit/>
          </a:bodyPr>
          <a:lstStyle/>
          <a:p>
            <a:pPr algn="l">
              <a:spcAft>
                <a:spcPts val="0"/>
              </a:spcAft>
              <a:defRPr sz="1600" b="1" i="0">
                <a:solidFill>
                  <a:srgbClr val="E8D5B7"/>
                </a:solidFill>
                <a:latin typeface="Calibri"/>
              </a:defRPr>
            </a:pPr>
            <a:r>
              <a:t>Worktrees</a:t>
            </a:r>
          </a:p>
        </p:txBody>
      </p:sp>
      <p:sp>
        <p:nvSpPr>
          <p:cNvPr id="24" name="TextBox 23"/>
          <p:cNvSpPr txBox="1"/>
          <p:nvPr/>
        </p:nvSpPr>
        <p:spPr>
          <a:xfrm>
            <a:off x="4754880" y="4023360"/>
            <a:ext cx="6400800" cy="320040"/>
          </a:xfrm>
          <a:prstGeom prst="rect">
            <a:avLst/>
          </a:prstGeom>
          <a:noFill/>
        </p:spPr>
        <p:txBody>
          <a:bodyPr wrap="square">
            <a:spAutoFit/>
          </a:bodyPr>
          <a:lstStyle/>
          <a:p>
            <a:pPr algn="l">
              <a:spcAft>
                <a:spcPts val="0"/>
              </a:spcAft>
              <a:defRPr sz="1400" b="0" i="0">
                <a:solidFill>
                  <a:srgbClr val="C4A882"/>
                </a:solidFill>
                <a:latin typeface="Calibri"/>
              </a:defRPr>
            </a:pPr>
            <a:r>
              <a:t>Parallel isolated sessions, file-level isolation</a:t>
            </a:r>
          </a:p>
        </p:txBody>
      </p:sp>
      <p:sp>
        <p:nvSpPr>
          <p:cNvPr id="25" name="Rounded Rectangle 24"/>
          <p:cNvSpPr/>
          <p:nvPr/>
        </p:nvSpPr>
        <p:spPr>
          <a:xfrm>
            <a:off x="731520" y="4526280"/>
            <a:ext cx="10698480" cy="731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60120" y="46634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61288" y="46634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62456" y="46634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4892040"/>
            <a:ext cx="1097280" cy="320040"/>
          </a:xfrm>
          <a:prstGeom prst="rect">
            <a:avLst/>
          </a:prstGeom>
          <a:noFill/>
        </p:spPr>
        <p:txBody>
          <a:bodyPr wrap="square">
            <a:spAutoFit/>
          </a:bodyPr>
          <a:lstStyle/>
          <a:p>
            <a:pPr algn="l">
              <a:spcAft>
                <a:spcPts val="0"/>
              </a:spcAft>
              <a:defRPr sz="1400" b="1" i="0">
                <a:solidFill>
                  <a:srgbClr val="D4886B"/>
                </a:solidFill>
                <a:latin typeface="Calibri"/>
              </a:defRPr>
            </a:pPr>
            <a:r>
              <a:t>Level 3</a:t>
            </a:r>
          </a:p>
        </p:txBody>
      </p:sp>
      <p:sp>
        <p:nvSpPr>
          <p:cNvPr id="30" name="TextBox 29"/>
          <p:cNvSpPr txBox="1"/>
          <p:nvPr/>
        </p:nvSpPr>
        <p:spPr>
          <a:xfrm>
            <a:off x="2286000" y="4892040"/>
            <a:ext cx="2286000" cy="320040"/>
          </a:xfrm>
          <a:prstGeom prst="rect">
            <a:avLst/>
          </a:prstGeom>
          <a:noFill/>
        </p:spPr>
        <p:txBody>
          <a:bodyPr wrap="square">
            <a:spAutoFit/>
          </a:bodyPr>
          <a:lstStyle/>
          <a:p>
            <a:pPr algn="l">
              <a:spcAft>
                <a:spcPts val="0"/>
              </a:spcAft>
              <a:defRPr sz="1600" b="1" i="0">
                <a:solidFill>
                  <a:srgbClr val="E8D5B7"/>
                </a:solidFill>
                <a:latin typeface="Calibri"/>
              </a:defRPr>
            </a:pPr>
            <a:r>
              <a:t>Agent Teams</a:t>
            </a:r>
          </a:p>
        </p:txBody>
      </p:sp>
      <p:sp>
        <p:nvSpPr>
          <p:cNvPr id="31" name="TextBox 30"/>
          <p:cNvSpPr txBox="1"/>
          <p:nvPr/>
        </p:nvSpPr>
        <p:spPr>
          <a:xfrm>
            <a:off x="4754880" y="4892040"/>
            <a:ext cx="6400800" cy="320040"/>
          </a:xfrm>
          <a:prstGeom prst="rect">
            <a:avLst/>
          </a:prstGeom>
          <a:noFill/>
        </p:spPr>
        <p:txBody>
          <a:bodyPr wrap="square">
            <a:spAutoFit/>
          </a:bodyPr>
          <a:lstStyle/>
          <a:p>
            <a:pPr algn="l">
              <a:spcAft>
                <a:spcPts val="0"/>
              </a:spcAft>
              <a:defRPr sz="1400" b="0" i="0">
                <a:solidFill>
                  <a:srgbClr val="C4A882"/>
                </a:solidFill>
                <a:latin typeface="Calibri"/>
              </a:defRPr>
            </a:pPr>
            <a:r>
              <a:t>Coordinated multi-agent with peer messaging</a:t>
            </a:r>
          </a:p>
        </p:txBody>
      </p:sp>
      <p:sp>
        <p:nvSpPr>
          <p:cNvPr id="32" name="Rounded Rectangle 31"/>
          <p:cNvSpPr/>
          <p:nvPr/>
        </p:nvSpPr>
        <p:spPr>
          <a:xfrm>
            <a:off x="731520" y="5577840"/>
            <a:ext cx="10698480" cy="7772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60120" y="5715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61288" y="5715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362456" y="5715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645920" y="565099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37" name="TextBox 36"/>
          <p:cNvSpPr txBox="1"/>
          <p:nvPr/>
        </p:nvSpPr>
        <p:spPr>
          <a:xfrm>
            <a:off x="1005840" y="5856732"/>
            <a:ext cx="10241280" cy="365760"/>
          </a:xfrm>
          <a:prstGeom prst="rect">
            <a:avLst/>
          </a:prstGeom>
          <a:noFill/>
        </p:spPr>
        <p:txBody>
          <a:bodyPr wrap="square">
            <a:spAutoFit/>
          </a:bodyPr>
          <a:lstStyle/>
          <a:p>
            <a:pPr algn="l">
              <a:spcAft>
                <a:spcPts val="0"/>
              </a:spcAft>
              <a:defRPr sz="1400" b="0" i="0">
                <a:solidFill>
                  <a:srgbClr val="E8D5B7"/>
                </a:solidFill>
                <a:latin typeface="Calibri"/>
              </a:defRPr>
            </a:pPr>
            <a:r>
              <a:rPr dirty="0" err="1"/>
              <a:t>Worktrees</a:t>
            </a:r>
            <a:r>
              <a:rPr dirty="0"/>
              <a:t> are the file-isolation layer that makes all other parallelism safe. Sub-agents and agent teams both use </a:t>
            </a:r>
            <a:r>
              <a:rPr dirty="0" err="1"/>
              <a:t>worktrees</a:t>
            </a:r>
            <a:r>
              <a:rPr dirty="0"/>
              <a:t> under the hood for conflict-free editing.</a:t>
            </a:r>
          </a:p>
        </p:txBody>
      </p:sp>
      <p:sp>
        <p:nvSpPr>
          <p:cNvPr id="38" name="TextBox 3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5156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188720"/>
            <a:ext cx="10515600" cy="731520"/>
          </a:xfrm>
          <a:prstGeom prst="rect">
            <a:avLst/>
          </a:prstGeom>
          <a:noFill/>
        </p:spPr>
        <p:txBody>
          <a:bodyPr wrap="square">
            <a:spAutoFit/>
          </a:bodyPr>
          <a:lstStyle/>
          <a:p>
            <a:pPr algn="l">
              <a:spcAft>
                <a:spcPts val="0"/>
              </a:spcAft>
              <a:defRPr sz="4400" b="0" i="0">
                <a:solidFill>
                  <a:srgbClr val="E8D5B7"/>
                </a:solidFill>
                <a:latin typeface="Georgia"/>
              </a:defRPr>
            </a:pPr>
            <a:r>
              <a:t>Why Worktrees Matter</a:t>
            </a:r>
          </a:p>
        </p:txBody>
      </p:sp>
      <p:sp>
        <p:nvSpPr>
          <p:cNvPr id="4" name="Rectangle 3"/>
          <p:cNvSpPr/>
          <p:nvPr/>
        </p:nvSpPr>
        <p:spPr>
          <a:xfrm>
            <a:off x="731520" y="2011680"/>
            <a:ext cx="27432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237744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33172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Elimination of Context Switching</a:t>
            </a:r>
          </a:p>
        </p:txBody>
      </p:sp>
      <p:sp>
        <p:nvSpPr>
          <p:cNvPr id="7" name="TextBox 6"/>
          <p:cNvSpPr txBox="1"/>
          <p:nvPr/>
        </p:nvSpPr>
        <p:spPr>
          <a:xfrm>
            <a:off x="1188720" y="274320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No more stash-switch-unstash. Each task gets a persistent isolated workspace. True parallel development with zero collision risk.</a:t>
            </a:r>
          </a:p>
        </p:txBody>
      </p:sp>
      <p:sp>
        <p:nvSpPr>
          <p:cNvPr id="8" name="Rectangle 7"/>
          <p:cNvSpPr/>
          <p:nvPr/>
        </p:nvSpPr>
        <p:spPr>
          <a:xfrm>
            <a:off x="914400" y="342900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338328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The Foundation of Parallelism</a:t>
            </a:r>
          </a:p>
        </p:txBody>
      </p:sp>
      <p:sp>
        <p:nvSpPr>
          <p:cNvPr id="10" name="TextBox 9"/>
          <p:cNvSpPr txBox="1"/>
          <p:nvPr/>
        </p:nvSpPr>
        <p:spPr>
          <a:xfrm>
            <a:off x="1188720" y="379476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Worktrees provide the file-isolation layer that makes sub-agents and agent teams safe. They are the enabling infrastructure for multi-agent development.</a:t>
            </a:r>
          </a:p>
        </p:txBody>
      </p:sp>
      <p:sp>
        <p:nvSpPr>
          <p:cNvPr id="11" name="Rectangle 10"/>
          <p:cNvSpPr/>
          <p:nvPr/>
        </p:nvSpPr>
        <p:spPr>
          <a:xfrm>
            <a:off x="914400" y="448056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443484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One-Command Simplicity</a:t>
            </a:r>
          </a:p>
        </p:txBody>
      </p:sp>
      <p:sp>
        <p:nvSpPr>
          <p:cNvPr id="13" name="TextBox 12"/>
          <p:cNvSpPr txBox="1"/>
          <p:nvPr/>
        </p:nvSpPr>
        <p:spPr>
          <a:xfrm>
            <a:off x="1188720" y="484632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claude --worktree feature-name. That's it. Auto-branching, auto-cleanup, available across CLI, Desktop, IDE, web, and mobile.</a:t>
            </a:r>
          </a:p>
        </p:txBody>
      </p:sp>
      <p:sp>
        <p:nvSpPr>
          <p:cNvPr id="14" name="Rectangle 13"/>
          <p:cNvSpPr/>
          <p:nvPr/>
        </p:nvSpPr>
        <p:spPr>
          <a:xfrm>
            <a:off x="914400" y="5486400"/>
            <a:ext cx="100584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623560"/>
            <a:ext cx="10241280" cy="548640"/>
          </a:xfrm>
          <a:prstGeom prst="rect">
            <a:avLst/>
          </a:prstGeom>
          <a:noFill/>
        </p:spPr>
        <p:txBody>
          <a:bodyPr wrap="square">
            <a:spAutoFit/>
          </a:bodyPr>
          <a:lstStyle/>
          <a:p>
            <a:pPr algn="l">
              <a:spcAft>
                <a:spcPts val="0"/>
              </a:spcAft>
              <a:defRPr sz="1400" b="0" i="1">
                <a:solidFill>
                  <a:srgbClr val="D4886B"/>
                </a:solidFill>
                <a:latin typeface="Calibri"/>
              </a:defRPr>
            </a:pPr>
            <a:r>
              <a:t>claude --worktree  |  Available since February 2026  |  Built on git worktree</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2242</Words>
  <Application>Microsoft Macintosh PowerPoint</Application>
  <PresentationFormat>Widescreen</PresentationFormat>
  <Paragraphs>257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5</cp:revision>
  <dcterms:created xsi:type="dcterms:W3CDTF">2013-01-27T09:14:16Z</dcterms:created>
  <dcterms:modified xsi:type="dcterms:W3CDTF">2026-02-27T08:30:57Z</dcterms:modified>
  <cp:category/>
</cp:coreProperties>
</file>