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3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4050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Title Slide:</a:t>
            </a:r>
          </a:p>
          <a:p>
            <a:endParaRPr/>
          </a:p>
          <a:p>
            <a:r>
              <a:t>Welcome to Episode 7 of The Claude Beast series. Today we're diving into four powerful workflow plugins that are transforming how developers work with AI coding agents.</a:t>
            </a:r>
          </a:p>
          <a:p>
            <a:endParaRPr/>
          </a:p>
          <a:p>
            <a:r>
              <a:t>We'll cover Superpowers, GSD (Get Shit Done), OpenSpec, and Spec Kit -- four tools that represent the emerging ecosystem of structured development workflows for Claude Code and other AI agents.</a:t>
            </a:r>
          </a:p>
          <a:p>
            <a:endParaRPr/>
          </a:p>
          <a:p>
            <a:r>
              <a:t>Combined, these projects have accumulated over 175,000 GitHub stars in just a few months, signaling a massive shift in how the developer community thinks about AI-assisted coding.</a:t>
            </a:r>
          </a:p>
          <a:p>
            <a:endParaRPr/>
          </a:p>
          <a:p>
            <a:r>
              <a:t>The core thesis: unstructured "vibe coding" is dead. Spec-driven development is the new paradigm.</a:t>
            </a:r>
          </a:p>
          <a:p>
            <a:endParaRPr/>
          </a:p>
          <a:p>
            <a:r>
              <a:t>Transition: Let's start with why this matters -- the problem all four tools are trying to solve.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The End of Vibe Coding:</a:t>
            </a:r>
          </a:p>
          <a:p>
            <a:endParaRPr/>
          </a:p>
          <a:p>
            <a:r>
              <a:t>All four tools we're covering today position themselves as the antidote to unstructured AI coding -- what the community calls "vibe coding."</a:t>
            </a:r>
          </a:p>
          <a:p>
            <a:endParaRPr/>
          </a:p>
          <a:p>
            <a:r>
              <a:t>The problems are well-documented: Context rot happens when your AI agent fills its 200K token context window with accumulated conversation history, old code, and irrelevant details. The quality of its output degrades progressively.</a:t>
            </a:r>
          </a:p>
          <a:p>
            <a:endParaRPr/>
          </a:p>
          <a:p>
            <a:r>
              <a:t>Intent drift is subtler -- over a long session, the AI gradually loses track of your original goal and starts optimizing for local concerns rather than the big picture.</a:t>
            </a:r>
          </a:p>
          <a:p>
            <a:endParaRPr/>
          </a:p>
          <a:p>
            <a:r>
              <a:t>Without enforced testing workflows, you get the "it works on my machine" problem amplified by AI -- code that passes a quick check but breaks in edge cases.</a:t>
            </a:r>
          </a:p>
          <a:p>
            <a:endParaRPr/>
          </a:p>
          <a:p>
            <a:r>
              <a:t>The consensus across all four projects: you need a shared source of truth -- a specification -- that keeps both human and AI aligned throughout the development process.</a:t>
            </a:r>
          </a:p>
          <a:p>
            <a:endParaRPr/>
          </a:p>
          <a:p>
            <a:r>
              <a:t>Transition: Let's look at the first solution -- Superpowers, which takes the most opinionated approach to solving these problems.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Superpowers:</a:t>
            </a:r>
          </a:p>
          <a:p>
            <a:endParaRPr/>
          </a:p>
          <a:p>
            <a:r>
              <a:t>Superpowers is Jesse Vincent's complete software development workflow for AI agents. With nearly 60,000 stars, it's the most established methodology-focused tool.</a:t>
            </a:r>
          </a:p>
          <a:p>
            <a:endParaRPr/>
          </a:p>
          <a:p>
            <a:r>
              <a:t>The key differentiator is enforcement. Unlike tools that suggest best practices, Superpowers literally prevents the AI from writing implementation code before tests exist. If Claude writes code before a test, the skill forces it to delete the code and start over.</a:t>
            </a:r>
          </a:p>
          <a:p>
            <a:endParaRPr/>
          </a:p>
          <a:p>
            <a:r>
              <a:t>The 7-phase workflow is rigid by design: you brainstorm first through Socratic questioning, then create an isolated git worktree, write detailed plans, execute with fresh subagents per task, follow RED-GREEN-REFACTOR TDD, get code review between tasks, and finally merge or create a PR.</a:t>
            </a:r>
          </a:p>
          <a:p>
            <a:endParaRPr/>
          </a:p>
          <a:p>
            <a:r>
              <a:t>The subagent architecture is the critical innovation. When building a feature that touches 15+ files, a single agent's context window fills up fast. Superpowers dispatches a fresh subagent for each task -- each gets a clean 200K-token context with only the information it needs.</a:t>
            </a:r>
          </a:p>
          <a:p>
            <a:endParaRPr/>
          </a:p>
          <a:p>
            <a:r>
              <a:t>The marketplace ecosystem adds browser automation, episodic memory, writing guidance, and more.</a:t>
            </a:r>
          </a:p>
          <a:p>
            <a:endParaRPr/>
          </a:p>
          <a:p>
            <a:r>
              <a:t>Best for: Large multi-file features where quality and test coverage are non-negotiable.</a:t>
            </a:r>
          </a:p>
          <a:p>
            <a:endParaRPr/>
          </a:p>
          <a:p>
            <a:r>
              <a:t>Transition: Next, let's look at GSD, which takes a lighter-weight approach focused on speed and context engineering.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GSD:</a:t>
            </a:r>
          </a:p>
          <a:p>
            <a:endParaRPr/>
          </a:p>
          <a:p>
            <a:r>
              <a:t>GSD, or "Get Shit Done," is the fastest-growing Claude Code plugin -- from zero to nearly 20,000 stars in just two months.</a:t>
            </a:r>
          </a:p>
          <a:p>
            <a:endParaRPr/>
          </a:p>
          <a:p>
            <a:r>
              <a:t>The creator's philosophy is refreshingly honest: "I'm not a 50-person software company. I don't want to play enterprise theater. I'm just a creative person trying to build great things that work."</a:t>
            </a:r>
          </a:p>
          <a:p>
            <a:endParaRPr/>
          </a:p>
          <a:p>
            <a:r>
              <a:t>GSD's core innovation is context engineering through structured files. Instead of one massive prompt, GSD breaks your project into PROJECT.md for vision, REQUIREMENTS.md for scope, ROADMAP.md for direction, STATE.md for decisions and memory across sessions, and PLAN.md for atomic tasks with XML structure.</a:t>
            </a:r>
          </a:p>
          <a:p>
            <a:endParaRPr/>
          </a:p>
          <a:p>
            <a:r>
              <a:t>The wave execution model is clever: plans are grouped into waves based on dependencies. Independent plans run in parallel within a wave, each getting a fresh 200K-token context. The main orchestrator stays at only 30-40% context utilization.</a:t>
            </a:r>
          </a:p>
          <a:p>
            <a:endParaRPr/>
          </a:p>
          <a:p>
            <a:r>
              <a:t>Model profiles let you optimize cost: use Opus for planning (where accuracy matters most) and Sonnet for execution (where speed matters). Budget mode uses Sonnet and Haiku for maximum throughput.</a:t>
            </a:r>
          </a:p>
          <a:p>
            <a:endParaRPr/>
          </a:p>
          <a:p>
            <a:r>
              <a:t>The /gsd:quick command lets you bypass the full ceremony for small tasks, which is important for practical daily use.</a:t>
            </a:r>
          </a:p>
          <a:p>
            <a:endParaRPr/>
          </a:p>
          <a:p>
            <a:r>
              <a:t>Transition: Now let's look at OpenSpec, which takes a fundamentally different approach -- specs first, tools second.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OpenSpec:</a:t>
            </a:r>
          </a:p>
          <a:p>
            <a:endParaRPr/>
          </a:p>
          <a:p>
            <a:r>
              <a:t>OpenSpec is the lightweight champion of this group. Created by Fission AI, it's explicitly designed for brownfield development -- working with existing codebases, not just greenfield projects.</a:t>
            </a:r>
          </a:p>
          <a:p>
            <a:endParaRPr/>
          </a:p>
          <a:p>
            <a:r>
              <a:t>The design philosophy is captured in five words: fluid, iterative, easy, brownfield, scalable. Where other tools add ceremony, OpenSpec strips it away. You only need three commands: propose your change, apply it, then archive the specs.</a:t>
            </a:r>
          </a:p>
          <a:p>
            <a:endParaRPr/>
          </a:p>
          <a:p>
            <a:r>
              <a:t>The change isolation model is elegant. Each change gets its own folder under the changes/ directory, containing a proposal, design document, tasks, and spec deltas. Multiple changes can be in flight simultaneously without interfering with each other. Only after implementation and verification do the deltas merge into the main specs/ directory.</a:t>
            </a:r>
          </a:p>
          <a:p>
            <a:endParaRPr/>
          </a:p>
          <a:p>
            <a:r>
              <a:t>Specs use the GIVEN/WHEN/THEN behavioral format, which is familiar to anyone who's done BDD. Each spec delta is typed as ADDED, MODIFIED, or REMOVED, making it clear what's changing.</a:t>
            </a:r>
          </a:p>
          <a:p>
            <a:endParaRPr/>
          </a:p>
          <a:p>
            <a:r>
              <a:t>At roughly 250 lines per change versus 800 for Spec Kit, OpenSpec is dramatically more concise. Specs stay under 2,000 tokens, leaving maximum context budget for actual implementation.</a:t>
            </a:r>
          </a:p>
          <a:p>
            <a:endParaRPr/>
          </a:p>
          <a:p>
            <a:r>
              <a:t>OpenSpec also has a "retrofitting" mode that can reverse-engineer existing code into baseline specs -- crucial for legacy codebases.</a:t>
            </a:r>
          </a:p>
          <a:p>
            <a:endParaRPr/>
          </a:p>
          <a:p>
            <a:r>
              <a:t>Transition: Finally, let's look at the biggest player -- GitHub's official Spec Kit.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Spec Kit:</a:t>
            </a:r>
          </a:p>
          <a:p>
            <a:endParaRPr/>
          </a:p>
          <a:p>
            <a:r>
              <a:t>Spec Kit is the heavyweight of this group -- GitHub's official open-source toolkit for spec-driven development, with over 71,000 stars making it the largest project of the four.</a:t>
            </a:r>
          </a:p>
          <a:p>
            <a:endParaRPr/>
          </a:p>
          <a:p>
            <a:r>
              <a:t>The core idea is transformative: specifications become executable artifacts that directly generate working implementations. You don't write a spec and set it aside -- the spec drives everything.</a:t>
            </a:r>
          </a:p>
          <a:p>
            <a:endParaRPr/>
          </a:p>
          <a:p>
            <a:r>
              <a:t>The 6-phase workflow is the most comprehensive: First, you establish a Constitution with immutable project principles. Then you write product specifications focused on the what and why. The Clarify phase resolves all ambiguities. Plan creates the technical architecture. Tasks breaks it into actionable items with dependency management. And Implement executes in order.</a:t>
            </a:r>
          </a:p>
          <a:p>
            <a:endParaRPr/>
          </a:p>
          <a:p>
            <a:r>
              <a:t>The Constitution concept is unique to Spec Kit. It establishes 9 immutable principles like Library-First (reusable logic in libraries, not UI code), Test-First (tests before implementation), Anti-Abstraction (don't abstract until you have 3+ cases), and Minimal Scope (implement exactly what's specified).</a:t>
            </a:r>
          </a:p>
          <a:p>
            <a:endParaRPr/>
          </a:p>
          <a:p>
            <a:r>
              <a:t>Traceability is a standout feature. Every line of implementation code links back to its spec via code comments: @spec SPEC-001, @task T3, @acceptance. This enables spec coverage analysis -- you can see which specs are implemented, what code changes when a spec changes, and why any piece of code was written.</a:t>
            </a:r>
          </a:p>
          <a:p>
            <a:endParaRPr/>
          </a:p>
          <a:p>
            <a:r>
              <a:t>Transition: Let's now compare all four tools side by side.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Comparison Matrix:</a:t>
            </a:r>
          </a:p>
          <a:p>
            <a:endParaRPr/>
          </a:p>
          <a:p>
            <a:r>
              <a:t>Let's walk through the key differences.</a:t>
            </a:r>
          </a:p>
          <a:p>
            <a:endParaRPr/>
          </a:p>
          <a:p>
            <a:r>
              <a:t>Stars and adoption: Spec Kit leads with 71K stars, backed by GitHub's brand. Superpowers is second at 60K. GSD is the youngest but fastest-growing at nearly 20K stars in just 2 months.</a:t>
            </a:r>
          </a:p>
          <a:p>
            <a:endParaRPr/>
          </a:p>
          <a:p>
            <a:r>
              <a:t>Core strength is where they truly diverge: Superpowers enforces TDD with subagent isolation. GSD focuses on context engineering with wave-based parallel execution. OpenSpec keeps things lightweight with brownfield-first specs. Spec Kit provides the most comprehensive governance framework.</a:t>
            </a:r>
          </a:p>
          <a:p>
            <a:endParaRPr/>
          </a:p>
          <a:p>
            <a:r>
              <a:t>Ceremony level matters for daily use. OpenSpec is the lightest -- just 3 core commands. GSD is medium-low with a quick mode for bypassing ceremony. Superpowers is medium with its 7-phase workflow. Spec Kit is the highest ceremony with 6 phases plus a constitution.</a:t>
            </a:r>
          </a:p>
          <a:p>
            <a:endParaRPr/>
          </a:p>
          <a:p>
            <a:r>
              <a:t>TDD is a critical differentiator. Only Superpowers enforces it mechanically -- the agent literally cannot skip tests. Spec Kit has it as a principle. GSD and OpenSpec leave it to the developer.</a:t>
            </a:r>
          </a:p>
          <a:p>
            <a:endParaRPr/>
          </a:p>
          <a:p>
            <a:r>
              <a:t>Runtime support: OpenSpec and Spec Kit work with 20+ AI tools. Superpowers and GSD support 4 tools each but cover the most popular ones.</a:t>
            </a:r>
          </a:p>
          <a:p>
            <a:endParaRPr/>
          </a:p>
          <a:p>
            <a:r>
              <a:t>Transition: So which tool should you pick? Let's talk about the right tool for the right job.</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Choosing the Right Tool:</a:t>
            </a:r>
          </a:p>
          <a:p>
            <a:endParaRPr/>
          </a:p>
          <a:p>
            <a:r>
              <a:t>This is the practical slide. No single tool is best for every situation.</a:t>
            </a:r>
          </a:p>
          <a:p>
            <a:endParaRPr/>
          </a:p>
          <a:p>
            <a:r>
              <a:t>If you're a solo developer or small team that wants to move fast, GSD and OpenSpec are your best bets. GSD's quick mode lets you bypass ceremony for small tasks, and OpenSpec's 3-command workflow keeps overhead minimal.</a:t>
            </a:r>
          </a:p>
          <a:p>
            <a:endParaRPr/>
          </a:p>
          <a:p>
            <a:r>
              <a:t>For large features spanning multiple files, Superpowers shines. The subagent architecture prevents context rot on 15+ file features, and mandatory TDD catches regressions before they compound.</a:t>
            </a:r>
          </a:p>
          <a:p>
            <a:endParaRPr/>
          </a:p>
          <a:p>
            <a:r>
              <a:t>For enterprise teams that need governance, compliance, and audit trails, Spec Kit is the clear choice. The constitution establishes immutable principles, traceability comments link every line to a spec, and validation reports give visibility into coverage.</a:t>
            </a:r>
          </a:p>
          <a:p>
            <a:endParaRPr/>
          </a:p>
          <a:p>
            <a:r>
              <a:t>For brownfield or legacy codebases, OpenSpec is purpose-built for this. Its retrofitting mode can reverse-engineer existing code into baseline specs, and the change isolation model prevents spec conflicts.</a:t>
            </a:r>
          </a:p>
          <a:p>
            <a:endParaRPr/>
          </a:p>
          <a:p>
            <a:r>
              <a:t>And if you care deeply about test-driven development, only Superpowers mechanically enforces it. The other tools encourage or support TDD, but Superpowers makes it impossible to skip.</a:t>
            </a:r>
          </a:p>
          <a:p>
            <a:endParaRPr/>
          </a:p>
          <a:p>
            <a:r>
              <a:t>Many developers actually combine tools -- using OpenSpec for spec management and Superpowers for execution, for example.</a:t>
            </a:r>
          </a:p>
          <a:p>
            <a:endParaRPr/>
          </a:p>
          <a:p>
            <a:r>
              <a:t>Transition: Let's zoom out and talk about the bigger picture -- what these tools tell us about the future of AI-assisted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Key Themes:</a:t>
            </a:r>
          </a:p>
          <a:p>
            <a:endParaRPr/>
          </a:p>
          <a:p>
            <a:r>
              <a:t>Stepping back, these four tools tell a consistent story about where AI-assisted development is heading.</a:t>
            </a:r>
          </a:p>
          <a:p>
            <a:endParaRPr/>
          </a:p>
          <a:p>
            <a:r>
              <a:t>First, the biggest conceptual shift: the source of truth is moving from code to intent. Instead of code being the canonical representation of what your software does, specifications become the source of truth that drives both implementation and verification.</a:t>
            </a:r>
          </a:p>
          <a:p>
            <a:endParaRPr/>
          </a:p>
          <a:p>
            <a:r>
              <a:t>Second, context engineering has emerged as a critical discipline. The biggest technical innovation across these tools is context management. Superpowers and GSD use subagent architectures where each task gets a fresh 200K-token context. OpenSpec and Spec Kit keep specs lean and focused to minimize context pollution.</a:t>
            </a:r>
          </a:p>
          <a:p>
            <a:endParaRPr/>
          </a:p>
          <a:p>
            <a:r>
              <a:t>Third, specs are becoming living, executable documents. They're not something you write once and forget -- they drive implementation, generate task lists, enable traceability, and serve as the basis for verification.</a:t>
            </a:r>
          </a:p>
          <a:p>
            <a:endParaRPr/>
          </a:p>
          <a:p>
            <a:r>
              <a:t>The adoption numbers are staggering. Over 175,000 combined GitHub stars, all for projects created between August and December 2025. This is an ecosystem that barely existed 6 months ago.</a:t>
            </a:r>
          </a:p>
          <a:p>
            <a:endParaRPr/>
          </a:p>
          <a:p>
            <a:r>
              <a:t>Perhaps most telling is the convergent evolution. These are independent teams that arrived at the same conclusion: structured, spec-driven workflows dramatically outperform ad-hoc prompting for anything beyond trivial tasks.</a:t>
            </a:r>
          </a:p>
          <a:p>
            <a:endParaRPr/>
          </a:p>
          <a:p>
            <a:r>
              <a:t>Transition: Let's wrap up with key takeaways and next steps.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Takeaways &amp; Next Steps:</a:t>
            </a:r>
          </a:p>
          <a:p>
            <a:endParaRPr/>
          </a:p>
          <a:p>
            <a:r>
              <a:t>Let me leave you with four key takeaways.</a:t>
            </a:r>
          </a:p>
          <a:p>
            <a:endParaRPr/>
          </a:p>
          <a:p>
            <a:r>
              <a:t>One: Vibe coding -- iteratively prompting an AI without structure -- is over for anything serious. The developer community has spoken with 175,000+ GitHub stars: structured workflows win.</a:t>
            </a:r>
          </a:p>
          <a:p>
            <a:endParaRPr/>
          </a:p>
          <a:p>
            <a:r>
              <a:t>Two: Spec-driven development makes AI output reliable and reproducible. When you have a specification as your source of truth, the AI knows exactly what to build, and you know exactly how to verify it.</a:t>
            </a:r>
          </a:p>
          <a:p>
            <a:endParaRPr/>
          </a:p>
          <a:p>
            <a:r>
              <a:t>Three: Context engineering prevents the number one failure mode of AI coding. Whether it's subagent architectures or lean specs, keeping the AI's context window clean is the single most impactful technique.</a:t>
            </a:r>
          </a:p>
          <a:p>
            <a:endParaRPr/>
          </a:p>
          <a:p>
            <a:r>
              <a:t>Four: This ecosystem is barely 6 months old and evolving rapidly. New releases come every few days. Adopt early, experiment, and iterate.</a:t>
            </a:r>
          </a:p>
          <a:p>
            <a:endParaRPr/>
          </a:p>
          <a:p>
            <a:r>
              <a:t>For next steps, I encourage you to pick one tool and try it on your next feature. All four are free, open source, and MIT licensed. The install commands are on screen.</a:t>
            </a:r>
          </a:p>
          <a:p>
            <a:endParaRPr/>
          </a:p>
          <a:p>
            <a:r>
              <a:t>If you're not sure which to start with: OpenSpec for simplicity, GSD for speed, Superpowers for quality, Spec Kit for governance.</a:t>
            </a:r>
          </a:p>
          <a:p>
            <a:endParaRPr/>
          </a:p>
          <a:p>
            <a:r>
              <a:t>Thank you for watching Episode 7 of The Claude Beast series. Until next time -- stop vibing, start specifying.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SuperPowers / GSD /</a:t>
            </a:r>
            <a:br/>
            <a:r>
              <a:t>OpenSpec / Speckit</a:t>
            </a:r>
          </a:p>
        </p:txBody>
      </p:sp>
      <p:sp>
        <p:nvSpPr>
          <p:cNvPr id="4" name="TextBox 3"/>
          <p:cNvSpPr txBox="1"/>
          <p:nvPr/>
        </p:nvSpPr>
        <p:spPr>
          <a:xfrm>
            <a:off x="731520" y="3560379"/>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rPr dirty="0"/>
              <a:t>Structured Development Workflows for AI Coding Agents</a:t>
            </a:r>
          </a:p>
        </p:txBody>
      </p:sp>
      <p:sp>
        <p:nvSpPr>
          <p:cNvPr id="5" name="Rectangle 4"/>
          <p:cNvSpPr/>
          <p:nvPr/>
        </p:nvSpPr>
        <p:spPr>
          <a:xfrm>
            <a:off x="4130040" y="4370832"/>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651879"/>
            <a:ext cx="10515600" cy="457200"/>
          </a:xfrm>
          <a:prstGeom prst="rect">
            <a:avLst/>
          </a:prstGeom>
          <a:noFill/>
        </p:spPr>
        <p:txBody>
          <a:bodyPr wrap="square">
            <a:spAutoFit/>
          </a:bodyPr>
          <a:lstStyle/>
          <a:p>
            <a:pPr algn="ctr">
              <a:spcAft>
                <a:spcPts val="0"/>
              </a:spcAft>
              <a:defRPr sz="1600" b="0" i="1">
                <a:solidFill>
                  <a:srgbClr val="D4886B"/>
                </a:solidFill>
                <a:latin typeface="Calibri"/>
              </a:defRPr>
            </a:pPr>
            <a:r>
              <a:rPr dirty="0"/>
              <a:t>Episode 07  |  The Claude Beast Series  |  February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3254525" y="676432"/>
            <a:ext cx="5469584" cy="615553"/>
          </a:xfrm>
          <a:prstGeom prst="rect">
            <a:avLst/>
          </a:prstGeom>
          <a:noFill/>
        </p:spPr>
        <p:txBody>
          <a:bodyPr wrap="square">
            <a:spAutoFit/>
          </a:bodyPr>
          <a:lstStyle/>
          <a:p>
            <a:pPr algn="ctr">
              <a:spcAft>
                <a:spcPts val="0"/>
              </a:spcAft>
              <a:defRPr sz="3400" b="0" i="0">
                <a:solidFill>
                  <a:srgbClr val="E8D5B7"/>
                </a:solidFill>
                <a:latin typeface="Georgia"/>
              </a:defRPr>
            </a:pPr>
            <a:r>
              <a:rPr dirty="0"/>
              <a:t>The End of "Vibe Coding"</a:t>
            </a:r>
          </a:p>
        </p:txBody>
      </p:sp>
      <p:sp>
        <p:nvSpPr>
          <p:cNvPr id="3" name="TextBox 2"/>
          <p:cNvSpPr txBox="1"/>
          <p:nvPr/>
        </p:nvSpPr>
        <p:spPr>
          <a:xfrm>
            <a:off x="3825763" y="1291985"/>
            <a:ext cx="4540469" cy="307777"/>
          </a:xfrm>
          <a:prstGeom prst="rect">
            <a:avLst/>
          </a:prstGeom>
          <a:noFill/>
        </p:spPr>
        <p:txBody>
          <a:bodyPr wrap="square">
            <a:spAutoFit/>
          </a:bodyPr>
          <a:lstStyle/>
          <a:p>
            <a:pPr algn="ctr">
              <a:spcAft>
                <a:spcPts val="0"/>
              </a:spcAft>
              <a:defRPr sz="1400" b="0" i="1">
                <a:solidFill>
                  <a:srgbClr val="D4886B"/>
                </a:solidFill>
                <a:latin typeface="Calibri"/>
              </a:defRPr>
            </a:pPr>
            <a:r>
              <a:rPr dirty="0"/>
              <a:t>Why unstructured AI coding fails at scale</a:t>
            </a:r>
          </a:p>
        </p:txBody>
      </p:sp>
      <p:sp>
        <p:nvSpPr>
          <p:cNvPr id="4" name="TextBox 3"/>
          <p:cNvSpPr txBox="1"/>
          <p:nvPr/>
        </p:nvSpPr>
        <p:spPr>
          <a:xfrm>
            <a:off x="2243694" y="2421032"/>
            <a:ext cx="7704609" cy="2015936"/>
          </a:xfrm>
          <a:prstGeom prst="rect">
            <a:avLst/>
          </a:prstGeom>
          <a:noFill/>
        </p:spPr>
        <p:txBody>
          <a:bodyPr wrap="square">
            <a:spAutoFit/>
          </a:bodyPr>
          <a:lstStyle/>
          <a:p>
            <a:pPr>
              <a:spcBef>
                <a:spcPts val="200"/>
              </a:spcBef>
              <a:spcAft>
                <a:spcPts val="1000"/>
              </a:spcAft>
            </a:pPr>
            <a:r>
              <a:rPr sz="1700" dirty="0">
                <a:solidFill>
                  <a:srgbClr val="D4886B"/>
                </a:solidFill>
                <a:latin typeface="Calibri"/>
              </a:rPr>
              <a:t>  –  </a:t>
            </a:r>
            <a:r>
              <a:rPr sz="1700" b="1" dirty="0">
                <a:solidFill>
                  <a:srgbClr val="E8D5B7"/>
                </a:solidFill>
                <a:latin typeface="Calibri"/>
              </a:rPr>
              <a:t>Context Rot</a:t>
            </a:r>
            <a:r>
              <a:rPr sz="1700" dirty="0">
                <a:solidFill>
                  <a:srgbClr val="C4A882"/>
                </a:solidFill>
                <a:latin typeface="Calibri"/>
              </a:rPr>
              <a:t> — Quality degrades as the AI fills its context window with noise</a:t>
            </a:r>
          </a:p>
          <a:p>
            <a:pPr>
              <a:spcBef>
                <a:spcPts val="200"/>
              </a:spcBef>
              <a:spcAft>
                <a:spcPts val="1000"/>
              </a:spcAft>
            </a:pPr>
            <a:r>
              <a:rPr sz="1700" dirty="0">
                <a:solidFill>
                  <a:srgbClr val="D4886B"/>
                </a:solidFill>
                <a:latin typeface="Calibri"/>
              </a:rPr>
              <a:t>  –  </a:t>
            </a:r>
            <a:r>
              <a:rPr sz="1700" b="1" dirty="0">
                <a:solidFill>
                  <a:srgbClr val="E8D5B7"/>
                </a:solidFill>
                <a:latin typeface="Calibri"/>
              </a:rPr>
              <a:t>Intent Drift</a:t>
            </a:r>
            <a:r>
              <a:rPr sz="1700" dirty="0">
                <a:solidFill>
                  <a:srgbClr val="C4A882"/>
                </a:solidFill>
                <a:latin typeface="Calibri"/>
              </a:rPr>
              <a:t> — The AI gradually loses sight of what you actually wanted to build</a:t>
            </a:r>
          </a:p>
          <a:p>
            <a:pPr>
              <a:spcBef>
                <a:spcPts val="200"/>
              </a:spcBef>
              <a:spcAft>
                <a:spcPts val="1000"/>
              </a:spcAft>
            </a:pPr>
            <a:r>
              <a:rPr sz="1700" dirty="0">
                <a:solidFill>
                  <a:srgbClr val="D4886B"/>
                </a:solidFill>
                <a:latin typeface="Calibri"/>
              </a:rPr>
              <a:t>  –  </a:t>
            </a:r>
            <a:r>
              <a:rPr sz="1700" b="1" dirty="0">
                <a:solidFill>
                  <a:srgbClr val="E8D5B7"/>
                </a:solidFill>
                <a:latin typeface="Calibri"/>
              </a:rPr>
              <a:t>Inconsistent Output</a:t>
            </a:r>
            <a:r>
              <a:rPr sz="1700" dirty="0">
                <a:solidFill>
                  <a:srgbClr val="C4A882"/>
                </a:solidFill>
                <a:latin typeface="Calibri"/>
              </a:rPr>
              <a:t> — Same prompt, different results -- no reproducibility</a:t>
            </a:r>
          </a:p>
          <a:p>
            <a:pPr>
              <a:spcBef>
                <a:spcPts val="200"/>
              </a:spcBef>
              <a:spcAft>
                <a:spcPts val="1000"/>
              </a:spcAft>
            </a:pPr>
            <a:r>
              <a:rPr sz="1700" dirty="0">
                <a:solidFill>
                  <a:srgbClr val="D4886B"/>
                </a:solidFill>
                <a:latin typeface="Calibri"/>
              </a:rPr>
              <a:t>  –  </a:t>
            </a:r>
            <a:r>
              <a:rPr sz="1700" b="1" dirty="0">
                <a:solidFill>
                  <a:srgbClr val="E8D5B7"/>
                </a:solidFill>
                <a:latin typeface="Calibri"/>
              </a:rPr>
              <a:t>Poor Test Coverage</a:t>
            </a:r>
            <a:r>
              <a:rPr sz="1700" dirty="0">
                <a:solidFill>
                  <a:srgbClr val="C4A882"/>
                </a:solidFill>
                <a:latin typeface="Calibri"/>
              </a:rPr>
              <a:t> — Without enforced testing, regressions pile up silently</a:t>
            </a:r>
          </a:p>
          <a:p>
            <a:pPr>
              <a:spcBef>
                <a:spcPts val="200"/>
              </a:spcBef>
              <a:spcAft>
                <a:spcPts val="1000"/>
              </a:spcAft>
            </a:pPr>
            <a:r>
              <a:rPr sz="1700" dirty="0">
                <a:solidFill>
                  <a:srgbClr val="D4886B"/>
                </a:solidFill>
                <a:latin typeface="Calibri"/>
              </a:rPr>
              <a:t>  –  </a:t>
            </a:r>
            <a:r>
              <a:rPr sz="1700" b="1" dirty="0">
                <a:solidFill>
                  <a:srgbClr val="E8D5B7"/>
                </a:solidFill>
                <a:latin typeface="Calibri"/>
              </a:rPr>
              <a:t>No Source of Truth</a:t>
            </a:r>
            <a:r>
              <a:rPr sz="1700" dirty="0">
                <a:solidFill>
                  <a:srgbClr val="C4A882"/>
                </a:solidFill>
                <a:latin typeface="Calibri"/>
              </a:rPr>
              <a:t> — Prompting iteratively without shared specs leads to chaos</a:t>
            </a:r>
          </a:p>
        </p:txBody>
      </p:sp>
      <p:sp>
        <p:nvSpPr>
          <p:cNvPr id="5" name="TextBox 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Superpowers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59.8K stars  |  By Jesse Vincent (obra)  |  MIT License  |  Oct 2025</a:t>
            </a:r>
          </a:p>
        </p:txBody>
      </p:sp>
      <p:sp>
        <p:nvSpPr>
          <p:cNvPr id="4" name="TextBox 3"/>
          <p:cNvSpPr txBox="1"/>
          <p:nvPr/>
        </p:nvSpPr>
        <p:spPr>
          <a:xfrm>
            <a:off x="731520" y="1737360"/>
            <a:ext cx="105156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Philosophy</a:t>
            </a:r>
            <a:r>
              <a:rPr sz="1700">
                <a:solidFill>
                  <a:srgbClr val="C4A882"/>
                </a:solidFill>
                <a:latin typeface="Calibri"/>
              </a:rPr>
              <a:t> — An enforced development methodology -- the agent cannot skip steps</a:t>
            </a:r>
          </a:p>
          <a:p>
            <a:pPr>
              <a:spcBef>
                <a:spcPts val="200"/>
              </a:spcBef>
              <a:spcAft>
                <a:spcPts val="1000"/>
              </a:spcAft>
            </a:pPr>
            <a:r>
              <a:rPr sz="1700">
                <a:solidFill>
                  <a:srgbClr val="D4886B"/>
                </a:solidFill>
                <a:latin typeface="Calibri"/>
              </a:rPr>
              <a:t>  –  </a:t>
            </a:r>
            <a:r>
              <a:rPr sz="1700" b="1">
                <a:solidFill>
                  <a:srgbClr val="E8D5B7"/>
                </a:solidFill>
                <a:latin typeface="Calibri"/>
              </a:rPr>
              <a:t>Mandatory TDD</a:t>
            </a:r>
            <a:r>
              <a:rPr sz="1700">
                <a:solidFill>
                  <a:srgbClr val="C4A882"/>
                </a:solidFill>
                <a:latin typeface="Calibri"/>
              </a:rPr>
              <a:t> — Write tests first, always. If code is written before tests, it gets deleted</a:t>
            </a:r>
          </a:p>
          <a:p>
            <a:pPr>
              <a:spcBef>
                <a:spcPts val="200"/>
              </a:spcBef>
              <a:spcAft>
                <a:spcPts val="1000"/>
              </a:spcAft>
            </a:pPr>
            <a:r>
              <a:rPr sz="1700">
                <a:solidFill>
                  <a:srgbClr val="D4886B"/>
                </a:solidFill>
                <a:latin typeface="Calibri"/>
              </a:rPr>
              <a:t>  –  </a:t>
            </a:r>
            <a:r>
              <a:rPr sz="1700" b="1">
                <a:solidFill>
                  <a:srgbClr val="E8D5B7"/>
                </a:solidFill>
                <a:latin typeface="Calibri"/>
              </a:rPr>
              <a:t>7-Phase Workflow</a:t>
            </a:r>
            <a:r>
              <a:rPr sz="1700">
                <a:solidFill>
                  <a:srgbClr val="C4A882"/>
                </a:solidFill>
                <a:latin typeface="Calibri"/>
              </a:rPr>
              <a:t> — Brainstorm &gt; Git Worktree &gt; Plan &gt; Subagent Execution &gt; TDD &gt; Code Review &gt; Finish</a:t>
            </a:r>
          </a:p>
          <a:p>
            <a:pPr>
              <a:spcBef>
                <a:spcPts val="200"/>
              </a:spcBef>
              <a:spcAft>
                <a:spcPts val="1000"/>
              </a:spcAft>
            </a:pPr>
            <a:r>
              <a:rPr sz="1700">
                <a:solidFill>
                  <a:srgbClr val="D4886B"/>
                </a:solidFill>
                <a:latin typeface="Calibri"/>
              </a:rPr>
              <a:t>  –  </a:t>
            </a:r>
            <a:r>
              <a:rPr sz="1700" b="1">
                <a:solidFill>
                  <a:srgbClr val="E8D5B7"/>
                </a:solidFill>
                <a:latin typeface="Calibri"/>
              </a:rPr>
              <a:t>Subagent Architecture</a:t>
            </a:r>
            <a:r>
              <a:rPr sz="1700">
                <a:solidFill>
                  <a:srgbClr val="C4A882"/>
                </a:solidFill>
                <a:latin typeface="Calibri"/>
              </a:rPr>
              <a:t> — Each task gets a fresh 200K-token context window -- no context rot</a:t>
            </a:r>
          </a:p>
          <a:p>
            <a:pPr>
              <a:spcBef>
                <a:spcPts val="200"/>
              </a:spcBef>
              <a:spcAft>
                <a:spcPts val="1000"/>
              </a:spcAft>
            </a:pPr>
            <a:r>
              <a:rPr sz="1700">
                <a:solidFill>
                  <a:srgbClr val="D4886B"/>
                </a:solidFill>
                <a:latin typeface="Calibri"/>
              </a:rPr>
              <a:t>  –  </a:t>
            </a:r>
            <a:r>
              <a:rPr sz="1700" b="1">
                <a:solidFill>
                  <a:srgbClr val="E8D5B7"/>
                </a:solidFill>
                <a:latin typeface="Calibri"/>
              </a:rPr>
              <a:t>Plans as Specs</a:t>
            </a:r>
            <a:r>
              <a:rPr sz="1700">
                <a:solidFill>
                  <a:srgbClr val="C4A882"/>
                </a:solidFill>
                <a:latin typeface="Calibri"/>
              </a:rPr>
              <a:t> — Tasks broken into 2-5 min chunks, unambiguous enough for a junior engineer</a:t>
            </a:r>
          </a:p>
          <a:p>
            <a:pPr>
              <a:spcBef>
                <a:spcPts val="200"/>
              </a:spcBef>
              <a:spcAft>
                <a:spcPts val="1000"/>
              </a:spcAft>
            </a:pPr>
            <a:r>
              <a:rPr sz="1700">
                <a:solidFill>
                  <a:srgbClr val="D4886B"/>
                </a:solidFill>
                <a:latin typeface="Calibri"/>
              </a:rPr>
              <a:t>  –  </a:t>
            </a:r>
            <a:r>
              <a:rPr sz="1700" b="1">
                <a:solidFill>
                  <a:srgbClr val="E8D5B7"/>
                </a:solidFill>
                <a:latin typeface="Calibri"/>
              </a:rPr>
              <a:t>20+ Composable Skills</a:t>
            </a:r>
            <a:r>
              <a:rPr sz="1700">
                <a:solidFill>
                  <a:srgbClr val="C4A882"/>
                </a:solidFill>
                <a:latin typeface="Calibri"/>
              </a:rPr>
              <a:t> — Auto-trigger based on context (debugging, collaboration, testing)</a:t>
            </a:r>
          </a:p>
        </p:txBody>
      </p:sp>
      <p:sp>
        <p:nvSpPr>
          <p:cNvPr id="5" name="TextBox 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GSD — Get Shit Done</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19.7K stars  |  By TACHES  |  MIT License  |  Dec 2025</a:t>
            </a:r>
          </a:p>
        </p:txBody>
      </p:sp>
      <p:sp>
        <p:nvSpPr>
          <p:cNvPr id="4" name="TextBox 3"/>
          <p:cNvSpPr txBox="1"/>
          <p:nvPr/>
        </p:nvSpPr>
        <p:spPr>
          <a:xfrm>
            <a:off x="731520" y="1737360"/>
            <a:ext cx="105156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Tagline</a:t>
            </a:r>
            <a:r>
              <a:rPr sz="1700">
                <a:solidFill>
                  <a:srgbClr val="C4A882"/>
                </a:solidFill>
                <a:latin typeface="Calibri"/>
              </a:rPr>
              <a:t> — Meta-prompting, context engineering, and spec-driven development</a:t>
            </a:r>
          </a:p>
          <a:p>
            <a:pPr>
              <a:spcBef>
                <a:spcPts val="200"/>
              </a:spcBef>
              <a:spcAft>
                <a:spcPts val="1000"/>
              </a:spcAft>
            </a:pPr>
            <a:r>
              <a:rPr sz="1700">
                <a:solidFill>
                  <a:srgbClr val="D4886B"/>
                </a:solidFill>
                <a:latin typeface="Calibri"/>
              </a:rPr>
              <a:t>  –  </a:t>
            </a:r>
            <a:r>
              <a:rPr sz="1700" b="1">
                <a:solidFill>
                  <a:srgbClr val="E8D5B7"/>
                </a:solidFill>
                <a:latin typeface="Calibri"/>
              </a:rPr>
              <a:t>Wave Execution</a:t>
            </a:r>
            <a:r>
              <a:rPr sz="1700">
                <a:solidFill>
                  <a:srgbClr val="C4A882"/>
                </a:solidFill>
                <a:latin typeface="Calibri"/>
              </a:rPr>
              <a:t> — Independent plans run in parallel; dependent plans run sequentially</a:t>
            </a:r>
          </a:p>
          <a:p>
            <a:pPr>
              <a:spcBef>
                <a:spcPts val="200"/>
              </a:spcBef>
              <a:spcAft>
                <a:spcPts val="1000"/>
              </a:spcAft>
            </a:pPr>
            <a:r>
              <a:rPr sz="1700">
                <a:solidFill>
                  <a:srgbClr val="D4886B"/>
                </a:solidFill>
                <a:latin typeface="Calibri"/>
              </a:rPr>
              <a:t>  –  </a:t>
            </a:r>
            <a:r>
              <a:rPr sz="1700" b="1">
                <a:solidFill>
                  <a:srgbClr val="E8D5B7"/>
                </a:solidFill>
                <a:latin typeface="Calibri"/>
              </a:rPr>
              <a:t>Context Engineering Files</a:t>
            </a:r>
            <a:r>
              <a:rPr sz="1700">
                <a:solidFill>
                  <a:srgbClr val="C4A882"/>
                </a:solidFill>
                <a:latin typeface="Calibri"/>
              </a:rPr>
              <a:t> — PROJECT.md, REQUIREMENTS.md, ROADMAP.md, STATE.md, PLAN.md</a:t>
            </a:r>
          </a:p>
          <a:p>
            <a:pPr>
              <a:spcBef>
                <a:spcPts val="200"/>
              </a:spcBef>
              <a:spcAft>
                <a:spcPts val="1000"/>
              </a:spcAft>
            </a:pPr>
            <a:r>
              <a:rPr sz="1700">
                <a:solidFill>
                  <a:srgbClr val="D4886B"/>
                </a:solidFill>
                <a:latin typeface="Calibri"/>
              </a:rPr>
              <a:t>  –  </a:t>
            </a:r>
            <a:r>
              <a:rPr sz="1700" b="1">
                <a:solidFill>
                  <a:srgbClr val="E8D5B7"/>
                </a:solidFill>
                <a:latin typeface="Calibri"/>
              </a:rPr>
              <a:t>Model Profiles</a:t>
            </a:r>
            <a:r>
              <a:rPr sz="1700">
                <a:solidFill>
                  <a:srgbClr val="C4A882"/>
                </a:solidFill>
                <a:latin typeface="Calibri"/>
              </a:rPr>
              <a:t> — Quality (Opus/Opus), Balanced (Opus/Sonnet), Budget (Sonnet/Haiku)</a:t>
            </a:r>
          </a:p>
          <a:p>
            <a:pPr>
              <a:spcBef>
                <a:spcPts val="200"/>
              </a:spcBef>
              <a:spcAft>
                <a:spcPts val="1000"/>
              </a:spcAft>
            </a:pPr>
            <a:r>
              <a:rPr sz="1700">
                <a:solidFill>
                  <a:srgbClr val="D4886B"/>
                </a:solidFill>
                <a:latin typeface="Calibri"/>
              </a:rPr>
              <a:t>  –  </a:t>
            </a:r>
            <a:r>
              <a:rPr sz="1700" b="1">
                <a:solidFill>
                  <a:srgbClr val="E8D5B7"/>
                </a:solidFill>
                <a:latin typeface="Calibri"/>
              </a:rPr>
              <a:t>24 Commands</a:t>
            </a:r>
            <a:r>
              <a:rPr sz="1700">
                <a:solidFill>
                  <a:srgbClr val="C4A882"/>
                </a:solidFill>
                <a:latin typeface="Calibri"/>
              </a:rPr>
              <a:t> — From /gsd:new-project to /gsd:quick for ad-hoc tasks without ceremony</a:t>
            </a:r>
          </a:p>
          <a:p>
            <a:pPr>
              <a:spcBef>
                <a:spcPts val="200"/>
              </a:spcBef>
              <a:spcAft>
                <a:spcPts val="1000"/>
              </a:spcAft>
            </a:pPr>
            <a:r>
              <a:rPr sz="1700">
                <a:solidFill>
                  <a:srgbClr val="D4886B"/>
                </a:solidFill>
                <a:latin typeface="Calibri"/>
              </a:rPr>
              <a:t>  –  </a:t>
            </a:r>
            <a:r>
              <a:rPr sz="1700" b="1">
                <a:solidFill>
                  <a:srgbClr val="E8D5B7"/>
                </a:solidFill>
                <a:latin typeface="Calibri"/>
              </a:rPr>
              <a:t>Atomic Commits</a:t>
            </a:r>
            <a:r>
              <a:rPr sz="1700">
                <a:solidFill>
                  <a:srgbClr val="C4A882"/>
                </a:solidFill>
                <a:latin typeface="Calibri"/>
              </a:rPr>
              <a:t> — Every task gets its own git commit -- enables precise git bisect</a:t>
            </a:r>
          </a:p>
        </p:txBody>
      </p:sp>
      <p:sp>
        <p:nvSpPr>
          <p:cNvPr id="5" name="TextBox 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OpenSpec</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25.4K stars  |  By Fission AI  |  MIT License  |  Aug 2025</a:t>
            </a:r>
          </a:p>
        </p:txBody>
      </p:sp>
      <p:sp>
        <p:nvSpPr>
          <p:cNvPr id="4" name="TextBox 3"/>
          <p:cNvSpPr txBox="1"/>
          <p:nvPr/>
        </p:nvSpPr>
        <p:spPr>
          <a:xfrm>
            <a:off x="731520" y="1737360"/>
            <a:ext cx="10515600" cy="2015936"/>
          </a:xfrm>
          <a:prstGeom prst="rect">
            <a:avLst/>
          </a:prstGeom>
          <a:noFill/>
        </p:spPr>
        <p:txBody>
          <a:bodyPr wrap="square">
            <a:spAutoFit/>
          </a:bodyPr>
          <a:lstStyle/>
          <a:p>
            <a:pPr>
              <a:spcBef>
                <a:spcPts val="200"/>
              </a:spcBef>
              <a:spcAft>
                <a:spcPts val="1000"/>
              </a:spcAft>
            </a:pPr>
            <a:r>
              <a:rPr lang="en-US" sz="1700" dirty="0">
                <a:solidFill>
                  <a:srgbClr val="D4886B"/>
                </a:solidFill>
                <a:latin typeface="Calibri"/>
              </a:rPr>
              <a:t>  </a:t>
            </a:r>
            <a:r>
              <a:rPr sz="1700" dirty="0">
                <a:solidFill>
                  <a:srgbClr val="D4886B"/>
                </a:solidFill>
                <a:latin typeface="Calibri"/>
              </a:rPr>
              <a:t>–  </a:t>
            </a:r>
            <a:r>
              <a:rPr sz="1700" b="1" dirty="0">
                <a:solidFill>
                  <a:srgbClr val="E8D5B7"/>
                </a:solidFill>
                <a:latin typeface="Calibri"/>
              </a:rPr>
              <a:t>Only 3 Core Commands</a:t>
            </a:r>
            <a:r>
              <a:rPr sz="1700" dirty="0">
                <a:solidFill>
                  <a:srgbClr val="C4A882"/>
                </a:solidFill>
                <a:latin typeface="Calibri"/>
              </a:rPr>
              <a:t> — /</a:t>
            </a:r>
            <a:r>
              <a:rPr sz="1700" dirty="0" err="1">
                <a:solidFill>
                  <a:srgbClr val="C4A882"/>
                </a:solidFill>
                <a:latin typeface="Calibri"/>
              </a:rPr>
              <a:t>opsx:propose</a:t>
            </a:r>
            <a:r>
              <a:rPr sz="1700" dirty="0">
                <a:solidFill>
                  <a:srgbClr val="C4A882"/>
                </a:solidFill>
                <a:latin typeface="Calibri"/>
              </a:rPr>
              <a:t>, /</a:t>
            </a:r>
            <a:r>
              <a:rPr sz="1700" dirty="0" err="1">
                <a:solidFill>
                  <a:srgbClr val="C4A882"/>
                </a:solidFill>
                <a:latin typeface="Calibri"/>
              </a:rPr>
              <a:t>opsx:apply</a:t>
            </a:r>
            <a:r>
              <a:rPr sz="1700" dirty="0">
                <a:solidFill>
                  <a:srgbClr val="C4A882"/>
                </a:solidFill>
                <a:latin typeface="Calibri"/>
              </a:rPr>
              <a:t>, /</a:t>
            </a:r>
            <a:r>
              <a:rPr sz="1700" dirty="0" err="1">
                <a:solidFill>
                  <a:srgbClr val="C4A882"/>
                </a:solidFill>
                <a:latin typeface="Calibri"/>
              </a:rPr>
              <a:t>opsx:archive</a:t>
            </a:r>
            <a:r>
              <a:rPr sz="1700" dirty="0">
                <a:solidFill>
                  <a:srgbClr val="C4A882"/>
                </a:solidFill>
                <a:latin typeface="Calibri"/>
              </a:rPr>
              <a:t> -- minimal ceremony</a:t>
            </a:r>
          </a:p>
          <a:p>
            <a:pPr>
              <a:spcBef>
                <a:spcPts val="200"/>
              </a:spcBef>
              <a:spcAft>
                <a:spcPts val="1000"/>
              </a:spcAft>
            </a:pPr>
            <a:r>
              <a:rPr sz="1700" dirty="0">
                <a:solidFill>
                  <a:srgbClr val="D4886B"/>
                </a:solidFill>
                <a:latin typeface="Calibri"/>
              </a:rPr>
              <a:t>  –  </a:t>
            </a:r>
            <a:r>
              <a:rPr sz="1700" b="1" dirty="0">
                <a:solidFill>
                  <a:srgbClr val="E8D5B7"/>
                </a:solidFill>
                <a:latin typeface="Calibri"/>
              </a:rPr>
              <a:t>Change Isolation</a:t>
            </a:r>
            <a:r>
              <a:rPr sz="1700" dirty="0">
                <a:solidFill>
                  <a:srgbClr val="C4A882"/>
                </a:solidFill>
                <a:latin typeface="Calibri"/>
              </a:rPr>
              <a:t> — Each change lives in its own folder, like git branches for specs</a:t>
            </a:r>
          </a:p>
          <a:p>
            <a:pPr>
              <a:spcBef>
                <a:spcPts val="200"/>
              </a:spcBef>
              <a:spcAft>
                <a:spcPts val="1000"/>
              </a:spcAft>
            </a:pPr>
            <a:r>
              <a:rPr sz="1700" dirty="0">
                <a:solidFill>
                  <a:srgbClr val="D4886B"/>
                </a:solidFill>
                <a:latin typeface="Calibri"/>
              </a:rPr>
              <a:t>  –  </a:t>
            </a:r>
            <a:r>
              <a:rPr sz="1700" b="1" dirty="0">
                <a:solidFill>
                  <a:srgbClr val="E8D5B7"/>
                </a:solidFill>
                <a:latin typeface="Calibri"/>
              </a:rPr>
              <a:t>GIVEN/WHEN/THEN Specs</a:t>
            </a:r>
            <a:r>
              <a:rPr sz="1700" dirty="0">
                <a:solidFill>
                  <a:srgbClr val="C4A882"/>
                </a:solidFill>
                <a:latin typeface="Calibri"/>
              </a:rPr>
              <a:t> — Behavioral spec format with types: ADDED, MODIFIED, REMOVED</a:t>
            </a:r>
          </a:p>
          <a:p>
            <a:pPr>
              <a:spcBef>
                <a:spcPts val="200"/>
              </a:spcBef>
              <a:spcAft>
                <a:spcPts val="1000"/>
              </a:spcAft>
            </a:pPr>
            <a:r>
              <a:rPr sz="1700" dirty="0">
                <a:solidFill>
                  <a:srgbClr val="D4886B"/>
                </a:solidFill>
                <a:latin typeface="Calibri"/>
              </a:rPr>
              <a:t>  –  </a:t>
            </a:r>
            <a:r>
              <a:rPr sz="1700" b="1" dirty="0">
                <a:solidFill>
                  <a:srgbClr val="E8D5B7"/>
                </a:solidFill>
                <a:latin typeface="Calibri"/>
              </a:rPr>
              <a:t>Token Efficient</a:t>
            </a:r>
            <a:r>
              <a:rPr sz="1700" dirty="0">
                <a:solidFill>
                  <a:srgbClr val="C4A882"/>
                </a:solidFill>
                <a:latin typeface="Calibri"/>
              </a:rPr>
              <a:t> — Specs typically under 2,000 tokens -- maximum context for implementation</a:t>
            </a:r>
          </a:p>
          <a:p>
            <a:pPr>
              <a:spcBef>
                <a:spcPts val="200"/>
              </a:spcBef>
              <a:spcAft>
                <a:spcPts val="1000"/>
              </a:spcAft>
            </a:pPr>
            <a:r>
              <a:rPr sz="1700" dirty="0">
                <a:solidFill>
                  <a:srgbClr val="D4886B"/>
                </a:solidFill>
                <a:latin typeface="Calibri"/>
              </a:rPr>
              <a:t>  –  </a:t>
            </a:r>
            <a:r>
              <a:rPr sz="1700" b="1" dirty="0">
                <a:solidFill>
                  <a:srgbClr val="E8D5B7"/>
                </a:solidFill>
                <a:latin typeface="Calibri"/>
              </a:rPr>
              <a:t>20+ Tool Support</a:t>
            </a:r>
            <a:r>
              <a:rPr sz="1700" dirty="0">
                <a:solidFill>
                  <a:srgbClr val="C4A882"/>
                </a:solidFill>
                <a:latin typeface="Calibri"/>
              </a:rPr>
              <a:t> — Works with Claude Code, Cursor, Copilot, Gemini CLI, and many more</a:t>
            </a:r>
          </a:p>
        </p:txBody>
      </p:sp>
      <p:sp>
        <p:nvSpPr>
          <p:cNvPr id="5" name="TextBox 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Spec Kit</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71.4K stars  |  By GitHub (official)  |  MIT License  |  Aug 2025</a:t>
            </a:r>
          </a:p>
        </p:txBody>
      </p:sp>
      <p:sp>
        <p:nvSpPr>
          <p:cNvPr id="4" name="TextBox 3"/>
          <p:cNvSpPr txBox="1"/>
          <p:nvPr/>
        </p:nvSpPr>
        <p:spPr>
          <a:xfrm>
            <a:off x="731520" y="1737360"/>
            <a:ext cx="105156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GitHub's Official SDD Toolkit</a:t>
            </a:r>
            <a:r>
              <a:rPr sz="1700">
                <a:solidFill>
                  <a:srgbClr val="C4A882"/>
                </a:solidFill>
                <a:latin typeface="Calibri"/>
              </a:rPr>
              <a:t> — Specs become executable -- directly generating implementations</a:t>
            </a:r>
          </a:p>
          <a:p>
            <a:pPr>
              <a:spcBef>
                <a:spcPts val="200"/>
              </a:spcBef>
              <a:spcAft>
                <a:spcPts val="1000"/>
              </a:spcAft>
            </a:pPr>
            <a:r>
              <a:rPr sz="1700">
                <a:solidFill>
                  <a:srgbClr val="D4886B"/>
                </a:solidFill>
                <a:latin typeface="Calibri"/>
              </a:rPr>
              <a:t>  –  </a:t>
            </a:r>
            <a:r>
              <a:rPr sz="1700" b="1">
                <a:solidFill>
                  <a:srgbClr val="E8D5B7"/>
                </a:solidFill>
                <a:latin typeface="Calibri"/>
              </a:rPr>
              <a:t>6-Phase Workflow</a:t>
            </a:r>
            <a:r>
              <a:rPr sz="1700">
                <a:solidFill>
                  <a:srgbClr val="C4A882"/>
                </a:solidFill>
                <a:latin typeface="Calibri"/>
              </a:rPr>
              <a:t> — Constitution &gt; Specify &gt; Clarify &gt; Plan &gt; Tasks &gt; Implement</a:t>
            </a:r>
          </a:p>
          <a:p>
            <a:pPr>
              <a:spcBef>
                <a:spcPts val="200"/>
              </a:spcBef>
              <a:spcAft>
                <a:spcPts val="1000"/>
              </a:spcAft>
            </a:pPr>
            <a:r>
              <a:rPr sz="1700">
                <a:solidFill>
                  <a:srgbClr val="D4886B"/>
                </a:solidFill>
                <a:latin typeface="Calibri"/>
              </a:rPr>
              <a:t>  –  </a:t>
            </a:r>
            <a:r>
              <a:rPr sz="1700" b="1">
                <a:solidFill>
                  <a:srgbClr val="E8D5B7"/>
                </a:solidFill>
                <a:latin typeface="Calibri"/>
              </a:rPr>
              <a:t>The Constitution</a:t>
            </a:r>
            <a:r>
              <a:rPr sz="1700">
                <a:solidFill>
                  <a:srgbClr val="C4A882"/>
                </a:solidFill>
                <a:latin typeface="Calibri"/>
              </a:rPr>
              <a:t> — 9 immutable principles (Library-First, Test-First, Anti-Abstraction, etc.)</a:t>
            </a:r>
          </a:p>
          <a:p>
            <a:pPr>
              <a:spcBef>
                <a:spcPts val="200"/>
              </a:spcBef>
              <a:spcAft>
                <a:spcPts val="1000"/>
              </a:spcAft>
            </a:pPr>
            <a:r>
              <a:rPr sz="1700">
                <a:solidFill>
                  <a:srgbClr val="D4886B"/>
                </a:solidFill>
                <a:latin typeface="Calibri"/>
              </a:rPr>
              <a:t>  –  </a:t>
            </a:r>
            <a:r>
              <a:rPr sz="1700" b="1">
                <a:solidFill>
                  <a:srgbClr val="E8D5B7"/>
                </a:solidFill>
                <a:latin typeface="Calibri"/>
              </a:rPr>
              <a:t>Traceability</a:t>
            </a:r>
            <a:r>
              <a:rPr sz="1700">
                <a:solidFill>
                  <a:srgbClr val="C4A882"/>
                </a:solidFill>
                <a:latin typeface="Calibri"/>
              </a:rPr>
              <a:t> — @spec, @task, @acceptance comments link every line of code back to specs</a:t>
            </a:r>
          </a:p>
          <a:p>
            <a:pPr>
              <a:spcBef>
                <a:spcPts val="200"/>
              </a:spcBef>
              <a:spcAft>
                <a:spcPts val="1000"/>
              </a:spcAft>
            </a:pPr>
            <a:r>
              <a:rPr sz="1700">
                <a:solidFill>
                  <a:srgbClr val="D4886B"/>
                </a:solidFill>
                <a:latin typeface="Calibri"/>
              </a:rPr>
              <a:t>  –  </a:t>
            </a:r>
            <a:r>
              <a:rPr sz="1700" b="1">
                <a:solidFill>
                  <a:srgbClr val="E8D5B7"/>
                </a:solidFill>
                <a:latin typeface="Calibri"/>
              </a:rPr>
              <a:t>Auto-Branching</a:t>
            </a:r>
            <a:r>
              <a:rPr sz="1700">
                <a:solidFill>
                  <a:srgbClr val="C4A882"/>
                </a:solidFill>
                <a:latin typeface="Calibri"/>
              </a:rPr>
              <a:t> — Creates git branches per feature (e.g., 001-create-taskify)</a:t>
            </a:r>
          </a:p>
          <a:p>
            <a:pPr>
              <a:spcBef>
                <a:spcPts val="200"/>
              </a:spcBef>
              <a:spcAft>
                <a:spcPts val="1000"/>
              </a:spcAft>
            </a:pPr>
            <a:r>
              <a:rPr sz="1700">
                <a:solidFill>
                  <a:srgbClr val="D4886B"/>
                </a:solidFill>
                <a:latin typeface="Calibri"/>
              </a:rPr>
              <a:t>  –  </a:t>
            </a:r>
            <a:r>
              <a:rPr sz="1700" b="1">
                <a:solidFill>
                  <a:srgbClr val="E8D5B7"/>
                </a:solidFill>
                <a:latin typeface="Calibri"/>
              </a:rPr>
              <a:t>Validation Reports</a:t>
            </a:r>
            <a:r>
              <a:rPr sz="1700">
                <a:solidFill>
                  <a:srgbClr val="C4A882"/>
                </a:solidFill>
                <a:latin typeface="Calibri"/>
              </a:rPr>
              <a:t> — Spec coverage, test coverage, constitution compliance, doc status</a:t>
            </a:r>
          </a:p>
        </p:txBody>
      </p:sp>
      <p:sp>
        <p:nvSpPr>
          <p:cNvPr id="5" name="TextBox 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Head-to-Head Comparison</a:t>
            </a:r>
          </a:p>
        </p:txBody>
      </p:sp>
      <p:graphicFrame>
        <p:nvGraphicFramePr>
          <p:cNvPr id="3" name="Table 2"/>
          <p:cNvGraphicFramePr>
            <a:graphicFrameLocks noGrp="1"/>
          </p:cNvGraphicFramePr>
          <p:nvPr/>
        </p:nvGraphicFramePr>
        <p:xfrm>
          <a:off x="457200" y="1371600"/>
          <a:ext cx="11247120" cy="4846320"/>
        </p:xfrm>
        <a:graphic>
          <a:graphicData uri="http://schemas.openxmlformats.org/drawingml/2006/table">
            <a:tbl>
              <a:tblPr firstRow="1">
                <a:tableStyleId>{5C22544A-7EE6-4342-B048-85BDC9FD1C3A}</a:tableStyleId>
              </a:tblPr>
              <a:tblGrid>
                <a:gridCol w="21031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538480">
                <a:tc>
                  <a:txBody>
                    <a:bodyPr/>
                    <a:lstStyle/>
                    <a:p>
                      <a:pPr algn="ctr">
                        <a:defRPr sz="1400" b="1">
                          <a:solidFill>
                            <a:srgbClr val="E8D5B7"/>
                          </a:solidFill>
                          <a:latin typeface="Calibri"/>
                        </a:defRPr>
                      </a:pPr>
                      <a:endParaRPr/>
                    </a:p>
                  </a:txBody>
                  <a:tcPr>
                    <a:solidFill>
                      <a:srgbClr val="3A2A20"/>
                    </a:solidFill>
                  </a:tcPr>
                </a:tc>
                <a:tc>
                  <a:txBody>
                    <a:bodyPr/>
                    <a:lstStyle/>
                    <a:p>
                      <a:pPr algn="ctr">
                        <a:defRPr sz="1400" b="1">
                          <a:solidFill>
                            <a:srgbClr val="E8D5B7"/>
                          </a:solidFill>
                          <a:latin typeface="Calibri"/>
                        </a:defRPr>
                      </a:pPr>
                      <a:r>
                        <a:t>Superpowers</a:t>
                      </a:r>
                    </a:p>
                  </a:txBody>
                  <a:tcPr>
                    <a:solidFill>
                      <a:srgbClr val="3A2A20"/>
                    </a:solidFill>
                  </a:tcPr>
                </a:tc>
                <a:tc>
                  <a:txBody>
                    <a:bodyPr/>
                    <a:lstStyle/>
                    <a:p>
                      <a:pPr algn="ctr">
                        <a:defRPr sz="1400" b="1">
                          <a:solidFill>
                            <a:srgbClr val="E8D5B7"/>
                          </a:solidFill>
                          <a:latin typeface="Calibri"/>
                        </a:defRPr>
                      </a:pPr>
                      <a:r>
                        <a:t>GSD</a:t>
                      </a:r>
                    </a:p>
                  </a:txBody>
                  <a:tcPr>
                    <a:solidFill>
                      <a:srgbClr val="3A2A20"/>
                    </a:solidFill>
                  </a:tcPr>
                </a:tc>
                <a:tc>
                  <a:txBody>
                    <a:bodyPr/>
                    <a:lstStyle/>
                    <a:p>
                      <a:pPr algn="ctr">
                        <a:defRPr sz="1400" b="1">
                          <a:solidFill>
                            <a:srgbClr val="E8D5B7"/>
                          </a:solidFill>
                          <a:latin typeface="Calibri"/>
                        </a:defRPr>
                      </a:pPr>
                      <a:r>
                        <a:t>OpenSpec</a:t>
                      </a:r>
                    </a:p>
                  </a:txBody>
                  <a:tcPr>
                    <a:solidFill>
                      <a:srgbClr val="3A2A20"/>
                    </a:solidFill>
                  </a:tcPr>
                </a:tc>
                <a:tc>
                  <a:txBody>
                    <a:bodyPr/>
                    <a:lstStyle/>
                    <a:p>
                      <a:pPr algn="ctr">
                        <a:defRPr sz="1400" b="1">
                          <a:solidFill>
                            <a:srgbClr val="E8D5B7"/>
                          </a:solidFill>
                          <a:latin typeface="Calibri"/>
                        </a:defRPr>
                      </a:pPr>
                      <a:r>
                        <a:t>Spec Kit</a:t>
                      </a:r>
                    </a:p>
                  </a:txBody>
                  <a:tcPr>
                    <a:solidFill>
                      <a:srgbClr val="3A2A20"/>
                    </a:solidFill>
                  </a:tcPr>
                </a:tc>
                <a:extLst>
                  <a:ext uri="{0D108BD9-81ED-4DB2-BD59-A6C34878D82A}">
                    <a16:rowId xmlns:a16="http://schemas.microsoft.com/office/drawing/2014/main" val="10000"/>
                  </a:ext>
                </a:extLst>
              </a:tr>
              <a:tr h="538480">
                <a:tc>
                  <a:txBody>
                    <a:bodyPr/>
                    <a:lstStyle/>
                    <a:p>
                      <a:pPr algn="l">
                        <a:defRPr sz="1300" b="1">
                          <a:solidFill>
                            <a:srgbClr val="D4886B"/>
                          </a:solidFill>
                          <a:latin typeface="Calibri"/>
                        </a:defRPr>
                      </a:pPr>
                      <a:r>
                        <a:t>Stars</a:t>
                      </a:r>
                    </a:p>
                  </a:txBody>
                  <a:tcPr>
                    <a:solidFill>
                      <a:srgbClr val="23201E"/>
                    </a:solidFill>
                  </a:tcPr>
                </a:tc>
                <a:tc>
                  <a:txBody>
                    <a:bodyPr/>
                    <a:lstStyle/>
                    <a:p>
                      <a:pPr algn="ctr">
                        <a:defRPr sz="1300" b="0">
                          <a:solidFill>
                            <a:srgbClr val="C4A882"/>
                          </a:solidFill>
                          <a:latin typeface="Calibri"/>
                        </a:defRPr>
                      </a:pPr>
                      <a:r>
                        <a:t>59,800+</a:t>
                      </a:r>
                    </a:p>
                  </a:txBody>
                  <a:tcPr>
                    <a:solidFill>
                      <a:srgbClr val="23201E"/>
                    </a:solidFill>
                  </a:tcPr>
                </a:tc>
                <a:tc>
                  <a:txBody>
                    <a:bodyPr/>
                    <a:lstStyle/>
                    <a:p>
                      <a:pPr algn="ctr">
                        <a:defRPr sz="1300" b="0">
                          <a:solidFill>
                            <a:srgbClr val="C4A882"/>
                          </a:solidFill>
                          <a:latin typeface="Calibri"/>
                        </a:defRPr>
                      </a:pPr>
                      <a:r>
                        <a:t>19,700+</a:t>
                      </a:r>
                    </a:p>
                  </a:txBody>
                  <a:tcPr>
                    <a:solidFill>
                      <a:srgbClr val="23201E"/>
                    </a:solidFill>
                  </a:tcPr>
                </a:tc>
                <a:tc>
                  <a:txBody>
                    <a:bodyPr/>
                    <a:lstStyle/>
                    <a:p>
                      <a:pPr algn="ctr">
                        <a:defRPr sz="1300" b="0">
                          <a:solidFill>
                            <a:srgbClr val="C4A882"/>
                          </a:solidFill>
                          <a:latin typeface="Calibri"/>
                        </a:defRPr>
                      </a:pPr>
                      <a:r>
                        <a:t>25,400+</a:t>
                      </a:r>
                    </a:p>
                  </a:txBody>
                  <a:tcPr>
                    <a:solidFill>
                      <a:srgbClr val="23201E"/>
                    </a:solidFill>
                  </a:tcPr>
                </a:tc>
                <a:tc>
                  <a:txBody>
                    <a:bodyPr/>
                    <a:lstStyle/>
                    <a:p>
                      <a:pPr algn="ctr">
                        <a:defRPr sz="1300" b="0">
                          <a:solidFill>
                            <a:srgbClr val="C4A882"/>
                          </a:solidFill>
                          <a:latin typeface="Calibri"/>
                        </a:defRPr>
                      </a:pPr>
                      <a:r>
                        <a:t>71,400+</a:t>
                      </a:r>
                    </a:p>
                  </a:txBody>
                  <a:tcPr>
                    <a:solidFill>
                      <a:srgbClr val="23201E"/>
                    </a:solidFill>
                  </a:tcPr>
                </a:tc>
                <a:extLst>
                  <a:ext uri="{0D108BD9-81ED-4DB2-BD59-A6C34878D82A}">
                    <a16:rowId xmlns:a16="http://schemas.microsoft.com/office/drawing/2014/main" val="10001"/>
                  </a:ext>
                </a:extLst>
              </a:tr>
              <a:tr h="538480">
                <a:tc>
                  <a:txBody>
                    <a:bodyPr/>
                    <a:lstStyle/>
                    <a:p>
                      <a:pPr algn="l">
                        <a:defRPr sz="1300" b="1">
                          <a:solidFill>
                            <a:srgbClr val="D4886B"/>
                          </a:solidFill>
                          <a:latin typeface="Calibri"/>
                        </a:defRPr>
                      </a:pPr>
                      <a:r>
                        <a:t>Created</a:t>
                      </a:r>
                    </a:p>
                  </a:txBody>
                  <a:tcPr>
                    <a:solidFill>
                      <a:srgbClr val="1E1C1A"/>
                    </a:solidFill>
                  </a:tcPr>
                </a:tc>
                <a:tc>
                  <a:txBody>
                    <a:bodyPr/>
                    <a:lstStyle/>
                    <a:p>
                      <a:pPr algn="ctr">
                        <a:defRPr sz="1300" b="0">
                          <a:solidFill>
                            <a:srgbClr val="C4A882"/>
                          </a:solidFill>
                          <a:latin typeface="Calibri"/>
                        </a:defRPr>
                      </a:pPr>
                      <a:r>
                        <a:t>Oct 2025</a:t>
                      </a:r>
                    </a:p>
                  </a:txBody>
                  <a:tcPr>
                    <a:solidFill>
                      <a:srgbClr val="1E1C1A"/>
                    </a:solidFill>
                  </a:tcPr>
                </a:tc>
                <a:tc>
                  <a:txBody>
                    <a:bodyPr/>
                    <a:lstStyle/>
                    <a:p>
                      <a:pPr algn="ctr">
                        <a:defRPr sz="1300" b="0">
                          <a:solidFill>
                            <a:srgbClr val="C4A882"/>
                          </a:solidFill>
                          <a:latin typeface="Calibri"/>
                        </a:defRPr>
                      </a:pPr>
                      <a:r>
                        <a:t>Dec 2025</a:t>
                      </a:r>
                    </a:p>
                  </a:txBody>
                  <a:tcPr>
                    <a:solidFill>
                      <a:srgbClr val="1E1C1A"/>
                    </a:solidFill>
                  </a:tcPr>
                </a:tc>
                <a:tc>
                  <a:txBody>
                    <a:bodyPr/>
                    <a:lstStyle/>
                    <a:p>
                      <a:pPr algn="ctr">
                        <a:defRPr sz="1300" b="0">
                          <a:solidFill>
                            <a:srgbClr val="C4A882"/>
                          </a:solidFill>
                          <a:latin typeface="Calibri"/>
                        </a:defRPr>
                      </a:pPr>
                      <a:r>
                        <a:t>Aug 2025</a:t>
                      </a:r>
                    </a:p>
                  </a:txBody>
                  <a:tcPr>
                    <a:solidFill>
                      <a:srgbClr val="1E1C1A"/>
                    </a:solidFill>
                  </a:tcPr>
                </a:tc>
                <a:tc>
                  <a:txBody>
                    <a:bodyPr/>
                    <a:lstStyle/>
                    <a:p>
                      <a:pPr algn="ctr">
                        <a:defRPr sz="1300" b="0">
                          <a:solidFill>
                            <a:srgbClr val="C4A882"/>
                          </a:solidFill>
                          <a:latin typeface="Calibri"/>
                        </a:defRPr>
                      </a:pPr>
                      <a:r>
                        <a:t>Aug 2025</a:t>
                      </a:r>
                    </a:p>
                  </a:txBody>
                  <a:tcPr>
                    <a:solidFill>
                      <a:srgbClr val="1E1C1A"/>
                    </a:solidFill>
                  </a:tcPr>
                </a:tc>
                <a:extLst>
                  <a:ext uri="{0D108BD9-81ED-4DB2-BD59-A6C34878D82A}">
                    <a16:rowId xmlns:a16="http://schemas.microsoft.com/office/drawing/2014/main" val="10002"/>
                  </a:ext>
                </a:extLst>
              </a:tr>
              <a:tr h="538480">
                <a:tc>
                  <a:txBody>
                    <a:bodyPr/>
                    <a:lstStyle/>
                    <a:p>
                      <a:pPr algn="l">
                        <a:defRPr sz="1300" b="1">
                          <a:solidFill>
                            <a:srgbClr val="D4886B"/>
                          </a:solidFill>
                          <a:latin typeface="Calibri"/>
                        </a:defRPr>
                      </a:pPr>
                      <a:r>
                        <a:t>Author</a:t>
                      </a:r>
                    </a:p>
                  </a:txBody>
                  <a:tcPr>
                    <a:solidFill>
                      <a:srgbClr val="23201E"/>
                    </a:solidFill>
                  </a:tcPr>
                </a:tc>
                <a:tc>
                  <a:txBody>
                    <a:bodyPr/>
                    <a:lstStyle/>
                    <a:p>
                      <a:pPr algn="ctr">
                        <a:defRPr sz="1300" b="0">
                          <a:solidFill>
                            <a:srgbClr val="C4A882"/>
                          </a:solidFill>
                          <a:latin typeface="Calibri"/>
                        </a:defRPr>
                      </a:pPr>
                      <a:r>
                        <a:t>Jesse Vincent</a:t>
                      </a:r>
                    </a:p>
                  </a:txBody>
                  <a:tcPr>
                    <a:solidFill>
                      <a:srgbClr val="23201E"/>
                    </a:solidFill>
                  </a:tcPr>
                </a:tc>
                <a:tc>
                  <a:txBody>
                    <a:bodyPr/>
                    <a:lstStyle/>
                    <a:p>
                      <a:pPr algn="ctr">
                        <a:defRPr sz="1300" b="0">
                          <a:solidFill>
                            <a:srgbClr val="C4A882"/>
                          </a:solidFill>
                          <a:latin typeface="Calibri"/>
                        </a:defRPr>
                      </a:pPr>
                      <a:r>
                        <a:t>TACHES</a:t>
                      </a:r>
                    </a:p>
                  </a:txBody>
                  <a:tcPr>
                    <a:solidFill>
                      <a:srgbClr val="23201E"/>
                    </a:solidFill>
                  </a:tcPr>
                </a:tc>
                <a:tc>
                  <a:txBody>
                    <a:bodyPr/>
                    <a:lstStyle/>
                    <a:p>
                      <a:pPr algn="ctr">
                        <a:defRPr sz="1300" b="0">
                          <a:solidFill>
                            <a:srgbClr val="C4A882"/>
                          </a:solidFill>
                          <a:latin typeface="Calibri"/>
                        </a:defRPr>
                      </a:pPr>
                      <a:r>
                        <a:t>Fission AI</a:t>
                      </a:r>
                    </a:p>
                  </a:txBody>
                  <a:tcPr>
                    <a:solidFill>
                      <a:srgbClr val="23201E"/>
                    </a:solidFill>
                  </a:tcPr>
                </a:tc>
                <a:tc>
                  <a:txBody>
                    <a:bodyPr/>
                    <a:lstStyle/>
                    <a:p>
                      <a:pPr algn="ctr">
                        <a:defRPr sz="1300" b="0">
                          <a:solidFill>
                            <a:srgbClr val="C4A882"/>
                          </a:solidFill>
                          <a:latin typeface="Calibri"/>
                        </a:defRPr>
                      </a:pPr>
                      <a:r>
                        <a:t>GitHub</a:t>
                      </a:r>
                    </a:p>
                  </a:txBody>
                  <a:tcPr>
                    <a:solidFill>
                      <a:srgbClr val="23201E"/>
                    </a:solidFill>
                  </a:tcPr>
                </a:tc>
                <a:extLst>
                  <a:ext uri="{0D108BD9-81ED-4DB2-BD59-A6C34878D82A}">
                    <a16:rowId xmlns:a16="http://schemas.microsoft.com/office/drawing/2014/main" val="10003"/>
                  </a:ext>
                </a:extLst>
              </a:tr>
              <a:tr h="538480">
                <a:tc>
                  <a:txBody>
                    <a:bodyPr/>
                    <a:lstStyle/>
                    <a:p>
                      <a:pPr algn="l">
                        <a:defRPr sz="1300" b="1">
                          <a:solidFill>
                            <a:srgbClr val="D4886B"/>
                          </a:solidFill>
                          <a:latin typeface="Calibri"/>
                        </a:defRPr>
                      </a:pPr>
                      <a:r>
                        <a:t>Core Strength</a:t>
                      </a:r>
                    </a:p>
                  </a:txBody>
                  <a:tcPr>
                    <a:solidFill>
                      <a:srgbClr val="1E1C1A"/>
                    </a:solidFill>
                  </a:tcPr>
                </a:tc>
                <a:tc>
                  <a:txBody>
                    <a:bodyPr/>
                    <a:lstStyle/>
                    <a:p>
                      <a:pPr algn="ctr">
                        <a:defRPr sz="1300" b="0">
                          <a:solidFill>
                            <a:srgbClr val="C4A882"/>
                          </a:solidFill>
                          <a:latin typeface="Calibri"/>
                        </a:defRPr>
                      </a:pPr>
                      <a:r>
                        <a:t>Mandatory TDD</a:t>
                      </a:r>
                    </a:p>
                    <a:p>
                      <a:pPr algn="ctr">
                        <a:defRPr sz="1300" b="0">
                          <a:solidFill>
                            <a:srgbClr val="C4A882"/>
                          </a:solidFill>
                          <a:latin typeface="Calibri"/>
                        </a:defRPr>
                      </a:pPr>
                      <a:r>
                        <a:t>+ Subagents</a:t>
                      </a:r>
                    </a:p>
                  </a:txBody>
                  <a:tcPr>
                    <a:solidFill>
                      <a:srgbClr val="1E1C1A"/>
                    </a:solidFill>
                  </a:tcPr>
                </a:tc>
                <a:tc>
                  <a:txBody>
                    <a:bodyPr/>
                    <a:lstStyle/>
                    <a:p>
                      <a:pPr algn="ctr">
                        <a:defRPr sz="1300" b="0">
                          <a:solidFill>
                            <a:srgbClr val="C4A882"/>
                          </a:solidFill>
                          <a:latin typeface="Calibri"/>
                        </a:defRPr>
                      </a:pPr>
                      <a:r>
                        <a:t>Meta-prompting</a:t>
                      </a:r>
                    </a:p>
                    <a:p>
                      <a:pPr algn="ctr">
                        <a:defRPr sz="1300" b="0">
                          <a:solidFill>
                            <a:srgbClr val="C4A882"/>
                          </a:solidFill>
                          <a:latin typeface="Calibri"/>
                        </a:defRPr>
                      </a:pPr>
                      <a:r>
                        <a:t>+ Waves</a:t>
                      </a:r>
                    </a:p>
                  </a:txBody>
                  <a:tcPr>
                    <a:solidFill>
                      <a:srgbClr val="1E1C1A"/>
                    </a:solidFill>
                  </a:tcPr>
                </a:tc>
                <a:tc>
                  <a:txBody>
                    <a:bodyPr/>
                    <a:lstStyle/>
                    <a:p>
                      <a:pPr algn="ctr">
                        <a:defRPr sz="1300" b="0">
                          <a:solidFill>
                            <a:srgbClr val="C4A882"/>
                          </a:solidFill>
                          <a:latin typeface="Calibri"/>
                        </a:defRPr>
                      </a:pPr>
                      <a:r>
                        <a:t>Lightweight</a:t>
                      </a:r>
                    </a:p>
                    <a:p>
                      <a:pPr algn="ctr">
                        <a:defRPr sz="1300" b="0">
                          <a:solidFill>
                            <a:srgbClr val="C4A882"/>
                          </a:solidFill>
                          <a:latin typeface="Calibri"/>
                        </a:defRPr>
                      </a:pPr>
                      <a:r>
                        <a:t>Brownfield Specs</a:t>
                      </a:r>
                    </a:p>
                  </a:txBody>
                  <a:tcPr>
                    <a:solidFill>
                      <a:srgbClr val="1E1C1A"/>
                    </a:solidFill>
                  </a:tcPr>
                </a:tc>
                <a:tc>
                  <a:txBody>
                    <a:bodyPr/>
                    <a:lstStyle/>
                    <a:p>
                      <a:pPr algn="ctr">
                        <a:defRPr sz="1300" b="0">
                          <a:solidFill>
                            <a:srgbClr val="C4A882"/>
                          </a:solidFill>
                          <a:latin typeface="Calibri"/>
                        </a:defRPr>
                      </a:pPr>
                      <a:r>
                        <a:t>Comprehensive</a:t>
                      </a:r>
                    </a:p>
                    <a:p>
                      <a:pPr algn="ctr">
                        <a:defRPr sz="1300" b="0">
                          <a:solidFill>
                            <a:srgbClr val="C4A882"/>
                          </a:solidFill>
                          <a:latin typeface="Calibri"/>
                        </a:defRPr>
                      </a:pPr>
                      <a:r>
                        <a:t>Governance</a:t>
                      </a:r>
                    </a:p>
                  </a:txBody>
                  <a:tcPr>
                    <a:solidFill>
                      <a:srgbClr val="1E1C1A"/>
                    </a:solidFill>
                  </a:tcPr>
                </a:tc>
                <a:extLst>
                  <a:ext uri="{0D108BD9-81ED-4DB2-BD59-A6C34878D82A}">
                    <a16:rowId xmlns:a16="http://schemas.microsoft.com/office/drawing/2014/main" val="10004"/>
                  </a:ext>
                </a:extLst>
              </a:tr>
              <a:tr h="538480">
                <a:tc>
                  <a:txBody>
                    <a:bodyPr/>
                    <a:lstStyle/>
                    <a:p>
                      <a:pPr algn="l">
                        <a:defRPr sz="1300" b="1">
                          <a:solidFill>
                            <a:srgbClr val="D4886B"/>
                          </a:solidFill>
                          <a:latin typeface="Calibri"/>
                        </a:defRPr>
                      </a:pPr>
                      <a:r>
                        <a:t>Ceremony</a:t>
                      </a:r>
                    </a:p>
                  </a:txBody>
                  <a:tcPr>
                    <a:solidFill>
                      <a:srgbClr val="23201E"/>
                    </a:solidFill>
                  </a:tcPr>
                </a:tc>
                <a:tc>
                  <a:txBody>
                    <a:bodyPr/>
                    <a:lstStyle/>
                    <a:p>
                      <a:pPr algn="ctr">
                        <a:defRPr sz="1300" b="0">
                          <a:solidFill>
                            <a:srgbClr val="C4A882"/>
                          </a:solidFill>
                          <a:latin typeface="Calibri"/>
                        </a:defRPr>
                      </a:pPr>
                      <a:r>
                        <a:t>Medium</a:t>
                      </a:r>
                    </a:p>
                  </a:txBody>
                  <a:tcPr>
                    <a:solidFill>
                      <a:srgbClr val="23201E"/>
                    </a:solidFill>
                  </a:tcPr>
                </a:tc>
                <a:tc>
                  <a:txBody>
                    <a:bodyPr/>
                    <a:lstStyle/>
                    <a:p>
                      <a:pPr algn="ctr">
                        <a:defRPr sz="1300" b="0">
                          <a:solidFill>
                            <a:srgbClr val="C4A882"/>
                          </a:solidFill>
                          <a:latin typeface="Calibri"/>
                        </a:defRPr>
                      </a:pPr>
                      <a:r>
                        <a:t>Medium-Low</a:t>
                      </a:r>
                    </a:p>
                  </a:txBody>
                  <a:tcPr>
                    <a:solidFill>
                      <a:srgbClr val="23201E"/>
                    </a:solidFill>
                  </a:tcPr>
                </a:tc>
                <a:tc>
                  <a:txBody>
                    <a:bodyPr/>
                    <a:lstStyle/>
                    <a:p>
                      <a:pPr algn="ctr">
                        <a:defRPr sz="1300" b="0">
                          <a:solidFill>
                            <a:srgbClr val="C4A882"/>
                          </a:solidFill>
                          <a:latin typeface="Calibri"/>
                        </a:defRPr>
                      </a:pPr>
                      <a:r>
                        <a:t>Low</a:t>
                      </a:r>
                    </a:p>
                  </a:txBody>
                  <a:tcPr>
                    <a:solidFill>
                      <a:srgbClr val="23201E"/>
                    </a:solidFill>
                  </a:tcPr>
                </a:tc>
                <a:tc>
                  <a:txBody>
                    <a:bodyPr/>
                    <a:lstStyle/>
                    <a:p>
                      <a:pPr algn="ctr">
                        <a:defRPr sz="1300" b="0">
                          <a:solidFill>
                            <a:srgbClr val="C4A882"/>
                          </a:solidFill>
                          <a:latin typeface="Calibri"/>
                        </a:defRPr>
                      </a:pPr>
                      <a:r>
                        <a:t>High</a:t>
                      </a:r>
                    </a:p>
                  </a:txBody>
                  <a:tcPr>
                    <a:solidFill>
                      <a:srgbClr val="23201E"/>
                    </a:solidFill>
                  </a:tcPr>
                </a:tc>
                <a:extLst>
                  <a:ext uri="{0D108BD9-81ED-4DB2-BD59-A6C34878D82A}">
                    <a16:rowId xmlns:a16="http://schemas.microsoft.com/office/drawing/2014/main" val="10005"/>
                  </a:ext>
                </a:extLst>
              </a:tr>
              <a:tr h="538480">
                <a:tc>
                  <a:txBody>
                    <a:bodyPr/>
                    <a:lstStyle/>
                    <a:p>
                      <a:pPr algn="l">
                        <a:defRPr sz="1300" b="1">
                          <a:solidFill>
                            <a:srgbClr val="D4886B"/>
                          </a:solidFill>
                          <a:latin typeface="Calibri"/>
                        </a:defRPr>
                      </a:pPr>
                      <a:r>
                        <a:t>Best For</a:t>
                      </a:r>
                    </a:p>
                  </a:txBody>
                  <a:tcPr>
                    <a:solidFill>
                      <a:srgbClr val="1E1C1A"/>
                    </a:solidFill>
                  </a:tcPr>
                </a:tc>
                <a:tc>
                  <a:txBody>
                    <a:bodyPr/>
                    <a:lstStyle/>
                    <a:p>
                      <a:pPr algn="ctr">
                        <a:defRPr sz="1300" b="0">
                          <a:solidFill>
                            <a:srgbClr val="C4A882"/>
                          </a:solidFill>
                          <a:latin typeface="Calibri"/>
                        </a:defRPr>
                      </a:pPr>
                      <a:r>
                        <a:t>Large multi-file</a:t>
                      </a:r>
                    </a:p>
                    <a:p>
                      <a:pPr algn="ctr">
                        <a:defRPr sz="1300" b="0">
                          <a:solidFill>
                            <a:srgbClr val="C4A882"/>
                          </a:solidFill>
                          <a:latin typeface="Calibri"/>
                        </a:defRPr>
                      </a:pPr>
                      <a:r>
                        <a:t>features</a:t>
                      </a:r>
                    </a:p>
                  </a:txBody>
                  <a:tcPr>
                    <a:solidFill>
                      <a:srgbClr val="1E1C1A"/>
                    </a:solidFill>
                  </a:tcPr>
                </a:tc>
                <a:tc>
                  <a:txBody>
                    <a:bodyPr/>
                    <a:lstStyle/>
                    <a:p>
                      <a:pPr algn="ctr">
                        <a:defRPr sz="1300" b="0">
                          <a:solidFill>
                            <a:srgbClr val="C4A882"/>
                          </a:solidFill>
                          <a:latin typeface="Calibri"/>
                        </a:defRPr>
                      </a:pPr>
                      <a:r>
                        <a:t>Solo/small team</a:t>
                      </a:r>
                    </a:p>
                    <a:p>
                      <a:pPr algn="ctr">
                        <a:defRPr sz="1300" b="0">
                          <a:solidFill>
                            <a:srgbClr val="C4A882"/>
                          </a:solidFill>
                          <a:latin typeface="Calibri"/>
                        </a:defRPr>
                      </a:pPr>
                      <a:r>
                        <a:t>builders</a:t>
                      </a:r>
                    </a:p>
                  </a:txBody>
                  <a:tcPr>
                    <a:solidFill>
                      <a:srgbClr val="1E1C1A"/>
                    </a:solidFill>
                  </a:tcPr>
                </a:tc>
                <a:tc>
                  <a:txBody>
                    <a:bodyPr/>
                    <a:lstStyle/>
                    <a:p>
                      <a:pPr algn="ctr">
                        <a:defRPr sz="1300" b="0">
                          <a:solidFill>
                            <a:srgbClr val="C4A882"/>
                          </a:solidFill>
                          <a:latin typeface="Calibri"/>
                        </a:defRPr>
                      </a:pPr>
                      <a:r>
                        <a:t>Existing codebase</a:t>
                      </a:r>
                    </a:p>
                    <a:p>
                      <a:pPr algn="ctr">
                        <a:defRPr sz="1300" b="0">
                          <a:solidFill>
                            <a:srgbClr val="C4A882"/>
                          </a:solidFill>
                          <a:latin typeface="Calibri"/>
                        </a:defRPr>
                      </a:pPr>
                      <a:r>
                        <a:t>evolution</a:t>
                      </a:r>
                    </a:p>
                  </a:txBody>
                  <a:tcPr>
                    <a:solidFill>
                      <a:srgbClr val="1E1C1A"/>
                    </a:solidFill>
                  </a:tcPr>
                </a:tc>
                <a:tc>
                  <a:txBody>
                    <a:bodyPr/>
                    <a:lstStyle/>
                    <a:p>
                      <a:pPr algn="ctr">
                        <a:defRPr sz="1300" b="0">
                          <a:solidFill>
                            <a:srgbClr val="C4A882"/>
                          </a:solidFill>
                          <a:latin typeface="Calibri"/>
                        </a:defRPr>
                      </a:pPr>
                      <a:r>
                        <a:t>Enterprise/team</a:t>
                      </a:r>
                    </a:p>
                    <a:p>
                      <a:pPr algn="ctr">
                        <a:defRPr sz="1300" b="0">
                          <a:solidFill>
                            <a:srgbClr val="C4A882"/>
                          </a:solidFill>
                          <a:latin typeface="Calibri"/>
                        </a:defRPr>
                      </a:pPr>
                      <a:r>
                        <a:t>projects</a:t>
                      </a:r>
                    </a:p>
                  </a:txBody>
                  <a:tcPr>
                    <a:solidFill>
                      <a:srgbClr val="1E1C1A"/>
                    </a:solidFill>
                  </a:tcPr>
                </a:tc>
                <a:extLst>
                  <a:ext uri="{0D108BD9-81ED-4DB2-BD59-A6C34878D82A}">
                    <a16:rowId xmlns:a16="http://schemas.microsoft.com/office/drawing/2014/main" val="10006"/>
                  </a:ext>
                </a:extLst>
              </a:tr>
              <a:tr h="538480">
                <a:tc>
                  <a:txBody>
                    <a:bodyPr/>
                    <a:lstStyle/>
                    <a:p>
                      <a:pPr algn="l">
                        <a:defRPr sz="1300" b="1">
                          <a:solidFill>
                            <a:srgbClr val="D4886B"/>
                          </a:solidFill>
                          <a:latin typeface="Calibri"/>
                        </a:defRPr>
                      </a:pPr>
                      <a:r>
                        <a:t>TDD</a:t>
                      </a:r>
                    </a:p>
                  </a:txBody>
                  <a:tcPr>
                    <a:solidFill>
                      <a:srgbClr val="23201E"/>
                    </a:solidFill>
                  </a:tcPr>
                </a:tc>
                <a:tc>
                  <a:txBody>
                    <a:bodyPr/>
                    <a:lstStyle/>
                    <a:p>
                      <a:pPr algn="ctr">
                        <a:defRPr sz="1300" b="0">
                          <a:solidFill>
                            <a:srgbClr val="C4A882"/>
                          </a:solidFill>
                          <a:latin typeface="Calibri"/>
                        </a:defRPr>
                      </a:pPr>
                      <a:r>
                        <a:t>Enforced</a:t>
                      </a:r>
                    </a:p>
                  </a:txBody>
                  <a:tcPr>
                    <a:solidFill>
                      <a:srgbClr val="23201E"/>
                    </a:solidFill>
                  </a:tcPr>
                </a:tc>
                <a:tc>
                  <a:txBody>
                    <a:bodyPr/>
                    <a:lstStyle/>
                    <a:p>
                      <a:pPr algn="ctr">
                        <a:defRPr sz="1300" b="0">
                          <a:solidFill>
                            <a:srgbClr val="C4A882"/>
                          </a:solidFill>
                          <a:latin typeface="Calibri"/>
                        </a:defRPr>
                      </a:pPr>
                      <a:r>
                        <a:t>Not enforced</a:t>
                      </a:r>
                    </a:p>
                  </a:txBody>
                  <a:tcPr>
                    <a:solidFill>
                      <a:srgbClr val="23201E"/>
                    </a:solidFill>
                  </a:tcPr>
                </a:tc>
                <a:tc>
                  <a:txBody>
                    <a:bodyPr/>
                    <a:lstStyle/>
                    <a:p>
                      <a:pPr algn="ctr">
                        <a:defRPr sz="1300" b="0">
                          <a:solidFill>
                            <a:srgbClr val="C4A882"/>
                          </a:solidFill>
                          <a:latin typeface="Calibri"/>
                        </a:defRPr>
                      </a:pPr>
                      <a:r>
                        <a:t>Not enforced</a:t>
                      </a:r>
                    </a:p>
                  </a:txBody>
                  <a:tcPr>
                    <a:solidFill>
                      <a:srgbClr val="23201E"/>
                    </a:solidFill>
                  </a:tcPr>
                </a:tc>
                <a:tc>
                  <a:txBody>
                    <a:bodyPr/>
                    <a:lstStyle/>
                    <a:p>
                      <a:pPr algn="ctr">
                        <a:defRPr sz="1300" b="0">
                          <a:solidFill>
                            <a:srgbClr val="C4A882"/>
                          </a:solidFill>
                          <a:latin typeface="Calibri"/>
                        </a:defRPr>
                      </a:pPr>
                      <a:r>
                        <a:t>Principle-based</a:t>
                      </a:r>
                    </a:p>
                  </a:txBody>
                  <a:tcPr>
                    <a:solidFill>
                      <a:srgbClr val="23201E"/>
                    </a:solidFill>
                  </a:tcPr>
                </a:tc>
                <a:extLst>
                  <a:ext uri="{0D108BD9-81ED-4DB2-BD59-A6C34878D82A}">
                    <a16:rowId xmlns:a16="http://schemas.microsoft.com/office/drawing/2014/main" val="10007"/>
                  </a:ext>
                </a:extLst>
              </a:tr>
              <a:tr h="538480">
                <a:tc>
                  <a:txBody>
                    <a:bodyPr/>
                    <a:lstStyle/>
                    <a:p>
                      <a:pPr algn="l">
                        <a:defRPr sz="1300" b="1">
                          <a:solidFill>
                            <a:srgbClr val="D4886B"/>
                          </a:solidFill>
                          <a:latin typeface="Calibri"/>
                        </a:defRPr>
                      </a:pPr>
                      <a:r>
                        <a:t>Multi-Runtime</a:t>
                      </a:r>
                    </a:p>
                  </a:txBody>
                  <a:tcPr>
                    <a:solidFill>
                      <a:srgbClr val="1E1C1A"/>
                    </a:solidFill>
                  </a:tcPr>
                </a:tc>
                <a:tc>
                  <a:txBody>
                    <a:bodyPr/>
                    <a:lstStyle/>
                    <a:p>
                      <a:pPr algn="ctr">
                        <a:defRPr sz="1300" b="0">
                          <a:solidFill>
                            <a:srgbClr val="C4A882"/>
                          </a:solidFill>
                          <a:latin typeface="Calibri"/>
                        </a:defRPr>
                      </a:pPr>
                      <a:r>
                        <a:t>4 tools</a:t>
                      </a:r>
                    </a:p>
                  </a:txBody>
                  <a:tcPr>
                    <a:solidFill>
                      <a:srgbClr val="1E1C1A"/>
                    </a:solidFill>
                  </a:tcPr>
                </a:tc>
                <a:tc>
                  <a:txBody>
                    <a:bodyPr/>
                    <a:lstStyle/>
                    <a:p>
                      <a:pPr algn="ctr">
                        <a:defRPr sz="1300" b="0">
                          <a:solidFill>
                            <a:srgbClr val="C4A882"/>
                          </a:solidFill>
                          <a:latin typeface="Calibri"/>
                        </a:defRPr>
                      </a:pPr>
                      <a:r>
                        <a:t>4 tools</a:t>
                      </a:r>
                    </a:p>
                  </a:txBody>
                  <a:tcPr>
                    <a:solidFill>
                      <a:srgbClr val="1E1C1A"/>
                    </a:solidFill>
                  </a:tcPr>
                </a:tc>
                <a:tc>
                  <a:txBody>
                    <a:bodyPr/>
                    <a:lstStyle/>
                    <a:p>
                      <a:pPr algn="ctr">
                        <a:defRPr sz="1300" b="0">
                          <a:solidFill>
                            <a:srgbClr val="C4A882"/>
                          </a:solidFill>
                          <a:latin typeface="Calibri"/>
                        </a:defRPr>
                      </a:pPr>
                      <a:r>
                        <a:t>20+ tools</a:t>
                      </a:r>
                    </a:p>
                  </a:txBody>
                  <a:tcPr>
                    <a:solidFill>
                      <a:srgbClr val="1E1C1A"/>
                    </a:solidFill>
                  </a:tcPr>
                </a:tc>
                <a:tc>
                  <a:txBody>
                    <a:bodyPr/>
                    <a:lstStyle/>
                    <a:p>
                      <a:pPr algn="ctr">
                        <a:defRPr sz="1300" b="0">
                          <a:solidFill>
                            <a:srgbClr val="C4A882"/>
                          </a:solidFill>
                          <a:latin typeface="Calibri"/>
                        </a:defRPr>
                      </a:pPr>
                      <a:r>
                        <a:t>20+ tools</a:t>
                      </a:r>
                    </a:p>
                  </a:txBody>
                  <a:tcPr>
                    <a:solidFill>
                      <a:srgbClr val="1E1C1A"/>
                    </a:solidFill>
                  </a:tcPr>
                </a:tc>
                <a:extLst>
                  <a:ext uri="{0D108BD9-81ED-4DB2-BD59-A6C34878D82A}">
                    <a16:rowId xmlns:a16="http://schemas.microsoft.com/office/drawing/2014/main" val="10008"/>
                  </a:ext>
                </a:extLst>
              </a:tr>
            </a:tbl>
          </a:graphicData>
        </a:graphic>
      </p:graphicFrame>
      <p:sp>
        <p:nvSpPr>
          <p:cNvPr id="4" name="TextBox 3"/>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Choosing the Right Tool</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Different workflows for different needs</a:t>
            </a:r>
          </a:p>
        </p:txBody>
      </p:sp>
      <p:sp>
        <p:nvSpPr>
          <p:cNvPr id="4" name="TextBox 3"/>
          <p:cNvSpPr txBox="1"/>
          <p:nvPr/>
        </p:nvSpPr>
        <p:spPr>
          <a:xfrm>
            <a:off x="903364" y="2103120"/>
            <a:ext cx="10385272" cy="2015936"/>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Solo developer building fast</a:t>
            </a:r>
            <a:r>
              <a:rPr sz="1700">
                <a:solidFill>
                  <a:srgbClr val="C4A882"/>
                </a:solidFill>
                <a:latin typeface="Calibri"/>
              </a:rPr>
              <a:t> — GSD or OpenSpec -- minimal ceremony, maximum velocity</a:t>
            </a:r>
          </a:p>
          <a:p>
            <a:pPr>
              <a:spcBef>
                <a:spcPts val="200"/>
              </a:spcBef>
              <a:spcAft>
                <a:spcPts val="1000"/>
              </a:spcAft>
            </a:pPr>
            <a:r>
              <a:rPr sz="1700">
                <a:solidFill>
                  <a:srgbClr val="D4886B"/>
                </a:solidFill>
                <a:latin typeface="Calibri"/>
              </a:rPr>
              <a:t>  –  </a:t>
            </a:r>
            <a:r>
              <a:rPr sz="1700" b="1">
                <a:solidFill>
                  <a:srgbClr val="E8D5B7"/>
                </a:solidFill>
                <a:latin typeface="Calibri"/>
              </a:rPr>
              <a:t>Large feature with strict quality</a:t>
            </a:r>
            <a:r>
              <a:rPr sz="1700">
                <a:solidFill>
                  <a:srgbClr val="C4A882"/>
                </a:solidFill>
                <a:latin typeface="Calibri"/>
              </a:rPr>
              <a:t> — Superpowers -- enforced TDD and subagent isolation</a:t>
            </a:r>
          </a:p>
          <a:p>
            <a:pPr>
              <a:spcBef>
                <a:spcPts val="200"/>
              </a:spcBef>
              <a:spcAft>
                <a:spcPts val="1000"/>
              </a:spcAft>
            </a:pPr>
            <a:r>
              <a:rPr sz="1700">
                <a:solidFill>
                  <a:srgbClr val="D4886B"/>
                </a:solidFill>
                <a:latin typeface="Calibri"/>
              </a:rPr>
              <a:t>  –  </a:t>
            </a:r>
            <a:r>
              <a:rPr sz="1700" b="1">
                <a:solidFill>
                  <a:srgbClr val="E8D5B7"/>
                </a:solidFill>
                <a:latin typeface="Calibri"/>
              </a:rPr>
              <a:t>Enterprise team with governance</a:t>
            </a:r>
            <a:r>
              <a:rPr sz="1700">
                <a:solidFill>
                  <a:srgbClr val="C4A882"/>
                </a:solidFill>
                <a:latin typeface="Calibri"/>
              </a:rPr>
              <a:t> — Spec Kit -- constitution, traceability, validation reports</a:t>
            </a:r>
          </a:p>
          <a:p>
            <a:pPr>
              <a:spcBef>
                <a:spcPts val="200"/>
              </a:spcBef>
              <a:spcAft>
                <a:spcPts val="1000"/>
              </a:spcAft>
            </a:pPr>
            <a:r>
              <a:rPr sz="1700">
                <a:solidFill>
                  <a:srgbClr val="D4886B"/>
                </a:solidFill>
                <a:latin typeface="Calibri"/>
              </a:rPr>
              <a:t>  –  </a:t>
            </a:r>
            <a:r>
              <a:rPr sz="1700" b="1">
                <a:solidFill>
                  <a:srgbClr val="E8D5B7"/>
                </a:solidFill>
                <a:latin typeface="Calibri"/>
              </a:rPr>
              <a:t>Brownfield / legacy codebase</a:t>
            </a:r>
            <a:r>
              <a:rPr sz="1700">
                <a:solidFill>
                  <a:srgbClr val="C4A882"/>
                </a:solidFill>
                <a:latin typeface="Calibri"/>
              </a:rPr>
              <a:t> — OpenSpec -- designed specifically for evolving existing code</a:t>
            </a:r>
          </a:p>
          <a:p>
            <a:pPr>
              <a:spcBef>
                <a:spcPts val="200"/>
              </a:spcBef>
              <a:spcAft>
                <a:spcPts val="1000"/>
              </a:spcAft>
            </a:pPr>
            <a:r>
              <a:rPr sz="1700">
                <a:solidFill>
                  <a:srgbClr val="D4886B"/>
                </a:solidFill>
                <a:latin typeface="Calibri"/>
              </a:rPr>
              <a:t>  –  </a:t>
            </a:r>
            <a:r>
              <a:rPr sz="1700" b="1">
                <a:solidFill>
                  <a:srgbClr val="E8D5B7"/>
                </a:solidFill>
                <a:latin typeface="Calibri"/>
              </a:rPr>
              <a:t>Enforced TDD culture</a:t>
            </a:r>
            <a:r>
              <a:rPr sz="1700">
                <a:solidFill>
                  <a:srgbClr val="C4A882"/>
                </a:solidFill>
                <a:latin typeface="Calibri"/>
              </a:rPr>
              <a:t> — Superpowers -- the only tool that mechanically prevents skipping tests</a:t>
            </a:r>
          </a:p>
        </p:txBody>
      </p:sp>
      <p:sp>
        <p:nvSpPr>
          <p:cNvPr id="5" name="TextBox 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The New Paradigm: Spec-Driven Development</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Key themes emerging across the ecosystem</a:t>
            </a:r>
          </a:p>
        </p:txBody>
      </p:sp>
      <p:sp>
        <p:nvSpPr>
          <p:cNvPr id="4" name="TextBox 3"/>
          <p:cNvSpPr txBox="1"/>
          <p:nvPr/>
        </p:nvSpPr>
        <p:spPr>
          <a:xfrm>
            <a:off x="731520" y="1737360"/>
            <a:ext cx="105156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Intent &gt; Code</a:t>
            </a:r>
            <a:r>
              <a:rPr sz="1700">
                <a:solidFill>
                  <a:srgbClr val="C4A882"/>
                </a:solidFill>
                <a:latin typeface="Calibri"/>
              </a:rPr>
              <a:t> — The source of truth shifts from code to specifications and intent</a:t>
            </a:r>
          </a:p>
          <a:p>
            <a:pPr>
              <a:spcBef>
                <a:spcPts val="200"/>
              </a:spcBef>
              <a:spcAft>
                <a:spcPts val="1000"/>
              </a:spcAft>
            </a:pPr>
            <a:r>
              <a:rPr sz="1700">
                <a:solidFill>
                  <a:srgbClr val="D4886B"/>
                </a:solidFill>
                <a:latin typeface="Calibri"/>
              </a:rPr>
              <a:t>  –  </a:t>
            </a:r>
            <a:r>
              <a:rPr sz="1700" b="1">
                <a:solidFill>
                  <a:srgbClr val="E8D5B7"/>
                </a:solidFill>
                <a:latin typeface="Calibri"/>
              </a:rPr>
              <a:t>Context is King</a:t>
            </a:r>
            <a:r>
              <a:rPr sz="1700">
                <a:solidFill>
                  <a:srgbClr val="C4A882"/>
                </a:solidFill>
                <a:latin typeface="Calibri"/>
              </a:rPr>
              <a:t> — Subagent architectures and lean specs keep AI context windows clean</a:t>
            </a:r>
          </a:p>
          <a:p>
            <a:pPr>
              <a:spcBef>
                <a:spcPts val="200"/>
              </a:spcBef>
              <a:spcAft>
                <a:spcPts val="1000"/>
              </a:spcAft>
            </a:pPr>
            <a:r>
              <a:rPr sz="1700">
                <a:solidFill>
                  <a:srgbClr val="D4886B"/>
                </a:solidFill>
                <a:latin typeface="Calibri"/>
              </a:rPr>
              <a:t>  –  </a:t>
            </a:r>
            <a:r>
              <a:rPr sz="1700" b="1">
                <a:solidFill>
                  <a:srgbClr val="E8D5B7"/>
                </a:solidFill>
                <a:latin typeface="Calibri"/>
              </a:rPr>
              <a:t>Specs as Living Docs</a:t>
            </a:r>
            <a:r>
              <a:rPr sz="1700">
                <a:solidFill>
                  <a:srgbClr val="C4A882"/>
                </a:solidFill>
                <a:latin typeface="Calibri"/>
              </a:rPr>
              <a:t> — Specifications are executable artifacts, not dusty documents</a:t>
            </a:r>
          </a:p>
          <a:p>
            <a:pPr>
              <a:spcBef>
                <a:spcPts val="200"/>
              </a:spcBef>
              <a:spcAft>
                <a:spcPts val="1000"/>
              </a:spcAft>
            </a:pPr>
            <a:r>
              <a:rPr sz="1700">
                <a:solidFill>
                  <a:srgbClr val="D4886B"/>
                </a:solidFill>
                <a:latin typeface="Calibri"/>
              </a:rPr>
              <a:t>  –  </a:t>
            </a:r>
            <a:r>
              <a:rPr sz="1700" b="1">
                <a:solidFill>
                  <a:srgbClr val="E8D5B7"/>
                </a:solidFill>
                <a:latin typeface="Calibri"/>
              </a:rPr>
              <a:t>175K+ Stars Combined</a:t>
            </a:r>
            <a:r>
              <a:rPr sz="1700">
                <a:solidFill>
                  <a:srgbClr val="C4A882"/>
                </a:solidFill>
                <a:latin typeface="Calibri"/>
              </a:rPr>
              <a:t> — All four projects created between Aug-Dec 2025 -- explosive growth</a:t>
            </a:r>
          </a:p>
          <a:p>
            <a:pPr>
              <a:spcBef>
                <a:spcPts val="200"/>
              </a:spcBef>
              <a:spcAft>
                <a:spcPts val="1000"/>
              </a:spcAft>
            </a:pPr>
            <a:r>
              <a:rPr sz="1700">
                <a:solidFill>
                  <a:srgbClr val="D4886B"/>
                </a:solidFill>
                <a:latin typeface="Calibri"/>
              </a:rPr>
              <a:t>  –  </a:t>
            </a:r>
            <a:r>
              <a:rPr sz="1700" b="1">
                <a:solidFill>
                  <a:srgbClr val="E8D5B7"/>
                </a:solidFill>
                <a:latin typeface="Calibri"/>
              </a:rPr>
              <a:t>Convergent Evolution</a:t>
            </a:r>
            <a:r>
              <a:rPr sz="1700">
                <a:solidFill>
                  <a:srgbClr val="C4A882"/>
                </a:solidFill>
                <a:latin typeface="Calibri"/>
              </a:rPr>
              <a:t> — Independent teams arriving at the same conclusion -- structure wins</a:t>
            </a:r>
          </a:p>
        </p:txBody>
      </p:sp>
      <p:sp>
        <p:nvSpPr>
          <p:cNvPr id="5" name="TextBox 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800" b="0" i="0">
                <a:solidFill>
                  <a:srgbClr val="E8D5B7"/>
                </a:solidFill>
                <a:latin typeface="Georgia"/>
              </a:defRPr>
            </a:pPr>
            <a:r>
              <a:t>Key Takeaways &amp; Next Steps</a:t>
            </a:r>
          </a:p>
        </p:txBody>
      </p:sp>
      <p:sp>
        <p:nvSpPr>
          <p:cNvPr id="3" name="Rounded Rectangle 2"/>
          <p:cNvSpPr/>
          <p:nvPr/>
        </p:nvSpPr>
        <p:spPr>
          <a:xfrm>
            <a:off x="483476" y="1371600"/>
            <a:ext cx="5368684" cy="4297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77240" y="16002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78408" y="16002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9576" y="16002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63040" y="15361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TAKEAWAYS</a:t>
            </a:r>
          </a:p>
        </p:txBody>
      </p:sp>
      <p:sp>
        <p:nvSpPr>
          <p:cNvPr id="8" name="TextBox 7"/>
          <p:cNvSpPr txBox="1"/>
          <p:nvPr/>
        </p:nvSpPr>
        <p:spPr>
          <a:xfrm>
            <a:off x="777240" y="2011680"/>
            <a:ext cx="4846320" cy="3474720"/>
          </a:xfrm>
          <a:prstGeom prst="rect">
            <a:avLst/>
          </a:prstGeom>
          <a:noFill/>
        </p:spPr>
        <p:txBody>
          <a:bodyPr wrap="square">
            <a:spAutoFit/>
          </a:bodyPr>
          <a:lstStyle/>
          <a:p>
            <a:pPr>
              <a:spcBef>
                <a:spcPts val="200"/>
              </a:spcBef>
              <a:spcAft>
                <a:spcPts val="1200"/>
              </a:spcAft>
            </a:pPr>
            <a:r>
              <a:rPr sz="1600">
                <a:solidFill>
                  <a:srgbClr val="D4886B"/>
                </a:solidFill>
                <a:latin typeface="Calibri"/>
              </a:rPr>
              <a:t>  –  </a:t>
            </a:r>
            <a:r>
              <a:rPr sz="1600" b="1">
                <a:solidFill>
                  <a:srgbClr val="E8D5B7"/>
                </a:solidFill>
                <a:latin typeface="Calibri"/>
              </a:rPr>
              <a:t>Vibe coding is over</a:t>
            </a:r>
            <a:r>
              <a:rPr sz="1600">
                <a:solidFill>
                  <a:srgbClr val="C4A882"/>
                </a:solidFill>
                <a:latin typeface="Calibri"/>
              </a:rPr>
              <a:t> — structured workflows are the new standard</a:t>
            </a:r>
          </a:p>
          <a:p>
            <a:pPr>
              <a:spcBef>
                <a:spcPts val="200"/>
              </a:spcBef>
              <a:spcAft>
                <a:spcPts val="1200"/>
              </a:spcAft>
            </a:pPr>
            <a:r>
              <a:rPr sz="1600">
                <a:solidFill>
                  <a:srgbClr val="D4886B"/>
                </a:solidFill>
                <a:latin typeface="Calibri"/>
              </a:rPr>
              <a:t>  –  </a:t>
            </a:r>
            <a:r>
              <a:rPr sz="1600">
                <a:solidFill>
                  <a:srgbClr val="C4A882"/>
                </a:solidFill>
                <a:latin typeface="Calibri"/>
              </a:rPr>
              <a:t>Spec-driven development makes AI output reliable and reproducible</a:t>
            </a:r>
          </a:p>
          <a:p>
            <a:pPr>
              <a:spcBef>
                <a:spcPts val="200"/>
              </a:spcBef>
              <a:spcAft>
                <a:spcPts val="1200"/>
              </a:spcAft>
            </a:pPr>
            <a:r>
              <a:rPr sz="1600">
                <a:solidFill>
                  <a:srgbClr val="D4886B"/>
                </a:solidFill>
                <a:latin typeface="Calibri"/>
              </a:rPr>
              <a:t>  –  </a:t>
            </a:r>
            <a:r>
              <a:rPr sz="1600">
                <a:solidFill>
                  <a:srgbClr val="C4A882"/>
                </a:solidFill>
                <a:latin typeface="Calibri"/>
              </a:rPr>
              <a:t>Context engineering prevents the #1 failure mode of AI coding</a:t>
            </a:r>
          </a:p>
          <a:p>
            <a:pPr>
              <a:spcBef>
                <a:spcPts val="200"/>
              </a:spcBef>
              <a:spcAft>
                <a:spcPts val="1200"/>
              </a:spcAft>
            </a:pPr>
            <a:r>
              <a:rPr sz="1600">
                <a:solidFill>
                  <a:srgbClr val="D4886B"/>
                </a:solidFill>
                <a:latin typeface="Calibri"/>
              </a:rPr>
              <a:t>  –  </a:t>
            </a:r>
            <a:r>
              <a:rPr sz="1600" b="1">
                <a:solidFill>
                  <a:srgbClr val="E8D5B7"/>
                </a:solidFill>
                <a:latin typeface="Calibri"/>
              </a:rPr>
              <a:t>The ecosystem is young and fast-moving</a:t>
            </a:r>
            <a:r>
              <a:rPr sz="1600">
                <a:solidFill>
                  <a:srgbClr val="C4A882"/>
                </a:solidFill>
                <a:latin typeface="Calibri"/>
              </a:rPr>
              <a:t> — adopt early, iterate often</a:t>
            </a:r>
          </a:p>
        </p:txBody>
      </p:sp>
      <p:sp>
        <p:nvSpPr>
          <p:cNvPr id="9" name="Rounded Rectangle 8"/>
          <p:cNvSpPr/>
          <p:nvPr/>
        </p:nvSpPr>
        <p:spPr>
          <a:xfrm>
            <a:off x="6152756" y="1371600"/>
            <a:ext cx="5368684" cy="4297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446520" y="16002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647688" y="16002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848856" y="16002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0" y="15361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TRY IT TODAY</a:t>
            </a:r>
          </a:p>
        </p:txBody>
      </p:sp>
      <p:sp>
        <p:nvSpPr>
          <p:cNvPr id="14" name="TextBox 13"/>
          <p:cNvSpPr txBox="1"/>
          <p:nvPr/>
        </p:nvSpPr>
        <p:spPr>
          <a:xfrm>
            <a:off x="6446520" y="2011680"/>
            <a:ext cx="4846320" cy="3474720"/>
          </a:xfrm>
          <a:prstGeom prst="rect">
            <a:avLst/>
          </a:prstGeom>
          <a:noFill/>
        </p:spPr>
        <p:txBody>
          <a:bodyPr wrap="square">
            <a:spAutoFit/>
          </a:bodyPr>
          <a:lstStyle/>
          <a:p>
            <a:pPr>
              <a:spcBef>
                <a:spcPts val="200"/>
              </a:spcBef>
              <a:spcAft>
                <a:spcPts val="1000"/>
              </a:spcAft>
            </a:pPr>
            <a:r>
              <a:rPr sz="1500">
                <a:solidFill>
                  <a:srgbClr val="D4886B"/>
                </a:solidFill>
                <a:latin typeface="Calibri"/>
              </a:rPr>
              <a:t>  –  </a:t>
            </a:r>
            <a:r>
              <a:rPr sz="1500" b="1">
                <a:solidFill>
                  <a:srgbClr val="E8D5B7"/>
                </a:solidFill>
                <a:latin typeface="Calibri"/>
              </a:rPr>
              <a:t>Start small</a:t>
            </a:r>
            <a:r>
              <a:rPr sz="1500">
                <a:solidFill>
                  <a:srgbClr val="C4A882"/>
                </a:solidFill>
                <a:latin typeface="Calibri"/>
              </a:rPr>
              <a:t> — Pick one tool and try it on your next feature</a:t>
            </a:r>
          </a:p>
          <a:p>
            <a:pPr>
              <a:spcBef>
                <a:spcPts val="200"/>
              </a:spcBef>
              <a:spcAft>
                <a:spcPts val="1000"/>
              </a:spcAft>
            </a:pPr>
            <a:r>
              <a:rPr sz="1500">
                <a:solidFill>
                  <a:srgbClr val="D4886B"/>
                </a:solidFill>
                <a:latin typeface="Calibri"/>
              </a:rPr>
              <a:t>  –  </a:t>
            </a:r>
            <a:r>
              <a:rPr sz="1500" b="1">
                <a:solidFill>
                  <a:srgbClr val="E8D5B7"/>
                </a:solidFill>
                <a:latin typeface="Calibri"/>
              </a:rPr>
              <a:t>Install</a:t>
            </a:r>
            <a:r>
              <a:rPr sz="1500">
                <a:solidFill>
                  <a:srgbClr val="C4A882"/>
                </a:solidFill>
                <a:latin typeface="Calibri"/>
              </a:rPr>
              <a:t> — /plugin install superpowers@superpowers-marketplace</a:t>
            </a:r>
          </a:p>
          <a:p>
            <a:pPr>
              <a:spcBef>
                <a:spcPts val="200"/>
              </a:spcBef>
              <a:spcAft>
                <a:spcPts val="1000"/>
              </a:spcAft>
            </a:pPr>
            <a:r>
              <a:rPr sz="1500">
                <a:solidFill>
                  <a:srgbClr val="D4886B"/>
                </a:solidFill>
                <a:latin typeface="Calibri"/>
              </a:rPr>
              <a:t>  –  </a:t>
            </a:r>
            <a:r>
              <a:rPr sz="1500" b="1">
                <a:solidFill>
                  <a:srgbClr val="E8D5B7"/>
                </a:solidFill>
                <a:latin typeface="Calibri"/>
              </a:rPr>
              <a:t>Install</a:t>
            </a:r>
            <a:r>
              <a:rPr sz="1500">
                <a:solidFill>
                  <a:srgbClr val="C4A882"/>
                </a:solidFill>
                <a:latin typeface="Calibri"/>
              </a:rPr>
              <a:t> — npx get-shit-done-cc@latest</a:t>
            </a:r>
          </a:p>
          <a:p>
            <a:pPr>
              <a:spcBef>
                <a:spcPts val="200"/>
              </a:spcBef>
              <a:spcAft>
                <a:spcPts val="1000"/>
              </a:spcAft>
            </a:pPr>
            <a:r>
              <a:rPr sz="1500">
                <a:solidFill>
                  <a:srgbClr val="D4886B"/>
                </a:solidFill>
                <a:latin typeface="Calibri"/>
              </a:rPr>
              <a:t>  –  </a:t>
            </a:r>
            <a:r>
              <a:rPr sz="1500" b="1">
                <a:solidFill>
                  <a:srgbClr val="E8D5B7"/>
                </a:solidFill>
                <a:latin typeface="Calibri"/>
              </a:rPr>
              <a:t>Install</a:t>
            </a:r>
            <a:r>
              <a:rPr sz="1500">
                <a:solidFill>
                  <a:srgbClr val="C4A882"/>
                </a:solidFill>
                <a:latin typeface="Calibri"/>
              </a:rPr>
              <a:t> — npm install -g @fission-ai/openspec@latest</a:t>
            </a:r>
          </a:p>
          <a:p>
            <a:pPr>
              <a:spcBef>
                <a:spcPts val="200"/>
              </a:spcBef>
              <a:spcAft>
                <a:spcPts val="1000"/>
              </a:spcAft>
            </a:pPr>
            <a:r>
              <a:rPr sz="1500">
                <a:solidFill>
                  <a:srgbClr val="D4886B"/>
                </a:solidFill>
                <a:latin typeface="Calibri"/>
              </a:rPr>
              <a:t>  –  </a:t>
            </a:r>
            <a:r>
              <a:rPr sz="1500" b="1">
                <a:solidFill>
                  <a:srgbClr val="E8D5B7"/>
                </a:solidFill>
                <a:latin typeface="Calibri"/>
              </a:rPr>
              <a:t>Install</a:t>
            </a:r>
            <a:r>
              <a:rPr sz="1500">
                <a:solidFill>
                  <a:srgbClr val="C4A882"/>
                </a:solidFill>
                <a:latin typeface="Calibri"/>
              </a:rPr>
              <a:t> — uv tool install specify-cli</a:t>
            </a:r>
          </a:p>
        </p:txBody>
      </p:sp>
      <p:sp>
        <p:nvSpPr>
          <p:cNvPr id="15" name="Rectangle 14"/>
          <p:cNvSpPr/>
          <p:nvPr/>
        </p:nvSpPr>
        <p:spPr>
          <a:xfrm>
            <a:off x="914400" y="6035040"/>
            <a:ext cx="103327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6172200"/>
            <a:ext cx="10515600" cy="365760"/>
          </a:xfrm>
          <a:prstGeom prst="rect">
            <a:avLst/>
          </a:prstGeom>
          <a:noFill/>
        </p:spPr>
        <p:txBody>
          <a:bodyPr wrap="square">
            <a:spAutoFit/>
          </a:bodyPr>
          <a:lstStyle/>
          <a:p>
            <a:pPr algn="ctr">
              <a:spcAft>
                <a:spcPts val="0"/>
              </a:spcAft>
              <a:defRPr sz="900" b="0" i="0">
                <a:solidFill>
                  <a:srgbClr val="7A6E5D"/>
                </a:solidFill>
                <a:latin typeface="JetBrains Mono"/>
              </a:defRPr>
            </a:pPr>
            <a:r>
              <a:t>The Claude Beast  |  Episode 07  |  github.com/obra/superpowers  |  github.com/gsd-build/get-shit-done  |  github.com/Fission-AI/OpenSpec  |  github.com/github/spec-kit</a:t>
            </a:r>
          </a:p>
        </p:txBody>
      </p:sp>
      <p:sp>
        <p:nvSpPr>
          <p:cNvPr id="17" name="TextBox 16"/>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3292</Words>
  <Application>Microsoft Macintosh PowerPoint</Application>
  <PresentationFormat>Widescreen</PresentationFormat>
  <Paragraphs>277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5</cp:revision>
  <dcterms:created xsi:type="dcterms:W3CDTF">2013-01-27T09:14:16Z</dcterms:created>
  <dcterms:modified xsi:type="dcterms:W3CDTF">2026-02-26T12:32:52Z</dcterms:modified>
  <cp:category/>
</cp:coreProperties>
</file>