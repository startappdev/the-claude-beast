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32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7935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 - Slide 1: Title</a:t>
            </a:r>
          </a:p>
          <a:p>
            <a:endParaRPr/>
          </a:p>
          <a:p>
            <a:r>
              <a:t>Opening: Welcome to The Claude Beast series. Today we're covering /team-review -- a Claude Code skill that spawns three parallel AI reviewer agents, each specializing in a different dimension of code quality.</a:t>
            </a:r>
          </a:p>
          <a:p>
            <a:endParaRPr/>
          </a:p>
          <a:p>
            <a:r>
              <a:t>Key points to mention:</a:t>
            </a:r>
          </a:p>
          <a:p>
            <a:r>
              <a:t>- /team-review uses Claude Code's experimental Agent Teams feature</a:t>
            </a:r>
          </a:p>
          <a:p>
            <a:r>
              <a:t>- It deploys three independent Claude instances simultaneously: security, performance, and test coverage</a:t>
            </a:r>
          </a:p>
          <a:p>
            <a:r>
              <a:t>- Zero configuration required -- just type /team-review and it analyzes your branch changes</a:t>
            </a:r>
          </a:p>
          <a:p>
            <a:r>
              <a:t>- Part of the startappdev/agents open-source ecosystem, MIT licensed</a:t>
            </a:r>
          </a:p>
          <a:p>
            <a:endParaRPr/>
          </a:p>
          <a:p>
            <a:r>
              <a:t>Transition: Let's start with what makes /team-review different from a single-pass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 - Slide 2: What Is /team-review?</a:t>
            </a:r>
          </a:p>
          <a:p>
            <a:endParaRPr/>
          </a:p>
          <a:p>
            <a:r>
              <a:t>Opening: /team-review is a Claude Code slash command from the startappdev/agents repository. When you invoke it, it spawns three independent Claude instances, each focused on a specific review dimension.</a:t>
            </a:r>
          </a:p>
          <a:p>
            <a:endParaRPr/>
          </a:p>
          <a:p>
            <a:r>
              <a:t>The Security Reviewer examines injection vulnerabilities, authentication gaps, data exposure, hardcoded credentials, and CSRF/SSRF risks.</a:t>
            </a:r>
          </a:p>
          <a:p>
            <a:endParaRPr/>
          </a:p>
          <a:p>
            <a:r>
              <a:t>The Performance Reviewer looks at React re-renders, N+1 queries, missing pagination, bundle size impact, and memory leaks.</a:t>
            </a:r>
          </a:p>
          <a:p>
            <a:endParaRPr/>
          </a:p>
          <a:p>
            <a:r>
              <a:t>The Test Coverage Reviewer checks for missing test files, edge case gaps, integration testing holes, stale tests, and uncovered business logic.</a:t>
            </a:r>
          </a:p>
          <a:p>
            <a:endParaRPr/>
          </a:p>
          <a:p>
            <a:r>
              <a:t>Each reviewer runs in its own context window -- they don't share context with each other. This isolation ensures each reviewer focuses deeply on its specialty without distraction.</a:t>
            </a:r>
          </a:p>
          <a:p>
            <a:endParaRPr/>
          </a:p>
          <a:p>
            <a:r>
              <a:t>Transition: Let's see how the architecture works under the hood.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 - Slide 3: Architecture</a:t>
            </a:r>
          </a:p>
          <a:p>
            <a:endParaRPr/>
          </a:p>
          <a:p>
            <a:r>
              <a:t>Opening: The architecture follows a clean five-step pipeline built on Claude Code's Agent Teams feature.</a:t>
            </a:r>
          </a:p>
          <a:p>
            <a:endParaRPr/>
          </a:p>
          <a:p>
            <a:r>
              <a:t>Step 1: Detect the diff. The skill runs git diff main...HEAD to capture all branch changes, with fallbacks for uncommitted and staged changes.</a:t>
            </a:r>
          </a:p>
          <a:p>
            <a:endParaRPr/>
          </a:p>
          <a:p>
            <a:r>
              <a:t>Step 2: Create the team. It calls TeamCreate with the name "code-review", establishing the team infrastructure -- config at ~/.claude/teams/code-review/ and tasks at ~/.claude/tasks/code-review/.</a:t>
            </a:r>
          </a:p>
          <a:p>
            <a:endParaRPr/>
          </a:p>
          <a:p>
            <a:r>
              <a:t>Step 3: Define tasks. Three TaskCreate calls register the review tasks -- one for security, one for performance, one for test coverage.</a:t>
            </a:r>
          </a:p>
          <a:p>
            <a:endParaRPr/>
          </a:p>
          <a:p>
            <a:r>
              <a:t>Step 4: Spawn agents. Three general-purpose subagents are deployed simultaneously, each receiving a specialized prompt with detailed criteria for their review dimension.</a:t>
            </a:r>
          </a:p>
          <a:p>
            <a:endParaRPr/>
          </a:p>
          <a:p>
            <a:r>
              <a:t>Step 5: Collect and report. The lead agent waits for all three to complete, then synthesizes findings into a unified report organized by severity and priority.</a:t>
            </a:r>
          </a:p>
          <a:p>
            <a:endParaRPr/>
          </a:p>
          <a:p>
            <a:r>
              <a:t>Key properties: each agent has isolated context (no cross-contamination), they can coordinate via messaging, and cleanup is automatic.</a:t>
            </a:r>
          </a:p>
          <a:p>
            <a:endParaRPr/>
          </a:p>
          <a:p>
            <a:r>
              <a:t>Transition: Let's see how to install and use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 - Slide 4: Installation &amp; Usage</a:t>
            </a:r>
          </a:p>
          <a:p>
            <a:endParaRPr/>
          </a:p>
          <a:p>
            <a:r>
              <a:t>Opening: Getting started is simple. You need Claude Code, GitHub CLI, and Agent Teams enabled.</a:t>
            </a:r>
          </a:p>
          <a:p>
            <a:endParaRPr/>
          </a:p>
          <a:p>
            <a:r>
              <a:t>Enable Agent Teams by setting the environment variable in your settings.json. This is the recommended approach since it persists across sessions.</a:t>
            </a:r>
          </a:p>
          <a:p>
            <a:endParaRPr/>
          </a:p>
          <a:p>
            <a:r>
              <a:t>Installation uses the interactive installer from the startappdev/agents repository. Clone the repo, run install.sh, and it handles everything -- creating directories, checking dependencies, setting permissions.</a:t>
            </a:r>
          </a:p>
          <a:p>
            <a:endParaRPr/>
          </a:p>
          <a:p>
            <a:r>
              <a:t>Usage is literally one command: /team-review. That's it. No arguments needed. It auto-detects your branch changes and runs the full three-agent review pipeline.</a:t>
            </a:r>
          </a:p>
          <a:p>
            <a:endParaRPr/>
          </a:p>
          <a:p>
            <a:r>
              <a:t>The recommended workflow is to run /team-review before creating a PR for a comprehensive pre-review, then push the PR and run /greptile-review-loop for autonomous fix-and-merge.</a:t>
            </a:r>
          </a:p>
          <a:p>
            <a:endParaRPr/>
          </a:p>
          <a:p>
            <a:r>
              <a:t>Transition: How does this compare to other review approaches?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 - Slide 6: The Ecosystem</a:t>
            </a:r>
          </a:p>
          <a:p>
            <a:endParaRPr/>
          </a:p>
          <a:p>
            <a:r>
              <a:t>Opening: /team-review is part of a broader ecosystem in the startappdev/agents repository. Three components work together.</a:t>
            </a:r>
          </a:p>
          <a:p>
            <a:endParaRPr/>
          </a:p>
          <a:p>
            <a:r>
              <a:t>Agents are markdown files in ~/.claude/agents/ that define specialized AI workers. The greptile-review-loop agent handles the autonomous review cycle, and code-fixer handles targeted single-file fixes.</a:t>
            </a:r>
          </a:p>
          <a:p>
            <a:endParaRPr/>
          </a:p>
          <a:p>
            <a:r>
              <a:t>Commands are slash commands in ~/.claude/commands/. /team-review for pre-PR review and /greptile-review-loop for post-PR automation.</a:t>
            </a:r>
          </a:p>
          <a:p>
            <a:endParaRPr/>
          </a:p>
          <a:p>
            <a:r>
              <a:t>Hooks are shell scripts in ~/.claude/hooks/. The post-PR hook notifies you after PR creation to run the review loop.</a:t>
            </a:r>
          </a:p>
          <a:p>
            <a:endParaRPr/>
          </a:p>
          <a:p>
            <a:r>
              <a:t>The end-to-end pipeline: write code, run /team-review for comprehensive pre-PR analysis, push the PR, then /greptile-review-loop automatically fixes issues and merges when the score reaches 4/5 or higher.</a:t>
            </a:r>
          </a:p>
          <a:p>
            <a:endParaRPr/>
          </a:p>
          <a:p>
            <a:r>
              <a:t>Transition: Let's look at the output format.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 - Slide 7: Review Output</a:t>
            </a:r>
          </a:p>
          <a:p>
            <a:endParaRPr/>
          </a:p>
          <a:p>
            <a:r>
              <a:t>Opening: The consolidated report synthesizes findings from all three reviewers into a single, prioritized document.</a:t>
            </a:r>
          </a:p>
          <a:p>
            <a:endParaRPr/>
          </a:p>
          <a:p>
            <a:r>
              <a:t>The report is organized by review dimension: security findings first, then performance, then test coverage. Each finding includes a severity level, the exact file and line number, a description of the issue, and a concrete remediation suggestion.</a:t>
            </a:r>
          </a:p>
          <a:p>
            <a:endParaRPr/>
          </a:p>
          <a:p>
            <a:r>
              <a:t>The overall assessment section provides prioritized action items -- what to fix first based on severity and impact.</a:t>
            </a:r>
          </a:p>
          <a:p>
            <a:endParaRPr/>
          </a:p>
          <a:p>
            <a:r>
              <a:t>The key insight is that three specialist reviewers consistently surface issues that a single-pass review misses. When one agent focuses exclusively on security, it goes deeper than a general reviewer would. The same applies to performance and test coverage.</a:t>
            </a:r>
          </a:p>
          <a:p>
            <a:endParaRPr/>
          </a:p>
          <a:p>
            <a:r>
              <a:t>Transition: Let's talk about cost and optimization.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 - Slide 8: Cost &amp; Optimization</a:t>
            </a:r>
          </a:p>
          <a:p>
            <a:endParaRPr/>
          </a:p>
          <a:p>
            <a:r>
              <a:t>Opening: Let's talk about the cost reality. Each reviewer is a separate Claude instance, so token usage scales linearly.</a:t>
            </a:r>
          </a:p>
          <a:p>
            <a:endParaRPr/>
          </a:p>
          <a:p>
            <a:r>
              <a:t>A solo review uses about 200K tokens. /team-review with 3 agents uses roughly 600K -- about 3x the cost. A 9-agent system would push to 1.8 million tokens.</a:t>
            </a:r>
          </a:p>
          <a:p>
            <a:endParaRPr/>
          </a:p>
          <a:p>
            <a:r>
              <a:t>The sweet spot: use /team-review selectively on complex changes, security-sensitive code, or before important PRs. Don't run it on every trivial commit.</a:t>
            </a:r>
          </a:p>
          <a:p>
            <a:endParaRPr/>
          </a:p>
          <a:p>
            <a:r>
              <a:t>Optimization strategies include using cheaper models for teammates (Opus for the lead, Sonnet for reviewers) and combining with the Greptile review loop so you're not also doing manual review.</a:t>
            </a:r>
          </a:p>
          <a:p>
            <a:endParaRPr/>
          </a:p>
          <a:p>
            <a:r>
              <a:t>Transition: Let's see how /team-review fits into the bigger picture.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 - Slide 10: Closing</a:t>
            </a:r>
          </a:p>
          <a:p>
            <a:endParaRPr/>
          </a:p>
          <a:p>
            <a:r>
              <a:t>Opening: Let's close with three key takeaways.</a:t>
            </a:r>
          </a:p>
          <a:p>
            <a:endParaRPr/>
          </a:p>
          <a:p>
            <a:r>
              <a:t>First, zero-config specialist review. One command, three focused reviewers. No setup, no arguments, no configuration files. Just /team-review and you get comprehensive security, performance, and test coverage analysis.</a:t>
            </a:r>
          </a:p>
          <a:p>
            <a:endParaRPr/>
          </a:p>
          <a:p>
            <a:r>
              <a:t>Second, true Agent Teams architecture. Each reviewer is an independent Claude instance with its own context window. This isolation ensures deep focus without the cross-contamination you get with shared-context approaches.</a:t>
            </a:r>
          </a:p>
          <a:p>
            <a:endParaRPr/>
          </a:p>
          <a:p>
            <a:r>
              <a:t>Third, the end-to-end pipeline. /team-review for pre-PR analysis paired with /greptile-review-loop for post-PR automation gives you fully autonomous code quality -- from review to fix to merge.</a:t>
            </a:r>
          </a:p>
          <a:p>
            <a:endParaRPr/>
          </a:p>
          <a:p>
            <a:r>
              <a:t>The startappdev/agents repository is MIT licensed and designed to be forked and customized. Try /team-review on your next feature branch.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7A6E5D"/>
                </a:solidFill>
                <a:latin typeface="JetBrains Mono"/>
              </a:defRPr>
            </a:pPr>
            <a:r>
              <a:t>THE CLAUDE BEAST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5400" b="0" i="0">
                <a:solidFill>
                  <a:srgbClr val="E8D5B7"/>
                </a:solidFill>
                <a:latin typeface="Georgia"/>
              </a:defRPr>
            </a:pPr>
            <a:r>
              <a:rPr dirty="0"/>
              <a:t>/team-review: Agent Team Code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400" b="0" i="0">
                <a:solidFill>
                  <a:srgbClr val="C4A882"/>
                </a:solidFill>
                <a:latin typeface="Calibri"/>
              </a:defRPr>
            </a:pPr>
            <a:r>
              <a:t>Three Parallel AI Reviewers. One Comprehensive Report.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114800"/>
            <a:ext cx="3931920" cy="18288"/>
          </a:xfrm>
          <a:prstGeom prst="rect">
            <a:avLst/>
          </a:prstGeom>
          <a:solidFill>
            <a:srgbClr val="D48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0" i="1">
                <a:solidFill>
                  <a:srgbClr val="D4886B"/>
                </a:solidFill>
                <a:latin typeface="Calibri"/>
              </a:defRPr>
            </a:pPr>
            <a:r>
              <a:t>Security  |  Performance  |  Test Coverage  |  Zero Config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7A6E5D"/>
                </a:solidFill>
                <a:latin typeface="JetBrains Mono"/>
              </a:defRPr>
            </a:pPr>
            <a: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400" b="0" i="0">
                <a:solidFill>
                  <a:srgbClr val="E8D5B7"/>
                </a:solidFill>
                <a:latin typeface="Georgia"/>
              </a:defRPr>
            </a:pPr>
            <a:r>
              <a:t>What Is /team-review?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 i="1">
                <a:solidFill>
                  <a:srgbClr val="D4886B"/>
                </a:solidFill>
                <a:latin typeface="Calibri"/>
              </a:defRPr>
            </a:pPr>
            <a:r>
              <a:t>A single command that deploys three specialist reviewers in parallel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10515600" cy="109728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60120" y="187452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1288" y="187452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362456" y="187452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45920" y="1810512"/>
            <a:ext cx="9326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7A6E5D"/>
                </a:solidFill>
                <a:latin typeface="Calibri"/>
              </a:defRPr>
            </a:pPr>
            <a:r>
              <a:t>Core 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24028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0" i="0">
                <a:solidFill>
                  <a:srgbClr val="E8D5B7"/>
                </a:solidFill>
                <a:latin typeface="Calibri"/>
              </a:defRPr>
            </a:pPr>
            <a:r>
              <a:t>Spawns 3 independent Claude Code instances via Agent Teams, each with its own context window and specialized review criteria. Results are synthesized into a single prioritized report.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08960"/>
            <a:ext cx="3218688" cy="238795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60120" y="324612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61288" y="324612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362456" y="324612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645920" y="318211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7A6E5D"/>
                </a:solidFill>
                <a:latin typeface="Calibri"/>
              </a:defRPr>
            </a:pPr>
            <a:r>
              <a:t>Security</a:t>
            </a:r>
          </a:p>
        </p:txBody>
      </p:sp>
      <p:sp>
        <p:nvSpPr>
          <p:cNvPr id="15" name="Oval 14"/>
          <p:cNvSpPr/>
          <p:nvPr/>
        </p:nvSpPr>
        <p:spPr>
          <a:xfrm>
            <a:off x="1097280" y="3602736"/>
            <a:ext cx="347472" cy="347472"/>
          </a:xfrm>
          <a:prstGeom prst="ellipse">
            <a:avLst/>
          </a:prstGeom>
          <a:solidFill>
            <a:srgbClr val="D48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06908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C4A882"/>
                </a:solidFill>
                <a:latin typeface="Calibri"/>
              </a:defRPr>
            </a:pPr>
            <a:r>
              <a:t>Injection vulnerabilities</a:t>
            </a:r>
            <a:br/>
            <a:r>
              <a:t>Auth/authz gaps</a:t>
            </a:r>
            <a:br/>
            <a:r>
              <a:t>Data exposure risks</a:t>
            </a:r>
            <a:br/>
            <a:r>
              <a:t>Hardcoded credentials</a:t>
            </a:r>
            <a:br/>
            <a:r>
              <a:t>CSRF/SSRF risks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3108960"/>
            <a:ext cx="3218688" cy="238795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572000" y="324612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773168" y="324612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974336" y="324612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257800" y="318211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7A6E5D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22" name="Oval 21"/>
          <p:cNvSpPr/>
          <p:nvPr/>
        </p:nvSpPr>
        <p:spPr>
          <a:xfrm>
            <a:off x="4709160" y="3602736"/>
            <a:ext cx="347472" cy="347472"/>
          </a:xfrm>
          <a:prstGeom prst="ellipse">
            <a:avLst/>
          </a:prstGeom>
          <a:solidFill>
            <a:srgbClr val="D48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406908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C4A882"/>
                </a:solidFill>
                <a:latin typeface="Calibri"/>
              </a:defRPr>
            </a:pPr>
            <a:r>
              <a:t>React re-renders</a:t>
            </a:r>
            <a:br/>
            <a:r>
              <a:t>N+1 database queries</a:t>
            </a:r>
            <a:br/>
            <a:r>
              <a:t>Missing pagination</a:t>
            </a:r>
            <a:br/>
            <a:r>
              <a:t>Bundle size impact</a:t>
            </a:r>
            <a:br/>
            <a:r>
              <a:t>Memory leaks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80" y="3108960"/>
            <a:ext cx="3218688" cy="238795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183880" y="324612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385048" y="324612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586216" y="324612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869680" y="318211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7A6E5D"/>
                </a:solidFill>
                <a:latin typeface="Calibri"/>
              </a:defRPr>
            </a:pPr>
            <a:r>
              <a:t>Test Coverage</a:t>
            </a:r>
          </a:p>
        </p:txBody>
      </p:sp>
      <p:sp>
        <p:nvSpPr>
          <p:cNvPr id="29" name="Oval 28"/>
          <p:cNvSpPr/>
          <p:nvPr/>
        </p:nvSpPr>
        <p:spPr>
          <a:xfrm>
            <a:off x="8321040" y="3602736"/>
            <a:ext cx="347472" cy="347472"/>
          </a:xfrm>
          <a:prstGeom prst="ellipse">
            <a:avLst/>
          </a:prstGeom>
          <a:solidFill>
            <a:srgbClr val="D48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06908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C4A882"/>
                </a:solidFill>
                <a:latin typeface="Calibri"/>
              </a:defRPr>
            </a:pPr>
            <a:r>
              <a:t>Missing test files</a:t>
            </a:r>
            <a:br/>
            <a:r>
              <a:t>Edge case gaps</a:t>
            </a:r>
            <a:br/>
            <a:r>
              <a:t>Integration testing</a:t>
            </a:r>
            <a:br/>
            <a:r>
              <a:t>Stale/outdated tests</a:t>
            </a:r>
            <a:br/>
            <a:r>
              <a:t>Business logic coverage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7A6E5D"/>
                </a:solidFill>
                <a:latin typeface="JetBrains Mono"/>
              </a:defRPr>
            </a:pPr>
            <a: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400" b="0" i="0">
                <a:solidFill>
                  <a:srgbClr val="E8D5B7"/>
                </a:solidFill>
                <a:latin typeface="Georgia"/>
              </a:defRPr>
            </a:pPr>
            <a:r>
              <a:t>Architecture: Five-Step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 i="1">
                <a:solidFill>
                  <a:srgbClr val="D4886B"/>
                </a:solidFill>
                <a:latin typeface="Calibri"/>
              </a:defRPr>
            </a:pPr>
            <a:r>
              <a:t>Built on Claude Code Agent Teams  |  All state stored as JSON on disk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1920240" cy="256032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77240" y="187452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78408" y="187452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79576" y="187452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325880" y="2194560"/>
            <a:ext cx="347472" cy="347472"/>
          </a:xfrm>
          <a:prstGeom prst="ellipse">
            <a:avLst/>
          </a:prstGeom>
          <a:solidFill>
            <a:srgbClr val="D48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 i="0">
                <a:solidFill>
                  <a:srgbClr val="E8D5B7"/>
                </a:solidFill>
                <a:latin typeface="Calibri"/>
              </a:defRPr>
            </a:pPr>
            <a:r>
              <a:t>Detect</a:t>
            </a:r>
            <a:br/>
            <a:r>
              <a:t>Diff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461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 i="0">
                <a:solidFill>
                  <a:srgbClr val="C4A882"/>
                </a:solidFill>
                <a:latin typeface="Calibri"/>
              </a:defRPr>
            </a:pPr>
            <a:r>
              <a:t>git diff main...HEAD</a:t>
            </a:r>
            <a:br/>
            <a:r>
              <a:t>+ staged + unstaged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92608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 i="0">
                <a:solidFill>
                  <a:srgbClr val="D4886B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97480" y="1737360"/>
            <a:ext cx="1920240" cy="256032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926080" y="187452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127248" y="187452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328416" y="187452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474720" y="2194560"/>
            <a:ext cx="347472" cy="347472"/>
          </a:xfrm>
          <a:prstGeom prst="ellipse">
            <a:avLst/>
          </a:prstGeom>
          <a:solidFill>
            <a:srgbClr val="D48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265176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 i="0">
                <a:solidFill>
                  <a:srgbClr val="E8D5B7"/>
                </a:solidFill>
                <a:latin typeface="Calibri"/>
              </a:defRPr>
            </a:pPr>
            <a:r>
              <a:t>Create</a:t>
            </a:r>
            <a:br/>
            <a:r>
              <a:t>Team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32461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 i="0">
                <a:solidFill>
                  <a:srgbClr val="C4A882"/>
                </a:solidFill>
                <a:latin typeface="Calibri"/>
              </a:defRPr>
            </a:pPr>
            <a:r>
              <a:t>TeamCreate</a:t>
            </a:r>
            <a:br/>
            <a:r>
              <a:t>"code-review"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292608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 i="0">
                <a:solidFill>
                  <a:srgbClr val="D4886B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46320" y="1737360"/>
            <a:ext cx="1920240" cy="256032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074920" y="187452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276088" y="187452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477256" y="187452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5623560" y="2194560"/>
            <a:ext cx="347472" cy="347472"/>
          </a:xfrm>
          <a:prstGeom prst="ellipse">
            <a:avLst/>
          </a:prstGeom>
          <a:solidFill>
            <a:srgbClr val="D48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265176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 i="0">
                <a:solidFill>
                  <a:srgbClr val="E8D5B7"/>
                </a:solidFill>
                <a:latin typeface="Calibri"/>
              </a:defRPr>
            </a:pPr>
            <a:r>
              <a:t>Define</a:t>
            </a:r>
            <a:br/>
            <a:r>
              <a:t>Tasks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32461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 i="0">
                <a:solidFill>
                  <a:srgbClr val="C4A882"/>
                </a:solidFill>
                <a:latin typeface="Calibri"/>
              </a:defRPr>
            </a:pPr>
            <a:r>
              <a:t>TaskCreate x3</a:t>
            </a:r>
            <a:br/>
            <a:r>
              <a:t>(sec, perf, test)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292608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 i="0">
                <a:solidFill>
                  <a:srgbClr val="D4886B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95160" y="1737360"/>
            <a:ext cx="1920240" cy="256032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7223760" y="187452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7424928" y="187452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7626096" y="187452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7772400" y="2194560"/>
            <a:ext cx="347472" cy="347472"/>
          </a:xfrm>
          <a:prstGeom prst="ellipse">
            <a:avLst/>
          </a:prstGeom>
          <a:solidFill>
            <a:srgbClr val="D48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265176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 i="0">
                <a:solidFill>
                  <a:srgbClr val="E8D5B7"/>
                </a:solidFill>
                <a:latin typeface="Calibri"/>
              </a:defRPr>
            </a:pPr>
            <a:r>
              <a:t>Spawn</a:t>
            </a:r>
            <a:br/>
            <a:r>
              <a:t>Agents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86600" y="32461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 i="0">
                <a:solidFill>
                  <a:srgbClr val="C4A882"/>
                </a:solidFill>
                <a:latin typeface="Calibri"/>
              </a:defRPr>
            </a:pPr>
            <a:r>
              <a:t>3 parallel agents</a:t>
            </a:r>
            <a:br/>
            <a:r>
              <a:t>each own context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15400" y="292608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 i="0">
                <a:solidFill>
                  <a:srgbClr val="D4886B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0" y="1737360"/>
            <a:ext cx="1920240" cy="256032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9372600" y="187452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9573768" y="187452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9774936" y="187452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9921240" y="2194560"/>
            <a:ext cx="347472" cy="347472"/>
          </a:xfrm>
          <a:prstGeom prst="ellipse">
            <a:avLst/>
          </a:prstGeom>
          <a:solidFill>
            <a:srgbClr val="D48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0" y="265176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 i="0">
                <a:solidFill>
                  <a:srgbClr val="E8D5B7"/>
                </a:solidFill>
                <a:latin typeface="Calibri"/>
              </a:defRPr>
            </a:pPr>
            <a:r>
              <a:t>Collect</a:t>
            </a:r>
            <a:br/>
            <a:r>
              <a:t>&amp; Report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35440" y="32461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 i="0">
                <a:solidFill>
                  <a:srgbClr val="C4A882"/>
                </a:solidFill>
                <a:latin typeface="Calibri"/>
              </a:defRPr>
            </a:pPr>
            <a:r>
              <a:t>Synthesize findings</a:t>
            </a:r>
            <a:br/>
            <a:r>
              <a:t>prioritized output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" y="4572000"/>
            <a:ext cx="10735266" cy="192024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960120" y="470916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1161288" y="470916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1362456" y="470916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645920" y="4645152"/>
            <a:ext cx="9509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7A6E5D"/>
                </a:solidFill>
                <a:latin typeface="Calibri"/>
              </a:defRPr>
            </a:pPr>
            <a:r>
              <a:t>Key Architecture Properties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5074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>
                <a:solidFill>
                  <a:srgbClr val="D4886B"/>
                </a:solidFill>
                <a:latin typeface="Calibri"/>
              </a:rPr>
              <a:t>–  </a:t>
            </a:r>
            <a:r>
              <a:rPr sz="1400">
                <a:solidFill>
                  <a:srgbClr val="C4A882"/>
                </a:solidFill>
                <a:latin typeface="Calibri"/>
              </a:rPr>
              <a:t>Each agent has its own context window -- no cross-contamination between reviewers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>
                <a:solidFill>
                  <a:srgbClr val="D4886B"/>
                </a:solidFill>
                <a:latin typeface="Calibri"/>
              </a:rPr>
              <a:t>–  </a:t>
            </a:r>
            <a:r>
              <a:rPr sz="1400">
                <a:solidFill>
                  <a:srgbClr val="C4A882"/>
                </a:solidFill>
                <a:latin typeface="Calibri"/>
              </a:rPr>
              <a:t>Agents communicate via shared mailbox system for coordination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>
                <a:solidFill>
                  <a:srgbClr val="D4886B"/>
                </a:solidFill>
                <a:latin typeface="Calibri"/>
              </a:rPr>
              <a:t>–  </a:t>
            </a:r>
            <a:r>
              <a:rPr sz="1400">
                <a:solidFill>
                  <a:srgbClr val="C4A882"/>
                </a:solidFill>
                <a:latin typeface="Calibri"/>
              </a:rPr>
              <a:t>Token usage is ~3x a single session (one full Claude instance per reviewer)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>
                <a:solidFill>
                  <a:srgbClr val="D4886B"/>
                </a:solidFill>
                <a:latin typeface="Calibri"/>
              </a:rPr>
              <a:t>–  </a:t>
            </a:r>
            <a:r>
              <a:rPr sz="1400">
                <a:solidFill>
                  <a:srgbClr val="C4A882"/>
                </a:solidFill>
                <a:latin typeface="Calibri"/>
              </a:rPr>
              <a:t>TeamDelete cleans up all resources automatically after synthesis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7A6E5D"/>
                </a:solidFill>
                <a:latin typeface="JetBrains Mono"/>
              </a:defRPr>
            </a:pPr>
            <a: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400" b="0" i="0">
                <a:solidFill>
                  <a:srgbClr val="E8D5B7"/>
                </a:solidFill>
                <a:latin typeface="Georgia"/>
              </a:defRPr>
            </a:pPr>
            <a:r>
              <a:t>Installation &amp; Usage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 i="0">
                <a:solidFill>
                  <a:srgbClr val="E8D5B7"/>
                </a:solidFill>
                <a:latin typeface="Georgia"/>
              </a:defRPr>
            </a:pPr>
            <a:r>
              <a:t>Prerequisites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74519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–  </a:t>
            </a:r>
            <a:r>
              <a:rPr sz="1500">
                <a:solidFill>
                  <a:srgbClr val="C4A882"/>
                </a:solidFill>
                <a:latin typeface="Calibri"/>
              </a:rPr>
              <a:t>Claude Code CLI installed and configured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–  </a:t>
            </a:r>
            <a:r>
              <a:rPr sz="1500">
                <a:solidFill>
                  <a:srgbClr val="C4A882"/>
                </a:solidFill>
                <a:latin typeface="Calibri"/>
              </a:rPr>
              <a:t>GitHub CLI (gh) authenticated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–  </a:t>
            </a:r>
            <a:r>
              <a:rPr sz="1500">
                <a:solidFill>
                  <a:srgbClr val="C4A882"/>
                </a:solidFill>
                <a:latin typeface="Calibri"/>
              </a:rPr>
              <a:t>Agent Teams enabled in settings.json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5029200" cy="160020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60120" y="333756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61288" y="333756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362456" y="333756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45920" y="327355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7A6E5D"/>
                </a:solidFill>
                <a:latin typeface="Calibri"/>
              </a:defRPr>
            </a:pPr>
            <a:r>
              <a:t>Enable Agent Teams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7490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D4886B"/>
                </a:solidFill>
                <a:latin typeface="JetBrains Mono"/>
              </a:defRPr>
            </a:pPr>
            <a:r>
              <a:t>{ "env": {</a:t>
            </a:r>
            <a:br/>
            <a:r>
              <a:t>    "CLAUDE_CODE_EXPERIMENTAL_AGENT_TEAMS": "1"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371600"/>
            <a:ext cx="5120640" cy="201168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537960" y="150876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739128" y="150876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940296" y="150876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23760" y="144475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7A6E5D"/>
                </a:solidFill>
                <a:latin typeface="Calibri"/>
              </a:defRPr>
            </a:pPr>
            <a:r>
              <a:t>Install (Interactive)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920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D4886B"/>
                </a:solidFill>
                <a:latin typeface="JetBrains Mono"/>
              </a:defRPr>
            </a:pPr>
            <a:r>
              <a:t>git clone https://github.com/startappdev/agents.git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D4886B"/>
                </a:solidFill>
                <a:latin typeface="JetBrains Mono"/>
              </a:defRPr>
            </a:pPr>
            <a:r>
              <a:t>cd agents &amp;&amp; ./install.sh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6974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7A6E5D"/>
                </a:solidFill>
                <a:latin typeface="Calibri"/>
              </a:defRPr>
            </a:pPr>
            <a:r>
              <a:t>Interactive installer creates directories,</a:t>
            </a:r>
            <a:br/>
            <a:r>
              <a:t>checks dependencies, sets permissions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611880"/>
            <a:ext cx="5120640" cy="96012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537960" y="374904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739128" y="374904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940296" y="374904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23760" y="368503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7A6E5D"/>
                </a:solidFill>
                <a:latin typeface="Calibri"/>
              </a:defRPr>
            </a:pPr>
            <a:r>
              <a:t>Usage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160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 i="0">
                <a:solidFill>
                  <a:srgbClr val="E8A07A"/>
                </a:solidFill>
                <a:latin typeface="JetBrains Mono"/>
              </a:defRPr>
            </a:pPr>
            <a:r>
              <a:t>/team-review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846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 i="0">
                <a:solidFill>
                  <a:srgbClr val="E8D5B7"/>
                </a:solidFill>
                <a:latin typeface="Georgia"/>
              </a:defRPr>
            </a:pPr>
            <a:r>
              <a:t>Combined Workflow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303520"/>
            <a:ext cx="10698480" cy="77724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60120" y="544068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161288" y="544068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362456" y="544068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5840" y="566928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 i="0">
                <a:solidFill>
                  <a:srgbClr val="E8D5B7"/>
                </a:solidFill>
                <a:latin typeface="Calibri"/>
              </a:defRPr>
            </a:pPr>
            <a:r>
              <a:t>/team-review  (pre-PR comprehensive review)  →  Push PR  →  /greptile-review-loop  (auto-fix &amp; merge)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7A6E5D"/>
                </a:solidFill>
                <a:latin typeface="JetBrains Mono"/>
              </a:defRPr>
            </a:pPr>
            <a: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400" b="0" i="0">
                <a:solidFill>
                  <a:srgbClr val="E8D5B7"/>
                </a:solidFill>
                <a:latin typeface="Georgia"/>
              </a:defRPr>
            </a:pPr>
            <a:r>
              <a:t>The startappdev/agents Ecosystem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 i="1">
                <a:solidFill>
                  <a:srgbClr val="D4886B"/>
                </a:solidFill>
                <a:latin typeface="Calibri"/>
              </a:defRPr>
            </a:pPr>
            <a:r>
              <a:t>Agents, Commands, and Hooks -- a curated review toolkit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276600" cy="2130552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60120" y="187452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1288" y="187452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362456" y="187452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45920" y="181051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7A6E5D"/>
                </a:solidFill>
                <a:latin typeface="Calibri"/>
              </a:defRPr>
            </a:pPr>
            <a:r>
              <a:t>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 i="0">
                <a:solidFill>
                  <a:srgbClr val="D4886B"/>
                </a:solidFill>
                <a:latin typeface="JetBrains Mono"/>
              </a:defRPr>
            </a:pPr>
            <a:r>
              <a:t>~/.claude/agents/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5176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C4A882"/>
                </a:solidFill>
                <a:latin typeface="Calibri"/>
              </a:defRPr>
            </a:pPr>
            <a:r>
              <a:t>greptile-review-loop.md -- autonomous review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10896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C4A882"/>
                </a:solidFill>
                <a:latin typeface="Calibri"/>
              </a:defRPr>
            </a:pPr>
            <a:r>
              <a:t>code-fixer.md -- single-file targeted fix agent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737360"/>
            <a:ext cx="3276600" cy="2130552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72000" y="187452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773168" y="187452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974336" y="187452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57800" y="181051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7A6E5D"/>
                </a:solidFill>
                <a:latin typeface="Calibri"/>
              </a:defRPr>
            </a:pPr>
            <a:r>
              <a:t>Commands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2402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 i="0">
                <a:solidFill>
                  <a:srgbClr val="D4886B"/>
                </a:solidFill>
                <a:latin typeface="JetBrains Mono"/>
              </a:defRPr>
            </a:pPr>
            <a:r>
              <a:t>~/.claude/commands/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65176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C4A882"/>
                </a:solidFill>
                <a:latin typeface="Calibri"/>
              </a:defRPr>
            </a:pPr>
            <a:r>
              <a:t>/team-review -- 3 parallel reviewer agents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10896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C4A882"/>
                </a:solidFill>
                <a:latin typeface="Calibri"/>
              </a:defRPr>
            </a:pPr>
            <a:r>
              <a:t>/greptile-review-loop -- auto review-fix-merge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0" y="1737360"/>
            <a:ext cx="3276600" cy="2130552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183880" y="187452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385048" y="187452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586216" y="187452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869680" y="181051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7A6E5D"/>
                </a:solidFill>
                <a:latin typeface="Calibri"/>
              </a:defRPr>
            </a:pPr>
            <a:r>
              <a:t>Hooks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80" y="22402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 i="0">
                <a:solidFill>
                  <a:srgbClr val="D4886B"/>
                </a:solidFill>
                <a:latin typeface="JetBrains Mono"/>
              </a:defRPr>
            </a:pPr>
            <a:r>
              <a:t>~/.claude/hooks/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80" y="265176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C4A882"/>
                </a:solidFill>
                <a:latin typeface="Calibri"/>
              </a:defRPr>
            </a:pPr>
            <a:r>
              <a:t>post-pr-greptile-hook.sh -- notifies user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80" y="310896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C4A882"/>
                </a:solidFill>
                <a:latin typeface="Calibri"/>
              </a:defRPr>
            </a:pPr>
            <a:r>
              <a:t>after PR creation to run review loop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754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 i="0">
                <a:solidFill>
                  <a:srgbClr val="E8D5B7"/>
                </a:solidFill>
                <a:latin typeface="Georgia"/>
              </a:defRPr>
            </a:pPr>
            <a:r>
              <a:t>End-to-End Autonomous Review Pipeline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212080"/>
            <a:ext cx="10698480" cy="91440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960120" y="534924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161288" y="534924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362456" y="534924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05840" y="557784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 i="0">
                <a:solidFill>
                  <a:srgbClr val="E8D5B7"/>
                </a:solidFill>
                <a:latin typeface="Calibri"/>
              </a:defRPr>
            </a:pPr>
            <a:r>
              <a:t>Write Code  →  /team-review (pre-PR)  →  Push PR  →  /greptile-review-loop (auto-fix)  →  Merge (score ≥ 4/5)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7A6E5D"/>
                </a:solidFill>
                <a:latin typeface="JetBrains Mono"/>
              </a:defRPr>
            </a:pPr>
            <a:r>
              <a:t>6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400" b="0" i="0">
                <a:solidFill>
                  <a:srgbClr val="E8D5B7"/>
                </a:solidFill>
                <a:latin typeface="Georgia"/>
              </a:defRPr>
            </a:pPr>
            <a:r>
              <a:t>Review Output: Consolidated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 i="0">
                <a:solidFill>
                  <a:srgbClr val="E8D5B7"/>
                </a:solidFill>
                <a:latin typeface="Georgia"/>
              </a:defRPr>
            </a:pPr>
            <a:r>
              <a:t>Report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74519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–  </a:t>
            </a:r>
            <a:r>
              <a:rPr sz="1500">
                <a:solidFill>
                  <a:srgbClr val="C4A882"/>
                </a:solidFill>
                <a:latin typeface="Calibri"/>
              </a:rPr>
              <a:t>Security Findings -- grouped by severity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–  </a:t>
            </a:r>
            <a:r>
              <a:rPr sz="1500">
                <a:solidFill>
                  <a:srgbClr val="C4A882"/>
                </a:solidFill>
                <a:latin typeface="Calibri"/>
              </a:rPr>
              <a:t>Performance Findings -- with impact analysis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–  </a:t>
            </a:r>
            <a:r>
              <a:rPr sz="1500">
                <a:solidFill>
                  <a:srgbClr val="C4A882"/>
                </a:solidFill>
                <a:latin typeface="Calibri"/>
              </a:rPr>
              <a:t>Test Coverage Findings -- with remediation paths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–  </a:t>
            </a:r>
            <a:r>
              <a:rPr sz="1500">
                <a:solidFill>
                  <a:srgbClr val="C4A882"/>
                </a:solidFill>
                <a:latin typeface="Calibri"/>
              </a:rPr>
              <a:t>Overall Assessment -- prioritized action items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–  </a:t>
            </a:r>
            <a:r>
              <a:rPr sz="1500">
                <a:solidFill>
                  <a:srgbClr val="C4A882"/>
                </a:solidFill>
                <a:latin typeface="Calibri"/>
              </a:rPr>
              <a:t>File references with line numbers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–  </a:t>
            </a:r>
            <a:r>
              <a:rPr sz="1500">
                <a:solidFill>
                  <a:srgbClr val="C4A882"/>
                </a:solidFill>
                <a:latin typeface="Calibri"/>
              </a:rPr>
              <a:t>Concrete remediation suggestions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0" y="1170432"/>
            <a:ext cx="4099034" cy="292608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537960" y="150876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739128" y="150876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940296" y="150876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23760" y="144475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7A6E5D"/>
                </a:solidFill>
                <a:latin typeface="Calibri"/>
              </a:defRPr>
            </a:pPr>
            <a:r>
              <a:t>Example Finding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2024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D4886B"/>
                </a:solidFill>
                <a:latin typeface="JetBrains Mono"/>
              </a:defRPr>
            </a:pPr>
            <a:r>
              <a:t>## Security: SQL Injection Risk</a:t>
            </a:r>
            <a:br/>
            <a:r>
              <a:t>Severity: HIGH</a:t>
            </a:r>
            <a:br/>
            <a:r>
              <a:t>File: src/api/users.ts:42</a:t>
            </a:r>
            <a:br/>
            <a:br/>
            <a:r>
              <a:t>Raw user input passed directly</a:t>
            </a:r>
            <a:br/>
            <a:r>
              <a:t>to query builder without</a:t>
            </a:r>
            <a:br/>
            <a:r>
              <a:t>parameterization.</a:t>
            </a:r>
            <a:br/>
            <a:br/>
            <a:r>
              <a:t>Fix: Use parameterized queries</a:t>
            </a:r>
            <a:br/>
            <a:r>
              <a:t>via db.query($1, [userId])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03520"/>
            <a:ext cx="10735266" cy="1044728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60120" y="544068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61288" y="544068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362456" y="544068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645920" y="5376672"/>
            <a:ext cx="9509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7A6E5D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76072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E8D5B7"/>
                </a:solidFill>
                <a:latin typeface="Calibri"/>
              </a:defRPr>
            </a:pPr>
            <a:r>
              <a:t>Three specialist reviewers consistently surface issues that single-pass reviews miss -- each agent focuses deeply on its domain without distraction from other dimensions.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7A6E5D"/>
                </a:solidFill>
                <a:latin typeface="JetBrains Mono"/>
              </a:defRPr>
            </a:pPr>
            <a:r>
              <a:t>7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400" b="0" i="0">
                <a:solidFill>
                  <a:srgbClr val="E8D5B7"/>
                </a:solidFill>
                <a:latin typeface="Georgia"/>
              </a:defRPr>
            </a:pPr>
            <a:r>
              <a:t>Cost &amp;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 i="0">
                <a:solidFill>
                  <a:srgbClr val="D4886B"/>
                </a:solidFill>
                <a:latin typeface="JetBrains Mono"/>
              </a:defRPr>
            </a:pPr>
            <a:r>
              <a:t>TOKEN USAGE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74519"/>
            <a:ext cx="5303520" cy="64008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984247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 i="0">
                <a:solidFill>
                  <a:srgbClr val="E8D5B7"/>
                </a:solidFill>
                <a:latin typeface="Calibri"/>
              </a:defRPr>
            </a:pPr>
            <a:r>
              <a:t>Solo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1984247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C4A882"/>
                </a:solidFill>
                <a:latin typeface="Calibri"/>
              </a:defRPr>
            </a:pPr>
            <a:r>
              <a:t>~200K tokens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984247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 i="0">
                <a:solidFill>
                  <a:srgbClr val="D4886B"/>
                </a:solidFill>
                <a:latin typeface="Calibri"/>
              </a:defRPr>
            </a:pPr>
            <a:r>
              <a:t>1x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51759"/>
            <a:ext cx="5303520" cy="64008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761487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 i="0">
                <a:solidFill>
                  <a:srgbClr val="E8D5B7"/>
                </a:solidFill>
                <a:latin typeface="Calibri"/>
              </a:defRPr>
            </a:pPr>
            <a:r>
              <a:t>/team-review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761487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C4A882"/>
                </a:solidFill>
                <a:latin typeface="Calibri"/>
              </a:defRPr>
            </a:pPr>
            <a:r>
              <a:t>~600K tokens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761487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 i="0">
                <a:solidFill>
                  <a:srgbClr val="D4886B"/>
                </a:solidFill>
                <a:latin typeface="Calibri"/>
              </a:defRPr>
            </a:pPr>
            <a:r>
              <a:t>~3x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28999"/>
            <a:ext cx="5303520" cy="64008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3538727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 i="0">
                <a:solidFill>
                  <a:srgbClr val="E8D5B7"/>
                </a:solidFill>
                <a:latin typeface="Calibri"/>
              </a:defRPr>
            </a:pPr>
            <a:r>
              <a:t>9-agent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538727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C4A882"/>
                </a:solidFill>
                <a:latin typeface="Calibri"/>
              </a:defRPr>
            </a:pPr>
            <a:r>
              <a:t>~1.8M tokens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538727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 i="0">
                <a:solidFill>
                  <a:srgbClr val="D4886B"/>
                </a:solidFill>
                <a:latin typeface="Calibri"/>
              </a:defRPr>
            </a:pPr>
            <a:r>
              <a:t>~9x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1417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 i="0">
                <a:solidFill>
                  <a:srgbClr val="D4886B"/>
                </a:solidFill>
                <a:latin typeface="JetBrains Mono"/>
              </a:defRPr>
            </a:pPr>
            <a:r>
              <a:t>WHEN TO USE /TEAM-REVIEW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1874519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 b="1">
                <a:solidFill>
                  <a:srgbClr val="E8D5B7"/>
                </a:solidFill>
                <a:latin typeface="Calibri"/>
              </a:rPr>
              <a:t>Before creating a PR</a:t>
            </a:r>
            <a:r>
              <a:rPr sz="1500">
                <a:solidFill>
                  <a:srgbClr val="C4A882"/>
                </a:solidFill>
                <a:latin typeface="Calibri"/>
              </a:rPr>
              <a:t> — catch issues early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 b="1">
                <a:solidFill>
                  <a:srgbClr val="E8D5B7"/>
                </a:solidFill>
                <a:latin typeface="Calibri"/>
              </a:rPr>
              <a:t>After significant refactors</a:t>
            </a:r>
            <a:r>
              <a:rPr sz="1500">
                <a:solidFill>
                  <a:srgbClr val="C4A882"/>
                </a:solidFill>
                <a:latin typeface="Calibri"/>
              </a:rPr>
              <a:t> — verify no regressions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 b="1">
                <a:solidFill>
                  <a:srgbClr val="E8D5B7"/>
                </a:solidFill>
                <a:latin typeface="Calibri"/>
              </a:rPr>
              <a:t>Security-sensitive changes</a:t>
            </a:r>
            <a:r>
              <a:rPr sz="1500">
                <a:solidFill>
                  <a:srgbClr val="C4A882"/>
                </a:solidFill>
                <a:latin typeface="Calibri"/>
              </a:rPr>
              <a:t> — dedicated security focus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 b="1">
                <a:solidFill>
                  <a:srgbClr val="E8D5B7"/>
                </a:solidFill>
                <a:latin typeface="Calibri"/>
              </a:rPr>
              <a:t>Performance-critical paths</a:t>
            </a:r>
            <a:r>
              <a:rPr sz="1500">
                <a:solidFill>
                  <a:srgbClr val="C4A882"/>
                </a:solidFill>
                <a:latin typeface="Calibri"/>
              </a:rPr>
              <a:t> — dedicated perf analysis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  –  </a:t>
            </a:r>
            <a:r>
              <a:rPr sz="1500" b="1">
                <a:solidFill>
                  <a:srgbClr val="E8D5B7"/>
                </a:solidFill>
                <a:latin typeface="Calibri"/>
              </a:rPr>
              <a:t>New team members</a:t>
            </a:r>
            <a:r>
              <a:rPr sz="1500">
                <a:solidFill>
                  <a:srgbClr val="C4A882"/>
                </a:solidFill>
                <a:latin typeface="Calibri"/>
              </a:rPr>
              <a:t> — comprehensive quality check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754879"/>
            <a:ext cx="10698480" cy="1540817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60120" y="489204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161288" y="489204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362456" y="489204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645920" y="4828032"/>
            <a:ext cx="9509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7A6E5D"/>
                </a:solidFill>
                <a:latin typeface="Calibri"/>
              </a:defRPr>
            </a:pPr>
            <a:r>
              <a:t>Optimization Strategies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212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D4886B"/>
                </a:solidFill>
                <a:latin typeface="Calibri"/>
              </a:rPr>
              <a:t>  –  </a:t>
            </a:r>
            <a:r>
              <a:rPr sz="1400" b="1">
                <a:solidFill>
                  <a:srgbClr val="E8D5B7"/>
                </a:solidFill>
                <a:latin typeface="Calibri"/>
              </a:rPr>
              <a:t>Use Opus for lead, Sonnet for reviewer teammates</a:t>
            </a:r>
            <a:r>
              <a:rPr sz="1400">
                <a:solidFill>
                  <a:srgbClr val="C4A882"/>
                </a:solidFill>
                <a:latin typeface="Calibri"/>
              </a:rPr>
              <a:t> — significant cost reduction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D4886B"/>
                </a:solidFill>
                <a:latin typeface="Calibri"/>
              </a:rPr>
              <a:t>  –  </a:t>
            </a:r>
            <a:r>
              <a:rPr sz="1400">
                <a:solidFill>
                  <a:srgbClr val="C4A882"/>
                </a:solidFill>
                <a:latin typeface="Calibri"/>
              </a:rPr>
              <a:t>Run /team-review selectively on complex changes, not every commit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D4886B"/>
                </a:solidFill>
                <a:latin typeface="Calibri"/>
              </a:rPr>
              <a:t>  –  </a:t>
            </a:r>
            <a:r>
              <a:rPr sz="1400">
                <a:solidFill>
                  <a:srgbClr val="C4A882"/>
                </a:solidFill>
                <a:latin typeface="Calibri"/>
              </a:rPr>
              <a:t>Combine with /greptile-review-loop to avoid duplicate manual review effort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7A6E5D"/>
                </a:solidFill>
                <a:latin typeface="JetBrains Mono"/>
              </a:defRPr>
            </a:pPr>
            <a:r>
              <a:t>8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7315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7A6E5D"/>
                </a:solidFill>
                <a:latin typeface="JetBrains Mono"/>
              </a:defRPr>
            </a:pPr>
            <a:r>
              <a:t>THE CLAUDE BEAST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4400" b="0" i="0">
                <a:solidFill>
                  <a:srgbClr val="E8D5B7"/>
                </a:solidFill>
                <a:latin typeface="Georgia"/>
              </a:defRPr>
            </a:pPr>
            <a:r>
              <a:t>Why /team-review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2743200" cy="18288"/>
          </a:xfrm>
          <a:prstGeom prst="rect">
            <a:avLst/>
          </a:prstGeom>
          <a:solidFill>
            <a:srgbClr val="D48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0" y="2377440"/>
            <a:ext cx="45720" cy="411480"/>
          </a:xfrm>
          <a:prstGeom prst="rect">
            <a:avLst/>
          </a:prstGeom>
          <a:solidFill>
            <a:srgbClr val="D48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23317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 i="0">
                <a:solidFill>
                  <a:srgbClr val="E8D5B7"/>
                </a:solidFill>
                <a:latin typeface="Calibri"/>
              </a:defRPr>
            </a:pPr>
            <a:r>
              <a:t>Zero-Config Specialist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7432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 i="0">
                <a:solidFill>
                  <a:srgbClr val="C4A882"/>
                </a:solidFill>
                <a:latin typeface="Calibri"/>
              </a:defRPr>
            </a:pPr>
            <a:r>
              <a:t>One command deploys three focused reviewers. No setup, no arguments, no configuration files needed.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429000"/>
            <a:ext cx="45720" cy="411480"/>
          </a:xfrm>
          <a:prstGeom prst="rect">
            <a:avLst/>
          </a:prstGeom>
          <a:solidFill>
            <a:srgbClr val="D48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33832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 i="0">
                <a:solidFill>
                  <a:srgbClr val="E8D5B7"/>
                </a:solidFill>
                <a:latin typeface="Calibri"/>
              </a:defRPr>
            </a:pPr>
            <a:r>
              <a:t>Agent Teams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7947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 i="0">
                <a:solidFill>
                  <a:srgbClr val="C4A882"/>
                </a:solidFill>
                <a:latin typeface="Calibri"/>
              </a:defRPr>
            </a:pPr>
            <a:r>
              <a:t>True isolation via independent Claude instances. Each reviewer focuses deeply without cross-contamination.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480560"/>
            <a:ext cx="45720" cy="411480"/>
          </a:xfrm>
          <a:prstGeom prst="rect">
            <a:avLst/>
          </a:prstGeom>
          <a:solidFill>
            <a:srgbClr val="D48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88720" y="44348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 i="0">
                <a:solidFill>
                  <a:srgbClr val="E8D5B7"/>
                </a:solidFill>
                <a:latin typeface="Calibri"/>
              </a:defRPr>
            </a:pPr>
            <a:r>
              <a:t>End-to-End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8463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 i="0">
                <a:solidFill>
                  <a:srgbClr val="C4A882"/>
                </a:solidFill>
                <a:latin typeface="Calibri"/>
              </a:defRPr>
            </a:pPr>
            <a:r>
              <a:t>/team-review (pre-PR) + /greptile-review-loop (post-PR) = fully autonomous code quality.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5486400"/>
            <a:ext cx="10058400" cy="18288"/>
          </a:xfrm>
          <a:prstGeom prst="rect">
            <a:avLst/>
          </a:prstGeom>
          <a:solidFill>
            <a:srgbClr val="D48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562356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1">
                <a:solidFill>
                  <a:srgbClr val="D4886B"/>
                </a:solidFill>
                <a:latin typeface="Calibri"/>
              </a:defRPr>
            </a:pPr>
            <a:r>
              <a:t>github.com/startappdev/agents  |  MIT License  |  /team-review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7A6E5D"/>
                </a:solidFill>
                <a:latin typeface="JetBrains Mono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2058</Words>
  <Application>Microsoft Macintosh PowerPoint</Application>
  <PresentationFormat>Widescreen</PresentationFormat>
  <Paragraphs>224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Haim Ari</cp:lastModifiedBy>
  <cp:revision>7</cp:revision>
  <dcterms:created xsi:type="dcterms:W3CDTF">2013-01-27T09:14:16Z</dcterms:created>
  <dcterms:modified xsi:type="dcterms:W3CDTF">2026-02-27T08:05:30Z</dcterms:modified>
  <cp:category/>
</cp:coreProperties>
</file>