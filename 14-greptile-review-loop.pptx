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728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 Title</a:t>
            </a:r>
          </a:p>
          <a:p>
            <a:endParaRPr/>
          </a:p>
          <a:p>
            <a:r>
              <a:t>Opening: Welcome to The Claude Beast series. Today we're covering /greptile-review-loop -- a Claude Code skill that creates a fully autonomous review-fix-push-merge cycle.</a:t>
            </a:r>
          </a:p>
          <a:p>
            <a:endParaRPr/>
          </a:p>
          <a:p>
            <a:r>
              <a:t>Key points:</a:t>
            </a:r>
          </a:p>
          <a:p>
            <a:r>
              <a:t>- This is a closed-loop system: no human intervention between iterations</a:t>
            </a:r>
          </a:p>
          <a:p>
            <a:r>
              <a:t>- It reviews PRs via Greptile, fixes issues with parallel code-fixer agents, pushes changes, and re-reviews</a:t>
            </a:r>
          </a:p>
          <a:p>
            <a:r>
              <a:t>- It auto-merges when the PR achieves a 4/5 or higher confidence score with zero unaddressed comments</a:t>
            </a:r>
          </a:p>
          <a:p>
            <a:r>
              <a:t>- Safety mechanisms prevent infinite loops: max 5 iterations, hard stops on compilation failures</a:t>
            </a:r>
          </a:p>
          <a:p>
            <a:endParaRPr/>
          </a:p>
          <a:p>
            <a:r>
              <a:t>Transition: Let's see how the loop works step by step.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2: What It Does</a:t>
            </a:r>
          </a:p>
          <a:p>
            <a:endParaRPr/>
          </a:p>
          <a:p>
            <a:r>
              <a:t>Opening: The greptile-review-loop is a fully autonomous agent that manages the entire PR lifecycle from creation through merge.</a:t>
            </a:r>
          </a:p>
          <a:p>
            <a:endParaRPr/>
          </a:p>
          <a:p>
            <a:r>
              <a:t>On the capabilities side: it auto-detects your latest open PR or creates one from scratch, triggers Greptile reviews, spawns parallel code-fixer agents to address issues, validates all fixes with language-appropriate tooling, and auto-merges when quality thresholds are met.</a:t>
            </a:r>
          </a:p>
          <a:p>
            <a:endParaRPr/>
          </a:p>
          <a:p>
            <a:r>
              <a:t>On the safety side: it tracks handled comment IDs to prevent re-fixing, never triggers a review while one is in progress, never merges below 3/5, caps at 5 iterations, and always validates before pushing.</a:t>
            </a:r>
          </a:p>
          <a:p>
            <a:endParaRPr/>
          </a:p>
          <a:p>
            <a:r>
              <a:t>The key insight: this is genuinely hands-off. Once you invoke it, no human intervention is needed until the final status report.</a:t>
            </a:r>
          </a:p>
          <a:p>
            <a:endParaRPr/>
          </a:p>
          <a:p>
            <a:r>
              <a:t>Transition: Let's walk through the loop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3: Loop Architecture</a:t>
            </a:r>
          </a:p>
          <a:p>
            <a:endParaRPr/>
          </a:p>
          <a:p>
            <a:r>
              <a:t>Opening: The loop follows a 5-step cyclic architecture with state tracking across iterations.</a:t>
            </a:r>
          </a:p>
          <a:p>
            <a:endParaRPr/>
          </a:p>
          <a:p>
            <a:r>
              <a:t>Step 1 initializes by detecting or creating the PR and setting state variables.</a:t>
            </a:r>
          </a:p>
          <a:p>
            <a:endParaRPr/>
          </a:p>
          <a:p>
            <a:r>
              <a:t>Step 2 checks review status -- it polls every 30 seconds, waits up to 10 minutes for a review to complete, or triggers a new one if needed.</a:t>
            </a:r>
          </a:p>
          <a:p>
            <a:endParaRPr/>
          </a:p>
          <a:p>
            <a:r>
              <a:t>Step 3 is the central decision point. It extracts the score, filters comments using HANDLED_IDS and LAST_PUSH_ISO to identify only new unaddressed issues, then decides: merge if score &gt;= 4/5, hard stop if score &lt;= 3/5, or continue fixing if there are new issues.</a:t>
            </a:r>
          </a:p>
          <a:p>
            <a:endParaRPr/>
          </a:p>
          <a:p>
            <a:r>
              <a:t>Step 4 spawns parallel code-fixer agents (one per file), validates all fixes with language-appropriate tools, then commits and pushes.</a:t>
            </a:r>
          </a:p>
          <a:p>
            <a:endParaRPr/>
          </a:p>
          <a:p>
            <a:r>
              <a:t>Step 5 waits up to 2 minutes for Greptile's auto-review before manually triggering one.</a:t>
            </a:r>
          </a:p>
          <a:p>
            <a:endParaRPr/>
          </a:p>
          <a:p>
            <a:r>
              <a:t>Four state variables persist across iterations: ITERATION counter, HANDLED_IDS to prevent re-fixing, LAST_PUSH_ISO for timestamp-based filtering, and PR_NUMBER.</a:t>
            </a:r>
          </a:p>
          <a:p>
            <a:endParaRPr/>
          </a:p>
          <a:p>
            <a:r>
              <a:t>Transition: Let's look at Step 3 in detail -- the decision matrix.</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5: Code-Fixer Agents</a:t>
            </a:r>
          </a:p>
          <a:p>
            <a:endParaRPr/>
          </a:p>
          <a:p>
            <a:r>
              <a:t>Opening: When the decision matrix identifies new issues, the loop groups them by file path and spawns a code-fixer agent for each affected file.</a:t>
            </a:r>
          </a:p>
          <a:p>
            <a:endParaRPr/>
          </a:p>
          <a:p>
            <a:r>
              <a:t>Each code-fixer agent is scoped to a single file. It reads the file, reads the Greptile comments for that file, applies a targeted fix, and validates it with language-appropriate tooling.</a:t>
            </a:r>
          </a:p>
          <a:p>
            <a:endParaRPr/>
          </a:p>
          <a:p>
            <a:r>
              <a:t>The validation matrix supports TypeScript (tsc --noEmit), Python (py_compile), Go (go build), and Rust (cargo check). If validation fails, it's a hard stop -- broken fixes don't get pushed.</a:t>
            </a:r>
          </a:p>
          <a:p>
            <a:endParaRPr/>
          </a:p>
          <a:p>
            <a:r>
              <a:t>Key isolation properties: single-file scope prevents cascading changes, strict verification ensures build integrity, and parallel execution means 5 file issues spawn 5 agents simultaneously.</a:t>
            </a:r>
          </a:p>
          <a:p>
            <a:endParaRPr/>
          </a:p>
          <a:p>
            <a:r>
              <a:t>Transition: Let's see how it integrates with Greptile.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6: Greptile Integration</a:t>
            </a:r>
          </a:p>
          <a:p>
            <a:endParaRPr/>
          </a:p>
          <a:p>
            <a:r>
              <a:t>Opening: The loop orchestrates six Greptile integration points in a precise sequence.</a:t>
            </a:r>
          </a:p>
          <a:p>
            <a:endParaRPr/>
          </a:p>
          <a:p>
            <a:r>
              <a:t>get_merge_request is the primary source of truth, providing addressed vs unaddressed comment analysis. list_code_reviews tracks review status through its lifecycle. get_code_review extracts the numerical score from the review body. list_merge_request_comments filters for Greptile-generated, unaddressed comments.</a:t>
            </a:r>
          </a:p>
          <a:p>
            <a:endParaRPr/>
          </a:p>
          <a:p>
            <a:r>
              <a:t>An important design decision: reviews are triggered via GitHub comment, not the MCP trigger_code_review tool. This respects Greptile's auto-review detection. After pushing fixes, the agent waits 2 minutes for Greptile to automatically detect the change before manually triggering.</a:t>
            </a:r>
          </a:p>
          <a:p>
            <a:endParaRPr/>
          </a:p>
          <a:p>
            <a:r>
              <a:t>Transition: Let's look at the hard stop conditions.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7: Hard Stops &amp; Safety</a:t>
            </a:r>
          </a:p>
          <a:p>
            <a:endParaRPr/>
          </a:p>
          <a:p>
            <a:r>
              <a:t>Opening: Safety is built into every layer of the loop.</a:t>
            </a:r>
          </a:p>
          <a:p>
            <a:endParaRPr/>
          </a:p>
          <a:p>
            <a:r>
              <a:t>Six hard stop conditions provide clear exit points: successful merge, score too low, max iterations, build failure, review timeout, and missing score data.</a:t>
            </a:r>
          </a:p>
          <a:p>
            <a:endParaRPr/>
          </a:p>
          <a:p>
            <a:r>
              <a:t>Five safety mechanisms prevent harmful behavior: HANDLED_IDS prevents duplicate work, LAST_PUSH_ISO with a 30-second clock-skew buffer ensures only new comments are processed, single-file isolation prevents cascading changes, auto-review awareness avoids duplicate reviews, and the validation gate ensures build integrity.</a:t>
            </a:r>
          </a:p>
          <a:p>
            <a:endParaRPr/>
          </a:p>
          <a:p>
            <a:r>
              <a:t>The design principle is fail safe, fail fast. Every decision point has an explicit exit condition. The agent never enters an unbounded loop.</a:t>
            </a:r>
          </a:p>
          <a:p>
            <a:endParaRPr/>
          </a:p>
          <a:p>
            <a:r>
              <a:t>Transition: Let's see the installation and workflow.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8: Installation &amp; Workflow</a:t>
            </a:r>
          </a:p>
          <a:p>
            <a:endParaRPr/>
          </a:p>
          <a:p>
            <a:r>
              <a:t>Opening: Installation is straightforward. You need Claude Code, GitHub CLI, the Greptile GitHub App installed on your repo, and the Greptile MCP Plugin active.</a:t>
            </a:r>
          </a:p>
          <a:p>
            <a:endParaRPr/>
          </a:p>
          <a:p>
            <a:r>
              <a:t>Clone the startappdev/agents repo and run the interactive installer. It handles everything.</a:t>
            </a:r>
          </a:p>
          <a:p>
            <a:endParaRPr/>
          </a:p>
          <a:p>
            <a:r>
              <a:t>The typical developer workflow is simple: write code on a feature branch, type /greptile-review-loop, and walk away. The agent handles PR creation, review, fixing, and merging. You come back to a final status report.</a:t>
            </a:r>
          </a:p>
          <a:p>
            <a:endParaRPr/>
          </a:p>
          <a:p>
            <a:r>
              <a:t>Four components are installed: the main agent definition, the code-fixer sub-agent, the slash command entry point, and an optional post-PR notification hook.</a:t>
            </a:r>
          </a:p>
          <a:p>
            <a:endParaRPr/>
          </a:p>
          <a:p>
            <a:r>
              <a:t>Transition: Let's look at the final status report.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9: Final Report &amp; Vision</a:t>
            </a:r>
          </a:p>
          <a:p>
            <a:endParaRPr/>
          </a:p>
          <a:p>
            <a:r>
              <a:t>Opening: When the loop completes, you get a comprehensive final status report: PR number, final score, iteration count, all fixes applied, and total time.</a:t>
            </a:r>
          </a:p>
          <a:p>
            <a:endParaRPr/>
          </a:p>
          <a:p>
            <a:r>
              <a:t>In a typical run, 2-3 iterations over about 12 minutes produces a merged PR with a 5/5 score. That's comprehensive code review and remediation without any human intervention.</a:t>
            </a:r>
          </a:p>
          <a:p>
            <a:endParaRPr/>
          </a:p>
          <a:p>
            <a:r>
              <a:t>The bigger vision: this is a proof of concept for the autonomous development loop. Human expresses intent, coding agent executes, validation agent reviews, fix agent remediates, loop until approved. The developer's role shifts from code reviewer to intent expresser.</a:t>
            </a:r>
          </a:p>
          <a:p>
            <a:endParaRPr/>
          </a:p>
          <a:p>
            <a:r>
              <a:t>Transition: Let's close with key takeaways.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NOTES - Slide 10: Closing</a:t>
            </a:r>
          </a:p>
          <a:p>
            <a:endParaRPr/>
          </a:p>
          <a:p>
            <a:r>
              <a:t>Opening: Three key takeaways.</a:t>
            </a:r>
          </a:p>
          <a:p>
            <a:endParaRPr/>
          </a:p>
          <a:p>
            <a:r>
              <a:t>First, truly autonomous. One command and zero human intervention. The PR is created, reviewed, fixed, and merged automatically. You come back to a status report.</a:t>
            </a:r>
          </a:p>
          <a:p>
            <a:endParaRPr/>
          </a:p>
          <a:p>
            <a:r>
              <a:t>Second, safety by design. The 5-iteration cap, HANDLED_IDS deduplication, build validation, and score thresholds mean every edge case has an explicit exit. The agent never enters an unbounded loop or pushes broken code.</a:t>
            </a:r>
          </a:p>
          <a:p>
            <a:endParaRPr/>
          </a:p>
          <a:p>
            <a:r>
              <a:t>Third, the future of code quality. The review bottleneck -- waiting for human reviewers -- is eliminated. The developer writes code, agents handle the rest.</a:t>
            </a:r>
          </a:p>
          <a:p>
            <a:endParaRPr/>
          </a:p>
          <a:p>
            <a:r>
              <a:t>/greptile-review-loop is available in the startappdev/agents repository under the MIT license. Try it on your next PR.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/greptile-review-loop</a:t>
            </a:r>
          </a:p>
        </p:txBody>
      </p:sp>
      <p:sp>
        <p:nvSpPr>
          <p:cNvPr id="4" name="TextBox 3"/>
          <p:cNvSpPr txBox="1"/>
          <p:nvPr/>
        </p:nvSpPr>
        <p:spPr>
          <a:xfrm>
            <a:off x="731520" y="32918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Autonomous Review-Fix-Merge for Every Pull Request</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Zero Human Intervention  |  Max 5 Iterations  |  Auto-Merge at 4/5</a:t>
            </a:r>
          </a:p>
        </p:txBody>
      </p:sp>
      <p:sp>
        <p:nvSpPr>
          <p:cNvPr id="7" name="TextBox 6"/>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 /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What Is /greptile-review-loop?</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A fully autonomous agent that manages the entire PR lifecycle</a:t>
            </a:r>
          </a:p>
        </p:txBody>
      </p:sp>
      <p:sp>
        <p:nvSpPr>
          <p:cNvPr id="4" name="Rounded Rectangle 3"/>
          <p:cNvSpPr/>
          <p:nvPr/>
        </p:nvSpPr>
        <p:spPr>
          <a:xfrm>
            <a:off x="731520" y="1737360"/>
            <a:ext cx="1051560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810512"/>
            <a:ext cx="9326880" cy="320040"/>
          </a:xfrm>
          <a:prstGeom prst="rect">
            <a:avLst/>
          </a:prstGeom>
          <a:noFill/>
        </p:spPr>
        <p:txBody>
          <a:bodyPr wrap="square">
            <a:spAutoFit/>
          </a:bodyPr>
          <a:lstStyle/>
          <a:p>
            <a:pPr algn="ctr">
              <a:spcAft>
                <a:spcPts val="0"/>
              </a:spcAft>
              <a:defRPr sz="1100" b="0" i="0">
                <a:solidFill>
                  <a:srgbClr val="7A6E5D"/>
                </a:solidFill>
                <a:latin typeface="Calibri"/>
              </a:defRPr>
            </a:pPr>
            <a:r>
              <a:t>Core Concept</a:t>
            </a:r>
          </a:p>
        </p:txBody>
      </p:sp>
      <p:sp>
        <p:nvSpPr>
          <p:cNvPr id="9" name="TextBox 8"/>
          <p:cNvSpPr txBox="1"/>
          <p:nvPr/>
        </p:nvSpPr>
        <p:spPr>
          <a:xfrm>
            <a:off x="1097280" y="2240280"/>
            <a:ext cx="9875520" cy="640080"/>
          </a:xfrm>
          <a:prstGeom prst="rect">
            <a:avLst/>
          </a:prstGeom>
          <a:noFill/>
        </p:spPr>
        <p:txBody>
          <a:bodyPr wrap="square">
            <a:spAutoFit/>
          </a:bodyPr>
          <a:lstStyle/>
          <a:p>
            <a:pPr algn="l">
              <a:spcAft>
                <a:spcPts val="0"/>
              </a:spcAft>
              <a:defRPr sz="1600" b="0" i="0">
                <a:solidFill>
                  <a:srgbClr val="E8D5B7"/>
                </a:solidFill>
                <a:latin typeface="Calibri"/>
              </a:defRPr>
            </a:pPr>
            <a:r>
              <a:t>One command kicks off a closed loop: detect/create PR → trigger Greptile review → analyze comments → fix issues in parallel → push → re-review → repeat until merge or hard stop.</a:t>
            </a:r>
          </a:p>
        </p:txBody>
      </p:sp>
      <p:sp>
        <p:nvSpPr>
          <p:cNvPr id="10" name="Rounded Rectangle 9"/>
          <p:cNvSpPr/>
          <p:nvPr/>
        </p:nvSpPr>
        <p:spPr>
          <a:xfrm>
            <a:off x="731520" y="3108960"/>
            <a:ext cx="5120640" cy="3017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60120" y="32461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61288" y="32461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362456" y="32461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318211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Capabilities</a:t>
            </a:r>
          </a:p>
        </p:txBody>
      </p:sp>
      <p:sp>
        <p:nvSpPr>
          <p:cNvPr id="15" name="TextBox 14"/>
          <p:cNvSpPr txBox="1"/>
          <p:nvPr/>
        </p:nvSpPr>
        <p:spPr>
          <a:xfrm>
            <a:off x="1005840" y="3657600"/>
            <a:ext cx="4572000" cy="228600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Auto-detects or creates PR from current branch</a:t>
            </a:r>
          </a:p>
          <a:p>
            <a:pPr>
              <a:spcBef>
                <a:spcPts val="200"/>
              </a:spcBef>
              <a:spcAft>
                <a:spcPts val="800"/>
              </a:spcAft>
            </a:pPr>
            <a:r>
              <a:rPr sz="1400">
                <a:solidFill>
                  <a:srgbClr val="D4886B"/>
                </a:solidFill>
                <a:latin typeface="Calibri"/>
              </a:rPr>
              <a:t>–  </a:t>
            </a:r>
            <a:r>
              <a:rPr sz="1400">
                <a:solidFill>
                  <a:srgbClr val="C4A882"/>
                </a:solidFill>
                <a:latin typeface="Calibri"/>
              </a:rPr>
              <a:t>Triggers Greptile code reviews via @greptileai</a:t>
            </a:r>
          </a:p>
          <a:p>
            <a:pPr>
              <a:spcBef>
                <a:spcPts val="200"/>
              </a:spcBef>
              <a:spcAft>
                <a:spcPts val="800"/>
              </a:spcAft>
            </a:pPr>
            <a:r>
              <a:rPr sz="1400">
                <a:solidFill>
                  <a:srgbClr val="D4886B"/>
                </a:solidFill>
                <a:latin typeface="Calibri"/>
              </a:rPr>
              <a:t>–  </a:t>
            </a:r>
            <a:r>
              <a:rPr sz="1400">
                <a:solidFill>
                  <a:srgbClr val="C4A882"/>
                </a:solidFill>
                <a:latin typeface="Calibri"/>
              </a:rPr>
              <a:t>Spawns parallel code-fixer agents (one per file)</a:t>
            </a:r>
          </a:p>
          <a:p>
            <a:pPr>
              <a:spcBef>
                <a:spcPts val="200"/>
              </a:spcBef>
              <a:spcAft>
                <a:spcPts val="800"/>
              </a:spcAft>
            </a:pPr>
            <a:r>
              <a:rPr sz="1400">
                <a:solidFill>
                  <a:srgbClr val="D4886B"/>
                </a:solidFill>
                <a:latin typeface="Calibri"/>
              </a:rPr>
              <a:t>–  </a:t>
            </a:r>
            <a:r>
              <a:rPr sz="1400">
                <a:solidFill>
                  <a:srgbClr val="C4A882"/>
                </a:solidFill>
                <a:latin typeface="Calibri"/>
              </a:rPr>
              <a:t>Validates fixes with tsc, py_compile, go build, cargo</a:t>
            </a:r>
          </a:p>
          <a:p>
            <a:pPr>
              <a:spcBef>
                <a:spcPts val="200"/>
              </a:spcBef>
              <a:spcAft>
                <a:spcPts val="800"/>
              </a:spcAft>
            </a:pPr>
            <a:r>
              <a:rPr sz="1400">
                <a:solidFill>
                  <a:srgbClr val="D4886B"/>
                </a:solidFill>
                <a:latin typeface="Calibri"/>
              </a:rPr>
              <a:t>–  </a:t>
            </a:r>
            <a:r>
              <a:rPr sz="1400">
                <a:solidFill>
                  <a:srgbClr val="C4A882"/>
                </a:solidFill>
                <a:latin typeface="Calibri"/>
              </a:rPr>
              <a:t>Squash-merges at score ≥ 4/5 + zero unaddressed</a:t>
            </a:r>
          </a:p>
          <a:p>
            <a:pPr>
              <a:spcBef>
                <a:spcPts val="200"/>
              </a:spcBef>
              <a:spcAft>
                <a:spcPts val="800"/>
              </a:spcAft>
            </a:pPr>
            <a:r>
              <a:rPr sz="1400">
                <a:solidFill>
                  <a:srgbClr val="D4886B"/>
                </a:solidFill>
                <a:latin typeface="Calibri"/>
              </a:rPr>
              <a:t>–  </a:t>
            </a:r>
            <a:r>
              <a:rPr sz="1400">
                <a:solidFill>
                  <a:srgbClr val="C4A882"/>
                </a:solidFill>
                <a:latin typeface="Calibri"/>
              </a:rPr>
              <a:t>Outputs final status report with iteration count</a:t>
            </a:r>
          </a:p>
        </p:txBody>
      </p:sp>
      <p:sp>
        <p:nvSpPr>
          <p:cNvPr id="16" name="Rounded Rectangle 15"/>
          <p:cNvSpPr/>
          <p:nvPr/>
        </p:nvSpPr>
        <p:spPr>
          <a:xfrm>
            <a:off x="6309360" y="3108960"/>
            <a:ext cx="5120640" cy="30175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537960" y="32461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739128" y="32461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940296" y="32461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23760" y="318211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Safety Guarantees</a:t>
            </a:r>
          </a:p>
        </p:txBody>
      </p:sp>
      <p:sp>
        <p:nvSpPr>
          <p:cNvPr id="21" name="TextBox 20"/>
          <p:cNvSpPr txBox="1"/>
          <p:nvPr/>
        </p:nvSpPr>
        <p:spPr>
          <a:xfrm>
            <a:off x="6583680" y="3657600"/>
            <a:ext cx="4572000" cy="228600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NEVER re-fixes previously handled comments</a:t>
            </a:r>
          </a:p>
          <a:p>
            <a:pPr>
              <a:spcBef>
                <a:spcPts val="200"/>
              </a:spcBef>
              <a:spcAft>
                <a:spcPts val="800"/>
              </a:spcAft>
            </a:pPr>
            <a:r>
              <a:rPr sz="1400">
                <a:solidFill>
                  <a:srgbClr val="D4886B"/>
                </a:solidFill>
                <a:latin typeface="Calibri"/>
              </a:rPr>
              <a:t>–  </a:t>
            </a:r>
            <a:r>
              <a:rPr sz="1400">
                <a:solidFill>
                  <a:srgbClr val="C4A882"/>
                </a:solidFill>
                <a:latin typeface="Calibri"/>
              </a:rPr>
              <a:t>NEVER triggers review while one is in progress</a:t>
            </a:r>
          </a:p>
          <a:p>
            <a:pPr>
              <a:spcBef>
                <a:spcPts val="200"/>
              </a:spcBef>
              <a:spcAft>
                <a:spcPts val="800"/>
              </a:spcAft>
            </a:pPr>
            <a:r>
              <a:rPr sz="1400">
                <a:solidFill>
                  <a:srgbClr val="D4886B"/>
                </a:solidFill>
                <a:latin typeface="Calibri"/>
              </a:rPr>
              <a:t>–  </a:t>
            </a:r>
            <a:r>
              <a:rPr sz="1400">
                <a:solidFill>
                  <a:srgbClr val="C4A882"/>
                </a:solidFill>
                <a:latin typeface="Calibri"/>
              </a:rPr>
              <a:t>NEVER merges PR with score ≤ 3/5</a:t>
            </a:r>
          </a:p>
          <a:p>
            <a:pPr>
              <a:spcBef>
                <a:spcPts val="200"/>
              </a:spcBef>
              <a:spcAft>
                <a:spcPts val="800"/>
              </a:spcAft>
            </a:pPr>
            <a:r>
              <a:rPr sz="1400">
                <a:solidFill>
                  <a:srgbClr val="D4886B"/>
                </a:solidFill>
                <a:latin typeface="Calibri"/>
              </a:rPr>
              <a:t>–  </a:t>
            </a:r>
            <a:r>
              <a:rPr sz="1400">
                <a:solidFill>
                  <a:srgbClr val="C4A882"/>
                </a:solidFill>
                <a:latin typeface="Calibri"/>
              </a:rPr>
              <a:t>NEVER loops beyond 5 iterations</a:t>
            </a:r>
          </a:p>
          <a:p>
            <a:pPr>
              <a:spcBef>
                <a:spcPts val="200"/>
              </a:spcBef>
              <a:spcAft>
                <a:spcPts val="800"/>
              </a:spcAft>
            </a:pPr>
            <a:r>
              <a:rPr sz="1400">
                <a:solidFill>
                  <a:srgbClr val="D4886B"/>
                </a:solidFill>
                <a:latin typeface="Calibri"/>
              </a:rPr>
              <a:t>–  </a:t>
            </a:r>
            <a:r>
              <a:rPr sz="1400">
                <a:solidFill>
                  <a:srgbClr val="C4A882"/>
                </a:solidFill>
                <a:latin typeface="Calibri"/>
              </a:rPr>
              <a:t>NEVER pushes code without validation first</a:t>
            </a:r>
          </a:p>
          <a:p>
            <a:pPr>
              <a:spcBef>
                <a:spcPts val="200"/>
              </a:spcBef>
              <a:spcAft>
                <a:spcPts val="800"/>
              </a:spcAft>
            </a:pPr>
            <a:r>
              <a:rPr sz="1400">
                <a:solidFill>
                  <a:srgbClr val="D4886B"/>
                </a:solidFill>
                <a:latin typeface="Calibri"/>
              </a:rPr>
              <a:t>–  </a:t>
            </a:r>
            <a:r>
              <a:rPr sz="1400">
                <a:solidFill>
                  <a:srgbClr val="C4A882"/>
                </a:solidFill>
                <a:latin typeface="Calibri"/>
              </a:rPr>
              <a:t>Tracks HANDLED_IDS to prevent duplicate work</a:t>
            </a:r>
          </a:p>
        </p:txBody>
      </p:sp>
      <p:sp>
        <p:nvSpPr>
          <p:cNvPr id="22" name="TextBox 2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The 5-Step Loop Architecture</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Cyclic execution with state tracking across iterations</a:t>
            </a:r>
          </a:p>
        </p:txBody>
      </p:sp>
      <p:sp>
        <p:nvSpPr>
          <p:cNvPr id="4" name="Rounded Rectangle 3"/>
          <p:cNvSpPr/>
          <p:nvPr/>
        </p:nvSpPr>
        <p:spPr>
          <a:xfrm>
            <a:off x="548640" y="1737360"/>
            <a:ext cx="19202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698938" y="2144268"/>
            <a:ext cx="347472" cy="347472"/>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1</a:t>
            </a:r>
          </a:p>
        </p:txBody>
      </p:sp>
      <p:sp>
        <p:nvSpPr>
          <p:cNvPr id="9" name="TextBox 8"/>
          <p:cNvSpPr txBox="1"/>
          <p:nvPr/>
        </p:nvSpPr>
        <p:spPr>
          <a:xfrm>
            <a:off x="640080" y="2651760"/>
            <a:ext cx="1737360" cy="502920"/>
          </a:xfrm>
          <a:prstGeom prst="rect">
            <a:avLst/>
          </a:prstGeom>
          <a:noFill/>
        </p:spPr>
        <p:txBody>
          <a:bodyPr wrap="square">
            <a:spAutoFit/>
          </a:bodyPr>
          <a:lstStyle/>
          <a:p>
            <a:pPr algn="ctr">
              <a:spcAft>
                <a:spcPts val="0"/>
              </a:spcAft>
              <a:defRPr sz="1400" b="1" i="0">
                <a:solidFill>
                  <a:srgbClr val="E8D5B7"/>
                </a:solidFill>
                <a:latin typeface="Calibri"/>
              </a:defRPr>
            </a:pPr>
            <a:r>
              <a:t>Initialize</a:t>
            </a:r>
          </a:p>
        </p:txBody>
      </p:sp>
      <p:sp>
        <p:nvSpPr>
          <p:cNvPr id="10" name="TextBox 9"/>
          <p:cNvSpPr txBox="1"/>
          <p:nvPr/>
        </p:nvSpPr>
        <p:spPr>
          <a:xfrm>
            <a:off x="640080" y="3154680"/>
            <a:ext cx="1737360" cy="640080"/>
          </a:xfrm>
          <a:prstGeom prst="rect">
            <a:avLst/>
          </a:prstGeom>
          <a:noFill/>
        </p:spPr>
        <p:txBody>
          <a:bodyPr wrap="square">
            <a:spAutoFit/>
          </a:bodyPr>
          <a:lstStyle/>
          <a:p>
            <a:pPr algn="ctr">
              <a:spcAft>
                <a:spcPts val="0"/>
              </a:spcAft>
              <a:defRPr sz="1200" b="0" i="0">
                <a:solidFill>
                  <a:srgbClr val="C4A882"/>
                </a:solidFill>
                <a:latin typeface="Calibri"/>
              </a:defRPr>
            </a:pPr>
            <a:r>
              <a:t>Detect/create PR</a:t>
            </a:r>
            <a:br/>
            <a:r>
              <a:t>Set state vars</a:t>
            </a:r>
          </a:p>
        </p:txBody>
      </p:sp>
      <p:sp>
        <p:nvSpPr>
          <p:cNvPr id="11" name="TextBox 10"/>
          <p:cNvSpPr txBox="1"/>
          <p:nvPr/>
        </p:nvSpPr>
        <p:spPr>
          <a:xfrm>
            <a:off x="2468880" y="2834640"/>
            <a:ext cx="228600" cy="320040"/>
          </a:xfrm>
          <a:prstGeom prst="rect">
            <a:avLst/>
          </a:prstGeom>
          <a:noFill/>
        </p:spPr>
        <p:txBody>
          <a:bodyPr wrap="square">
            <a:spAutoFit/>
          </a:bodyPr>
          <a:lstStyle/>
          <a:p>
            <a:pPr algn="ctr">
              <a:spcAft>
                <a:spcPts val="0"/>
              </a:spcAft>
              <a:defRPr sz="1400" b="0" i="0">
                <a:solidFill>
                  <a:srgbClr val="D4886B"/>
                </a:solidFill>
                <a:latin typeface="Calibri"/>
              </a:defRPr>
            </a:pPr>
            <a:r>
              <a:t>▶</a:t>
            </a:r>
          </a:p>
        </p:txBody>
      </p:sp>
      <p:sp>
        <p:nvSpPr>
          <p:cNvPr id="12" name="Rounded Rectangle 11"/>
          <p:cNvSpPr/>
          <p:nvPr/>
        </p:nvSpPr>
        <p:spPr>
          <a:xfrm>
            <a:off x="2697480" y="1737360"/>
            <a:ext cx="19202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92608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12724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32841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2847778" y="2144268"/>
            <a:ext cx="347472" cy="347472"/>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2</a:t>
            </a:r>
          </a:p>
        </p:txBody>
      </p:sp>
      <p:sp>
        <p:nvSpPr>
          <p:cNvPr id="17" name="TextBox 16"/>
          <p:cNvSpPr txBox="1"/>
          <p:nvPr/>
        </p:nvSpPr>
        <p:spPr>
          <a:xfrm>
            <a:off x="2788920" y="2651760"/>
            <a:ext cx="1737360" cy="502920"/>
          </a:xfrm>
          <a:prstGeom prst="rect">
            <a:avLst/>
          </a:prstGeom>
          <a:noFill/>
        </p:spPr>
        <p:txBody>
          <a:bodyPr wrap="square">
            <a:spAutoFit/>
          </a:bodyPr>
          <a:lstStyle/>
          <a:p>
            <a:pPr algn="ctr">
              <a:spcAft>
                <a:spcPts val="0"/>
              </a:spcAft>
              <a:defRPr sz="1400" b="1" i="0">
                <a:solidFill>
                  <a:srgbClr val="E8D5B7"/>
                </a:solidFill>
                <a:latin typeface="Calibri"/>
              </a:defRPr>
            </a:pPr>
            <a:r>
              <a:t>Check</a:t>
            </a:r>
            <a:br/>
            <a:r>
              <a:t>Review</a:t>
            </a:r>
          </a:p>
        </p:txBody>
      </p:sp>
      <p:sp>
        <p:nvSpPr>
          <p:cNvPr id="18" name="TextBox 17"/>
          <p:cNvSpPr txBox="1"/>
          <p:nvPr/>
        </p:nvSpPr>
        <p:spPr>
          <a:xfrm>
            <a:off x="2788920" y="3154680"/>
            <a:ext cx="1737360" cy="640080"/>
          </a:xfrm>
          <a:prstGeom prst="rect">
            <a:avLst/>
          </a:prstGeom>
          <a:noFill/>
        </p:spPr>
        <p:txBody>
          <a:bodyPr wrap="square">
            <a:spAutoFit/>
          </a:bodyPr>
          <a:lstStyle/>
          <a:p>
            <a:pPr algn="ctr">
              <a:spcAft>
                <a:spcPts val="0"/>
              </a:spcAft>
              <a:defRPr sz="1200" b="0" i="0">
                <a:solidFill>
                  <a:srgbClr val="C4A882"/>
                </a:solidFill>
                <a:latin typeface="Calibri"/>
              </a:defRPr>
            </a:pPr>
            <a:r>
              <a:t>Poll status</a:t>
            </a:r>
            <a:br/>
            <a:r>
              <a:t>Wait or trigger</a:t>
            </a:r>
          </a:p>
        </p:txBody>
      </p:sp>
      <p:sp>
        <p:nvSpPr>
          <p:cNvPr id="19" name="TextBox 18"/>
          <p:cNvSpPr txBox="1"/>
          <p:nvPr/>
        </p:nvSpPr>
        <p:spPr>
          <a:xfrm>
            <a:off x="4617720" y="2834640"/>
            <a:ext cx="228600" cy="320040"/>
          </a:xfrm>
          <a:prstGeom prst="rect">
            <a:avLst/>
          </a:prstGeom>
          <a:noFill/>
        </p:spPr>
        <p:txBody>
          <a:bodyPr wrap="square">
            <a:spAutoFit/>
          </a:bodyPr>
          <a:lstStyle/>
          <a:p>
            <a:pPr algn="ctr">
              <a:spcAft>
                <a:spcPts val="0"/>
              </a:spcAft>
              <a:defRPr sz="1400" b="0" i="0">
                <a:solidFill>
                  <a:srgbClr val="D4886B"/>
                </a:solidFill>
                <a:latin typeface="Calibri"/>
              </a:defRPr>
            </a:pPr>
            <a:r>
              <a:t>▶</a:t>
            </a:r>
          </a:p>
        </p:txBody>
      </p:sp>
      <p:sp>
        <p:nvSpPr>
          <p:cNvPr id="20" name="Rounded Rectangle 19"/>
          <p:cNvSpPr/>
          <p:nvPr/>
        </p:nvSpPr>
        <p:spPr>
          <a:xfrm>
            <a:off x="4846320" y="1737360"/>
            <a:ext cx="19202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0749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52760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4772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996618" y="2144268"/>
            <a:ext cx="347472" cy="347472"/>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3</a:t>
            </a:r>
          </a:p>
        </p:txBody>
      </p:sp>
      <p:sp>
        <p:nvSpPr>
          <p:cNvPr id="25" name="TextBox 24"/>
          <p:cNvSpPr txBox="1"/>
          <p:nvPr/>
        </p:nvSpPr>
        <p:spPr>
          <a:xfrm>
            <a:off x="4937760" y="2651760"/>
            <a:ext cx="1737360" cy="502920"/>
          </a:xfrm>
          <a:prstGeom prst="rect">
            <a:avLst/>
          </a:prstGeom>
          <a:noFill/>
        </p:spPr>
        <p:txBody>
          <a:bodyPr wrap="square">
            <a:spAutoFit/>
          </a:bodyPr>
          <a:lstStyle/>
          <a:p>
            <a:pPr algn="ctr">
              <a:spcAft>
                <a:spcPts val="0"/>
              </a:spcAft>
              <a:defRPr sz="1400" b="1" i="0">
                <a:solidFill>
                  <a:srgbClr val="E8D5B7"/>
                </a:solidFill>
                <a:latin typeface="Calibri"/>
              </a:defRPr>
            </a:pPr>
            <a:r>
              <a:t>Analyze</a:t>
            </a:r>
            <a:br/>
            <a:r>
              <a:t>State</a:t>
            </a:r>
          </a:p>
        </p:txBody>
      </p:sp>
      <p:sp>
        <p:nvSpPr>
          <p:cNvPr id="26" name="TextBox 25"/>
          <p:cNvSpPr txBox="1"/>
          <p:nvPr/>
        </p:nvSpPr>
        <p:spPr>
          <a:xfrm>
            <a:off x="4937760" y="3154680"/>
            <a:ext cx="1737360" cy="640080"/>
          </a:xfrm>
          <a:prstGeom prst="rect">
            <a:avLst/>
          </a:prstGeom>
          <a:noFill/>
        </p:spPr>
        <p:txBody>
          <a:bodyPr wrap="square">
            <a:spAutoFit/>
          </a:bodyPr>
          <a:lstStyle/>
          <a:p>
            <a:pPr algn="ctr">
              <a:spcAft>
                <a:spcPts val="0"/>
              </a:spcAft>
              <a:defRPr sz="1200" b="0" i="0">
                <a:solidFill>
                  <a:srgbClr val="C4A882"/>
                </a:solidFill>
                <a:latin typeface="Calibri"/>
              </a:defRPr>
            </a:pPr>
            <a:r>
              <a:t>Extract score</a:t>
            </a:r>
            <a:br/>
            <a:r>
              <a:t>Filter comments</a:t>
            </a:r>
          </a:p>
        </p:txBody>
      </p:sp>
      <p:sp>
        <p:nvSpPr>
          <p:cNvPr id="27" name="TextBox 26"/>
          <p:cNvSpPr txBox="1"/>
          <p:nvPr/>
        </p:nvSpPr>
        <p:spPr>
          <a:xfrm>
            <a:off x="6766560" y="2834640"/>
            <a:ext cx="228600" cy="320040"/>
          </a:xfrm>
          <a:prstGeom prst="rect">
            <a:avLst/>
          </a:prstGeom>
          <a:noFill/>
        </p:spPr>
        <p:txBody>
          <a:bodyPr wrap="square">
            <a:spAutoFit/>
          </a:bodyPr>
          <a:lstStyle/>
          <a:p>
            <a:pPr algn="ctr">
              <a:spcAft>
                <a:spcPts val="0"/>
              </a:spcAft>
              <a:defRPr sz="1400" b="0" i="0">
                <a:solidFill>
                  <a:srgbClr val="D4886B"/>
                </a:solidFill>
                <a:latin typeface="Calibri"/>
              </a:defRPr>
            </a:pPr>
            <a:r>
              <a:t>▶</a:t>
            </a:r>
          </a:p>
        </p:txBody>
      </p:sp>
      <p:sp>
        <p:nvSpPr>
          <p:cNvPr id="28" name="Rounded Rectangle 27"/>
          <p:cNvSpPr/>
          <p:nvPr/>
        </p:nvSpPr>
        <p:spPr>
          <a:xfrm>
            <a:off x="6995160" y="1737360"/>
            <a:ext cx="19202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22376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2492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762609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145458" y="2144268"/>
            <a:ext cx="347472" cy="347472"/>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4</a:t>
            </a:r>
          </a:p>
        </p:txBody>
      </p:sp>
      <p:sp>
        <p:nvSpPr>
          <p:cNvPr id="33" name="TextBox 32"/>
          <p:cNvSpPr txBox="1"/>
          <p:nvPr/>
        </p:nvSpPr>
        <p:spPr>
          <a:xfrm>
            <a:off x="7086600" y="2651760"/>
            <a:ext cx="1737360" cy="502920"/>
          </a:xfrm>
          <a:prstGeom prst="rect">
            <a:avLst/>
          </a:prstGeom>
          <a:noFill/>
        </p:spPr>
        <p:txBody>
          <a:bodyPr wrap="square">
            <a:spAutoFit/>
          </a:bodyPr>
          <a:lstStyle/>
          <a:p>
            <a:pPr algn="ctr">
              <a:spcAft>
                <a:spcPts val="0"/>
              </a:spcAft>
              <a:defRPr sz="1400" b="1" i="0">
                <a:solidFill>
                  <a:srgbClr val="E8D5B7"/>
                </a:solidFill>
                <a:latin typeface="Calibri"/>
              </a:defRPr>
            </a:pPr>
            <a:r>
              <a:t>Fix</a:t>
            </a:r>
            <a:br/>
            <a:r>
              <a:t>Issues</a:t>
            </a:r>
          </a:p>
        </p:txBody>
      </p:sp>
      <p:sp>
        <p:nvSpPr>
          <p:cNvPr id="34" name="TextBox 33"/>
          <p:cNvSpPr txBox="1"/>
          <p:nvPr/>
        </p:nvSpPr>
        <p:spPr>
          <a:xfrm>
            <a:off x="7086600" y="3154680"/>
            <a:ext cx="1737360" cy="640080"/>
          </a:xfrm>
          <a:prstGeom prst="rect">
            <a:avLst/>
          </a:prstGeom>
          <a:noFill/>
        </p:spPr>
        <p:txBody>
          <a:bodyPr wrap="square">
            <a:spAutoFit/>
          </a:bodyPr>
          <a:lstStyle/>
          <a:p>
            <a:pPr algn="ctr">
              <a:spcAft>
                <a:spcPts val="0"/>
              </a:spcAft>
              <a:defRPr sz="1200" b="0" i="0">
                <a:solidFill>
                  <a:srgbClr val="C4A882"/>
                </a:solidFill>
                <a:latin typeface="Calibri"/>
              </a:defRPr>
            </a:pPr>
            <a:r>
              <a:t>Parallel fixers</a:t>
            </a:r>
            <a:br/>
            <a:r>
              <a:t>Validate &amp; push</a:t>
            </a:r>
          </a:p>
        </p:txBody>
      </p:sp>
      <p:sp>
        <p:nvSpPr>
          <p:cNvPr id="35" name="TextBox 34"/>
          <p:cNvSpPr txBox="1"/>
          <p:nvPr/>
        </p:nvSpPr>
        <p:spPr>
          <a:xfrm>
            <a:off x="8915400" y="2834640"/>
            <a:ext cx="228600" cy="320040"/>
          </a:xfrm>
          <a:prstGeom prst="rect">
            <a:avLst/>
          </a:prstGeom>
          <a:noFill/>
        </p:spPr>
        <p:txBody>
          <a:bodyPr wrap="square">
            <a:spAutoFit/>
          </a:bodyPr>
          <a:lstStyle/>
          <a:p>
            <a:pPr algn="ctr">
              <a:spcAft>
                <a:spcPts val="0"/>
              </a:spcAft>
              <a:defRPr sz="1400" b="0" i="0">
                <a:solidFill>
                  <a:srgbClr val="D4886B"/>
                </a:solidFill>
                <a:latin typeface="Calibri"/>
              </a:defRPr>
            </a:pPr>
            <a:r>
              <a:t>▶</a:t>
            </a:r>
          </a:p>
        </p:txBody>
      </p:sp>
      <p:sp>
        <p:nvSpPr>
          <p:cNvPr id="36" name="Rounded Rectangle 35"/>
          <p:cNvSpPr/>
          <p:nvPr/>
        </p:nvSpPr>
        <p:spPr>
          <a:xfrm>
            <a:off x="9144000" y="1737360"/>
            <a:ext cx="192024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37260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57376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977493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9294298" y="2144268"/>
            <a:ext cx="347472" cy="347472"/>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dirty="0">
                <a:solidFill>
                  <a:srgbClr val="FFFFFF"/>
                </a:solidFill>
                <a:latin typeface="Calibri"/>
              </a:rPr>
              <a:t>5</a:t>
            </a:r>
          </a:p>
        </p:txBody>
      </p:sp>
      <p:sp>
        <p:nvSpPr>
          <p:cNvPr id="41" name="TextBox 40"/>
          <p:cNvSpPr txBox="1"/>
          <p:nvPr/>
        </p:nvSpPr>
        <p:spPr>
          <a:xfrm>
            <a:off x="9235440" y="2651760"/>
            <a:ext cx="1737360" cy="502920"/>
          </a:xfrm>
          <a:prstGeom prst="rect">
            <a:avLst/>
          </a:prstGeom>
          <a:noFill/>
        </p:spPr>
        <p:txBody>
          <a:bodyPr wrap="square">
            <a:spAutoFit/>
          </a:bodyPr>
          <a:lstStyle/>
          <a:p>
            <a:pPr algn="ctr">
              <a:spcAft>
                <a:spcPts val="0"/>
              </a:spcAft>
              <a:defRPr sz="1400" b="1" i="0">
                <a:solidFill>
                  <a:srgbClr val="E8D5B7"/>
                </a:solidFill>
                <a:latin typeface="Calibri"/>
              </a:defRPr>
            </a:pPr>
            <a:r>
              <a:t>Re-Review</a:t>
            </a:r>
          </a:p>
        </p:txBody>
      </p:sp>
      <p:sp>
        <p:nvSpPr>
          <p:cNvPr id="42" name="TextBox 41"/>
          <p:cNvSpPr txBox="1"/>
          <p:nvPr/>
        </p:nvSpPr>
        <p:spPr>
          <a:xfrm>
            <a:off x="9235440" y="3154680"/>
            <a:ext cx="1737360" cy="640080"/>
          </a:xfrm>
          <a:prstGeom prst="rect">
            <a:avLst/>
          </a:prstGeom>
          <a:noFill/>
        </p:spPr>
        <p:txBody>
          <a:bodyPr wrap="square">
            <a:spAutoFit/>
          </a:bodyPr>
          <a:lstStyle/>
          <a:p>
            <a:pPr algn="ctr">
              <a:spcAft>
                <a:spcPts val="0"/>
              </a:spcAft>
              <a:defRPr sz="1200" b="0" i="0">
                <a:solidFill>
                  <a:srgbClr val="C4A882"/>
                </a:solidFill>
                <a:latin typeface="Calibri"/>
              </a:defRPr>
            </a:pPr>
            <a:r>
              <a:t>Wait for auto</a:t>
            </a:r>
            <a:br/>
            <a:r>
              <a:t>or trigger new</a:t>
            </a:r>
          </a:p>
        </p:txBody>
      </p:sp>
      <p:sp>
        <p:nvSpPr>
          <p:cNvPr id="43" name="TextBox 42"/>
          <p:cNvSpPr txBox="1"/>
          <p:nvPr/>
        </p:nvSpPr>
        <p:spPr>
          <a:xfrm>
            <a:off x="731520" y="4206240"/>
            <a:ext cx="10515600" cy="365760"/>
          </a:xfrm>
          <a:prstGeom prst="rect">
            <a:avLst/>
          </a:prstGeom>
          <a:noFill/>
        </p:spPr>
        <p:txBody>
          <a:bodyPr wrap="square">
            <a:spAutoFit/>
          </a:bodyPr>
          <a:lstStyle/>
          <a:p>
            <a:pPr algn="ctr">
              <a:spcAft>
                <a:spcPts val="0"/>
              </a:spcAft>
              <a:defRPr sz="1700" b="1" i="0">
                <a:solidFill>
                  <a:srgbClr val="E8A07A"/>
                </a:solidFill>
                <a:latin typeface="Calibri"/>
              </a:defRPr>
            </a:pPr>
            <a:r>
              <a:t>↻  Steps 2-5 repeat until: score ≥ 4/5 AND unaddressed = 0  OR  hard stop triggered</a:t>
            </a:r>
          </a:p>
        </p:txBody>
      </p:sp>
      <p:sp>
        <p:nvSpPr>
          <p:cNvPr id="44" name="Rounded Rectangle 43"/>
          <p:cNvSpPr/>
          <p:nvPr/>
        </p:nvSpPr>
        <p:spPr>
          <a:xfrm>
            <a:off x="731520" y="4754880"/>
            <a:ext cx="106984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60120" y="48920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61288" y="48920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362456" y="48920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645920" y="482803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State Variables (Maintained Across Iterations)</a:t>
            </a:r>
          </a:p>
        </p:txBody>
      </p:sp>
      <p:sp>
        <p:nvSpPr>
          <p:cNvPr id="49" name="TextBox 48"/>
          <p:cNvSpPr txBox="1"/>
          <p:nvPr/>
        </p:nvSpPr>
        <p:spPr>
          <a:xfrm>
            <a:off x="1005840" y="5257800"/>
            <a:ext cx="1828800" cy="228600"/>
          </a:xfrm>
          <a:prstGeom prst="rect">
            <a:avLst/>
          </a:prstGeom>
          <a:noFill/>
        </p:spPr>
        <p:txBody>
          <a:bodyPr wrap="square">
            <a:spAutoFit/>
          </a:bodyPr>
          <a:lstStyle/>
          <a:p>
            <a:pPr algn="l">
              <a:spcAft>
                <a:spcPts val="0"/>
              </a:spcAft>
              <a:defRPr sz="1200" b="0" i="0">
                <a:solidFill>
                  <a:srgbClr val="D4886B"/>
                </a:solidFill>
                <a:latin typeface="JetBrains Mono"/>
              </a:defRPr>
            </a:pPr>
            <a:r>
              <a:t>ITERATION</a:t>
            </a:r>
          </a:p>
        </p:txBody>
      </p:sp>
      <p:sp>
        <p:nvSpPr>
          <p:cNvPr id="50" name="TextBox 49"/>
          <p:cNvSpPr txBox="1"/>
          <p:nvPr/>
        </p:nvSpPr>
        <p:spPr>
          <a:xfrm>
            <a:off x="2926080" y="5257800"/>
            <a:ext cx="8229600" cy="228600"/>
          </a:xfrm>
          <a:prstGeom prst="rect">
            <a:avLst/>
          </a:prstGeom>
          <a:noFill/>
        </p:spPr>
        <p:txBody>
          <a:bodyPr wrap="square">
            <a:spAutoFit/>
          </a:bodyPr>
          <a:lstStyle/>
          <a:p>
            <a:pPr algn="l">
              <a:spcAft>
                <a:spcPts val="0"/>
              </a:spcAft>
              <a:defRPr sz="1200" b="0" i="0">
                <a:solidFill>
                  <a:srgbClr val="C4A882"/>
                </a:solidFill>
                <a:latin typeface="Calibri"/>
              </a:defRPr>
            </a:pPr>
            <a:r>
              <a:t>Fix-push cycle counter (max 5)</a:t>
            </a:r>
          </a:p>
        </p:txBody>
      </p:sp>
      <p:sp>
        <p:nvSpPr>
          <p:cNvPr id="51" name="TextBox 50"/>
          <p:cNvSpPr txBox="1"/>
          <p:nvPr/>
        </p:nvSpPr>
        <p:spPr>
          <a:xfrm>
            <a:off x="1005840" y="5486400"/>
            <a:ext cx="1828800" cy="228600"/>
          </a:xfrm>
          <a:prstGeom prst="rect">
            <a:avLst/>
          </a:prstGeom>
          <a:noFill/>
        </p:spPr>
        <p:txBody>
          <a:bodyPr wrap="square">
            <a:spAutoFit/>
          </a:bodyPr>
          <a:lstStyle/>
          <a:p>
            <a:pPr algn="l">
              <a:spcAft>
                <a:spcPts val="0"/>
              </a:spcAft>
              <a:defRPr sz="1200" b="0" i="0">
                <a:solidFill>
                  <a:srgbClr val="D4886B"/>
                </a:solidFill>
                <a:latin typeface="JetBrains Mono"/>
              </a:defRPr>
            </a:pPr>
            <a:r>
              <a:t>HANDLED_IDS</a:t>
            </a:r>
          </a:p>
        </p:txBody>
      </p:sp>
      <p:sp>
        <p:nvSpPr>
          <p:cNvPr id="52" name="TextBox 51"/>
          <p:cNvSpPr txBox="1"/>
          <p:nvPr/>
        </p:nvSpPr>
        <p:spPr>
          <a:xfrm>
            <a:off x="2926080" y="5486400"/>
            <a:ext cx="8229600" cy="228600"/>
          </a:xfrm>
          <a:prstGeom prst="rect">
            <a:avLst/>
          </a:prstGeom>
          <a:noFill/>
        </p:spPr>
        <p:txBody>
          <a:bodyPr wrap="square">
            <a:spAutoFit/>
          </a:bodyPr>
          <a:lstStyle/>
          <a:p>
            <a:pPr algn="l">
              <a:spcAft>
                <a:spcPts val="0"/>
              </a:spcAft>
              <a:defRPr sz="1200" b="0" i="0">
                <a:solidFill>
                  <a:srgbClr val="C4A882"/>
                </a:solidFill>
                <a:latin typeface="Calibri"/>
              </a:defRPr>
            </a:pPr>
            <a:r>
              <a:t>Array of comment IDs already fixed</a:t>
            </a:r>
          </a:p>
        </p:txBody>
      </p:sp>
      <p:sp>
        <p:nvSpPr>
          <p:cNvPr id="53" name="TextBox 52"/>
          <p:cNvSpPr txBox="1"/>
          <p:nvPr/>
        </p:nvSpPr>
        <p:spPr>
          <a:xfrm>
            <a:off x="1005840" y="5715000"/>
            <a:ext cx="1828800" cy="228600"/>
          </a:xfrm>
          <a:prstGeom prst="rect">
            <a:avLst/>
          </a:prstGeom>
          <a:noFill/>
        </p:spPr>
        <p:txBody>
          <a:bodyPr wrap="square">
            <a:spAutoFit/>
          </a:bodyPr>
          <a:lstStyle/>
          <a:p>
            <a:pPr algn="l">
              <a:spcAft>
                <a:spcPts val="0"/>
              </a:spcAft>
              <a:defRPr sz="1200" b="0" i="0">
                <a:solidFill>
                  <a:srgbClr val="D4886B"/>
                </a:solidFill>
                <a:latin typeface="JetBrains Mono"/>
              </a:defRPr>
            </a:pPr>
            <a:r>
              <a:t>LAST_PUSH_ISO</a:t>
            </a:r>
          </a:p>
        </p:txBody>
      </p:sp>
      <p:sp>
        <p:nvSpPr>
          <p:cNvPr id="54" name="TextBox 53"/>
          <p:cNvSpPr txBox="1"/>
          <p:nvPr/>
        </p:nvSpPr>
        <p:spPr>
          <a:xfrm>
            <a:off x="2926080" y="5715000"/>
            <a:ext cx="8229600" cy="228600"/>
          </a:xfrm>
          <a:prstGeom prst="rect">
            <a:avLst/>
          </a:prstGeom>
          <a:noFill/>
        </p:spPr>
        <p:txBody>
          <a:bodyPr wrap="square">
            <a:spAutoFit/>
          </a:bodyPr>
          <a:lstStyle/>
          <a:p>
            <a:pPr algn="l">
              <a:spcAft>
                <a:spcPts val="0"/>
              </a:spcAft>
              <a:defRPr sz="1200" b="0" i="0">
                <a:solidFill>
                  <a:srgbClr val="C4A882"/>
                </a:solidFill>
                <a:latin typeface="Calibri"/>
              </a:defRPr>
            </a:pPr>
            <a:r>
              <a:t>Timestamp of last push (30s buffer for clock skew)</a:t>
            </a:r>
          </a:p>
        </p:txBody>
      </p:sp>
      <p:sp>
        <p:nvSpPr>
          <p:cNvPr id="55" name="TextBox 54"/>
          <p:cNvSpPr txBox="1"/>
          <p:nvPr/>
        </p:nvSpPr>
        <p:spPr>
          <a:xfrm>
            <a:off x="1005840" y="5943600"/>
            <a:ext cx="1828800" cy="228600"/>
          </a:xfrm>
          <a:prstGeom prst="rect">
            <a:avLst/>
          </a:prstGeom>
          <a:noFill/>
        </p:spPr>
        <p:txBody>
          <a:bodyPr wrap="square">
            <a:spAutoFit/>
          </a:bodyPr>
          <a:lstStyle/>
          <a:p>
            <a:pPr algn="l">
              <a:spcAft>
                <a:spcPts val="0"/>
              </a:spcAft>
              <a:defRPr sz="1200" b="0" i="0">
                <a:solidFill>
                  <a:srgbClr val="D4886B"/>
                </a:solidFill>
                <a:latin typeface="JetBrains Mono"/>
              </a:defRPr>
            </a:pPr>
            <a:r>
              <a:t>PR_NUMBER</a:t>
            </a:r>
          </a:p>
        </p:txBody>
      </p:sp>
      <p:sp>
        <p:nvSpPr>
          <p:cNvPr id="56" name="TextBox 55"/>
          <p:cNvSpPr txBox="1"/>
          <p:nvPr/>
        </p:nvSpPr>
        <p:spPr>
          <a:xfrm>
            <a:off x="2926080" y="5943600"/>
            <a:ext cx="8229600" cy="228600"/>
          </a:xfrm>
          <a:prstGeom prst="rect">
            <a:avLst/>
          </a:prstGeom>
          <a:noFill/>
        </p:spPr>
        <p:txBody>
          <a:bodyPr wrap="square">
            <a:spAutoFit/>
          </a:bodyPr>
          <a:lstStyle/>
          <a:p>
            <a:pPr algn="l">
              <a:spcAft>
                <a:spcPts val="0"/>
              </a:spcAft>
              <a:defRPr sz="1200" b="0" i="0">
                <a:solidFill>
                  <a:srgbClr val="C4A882"/>
                </a:solidFill>
                <a:latin typeface="Calibri"/>
              </a:defRPr>
            </a:pPr>
            <a:r>
              <a:t>The PR being processed</a:t>
            </a:r>
          </a:p>
        </p:txBody>
      </p:sp>
      <p:sp>
        <p:nvSpPr>
          <p:cNvPr id="57" name="TextBox 56"/>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Parallel Code-Fixer Agents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One agent per affected file -- parallel execution for maximum speed</a:t>
            </a:r>
          </a:p>
        </p:txBody>
      </p:sp>
      <p:sp>
        <p:nvSpPr>
          <p:cNvPr id="4" name="TextBox 3"/>
          <p:cNvSpPr txBox="1"/>
          <p:nvPr/>
        </p:nvSpPr>
        <p:spPr>
          <a:xfrm>
            <a:off x="731520" y="1645920"/>
            <a:ext cx="5029200" cy="365760"/>
          </a:xfrm>
          <a:prstGeom prst="rect">
            <a:avLst/>
          </a:prstGeom>
          <a:noFill/>
        </p:spPr>
        <p:txBody>
          <a:bodyPr wrap="square">
            <a:spAutoFit/>
          </a:bodyPr>
          <a:lstStyle/>
          <a:p>
            <a:pPr algn="l">
              <a:spcAft>
                <a:spcPts val="0"/>
              </a:spcAft>
              <a:defRPr sz="2200" b="0" i="0">
                <a:solidFill>
                  <a:srgbClr val="E8D5B7"/>
                </a:solidFill>
                <a:latin typeface="Georgia"/>
              </a:defRPr>
            </a:pPr>
            <a:r>
              <a:t>How Code-Fixer Works</a:t>
            </a:r>
          </a:p>
        </p:txBody>
      </p:sp>
      <p:sp>
        <p:nvSpPr>
          <p:cNvPr id="5" name="TextBox 4"/>
          <p:cNvSpPr txBox="1"/>
          <p:nvPr/>
        </p:nvSpPr>
        <p:spPr>
          <a:xfrm>
            <a:off x="731520" y="2103120"/>
            <a:ext cx="5029200" cy="2743200"/>
          </a:xfrm>
          <a:prstGeom prst="rect">
            <a:avLst/>
          </a:prstGeom>
          <a:noFill/>
        </p:spPr>
        <p:txBody>
          <a:bodyPr wrap="square">
            <a:spAutoFit/>
          </a:bodyPr>
          <a:lstStyle/>
          <a:p>
            <a:pPr>
              <a:spcBef>
                <a:spcPts val="200"/>
              </a:spcBef>
              <a:spcAft>
                <a:spcPts val="800"/>
              </a:spcAft>
            </a:pPr>
            <a:r>
              <a:rPr sz="1500">
                <a:solidFill>
                  <a:srgbClr val="D4886B"/>
                </a:solidFill>
                <a:latin typeface="Calibri"/>
              </a:rPr>
              <a:t>–  </a:t>
            </a:r>
            <a:r>
              <a:rPr sz="1500">
                <a:solidFill>
                  <a:srgbClr val="C4A882"/>
                </a:solidFill>
                <a:latin typeface="Calibri"/>
              </a:rPr>
              <a:t>Issues grouped by file path</a:t>
            </a:r>
          </a:p>
          <a:p>
            <a:pPr>
              <a:spcBef>
                <a:spcPts val="200"/>
              </a:spcBef>
              <a:spcAft>
                <a:spcPts val="800"/>
              </a:spcAft>
            </a:pPr>
            <a:r>
              <a:rPr sz="1500">
                <a:solidFill>
                  <a:srgbClr val="D4886B"/>
                </a:solidFill>
                <a:latin typeface="Calibri"/>
              </a:rPr>
              <a:t>–  </a:t>
            </a:r>
            <a:r>
              <a:rPr sz="1500">
                <a:solidFill>
                  <a:srgbClr val="C4A882"/>
                </a:solidFill>
                <a:latin typeface="Calibri"/>
              </a:rPr>
              <a:t>Task tool spawns one agent per file</a:t>
            </a:r>
          </a:p>
          <a:p>
            <a:pPr>
              <a:spcBef>
                <a:spcPts val="200"/>
              </a:spcBef>
              <a:spcAft>
                <a:spcPts val="800"/>
              </a:spcAft>
            </a:pPr>
            <a:r>
              <a:rPr sz="1500">
                <a:solidFill>
                  <a:srgbClr val="D4886B"/>
                </a:solidFill>
                <a:latin typeface="Calibri"/>
              </a:rPr>
              <a:t>–  </a:t>
            </a:r>
            <a:r>
              <a:rPr sz="1500">
                <a:solidFill>
                  <a:srgbClr val="C4A882"/>
                </a:solidFill>
                <a:latin typeface="Calibri"/>
              </a:rPr>
              <a:t>Each agent reads file + Greptile comments</a:t>
            </a:r>
          </a:p>
          <a:p>
            <a:pPr>
              <a:spcBef>
                <a:spcPts val="200"/>
              </a:spcBef>
              <a:spcAft>
                <a:spcPts val="800"/>
              </a:spcAft>
            </a:pPr>
            <a:r>
              <a:rPr sz="1500">
                <a:solidFill>
                  <a:srgbClr val="D4886B"/>
                </a:solidFill>
                <a:latin typeface="Calibri"/>
              </a:rPr>
              <a:t>–  </a:t>
            </a:r>
            <a:r>
              <a:rPr sz="1500">
                <a:solidFill>
                  <a:srgbClr val="C4A882"/>
                </a:solidFill>
                <a:latin typeface="Calibri"/>
              </a:rPr>
              <a:t>Agent applies targeted fix</a:t>
            </a:r>
          </a:p>
          <a:p>
            <a:pPr>
              <a:spcBef>
                <a:spcPts val="200"/>
              </a:spcBef>
              <a:spcAft>
                <a:spcPts val="800"/>
              </a:spcAft>
            </a:pPr>
            <a:r>
              <a:rPr sz="1500">
                <a:solidFill>
                  <a:srgbClr val="D4886B"/>
                </a:solidFill>
                <a:latin typeface="Calibri"/>
              </a:rPr>
              <a:t>–  </a:t>
            </a:r>
            <a:r>
              <a:rPr sz="1500">
                <a:solidFill>
                  <a:srgbClr val="C4A882"/>
                </a:solidFill>
                <a:latin typeface="Calibri"/>
              </a:rPr>
              <a:t>Language-specific validation runs</a:t>
            </a:r>
          </a:p>
          <a:p>
            <a:pPr>
              <a:spcBef>
                <a:spcPts val="200"/>
              </a:spcBef>
              <a:spcAft>
                <a:spcPts val="800"/>
              </a:spcAft>
            </a:pPr>
            <a:r>
              <a:rPr sz="1500">
                <a:solidFill>
                  <a:srgbClr val="D4886B"/>
                </a:solidFill>
                <a:latin typeface="Calibri"/>
              </a:rPr>
              <a:t>–  </a:t>
            </a:r>
            <a:r>
              <a:rPr sz="1500">
                <a:solidFill>
                  <a:srgbClr val="C4A882"/>
                </a:solidFill>
                <a:latin typeface="Calibri"/>
              </a:rPr>
              <a:t>Only modified files are staged for commit</a:t>
            </a:r>
          </a:p>
        </p:txBody>
      </p:sp>
      <p:sp>
        <p:nvSpPr>
          <p:cNvPr id="6" name="TextBox 5"/>
          <p:cNvSpPr txBox="1"/>
          <p:nvPr/>
        </p:nvSpPr>
        <p:spPr>
          <a:xfrm>
            <a:off x="6309360" y="1645920"/>
            <a:ext cx="5029200" cy="365760"/>
          </a:xfrm>
          <a:prstGeom prst="rect">
            <a:avLst/>
          </a:prstGeom>
          <a:noFill/>
        </p:spPr>
        <p:txBody>
          <a:bodyPr wrap="square">
            <a:spAutoFit/>
          </a:bodyPr>
          <a:lstStyle/>
          <a:p>
            <a:pPr algn="l">
              <a:spcAft>
                <a:spcPts val="0"/>
              </a:spcAft>
              <a:defRPr sz="2200" b="0" i="0">
                <a:solidFill>
                  <a:srgbClr val="E8D5B7"/>
                </a:solidFill>
                <a:latin typeface="Georgia"/>
              </a:defRPr>
            </a:pPr>
            <a:r>
              <a:t>Validation by Language</a:t>
            </a:r>
          </a:p>
        </p:txBody>
      </p:sp>
      <p:sp>
        <p:nvSpPr>
          <p:cNvPr id="7" name="Rounded Rectangle 6"/>
          <p:cNvSpPr/>
          <p:nvPr/>
        </p:nvSpPr>
        <p:spPr>
          <a:xfrm>
            <a:off x="6309360" y="2148840"/>
            <a:ext cx="5120640" cy="56692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2240280"/>
            <a:ext cx="1645920" cy="365760"/>
          </a:xfrm>
          <a:prstGeom prst="rect">
            <a:avLst/>
          </a:prstGeom>
          <a:noFill/>
        </p:spPr>
        <p:txBody>
          <a:bodyPr wrap="square">
            <a:spAutoFit/>
          </a:bodyPr>
          <a:lstStyle/>
          <a:p>
            <a:pPr algn="l">
              <a:spcAft>
                <a:spcPts val="0"/>
              </a:spcAft>
              <a:defRPr sz="1400" b="1" i="0">
                <a:solidFill>
                  <a:srgbClr val="E8D5B7"/>
                </a:solidFill>
                <a:latin typeface="Calibri"/>
              </a:defRPr>
            </a:pPr>
            <a:r>
              <a:t>TypeScript</a:t>
            </a:r>
          </a:p>
        </p:txBody>
      </p:sp>
      <p:sp>
        <p:nvSpPr>
          <p:cNvPr id="9" name="TextBox 8"/>
          <p:cNvSpPr txBox="1"/>
          <p:nvPr/>
        </p:nvSpPr>
        <p:spPr>
          <a:xfrm>
            <a:off x="8321040" y="2240280"/>
            <a:ext cx="2926080" cy="365760"/>
          </a:xfrm>
          <a:prstGeom prst="rect">
            <a:avLst/>
          </a:prstGeom>
          <a:noFill/>
        </p:spPr>
        <p:txBody>
          <a:bodyPr wrap="square">
            <a:spAutoFit/>
          </a:bodyPr>
          <a:lstStyle/>
          <a:p>
            <a:pPr algn="l">
              <a:spcAft>
                <a:spcPts val="0"/>
              </a:spcAft>
              <a:defRPr sz="1300" b="0" i="0">
                <a:solidFill>
                  <a:srgbClr val="D4886B"/>
                </a:solidFill>
                <a:latin typeface="JetBrains Mono"/>
              </a:defRPr>
            </a:pPr>
            <a:r>
              <a:t>tsc --noEmit</a:t>
            </a:r>
          </a:p>
        </p:txBody>
      </p:sp>
      <p:sp>
        <p:nvSpPr>
          <p:cNvPr id="10" name="Rounded Rectangle 9"/>
          <p:cNvSpPr/>
          <p:nvPr/>
        </p:nvSpPr>
        <p:spPr>
          <a:xfrm>
            <a:off x="6309360" y="2834640"/>
            <a:ext cx="5120640" cy="56692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2926080"/>
            <a:ext cx="1645920" cy="365760"/>
          </a:xfrm>
          <a:prstGeom prst="rect">
            <a:avLst/>
          </a:prstGeom>
          <a:noFill/>
        </p:spPr>
        <p:txBody>
          <a:bodyPr wrap="square">
            <a:spAutoFit/>
          </a:bodyPr>
          <a:lstStyle/>
          <a:p>
            <a:pPr algn="l">
              <a:spcAft>
                <a:spcPts val="0"/>
              </a:spcAft>
              <a:defRPr sz="1400" b="1" i="0">
                <a:solidFill>
                  <a:srgbClr val="E8D5B7"/>
                </a:solidFill>
                <a:latin typeface="Calibri"/>
              </a:defRPr>
            </a:pPr>
            <a:r>
              <a:t>Python</a:t>
            </a:r>
          </a:p>
        </p:txBody>
      </p:sp>
      <p:sp>
        <p:nvSpPr>
          <p:cNvPr id="12" name="TextBox 11"/>
          <p:cNvSpPr txBox="1"/>
          <p:nvPr/>
        </p:nvSpPr>
        <p:spPr>
          <a:xfrm>
            <a:off x="8321040" y="2926080"/>
            <a:ext cx="2926080" cy="365760"/>
          </a:xfrm>
          <a:prstGeom prst="rect">
            <a:avLst/>
          </a:prstGeom>
          <a:noFill/>
        </p:spPr>
        <p:txBody>
          <a:bodyPr wrap="square">
            <a:spAutoFit/>
          </a:bodyPr>
          <a:lstStyle/>
          <a:p>
            <a:pPr algn="l">
              <a:spcAft>
                <a:spcPts val="0"/>
              </a:spcAft>
              <a:defRPr sz="1300" b="0" i="0">
                <a:solidFill>
                  <a:srgbClr val="D4886B"/>
                </a:solidFill>
                <a:latin typeface="JetBrains Mono"/>
              </a:defRPr>
            </a:pPr>
            <a:r>
              <a:t>py_compile</a:t>
            </a:r>
          </a:p>
        </p:txBody>
      </p:sp>
      <p:sp>
        <p:nvSpPr>
          <p:cNvPr id="13" name="Rounded Rectangle 12"/>
          <p:cNvSpPr/>
          <p:nvPr/>
        </p:nvSpPr>
        <p:spPr>
          <a:xfrm>
            <a:off x="6309360" y="3520440"/>
            <a:ext cx="5120640" cy="56692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0" y="3611880"/>
            <a:ext cx="1645920" cy="365760"/>
          </a:xfrm>
          <a:prstGeom prst="rect">
            <a:avLst/>
          </a:prstGeom>
          <a:noFill/>
        </p:spPr>
        <p:txBody>
          <a:bodyPr wrap="square">
            <a:spAutoFit/>
          </a:bodyPr>
          <a:lstStyle/>
          <a:p>
            <a:pPr algn="l">
              <a:spcAft>
                <a:spcPts val="0"/>
              </a:spcAft>
              <a:defRPr sz="1400" b="1" i="0">
                <a:solidFill>
                  <a:srgbClr val="E8D5B7"/>
                </a:solidFill>
                <a:latin typeface="Calibri"/>
              </a:defRPr>
            </a:pPr>
            <a:r>
              <a:t>Go</a:t>
            </a:r>
          </a:p>
        </p:txBody>
      </p:sp>
      <p:sp>
        <p:nvSpPr>
          <p:cNvPr id="15" name="TextBox 14"/>
          <p:cNvSpPr txBox="1"/>
          <p:nvPr/>
        </p:nvSpPr>
        <p:spPr>
          <a:xfrm>
            <a:off x="8321040" y="3611880"/>
            <a:ext cx="2926080" cy="365760"/>
          </a:xfrm>
          <a:prstGeom prst="rect">
            <a:avLst/>
          </a:prstGeom>
          <a:noFill/>
        </p:spPr>
        <p:txBody>
          <a:bodyPr wrap="square">
            <a:spAutoFit/>
          </a:bodyPr>
          <a:lstStyle/>
          <a:p>
            <a:pPr algn="l">
              <a:spcAft>
                <a:spcPts val="0"/>
              </a:spcAft>
              <a:defRPr sz="1300" b="0" i="0">
                <a:solidFill>
                  <a:srgbClr val="D4886B"/>
                </a:solidFill>
                <a:latin typeface="JetBrains Mono"/>
              </a:defRPr>
            </a:pPr>
            <a:r>
              <a:t>go build ./...</a:t>
            </a:r>
          </a:p>
        </p:txBody>
      </p:sp>
      <p:sp>
        <p:nvSpPr>
          <p:cNvPr id="16" name="Rounded Rectangle 15"/>
          <p:cNvSpPr/>
          <p:nvPr/>
        </p:nvSpPr>
        <p:spPr>
          <a:xfrm>
            <a:off x="6309360" y="4206240"/>
            <a:ext cx="5120640" cy="56692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83680" y="4297680"/>
            <a:ext cx="1645920" cy="365760"/>
          </a:xfrm>
          <a:prstGeom prst="rect">
            <a:avLst/>
          </a:prstGeom>
          <a:noFill/>
        </p:spPr>
        <p:txBody>
          <a:bodyPr wrap="square">
            <a:spAutoFit/>
          </a:bodyPr>
          <a:lstStyle/>
          <a:p>
            <a:pPr algn="l">
              <a:spcAft>
                <a:spcPts val="0"/>
              </a:spcAft>
              <a:defRPr sz="1400" b="1" i="0">
                <a:solidFill>
                  <a:srgbClr val="E8D5B7"/>
                </a:solidFill>
                <a:latin typeface="Calibri"/>
              </a:defRPr>
            </a:pPr>
            <a:r>
              <a:t>Rust</a:t>
            </a:r>
          </a:p>
        </p:txBody>
      </p:sp>
      <p:sp>
        <p:nvSpPr>
          <p:cNvPr id="18" name="TextBox 17"/>
          <p:cNvSpPr txBox="1"/>
          <p:nvPr/>
        </p:nvSpPr>
        <p:spPr>
          <a:xfrm>
            <a:off x="8321040" y="4297680"/>
            <a:ext cx="2926080" cy="365760"/>
          </a:xfrm>
          <a:prstGeom prst="rect">
            <a:avLst/>
          </a:prstGeom>
          <a:noFill/>
        </p:spPr>
        <p:txBody>
          <a:bodyPr wrap="square">
            <a:spAutoFit/>
          </a:bodyPr>
          <a:lstStyle/>
          <a:p>
            <a:pPr algn="l">
              <a:spcAft>
                <a:spcPts val="0"/>
              </a:spcAft>
              <a:defRPr sz="1300" b="0" i="0">
                <a:solidFill>
                  <a:srgbClr val="D4886B"/>
                </a:solidFill>
                <a:latin typeface="JetBrains Mono"/>
              </a:defRPr>
            </a:pPr>
            <a:r>
              <a:t>cargo check</a:t>
            </a:r>
          </a:p>
        </p:txBody>
      </p:sp>
      <p:sp>
        <p:nvSpPr>
          <p:cNvPr id="19" name="Rounded Rectangle 18"/>
          <p:cNvSpPr/>
          <p:nvPr/>
        </p:nvSpPr>
        <p:spPr>
          <a:xfrm>
            <a:off x="731520" y="5029200"/>
            <a:ext cx="106984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60120" y="51663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161288" y="51663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362456" y="51663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291899" y="5145283"/>
            <a:ext cx="3394841" cy="261610"/>
          </a:xfrm>
          <a:prstGeom prst="rect">
            <a:avLst/>
          </a:prstGeom>
          <a:noFill/>
        </p:spPr>
        <p:txBody>
          <a:bodyPr wrap="square">
            <a:spAutoFit/>
          </a:bodyPr>
          <a:lstStyle/>
          <a:p>
            <a:pPr algn="ctr">
              <a:spcAft>
                <a:spcPts val="0"/>
              </a:spcAft>
              <a:defRPr sz="1100" b="0" i="0">
                <a:solidFill>
                  <a:srgbClr val="7A6E5D"/>
                </a:solidFill>
                <a:latin typeface="Calibri"/>
              </a:defRPr>
            </a:pPr>
            <a:r>
              <a:rPr dirty="0"/>
              <a:t>Agent Isolation Properties</a:t>
            </a:r>
          </a:p>
        </p:txBody>
      </p:sp>
      <p:sp>
        <p:nvSpPr>
          <p:cNvPr id="24" name="TextBox 23"/>
          <p:cNvSpPr txBox="1"/>
          <p:nvPr/>
        </p:nvSpPr>
        <p:spPr>
          <a:xfrm>
            <a:off x="1005840" y="5486400"/>
            <a:ext cx="10058400" cy="731520"/>
          </a:xfrm>
          <a:prstGeom prst="rect">
            <a:avLst/>
          </a:prstGeom>
          <a:noFill/>
        </p:spPr>
        <p:txBody>
          <a:bodyPr wrap="square">
            <a:spAutoFit/>
          </a:bodyPr>
          <a:lstStyle/>
          <a:p>
            <a:pPr>
              <a:spcBef>
                <a:spcPts val="200"/>
              </a:spcBef>
              <a:spcAft>
                <a:spcPts val="800"/>
              </a:spcAft>
            </a:pPr>
            <a:r>
              <a:rPr sz="1400">
                <a:solidFill>
                  <a:srgbClr val="D4886B"/>
                </a:solidFill>
                <a:latin typeface="Calibri"/>
              </a:rPr>
              <a:t>–  </a:t>
            </a:r>
            <a:r>
              <a:rPr sz="1400">
                <a:solidFill>
                  <a:srgbClr val="C4A882"/>
                </a:solidFill>
                <a:latin typeface="Calibri"/>
              </a:rPr>
              <a:t>Single-file scope -- each agent can only modify its assigned file, preventing cascading changes</a:t>
            </a:r>
          </a:p>
          <a:p>
            <a:pPr>
              <a:spcBef>
                <a:spcPts val="200"/>
              </a:spcBef>
              <a:spcAft>
                <a:spcPts val="800"/>
              </a:spcAft>
            </a:pPr>
            <a:r>
              <a:rPr sz="1400">
                <a:solidFill>
                  <a:srgbClr val="D4886B"/>
                </a:solidFill>
                <a:latin typeface="Calibri"/>
              </a:rPr>
              <a:t>–  </a:t>
            </a:r>
            <a:r>
              <a:rPr sz="1400">
                <a:solidFill>
                  <a:srgbClr val="C4A882"/>
                </a:solidFill>
                <a:latin typeface="Calibri"/>
              </a:rPr>
              <a:t>Strict verification -- fixes must pass compilation before being committed</a:t>
            </a:r>
          </a:p>
          <a:p>
            <a:pPr>
              <a:spcBef>
                <a:spcPts val="200"/>
              </a:spcBef>
              <a:spcAft>
                <a:spcPts val="800"/>
              </a:spcAft>
            </a:pPr>
            <a:r>
              <a:rPr sz="1400">
                <a:solidFill>
                  <a:srgbClr val="D4886B"/>
                </a:solidFill>
                <a:latin typeface="Calibri"/>
              </a:rPr>
              <a:t>–  </a:t>
            </a:r>
            <a:r>
              <a:rPr sz="1400">
                <a:solidFill>
                  <a:srgbClr val="C4A882"/>
                </a:solidFill>
                <a:latin typeface="Calibri"/>
              </a:rPr>
              <a:t>Parallel execution -- 5 file issues spawn 5 agents simultaneously, not sequentially</a:t>
            </a:r>
          </a:p>
        </p:txBody>
      </p:sp>
      <p:sp>
        <p:nvSpPr>
          <p:cNvPr id="25" name="TextBox 2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5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Greptile MCP Integration</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Six MCP tools orchestrated in a precise sequence</a:t>
            </a:r>
          </a:p>
        </p:txBody>
      </p:sp>
      <p:sp>
        <p:nvSpPr>
          <p:cNvPr id="4" name="Rounded Rectangle 3"/>
          <p:cNvSpPr/>
          <p:nvPr/>
        </p:nvSpPr>
        <p:spPr>
          <a:xfrm>
            <a:off x="548640" y="1737360"/>
            <a:ext cx="33832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840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7957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148840"/>
            <a:ext cx="3017520" cy="274320"/>
          </a:xfrm>
          <a:prstGeom prst="rect">
            <a:avLst/>
          </a:prstGeom>
          <a:noFill/>
        </p:spPr>
        <p:txBody>
          <a:bodyPr wrap="square">
            <a:spAutoFit/>
          </a:bodyPr>
          <a:lstStyle/>
          <a:p>
            <a:pPr algn="l">
              <a:spcAft>
                <a:spcPts val="0"/>
              </a:spcAft>
              <a:defRPr sz="1100" b="0" i="0">
                <a:solidFill>
                  <a:srgbClr val="D4886B"/>
                </a:solidFill>
                <a:latin typeface="JetBrains Mono"/>
              </a:defRPr>
            </a:pPr>
            <a:r>
              <a:t>get_merge_request()</a:t>
            </a:r>
          </a:p>
        </p:txBody>
      </p:sp>
      <p:sp>
        <p:nvSpPr>
          <p:cNvPr id="9" name="TextBox 8"/>
          <p:cNvSpPr txBox="1"/>
          <p:nvPr/>
        </p:nvSpPr>
        <p:spPr>
          <a:xfrm>
            <a:off x="731520" y="2423160"/>
            <a:ext cx="3017520" cy="274320"/>
          </a:xfrm>
          <a:prstGeom prst="rect">
            <a:avLst/>
          </a:prstGeom>
          <a:noFill/>
        </p:spPr>
        <p:txBody>
          <a:bodyPr wrap="square">
            <a:spAutoFit/>
          </a:bodyPr>
          <a:lstStyle/>
          <a:p>
            <a:pPr algn="l">
              <a:spcAft>
                <a:spcPts val="0"/>
              </a:spcAft>
              <a:defRPr sz="1300" b="1" i="0">
                <a:solidFill>
                  <a:srgbClr val="E8D5B7"/>
                </a:solidFill>
                <a:latin typeface="Calibri"/>
              </a:defRPr>
            </a:pPr>
            <a:r>
              <a:t>Primary source of truth</a:t>
            </a:r>
          </a:p>
        </p:txBody>
      </p:sp>
      <p:sp>
        <p:nvSpPr>
          <p:cNvPr id="10" name="TextBox 9"/>
          <p:cNvSpPr txBox="1"/>
          <p:nvPr/>
        </p:nvSpPr>
        <p:spPr>
          <a:xfrm>
            <a:off x="731520" y="2697480"/>
            <a:ext cx="3017520" cy="457200"/>
          </a:xfrm>
          <a:prstGeom prst="rect">
            <a:avLst/>
          </a:prstGeom>
          <a:noFill/>
        </p:spPr>
        <p:txBody>
          <a:bodyPr wrap="square">
            <a:spAutoFit/>
          </a:bodyPr>
          <a:lstStyle/>
          <a:p>
            <a:pPr algn="l">
              <a:spcAft>
                <a:spcPts val="0"/>
              </a:spcAft>
              <a:defRPr sz="1100" b="0" i="0">
                <a:solidFill>
                  <a:srgbClr val="C4A882"/>
                </a:solidFill>
                <a:latin typeface="Calibri"/>
              </a:defRPr>
            </a:pPr>
            <a:r>
              <a:t>Addressed vs unaddressed</a:t>
            </a:r>
            <a:br/>
            <a:r>
              <a:t>comments, PR analysis</a:t>
            </a:r>
          </a:p>
        </p:txBody>
      </p:sp>
      <p:sp>
        <p:nvSpPr>
          <p:cNvPr id="11" name="Rounded Rectangle 10"/>
          <p:cNvSpPr/>
          <p:nvPr/>
        </p:nvSpPr>
        <p:spPr>
          <a:xfrm>
            <a:off x="4160520" y="1737360"/>
            <a:ext cx="33832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38912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9028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479145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43400" y="2148840"/>
            <a:ext cx="3017520" cy="274320"/>
          </a:xfrm>
          <a:prstGeom prst="rect">
            <a:avLst/>
          </a:prstGeom>
          <a:noFill/>
        </p:spPr>
        <p:txBody>
          <a:bodyPr wrap="square">
            <a:spAutoFit/>
          </a:bodyPr>
          <a:lstStyle/>
          <a:p>
            <a:pPr algn="l">
              <a:spcAft>
                <a:spcPts val="0"/>
              </a:spcAft>
              <a:defRPr sz="1100" b="0" i="0">
                <a:solidFill>
                  <a:srgbClr val="D4886B"/>
                </a:solidFill>
                <a:latin typeface="JetBrains Mono"/>
              </a:defRPr>
            </a:pPr>
            <a:r>
              <a:t>list_code_reviews()</a:t>
            </a:r>
          </a:p>
        </p:txBody>
      </p:sp>
      <p:sp>
        <p:nvSpPr>
          <p:cNvPr id="16" name="TextBox 15"/>
          <p:cNvSpPr txBox="1"/>
          <p:nvPr/>
        </p:nvSpPr>
        <p:spPr>
          <a:xfrm>
            <a:off x="4343400" y="2423160"/>
            <a:ext cx="3017520" cy="274320"/>
          </a:xfrm>
          <a:prstGeom prst="rect">
            <a:avLst/>
          </a:prstGeom>
          <a:noFill/>
        </p:spPr>
        <p:txBody>
          <a:bodyPr wrap="square">
            <a:spAutoFit/>
          </a:bodyPr>
          <a:lstStyle/>
          <a:p>
            <a:pPr algn="l">
              <a:spcAft>
                <a:spcPts val="0"/>
              </a:spcAft>
              <a:defRPr sz="1300" b="1" i="0">
                <a:solidFill>
                  <a:srgbClr val="E8D5B7"/>
                </a:solidFill>
                <a:latin typeface="Calibri"/>
              </a:defRPr>
            </a:pPr>
            <a:r>
              <a:t>Review status tracking</a:t>
            </a:r>
          </a:p>
        </p:txBody>
      </p:sp>
      <p:sp>
        <p:nvSpPr>
          <p:cNvPr id="17" name="TextBox 16"/>
          <p:cNvSpPr txBox="1"/>
          <p:nvPr/>
        </p:nvSpPr>
        <p:spPr>
          <a:xfrm>
            <a:off x="4343400" y="2697480"/>
            <a:ext cx="3017520" cy="457200"/>
          </a:xfrm>
          <a:prstGeom prst="rect">
            <a:avLst/>
          </a:prstGeom>
          <a:noFill/>
        </p:spPr>
        <p:txBody>
          <a:bodyPr wrap="square">
            <a:spAutoFit/>
          </a:bodyPr>
          <a:lstStyle/>
          <a:p>
            <a:pPr algn="l">
              <a:spcAft>
                <a:spcPts val="0"/>
              </a:spcAft>
              <a:defRPr sz="1100" b="0" i="0">
                <a:solidFill>
                  <a:srgbClr val="C4A882"/>
                </a:solidFill>
                <a:latin typeface="Calibri"/>
              </a:defRPr>
            </a:pPr>
            <a:r>
              <a:t>PENDING, REVIEWING,</a:t>
            </a:r>
            <a:br/>
            <a:r>
              <a:t>COMPLETED, FAILED</a:t>
            </a:r>
          </a:p>
        </p:txBody>
      </p:sp>
      <p:sp>
        <p:nvSpPr>
          <p:cNvPr id="18" name="Rounded Rectangle 17"/>
          <p:cNvSpPr/>
          <p:nvPr/>
        </p:nvSpPr>
        <p:spPr>
          <a:xfrm>
            <a:off x="7772400" y="1737360"/>
            <a:ext cx="33832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001000" y="18745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202168" y="18745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03336" y="18745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80" y="2148840"/>
            <a:ext cx="3017520" cy="274320"/>
          </a:xfrm>
          <a:prstGeom prst="rect">
            <a:avLst/>
          </a:prstGeom>
          <a:noFill/>
        </p:spPr>
        <p:txBody>
          <a:bodyPr wrap="square">
            <a:spAutoFit/>
          </a:bodyPr>
          <a:lstStyle/>
          <a:p>
            <a:pPr algn="l">
              <a:spcAft>
                <a:spcPts val="0"/>
              </a:spcAft>
              <a:defRPr sz="1100" b="0" i="0">
                <a:solidFill>
                  <a:srgbClr val="D4886B"/>
                </a:solidFill>
                <a:latin typeface="JetBrains Mono"/>
              </a:defRPr>
            </a:pPr>
            <a:r>
              <a:t>get_code_review()</a:t>
            </a:r>
          </a:p>
        </p:txBody>
      </p:sp>
      <p:sp>
        <p:nvSpPr>
          <p:cNvPr id="23" name="TextBox 22"/>
          <p:cNvSpPr txBox="1"/>
          <p:nvPr/>
        </p:nvSpPr>
        <p:spPr>
          <a:xfrm>
            <a:off x="7955280" y="2423160"/>
            <a:ext cx="3017520" cy="274320"/>
          </a:xfrm>
          <a:prstGeom prst="rect">
            <a:avLst/>
          </a:prstGeom>
          <a:noFill/>
        </p:spPr>
        <p:txBody>
          <a:bodyPr wrap="square">
            <a:spAutoFit/>
          </a:bodyPr>
          <a:lstStyle/>
          <a:p>
            <a:pPr algn="l">
              <a:spcAft>
                <a:spcPts val="0"/>
              </a:spcAft>
              <a:defRPr sz="1300" b="1" i="0">
                <a:solidFill>
                  <a:srgbClr val="E8D5B7"/>
                </a:solidFill>
                <a:latin typeface="Calibri"/>
              </a:defRPr>
            </a:pPr>
            <a:r>
              <a:t>Score extraction</a:t>
            </a:r>
          </a:p>
        </p:txBody>
      </p:sp>
      <p:sp>
        <p:nvSpPr>
          <p:cNvPr id="24" name="TextBox 23"/>
          <p:cNvSpPr txBox="1"/>
          <p:nvPr/>
        </p:nvSpPr>
        <p:spPr>
          <a:xfrm>
            <a:off x="7955280" y="2697480"/>
            <a:ext cx="3017520" cy="457200"/>
          </a:xfrm>
          <a:prstGeom prst="rect">
            <a:avLst/>
          </a:prstGeom>
          <a:noFill/>
        </p:spPr>
        <p:txBody>
          <a:bodyPr wrap="square">
            <a:spAutoFit/>
          </a:bodyPr>
          <a:lstStyle/>
          <a:p>
            <a:pPr algn="l">
              <a:spcAft>
                <a:spcPts val="0"/>
              </a:spcAft>
              <a:defRPr sz="1100" b="0" i="0">
                <a:solidFill>
                  <a:srgbClr val="C4A882"/>
                </a:solidFill>
                <a:latin typeface="Calibri"/>
              </a:defRPr>
            </a:pPr>
            <a:r>
              <a:t>Parses X/5 pattern</a:t>
            </a:r>
            <a:br/>
            <a:r>
              <a:t>from review body</a:t>
            </a:r>
          </a:p>
        </p:txBody>
      </p:sp>
      <p:sp>
        <p:nvSpPr>
          <p:cNvPr id="25" name="Rounded Rectangle 24"/>
          <p:cNvSpPr/>
          <p:nvPr/>
        </p:nvSpPr>
        <p:spPr>
          <a:xfrm>
            <a:off x="548640" y="3429000"/>
            <a:ext cx="33832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77240" y="35661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78408" y="35661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179576" y="35661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3840480"/>
            <a:ext cx="3017520" cy="274320"/>
          </a:xfrm>
          <a:prstGeom prst="rect">
            <a:avLst/>
          </a:prstGeom>
          <a:noFill/>
        </p:spPr>
        <p:txBody>
          <a:bodyPr wrap="square">
            <a:spAutoFit/>
          </a:bodyPr>
          <a:lstStyle/>
          <a:p>
            <a:pPr algn="l">
              <a:spcAft>
                <a:spcPts val="0"/>
              </a:spcAft>
              <a:defRPr sz="1100" b="0" i="0">
                <a:solidFill>
                  <a:srgbClr val="D4886B"/>
                </a:solidFill>
                <a:latin typeface="JetBrains Mono"/>
              </a:defRPr>
            </a:pPr>
            <a:r>
              <a:t>list_merge_request_comments()</a:t>
            </a:r>
          </a:p>
        </p:txBody>
      </p:sp>
      <p:sp>
        <p:nvSpPr>
          <p:cNvPr id="30" name="TextBox 29"/>
          <p:cNvSpPr txBox="1"/>
          <p:nvPr/>
        </p:nvSpPr>
        <p:spPr>
          <a:xfrm>
            <a:off x="731520" y="4114800"/>
            <a:ext cx="3017520" cy="274320"/>
          </a:xfrm>
          <a:prstGeom prst="rect">
            <a:avLst/>
          </a:prstGeom>
          <a:noFill/>
        </p:spPr>
        <p:txBody>
          <a:bodyPr wrap="square">
            <a:spAutoFit/>
          </a:bodyPr>
          <a:lstStyle/>
          <a:p>
            <a:pPr algn="l">
              <a:spcAft>
                <a:spcPts val="0"/>
              </a:spcAft>
              <a:defRPr sz="1300" b="1" i="0">
                <a:solidFill>
                  <a:srgbClr val="E8D5B7"/>
                </a:solidFill>
                <a:latin typeface="Calibri"/>
              </a:defRPr>
            </a:pPr>
            <a:r>
              <a:t>Comment filtering</a:t>
            </a:r>
          </a:p>
        </p:txBody>
      </p:sp>
      <p:sp>
        <p:nvSpPr>
          <p:cNvPr id="31" name="TextBox 30"/>
          <p:cNvSpPr txBox="1"/>
          <p:nvPr/>
        </p:nvSpPr>
        <p:spPr>
          <a:xfrm>
            <a:off x="731520" y="4389120"/>
            <a:ext cx="3017520" cy="457200"/>
          </a:xfrm>
          <a:prstGeom prst="rect">
            <a:avLst/>
          </a:prstGeom>
          <a:noFill/>
        </p:spPr>
        <p:txBody>
          <a:bodyPr wrap="square">
            <a:spAutoFit/>
          </a:bodyPr>
          <a:lstStyle/>
          <a:p>
            <a:pPr algn="l">
              <a:spcAft>
                <a:spcPts val="0"/>
              </a:spcAft>
              <a:defRPr sz="1100" b="0" i="0">
                <a:solidFill>
                  <a:srgbClr val="C4A882"/>
                </a:solidFill>
                <a:latin typeface="Calibri"/>
              </a:defRPr>
            </a:pPr>
            <a:r>
              <a:t>greptileGenerated=true</a:t>
            </a:r>
            <a:br/>
            <a:r>
              <a:t>addressed=false</a:t>
            </a:r>
          </a:p>
        </p:txBody>
      </p:sp>
      <p:sp>
        <p:nvSpPr>
          <p:cNvPr id="32" name="Rounded Rectangle 31"/>
          <p:cNvSpPr/>
          <p:nvPr/>
        </p:nvSpPr>
        <p:spPr>
          <a:xfrm>
            <a:off x="4160520" y="3429000"/>
            <a:ext cx="33832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389120" y="35661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590288" y="35661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4791456" y="35661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43400" y="3840480"/>
            <a:ext cx="3017520" cy="274320"/>
          </a:xfrm>
          <a:prstGeom prst="rect">
            <a:avLst/>
          </a:prstGeom>
          <a:noFill/>
        </p:spPr>
        <p:txBody>
          <a:bodyPr wrap="square">
            <a:spAutoFit/>
          </a:bodyPr>
          <a:lstStyle/>
          <a:p>
            <a:pPr algn="l">
              <a:spcAft>
                <a:spcPts val="0"/>
              </a:spcAft>
              <a:defRPr sz="1100" b="0" i="0">
                <a:solidFill>
                  <a:srgbClr val="D4886B"/>
                </a:solidFill>
                <a:latin typeface="JetBrains Mono"/>
              </a:defRPr>
            </a:pPr>
            <a:r>
              <a:t>@greptileai comment</a:t>
            </a:r>
          </a:p>
        </p:txBody>
      </p:sp>
      <p:sp>
        <p:nvSpPr>
          <p:cNvPr id="37" name="TextBox 36"/>
          <p:cNvSpPr txBox="1"/>
          <p:nvPr/>
        </p:nvSpPr>
        <p:spPr>
          <a:xfrm>
            <a:off x="4343400" y="4114800"/>
            <a:ext cx="3017520" cy="274320"/>
          </a:xfrm>
          <a:prstGeom prst="rect">
            <a:avLst/>
          </a:prstGeom>
          <a:noFill/>
        </p:spPr>
        <p:txBody>
          <a:bodyPr wrap="square">
            <a:spAutoFit/>
          </a:bodyPr>
          <a:lstStyle/>
          <a:p>
            <a:pPr algn="l">
              <a:spcAft>
                <a:spcPts val="0"/>
              </a:spcAft>
              <a:defRPr sz="1300" b="1" i="0">
                <a:solidFill>
                  <a:srgbClr val="E8D5B7"/>
                </a:solidFill>
                <a:latin typeface="Calibri"/>
              </a:defRPr>
            </a:pPr>
            <a:r>
              <a:t>Review triggering</a:t>
            </a:r>
          </a:p>
        </p:txBody>
      </p:sp>
      <p:sp>
        <p:nvSpPr>
          <p:cNvPr id="38" name="TextBox 37"/>
          <p:cNvSpPr txBox="1"/>
          <p:nvPr/>
        </p:nvSpPr>
        <p:spPr>
          <a:xfrm>
            <a:off x="4343400" y="4389120"/>
            <a:ext cx="3017520" cy="457200"/>
          </a:xfrm>
          <a:prstGeom prst="rect">
            <a:avLst/>
          </a:prstGeom>
          <a:noFill/>
        </p:spPr>
        <p:txBody>
          <a:bodyPr wrap="square">
            <a:spAutoFit/>
          </a:bodyPr>
          <a:lstStyle/>
          <a:p>
            <a:pPr algn="l">
              <a:spcAft>
                <a:spcPts val="0"/>
              </a:spcAft>
              <a:defRPr sz="1100" b="0" i="0">
                <a:solidFill>
                  <a:srgbClr val="C4A882"/>
                </a:solidFill>
                <a:latin typeface="Calibri"/>
              </a:defRPr>
            </a:pPr>
            <a:r>
              <a:t>Via gh pr comment</a:t>
            </a:r>
            <a:br/>
            <a:r>
              <a:t>(not MCP trigger tool)</a:t>
            </a:r>
          </a:p>
        </p:txBody>
      </p:sp>
      <p:sp>
        <p:nvSpPr>
          <p:cNvPr id="39" name="Rounded Rectangle 38"/>
          <p:cNvSpPr/>
          <p:nvPr/>
        </p:nvSpPr>
        <p:spPr>
          <a:xfrm>
            <a:off x="7772400" y="3429000"/>
            <a:ext cx="3383280" cy="14630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8001000" y="35661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8202168" y="35661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403336" y="35661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955280" y="3840480"/>
            <a:ext cx="3017520" cy="274320"/>
          </a:xfrm>
          <a:prstGeom prst="rect">
            <a:avLst/>
          </a:prstGeom>
          <a:noFill/>
        </p:spPr>
        <p:txBody>
          <a:bodyPr wrap="square">
            <a:spAutoFit/>
          </a:bodyPr>
          <a:lstStyle/>
          <a:p>
            <a:pPr algn="l">
              <a:spcAft>
                <a:spcPts val="0"/>
              </a:spcAft>
              <a:defRPr sz="1100" b="0" i="0">
                <a:solidFill>
                  <a:srgbClr val="D4886B"/>
                </a:solidFill>
                <a:latin typeface="JetBrains Mono"/>
              </a:defRPr>
            </a:pPr>
            <a:r>
              <a:t>Greptile auto-review</a:t>
            </a:r>
          </a:p>
        </p:txBody>
      </p:sp>
      <p:sp>
        <p:nvSpPr>
          <p:cNvPr id="44" name="TextBox 43"/>
          <p:cNvSpPr txBox="1"/>
          <p:nvPr/>
        </p:nvSpPr>
        <p:spPr>
          <a:xfrm>
            <a:off x="7955280" y="4114800"/>
            <a:ext cx="3017520" cy="274320"/>
          </a:xfrm>
          <a:prstGeom prst="rect">
            <a:avLst/>
          </a:prstGeom>
          <a:noFill/>
        </p:spPr>
        <p:txBody>
          <a:bodyPr wrap="square">
            <a:spAutoFit/>
          </a:bodyPr>
          <a:lstStyle/>
          <a:p>
            <a:pPr algn="l">
              <a:spcAft>
                <a:spcPts val="0"/>
              </a:spcAft>
              <a:defRPr sz="1300" b="1" i="0">
                <a:solidFill>
                  <a:srgbClr val="E8D5B7"/>
                </a:solidFill>
                <a:latin typeface="Calibri"/>
              </a:defRPr>
            </a:pPr>
            <a:r>
              <a:t>Change detection</a:t>
            </a:r>
          </a:p>
        </p:txBody>
      </p:sp>
      <p:sp>
        <p:nvSpPr>
          <p:cNvPr id="45" name="TextBox 44"/>
          <p:cNvSpPr txBox="1"/>
          <p:nvPr/>
        </p:nvSpPr>
        <p:spPr>
          <a:xfrm>
            <a:off x="7955280" y="4389120"/>
            <a:ext cx="3017520" cy="457200"/>
          </a:xfrm>
          <a:prstGeom prst="rect">
            <a:avLst/>
          </a:prstGeom>
          <a:noFill/>
        </p:spPr>
        <p:txBody>
          <a:bodyPr wrap="square">
            <a:spAutoFit/>
          </a:bodyPr>
          <a:lstStyle/>
          <a:p>
            <a:pPr algn="l">
              <a:spcAft>
                <a:spcPts val="0"/>
              </a:spcAft>
              <a:defRPr sz="1100" b="0" i="0">
                <a:solidFill>
                  <a:srgbClr val="C4A882"/>
                </a:solidFill>
                <a:latin typeface="Calibri"/>
              </a:defRPr>
            </a:pPr>
            <a:r>
              <a:t>2-min wait for auto</a:t>
            </a:r>
            <a:br/>
            <a:r>
              <a:t>before manual trigger</a:t>
            </a:r>
          </a:p>
        </p:txBody>
      </p:sp>
      <p:sp>
        <p:nvSpPr>
          <p:cNvPr id="46" name="Rounded Rectangle 45"/>
          <p:cNvSpPr/>
          <p:nvPr/>
        </p:nvSpPr>
        <p:spPr>
          <a:xfrm>
            <a:off x="731520" y="5349239"/>
            <a:ext cx="10672204" cy="1020029"/>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60120" y="5486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61288" y="5486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362456" y="5486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645920" y="542239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Key Design Decision</a:t>
            </a:r>
          </a:p>
        </p:txBody>
      </p:sp>
      <p:sp>
        <p:nvSpPr>
          <p:cNvPr id="51" name="TextBox 50"/>
          <p:cNvSpPr txBox="1"/>
          <p:nvPr/>
        </p:nvSpPr>
        <p:spPr>
          <a:xfrm>
            <a:off x="1005840" y="5806440"/>
            <a:ext cx="10241280" cy="365760"/>
          </a:xfrm>
          <a:prstGeom prst="rect">
            <a:avLst/>
          </a:prstGeom>
          <a:noFill/>
        </p:spPr>
        <p:txBody>
          <a:bodyPr wrap="square">
            <a:spAutoFit/>
          </a:bodyPr>
          <a:lstStyle/>
          <a:p>
            <a:pPr algn="l">
              <a:spcAft>
                <a:spcPts val="0"/>
              </a:spcAft>
              <a:defRPr sz="1300" b="0" i="0">
                <a:solidFill>
                  <a:srgbClr val="E8D5B7"/>
                </a:solidFill>
                <a:latin typeface="Calibri"/>
              </a:defRPr>
            </a:pPr>
            <a:r>
              <a:t>Reviews are triggered via GitHub comment (@greptileai please review), NOT the MCP trigger_code_review tool. This respects Greptile's auto-review detection and avoids duplicate reviews.</a:t>
            </a:r>
          </a:p>
        </p:txBody>
      </p:sp>
      <p:sp>
        <p:nvSpPr>
          <p:cNvPr id="52" name="TextBox 5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Hard Stops &amp; Safety Mechanisms</a:t>
            </a:r>
          </a:p>
        </p:txBody>
      </p:sp>
      <p:sp>
        <p:nvSpPr>
          <p:cNvPr id="3" name="TextBox 2"/>
          <p:cNvSpPr txBox="1"/>
          <p:nvPr/>
        </p:nvSpPr>
        <p:spPr>
          <a:xfrm>
            <a:off x="731520" y="1371600"/>
            <a:ext cx="5029200" cy="320040"/>
          </a:xfrm>
          <a:prstGeom prst="rect">
            <a:avLst/>
          </a:prstGeom>
          <a:noFill/>
        </p:spPr>
        <p:txBody>
          <a:bodyPr wrap="square">
            <a:spAutoFit/>
          </a:bodyPr>
          <a:lstStyle/>
          <a:p>
            <a:pPr algn="l">
              <a:spcAft>
                <a:spcPts val="0"/>
              </a:spcAft>
              <a:defRPr sz="1300" b="1" i="0">
                <a:solidFill>
                  <a:srgbClr val="D4886B"/>
                </a:solidFill>
                <a:latin typeface="JetBrains Mono"/>
              </a:defRPr>
            </a:pPr>
            <a:r>
              <a:t>HARD STOP CONDITIONS</a:t>
            </a:r>
          </a:p>
        </p:txBody>
      </p:sp>
      <p:sp>
        <p:nvSpPr>
          <p:cNvPr id="4" name="Rounded Rectangle 3"/>
          <p:cNvSpPr/>
          <p:nvPr/>
        </p:nvSpPr>
        <p:spPr>
          <a:xfrm>
            <a:off x="731520" y="1783080"/>
            <a:ext cx="530352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837944"/>
            <a:ext cx="2011680" cy="365760"/>
          </a:xfrm>
          <a:prstGeom prst="rect">
            <a:avLst/>
          </a:prstGeom>
          <a:noFill/>
        </p:spPr>
        <p:txBody>
          <a:bodyPr wrap="square">
            <a:spAutoFit/>
          </a:bodyPr>
          <a:lstStyle/>
          <a:p>
            <a:pPr algn="l">
              <a:spcAft>
                <a:spcPts val="0"/>
              </a:spcAft>
              <a:defRPr sz="1300" b="1" i="0">
                <a:solidFill>
                  <a:srgbClr val="E8D5B7"/>
                </a:solidFill>
                <a:latin typeface="Calibri"/>
              </a:defRPr>
            </a:pPr>
            <a:r>
              <a:t>Successful merge</a:t>
            </a:r>
          </a:p>
        </p:txBody>
      </p:sp>
      <p:sp>
        <p:nvSpPr>
          <p:cNvPr id="6" name="TextBox 5"/>
          <p:cNvSpPr txBox="1"/>
          <p:nvPr/>
        </p:nvSpPr>
        <p:spPr>
          <a:xfrm>
            <a:off x="3108960" y="1837944"/>
            <a:ext cx="2743200" cy="365760"/>
          </a:xfrm>
          <a:prstGeom prst="rect">
            <a:avLst/>
          </a:prstGeom>
          <a:noFill/>
        </p:spPr>
        <p:txBody>
          <a:bodyPr wrap="square">
            <a:spAutoFit/>
          </a:bodyPr>
          <a:lstStyle/>
          <a:p>
            <a:pPr algn="l">
              <a:spcAft>
                <a:spcPts val="0"/>
              </a:spcAft>
              <a:defRPr sz="1200" b="0" i="0">
                <a:solidFill>
                  <a:srgbClr val="C4A882"/>
                </a:solidFill>
                <a:latin typeface="Calibri"/>
              </a:defRPr>
            </a:pPr>
            <a:r>
              <a:t>Score ≥ 4/5 + 0 unaddressed</a:t>
            </a:r>
          </a:p>
        </p:txBody>
      </p:sp>
      <p:sp>
        <p:nvSpPr>
          <p:cNvPr id="7" name="Rounded Rectangle 6"/>
          <p:cNvSpPr/>
          <p:nvPr/>
        </p:nvSpPr>
        <p:spPr>
          <a:xfrm>
            <a:off x="731520" y="2350008"/>
            <a:ext cx="530352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404872"/>
            <a:ext cx="2011680" cy="365760"/>
          </a:xfrm>
          <a:prstGeom prst="rect">
            <a:avLst/>
          </a:prstGeom>
          <a:noFill/>
        </p:spPr>
        <p:txBody>
          <a:bodyPr wrap="square">
            <a:spAutoFit/>
          </a:bodyPr>
          <a:lstStyle/>
          <a:p>
            <a:pPr algn="l">
              <a:spcAft>
                <a:spcPts val="0"/>
              </a:spcAft>
              <a:defRPr sz="1300" b="1" i="0">
                <a:solidFill>
                  <a:srgbClr val="E8D5B7"/>
                </a:solidFill>
                <a:latin typeface="Calibri"/>
              </a:defRPr>
            </a:pPr>
            <a:r>
              <a:t>Score too low</a:t>
            </a:r>
          </a:p>
        </p:txBody>
      </p:sp>
      <p:sp>
        <p:nvSpPr>
          <p:cNvPr id="9" name="TextBox 8"/>
          <p:cNvSpPr txBox="1"/>
          <p:nvPr/>
        </p:nvSpPr>
        <p:spPr>
          <a:xfrm>
            <a:off x="3108960" y="2404872"/>
            <a:ext cx="2743200" cy="365760"/>
          </a:xfrm>
          <a:prstGeom prst="rect">
            <a:avLst/>
          </a:prstGeom>
          <a:noFill/>
        </p:spPr>
        <p:txBody>
          <a:bodyPr wrap="square">
            <a:spAutoFit/>
          </a:bodyPr>
          <a:lstStyle/>
          <a:p>
            <a:pPr algn="l">
              <a:spcAft>
                <a:spcPts val="0"/>
              </a:spcAft>
              <a:defRPr sz="1200" b="0" i="0">
                <a:solidFill>
                  <a:srgbClr val="C4A882"/>
                </a:solidFill>
                <a:latin typeface="Calibri"/>
              </a:defRPr>
            </a:pPr>
            <a:r>
              <a:t>Score ≤ 3/5 after review</a:t>
            </a:r>
          </a:p>
        </p:txBody>
      </p:sp>
      <p:sp>
        <p:nvSpPr>
          <p:cNvPr id="10" name="Rounded Rectangle 9"/>
          <p:cNvSpPr/>
          <p:nvPr/>
        </p:nvSpPr>
        <p:spPr>
          <a:xfrm>
            <a:off x="731520" y="2916936"/>
            <a:ext cx="530352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2971800"/>
            <a:ext cx="2011680" cy="365760"/>
          </a:xfrm>
          <a:prstGeom prst="rect">
            <a:avLst/>
          </a:prstGeom>
          <a:noFill/>
        </p:spPr>
        <p:txBody>
          <a:bodyPr wrap="square">
            <a:spAutoFit/>
          </a:bodyPr>
          <a:lstStyle/>
          <a:p>
            <a:pPr algn="l">
              <a:spcAft>
                <a:spcPts val="0"/>
              </a:spcAft>
              <a:defRPr sz="1300" b="1" i="0">
                <a:solidFill>
                  <a:srgbClr val="E8D5B7"/>
                </a:solidFill>
                <a:latin typeface="Calibri"/>
              </a:defRPr>
            </a:pPr>
            <a:r>
              <a:t>Max iterations</a:t>
            </a:r>
          </a:p>
        </p:txBody>
      </p:sp>
      <p:sp>
        <p:nvSpPr>
          <p:cNvPr id="12" name="TextBox 11"/>
          <p:cNvSpPr txBox="1"/>
          <p:nvPr/>
        </p:nvSpPr>
        <p:spPr>
          <a:xfrm>
            <a:off x="3108960" y="2971800"/>
            <a:ext cx="2743200" cy="365760"/>
          </a:xfrm>
          <a:prstGeom prst="rect">
            <a:avLst/>
          </a:prstGeom>
          <a:noFill/>
        </p:spPr>
        <p:txBody>
          <a:bodyPr wrap="square">
            <a:spAutoFit/>
          </a:bodyPr>
          <a:lstStyle/>
          <a:p>
            <a:pPr algn="l">
              <a:spcAft>
                <a:spcPts val="0"/>
              </a:spcAft>
              <a:defRPr sz="1200" b="0" i="0">
                <a:solidFill>
                  <a:srgbClr val="C4A882"/>
                </a:solidFill>
                <a:latin typeface="Calibri"/>
              </a:defRPr>
            </a:pPr>
            <a:r>
              <a:t>5 fix-push cycles completed</a:t>
            </a:r>
          </a:p>
        </p:txBody>
      </p:sp>
      <p:sp>
        <p:nvSpPr>
          <p:cNvPr id="13" name="Rounded Rectangle 12"/>
          <p:cNvSpPr/>
          <p:nvPr/>
        </p:nvSpPr>
        <p:spPr>
          <a:xfrm>
            <a:off x="731520" y="3483864"/>
            <a:ext cx="530352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538728"/>
            <a:ext cx="2011680" cy="365760"/>
          </a:xfrm>
          <a:prstGeom prst="rect">
            <a:avLst/>
          </a:prstGeom>
          <a:noFill/>
        </p:spPr>
        <p:txBody>
          <a:bodyPr wrap="square">
            <a:spAutoFit/>
          </a:bodyPr>
          <a:lstStyle/>
          <a:p>
            <a:pPr algn="l">
              <a:spcAft>
                <a:spcPts val="0"/>
              </a:spcAft>
              <a:defRPr sz="1300" b="1" i="0">
                <a:solidFill>
                  <a:srgbClr val="E8D5B7"/>
                </a:solidFill>
                <a:latin typeface="Calibri"/>
              </a:defRPr>
            </a:pPr>
            <a:r>
              <a:t>Build failure</a:t>
            </a:r>
          </a:p>
        </p:txBody>
      </p:sp>
      <p:sp>
        <p:nvSpPr>
          <p:cNvPr id="15" name="TextBox 14"/>
          <p:cNvSpPr txBox="1"/>
          <p:nvPr/>
        </p:nvSpPr>
        <p:spPr>
          <a:xfrm>
            <a:off x="3108960" y="3538728"/>
            <a:ext cx="2743200" cy="365760"/>
          </a:xfrm>
          <a:prstGeom prst="rect">
            <a:avLst/>
          </a:prstGeom>
          <a:noFill/>
        </p:spPr>
        <p:txBody>
          <a:bodyPr wrap="square">
            <a:spAutoFit/>
          </a:bodyPr>
          <a:lstStyle/>
          <a:p>
            <a:pPr algn="l">
              <a:spcAft>
                <a:spcPts val="0"/>
              </a:spcAft>
              <a:defRPr sz="1200" b="0" i="0">
                <a:solidFill>
                  <a:srgbClr val="C4A882"/>
                </a:solidFill>
                <a:latin typeface="Calibri"/>
              </a:defRPr>
            </a:pPr>
            <a:r>
              <a:t>Validation (tsc, go, etc.) fails</a:t>
            </a:r>
          </a:p>
        </p:txBody>
      </p:sp>
      <p:sp>
        <p:nvSpPr>
          <p:cNvPr id="16" name="Rounded Rectangle 15"/>
          <p:cNvSpPr/>
          <p:nvPr/>
        </p:nvSpPr>
        <p:spPr>
          <a:xfrm>
            <a:off x="731520" y="4050792"/>
            <a:ext cx="530352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4105656"/>
            <a:ext cx="2011680" cy="365760"/>
          </a:xfrm>
          <a:prstGeom prst="rect">
            <a:avLst/>
          </a:prstGeom>
          <a:noFill/>
        </p:spPr>
        <p:txBody>
          <a:bodyPr wrap="square">
            <a:spAutoFit/>
          </a:bodyPr>
          <a:lstStyle/>
          <a:p>
            <a:pPr algn="l">
              <a:spcAft>
                <a:spcPts val="0"/>
              </a:spcAft>
              <a:defRPr sz="1300" b="1" i="0">
                <a:solidFill>
                  <a:srgbClr val="E8D5B7"/>
                </a:solidFill>
                <a:latin typeface="Calibri"/>
              </a:defRPr>
            </a:pPr>
            <a:r>
              <a:t>Review timeout</a:t>
            </a:r>
          </a:p>
        </p:txBody>
      </p:sp>
      <p:sp>
        <p:nvSpPr>
          <p:cNvPr id="18" name="TextBox 17"/>
          <p:cNvSpPr txBox="1"/>
          <p:nvPr/>
        </p:nvSpPr>
        <p:spPr>
          <a:xfrm>
            <a:off x="3108960" y="4105656"/>
            <a:ext cx="2743200" cy="365760"/>
          </a:xfrm>
          <a:prstGeom prst="rect">
            <a:avLst/>
          </a:prstGeom>
          <a:noFill/>
        </p:spPr>
        <p:txBody>
          <a:bodyPr wrap="square">
            <a:spAutoFit/>
          </a:bodyPr>
          <a:lstStyle/>
          <a:p>
            <a:pPr algn="l">
              <a:spcAft>
                <a:spcPts val="0"/>
              </a:spcAft>
              <a:defRPr sz="1200" b="0" i="0">
                <a:solidFill>
                  <a:srgbClr val="C4A882"/>
                </a:solidFill>
                <a:latin typeface="Calibri"/>
              </a:defRPr>
            </a:pPr>
            <a:r>
              <a:t>No review in 10 minutes</a:t>
            </a:r>
          </a:p>
        </p:txBody>
      </p:sp>
      <p:sp>
        <p:nvSpPr>
          <p:cNvPr id="19" name="Rounded Rectangle 18"/>
          <p:cNvSpPr/>
          <p:nvPr/>
        </p:nvSpPr>
        <p:spPr>
          <a:xfrm>
            <a:off x="731520" y="4617720"/>
            <a:ext cx="5303520" cy="475488"/>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5840" y="4672584"/>
            <a:ext cx="2011680" cy="365760"/>
          </a:xfrm>
          <a:prstGeom prst="rect">
            <a:avLst/>
          </a:prstGeom>
          <a:noFill/>
        </p:spPr>
        <p:txBody>
          <a:bodyPr wrap="square">
            <a:spAutoFit/>
          </a:bodyPr>
          <a:lstStyle/>
          <a:p>
            <a:pPr algn="l">
              <a:spcAft>
                <a:spcPts val="0"/>
              </a:spcAft>
              <a:defRPr sz="1300" b="1" i="0">
                <a:solidFill>
                  <a:srgbClr val="E8D5B7"/>
                </a:solidFill>
                <a:latin typeface="Calibri"/>
              </a:defRPr>
            </a:pPr>
            <a:r>
              <a:t>No score found</a:t>
            </a:r>
          </a:p>
        </p:txBody>
      </p:sp>
      <p:sp>
        <p:nvSpPr>
          <p:cNvPr id="21" name="TextBox 20"/>
          <p:cNvSpPr txBox="1"/>
          <p:nvPr/>
        </p:nvSpPr>
        <p:spPr>
          <a:xfrm>
            <a:off x="3108960" y="4672584"/>
            <a:ext cx="2743200" cy="365760"/>
          </a:xfrm>
          <a:prstGeom prst="rect">
            <a:avLst/>
          </a:prstGeom>
          <a:noFill/>
        </p:spPr>
        <p:txBody>
          <a:bodyPr wrap="square">
            <a:spAutoFit/>
          </a:bodyPr>
          <a:lstStyle/>
          <a:p>
            <a:pPr algn="l">
              <a:spcAft>
                <a:spcPts val="0"/>
              </a:spcAft>
              <a:defRPr sz="1200" b="0" i="0">
                <a:solidFill>
                  <a:srgbClr val="C4A882"/>
                </a:solidFill>
                <a:latin typeface="Calibri"/>
              </a:defRPr>
            </a:pPr>
            <a:r>
              <a:t>Cannot extract X/5 pattern</a:t>
            </a:r>
          </a:p>
        </p:txBody>
      </p:sp>
      <p:sp>
        <p:nvSpPr>
          <p:cNvPr id="22" name="TextBox 21"/>
          <p:cNvSpPr txBox="1"/>
          <p:nvPr/>
        </p:nvSpPr>
        <p:spPr>
          <a:xfrm>
            <a:off x="6675120" y="1371600"/>
            <a:ext cx="5029200" cy="320040"/>
          </a:xfrm>
          <a:prstGeom prst="rect">
            <a:avLst/>
          </a:prstGeom>
          <a:noFill/>
        </p:spPr>
        <p:txBody>
          <a:bodyPr wrap="square">
            <a:spAutoFit/>
          </a:bodyPr>
          <a:lstStyle/>
          <a:p>
            <a:pPr algn="l">
              <a:spcAft>
                <a:spcPts val="0"/>
              </a:spcAft>
              <a:defRPr sz="1300" b="1" i="0">
                <a:solidFill>
                  <a:srgbClr val="D4886B"/>
                </a:solidFill>
                <a:latin typeface="JetBrains Mono"/>
              </a:defRPr>
            </a:pPr>
            <a:r>
              <a:t>SAFETY MECHANISMS</a:t>
            </a:r>
          </a:p>
        </p:txBody>
      </p:sp>
      <p:sp>
        <p:nvSpPr>
          <p:cNvPr id="23" name="Rounded Rectangle 22"/>
          <p:cNvSpPr/>
          <p:nvPr/>
        </p:nvSpPr>
        <p:spPr>
          <a:xfrm>
            <a:off x="6400800" y="1783080"/>
            <a:ext cx="512064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629400" y="19202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830568" y="19202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031736" y="19202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0" y="1915668"/>
            <a:ext cx="4572000" cy="228600"/>
          </a:xfrm>
          <a:prstGeom prst="rect">
            <a:avLst/>
          </a:prstGeom>
          <a:noFill/>
        </p:spPr>
        <p:txBody>
          <a:bodyPr wrap="square">
            <a:spAutoFit/>
          </a:bodyPr>
          <a:lstStyle/>
          <a:p>
            <a:pPr algn="l">
              <a:spcAft>
                <a:spcPts val="0"/>
              </a:spcAft>
              <a:defRPr sz="1200" b="1" i="0">
                <a:solidFill>
                  <a:srgbClr val="E8D5B7"/>
                </a:solidFill>
                <a:latin typeface="Calibri"/>
              </a:defRPr>
            </a:pPr>
            <a:r>
              <a:rPr dirty="0"/>
              <a:t>Duplicate Prevention</a:t>
            </a:r>
          </a:p>
        </p:txBody>
      </p:sp>
      <p:sp>
        <p:nvSpPr>
          <p:cNvPr id="28" name="TextBox 27"/>
          <p:cNvSpPr txBox="1"/>
          <p:nvPr/>
        </p:nvSpPr>
        <p:spPr>
          <a:xfrm>
            <a:off x="7132320" y="2125980"/>
            <a:ext cx="4572000" cy="228600"/>
          </a:xfrm>
          <a:prstGeom prst="rect">
            <a:avLst/>
          </a:prstGeom>
          <a:noFill/>
        </p:spPr>
        <p:txBody>
          <a:bodyPr wrap="square">
            <a:spAutoFit/>
          </a:bodyPr>
          <a:lstStyle/>
          <a:p>
            <a:pPr algn="l">
              <a:spcAft>
                <a:spcPts val="0"/>
              </a:spcAft>
              <a:defRPr sz="1100" b="0" i="0">
                <a:solidFill>
                  <a:srgbClr val="C4A882"/>
                </a:solidFill>
                <a:latin typeface="Calibri"/>
              </a:defRPr>
            </a:pPr>
            <a:r>
              <a:t>HANDLED_IDS tracks every fixed comment -- never re-processes</a:t>
            </a:r>
          </a:p>
        </p:txBody>
      </p:sp>
      <p:sp>
        <p:nvSpPr>
          <p:cNvPr id="29" name="Rounded Rectangle 28"/>
          <p:cNvSpPr/>
          <p:nvPr/>
        </p:nvSpPr>
        <p:spPr>
          <a:xfrm>
            <a:off x="6400800" y="2468880"/>
            <a:ext cx="512064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629400" y="26060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830568" y="26060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031736" y="26060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132320" y="2518778"/>
            <a:ext cx="4572000" cy="228600"/>
          </a:xfrm>
          <a:prstGeom prst="rect">
            <a:avLst/>
          </a:prstGeom>
          <a:noFill/>
        </p:spPr>
        <p:txBody>
          <a:bodyPr wrap="square">
            <a:spAutoFit/>
          </a:bodyPr>
          <a:lstStyle/>
          <a:p>
            <a:pPr algn="l">
              <a:spcAft>
                <a:spcPts val="0"/>
              </a:spcAft>
              <a:defRPr sz="1200" b="1" i="0">
                <a:solidFill>
                  <a:srgbClr val="E8D5B7"/>
                </a:solidFill>
                <a:latin typeface="Calibri"/>
              </a:defRPr>
            </a:pPr>
            <a:r>
              <a:rPr dirty="0"/>
              <a:t>Timestamp Filtering</a:t>
            </a:r>
          </a:p>
        </p:txBody>
      </p:sp>
      <p:sp>
        <p:nvSpPr>
          <p:cNvPr id="34" name="TextBox 33"/>
          <p:cNvSpPr txBox="1"/>
          <p:nvPr/>
        </p:nvSpPr>
        <p:spPr>
          <a:xfrm>
            <a:off x="7132320" y="2729090"/>
            <a:ext cx="4572000" cy="228600"/>
          </a:xfrm>
          <a:prstGeom prst="rect">
            <a:avLst/>
          </a:prstGeom>
          <a:noFill/>
        </p:spPr>
        <p:txBody>
          <a:bodyPr wrap="square">
            <a:spAutoFit/>
          </a:bodyPr>
          <a:lstStyle/>
          <a:p>
            <a:pPr algn="l">
              <a:spcAft>
                <a:spcPts val="0"/>
              </a:spcAft>
              <a:defRPr sz="1100" b="0" i="0">
                <a:solidFill>
                  <a:srgbClr val="C4A882"/>
                </a:solidFill>
                <a:latin typeface="Calibri"/>
              </a:defRPr>
            </a:pPr>
            <a:r>
              <a:rPr dirty="0"/>
              <a:t>LAST_PUSH_ISO + 30s buffer ensures only post-push comments</a:t>
            </a:r>
          </a:p>
        </p:txBody>
      </p:sp>
      <p:sp>
        <p:nvSpPr>
          <p:cNvPr id="35" name="Rounded Rectangle 34"/>
          <p:cNvSpPr/>
          <p:nvPr/>
        </p:nvSpPr>
        <p:spPr>
          <a:xfrm>
            <a:off x="6400800" y="3154680"/>
            <a:ext cx="512064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629400" y="32918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830568" y="32918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031736" y="32918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41464" y="3214063"/>
            <a:ext cx="4572000" cy="228600"/>
          </a:xfrm>
          <a:prstGeom prst="rect">
            <a:avLst/>
          </a:prstGeom>
          <a:noFill/>
        </p:spPr>
        <p:txBody>
          <a:bodyPr wrap="square">
            <a:spAutoFit/>
          </a:bodyPr>
          <a:lstStyle/>
          <a:p>
            <a:pPr algn="l">
              <a:spcAft>
                <a:spcPts val="0"/>
              </a:spcAft>
              <a:defRPr sz="1200" b="1" i="0">
                <a:solidFill>
                  <a:srgbClr val="E8D5B7"/>
                </a:solidFill>
                <a:latin typeface="Calibri"/>
              </a:defRPr>
            </a:pPr>
            <a:r>
              <a:rPr dirty="0"/>
              <a:t>Single-File Isolation</a:t>
            </a:r>
          </a:p>
        </p:txBody>
      </p:sp>
      <p:sp>
        <p:nvSpPr>
          <p:cNvPr id="40" name="TextBox 39"/>
          <p:cNvSpPr txBox="1"/>
          <p:nvPr/>
        </p:nvSpPr>
        <p:spPr>
          <a:xfrm>
            <a:off x="7141464" y="3424375"/>
            <a:ext cx="4572000" cy="228600"/>
          </a:xfrm>
          <a:prstGeom prst="rect">
            <a:avLst/>
          </a:prstGeom>
          <a:noFill/>
        </p:spPr>
        <p:txBody>
          <a:bodyPr wrap="square">
            <a:spAutoFit/>
          </a:bodyPr>
          <a:lstStyle/>
          <a:p>
            <a:pPr algn="l">
              <a:spcAft>
                <a:spcPts val="0"/>
              </a:spcAft>
              <a:defRPr sz="1100" b="0" i="0">
                <a:solidFill>
                  <a:srgbClr val="C4A882"/>
                </a:solidFill>
                <a:latin typeface="Calibri"/>
              </a:defRPr>
            </a:pPr>
            <a:r>
              <a:t>Each code-fixer can only modify its assigned file</a:t>
            </a:r>
          </a:p>
        </p:txBody>
      </p:sp>
      <p:sp>
        <p:nvSpPr>
          <p:cNvPr id="41" name="Rounded Rectangle 40"/>
          <p:cNvSpPr/>
          <p:nvPr/>
        </p:nvSpPr>
        <p:spPr>
          <a:xfrm>
            <a:off x="6400800" y="3840480"/>
            <a:ext cx="512064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629400" y="39776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830568" y="39776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031736" y="39776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132320" y="3922723"/>
            <a:ext cx="4572000" cy="228600"/>
          </a:xfrm>
          <a:prstGeom prst="rect">
            <a:avLst/>
          </a:prstGeom>
          <a:noFill/>
        </p:spPr>
        <p:txBody>
          <a:bodyPr wrap="square">
            <a:spAutoFit/>
          </a:bodyPr>
          <a:lstStyle/>
          <a:p>
            <a:pPr algn="l">
              <a:spcAft>
                <a:spcPts val="0"/>
              </a:spcAft>
              <a:defRPr sz="1200" b="1" i="0">
                <a:solidFill>
                  <a:srgbClr val="E8D5B7"/>
                </a:solidFill>
                <a:latin typeface="Calibri"/>
              </a:defRPr>
            </a:pPr>
            <a:r>
              <a:rPr dirty="0"/>
              <a:t>Auto-Review Awareness</a:t>
            </a:r>
          </a:p>
        </p:txBody>
      </p:sp>
      <p:sp>
        <p:nvSpPr>
          <p:cNvPr id="46" name="TextBox 45"/>
          <p:cNvSpPr txBox="1"/>
          <p:nvPr/>
        </p:nvSpPr>
        <p:spPr>
          <a:xfrm>
            <a:off x="7132320" y="4133035"/>
            <a:ext cx="4572000" cy="228600"/>
          </a:xfrm>
          <a:prstGeom prst="rect">
            <a:avLst/>
          </a:prstGeom>
          <a:noFill/>
        </p:spPr>
        <p:txBody>
          <a:bodyPr wrap="square">
            <a:spAutoFit/>
          </a:bodyPr>
          <a:lstStyle/>
          <a:p>
            <a:pPr algn="l">
              <a:spcAft>
                <a:spcPts val="0"/>
              </a:spcAft>
              <a:defRPr sz="1100" b="0" i="0">
                <a:solidFill>
                  <a:srgbClr val="C4A882"/>
                </a:solidFill>
                <a:latin typeface="Calibri"/>
              </a:defRPr>
            </a:pPr>
            <a:r>
              <a:t>2-min wait before manual trigger avoids duplicates</a:t>
            </a:r>
          </a:p>
        </p:txBody>
      </p:sp>
      <p:sp>
        <p:nvSpPr>
          <p:cNvPr id="47" name="Rounded Rectangle 46"/>
          <p:cNvSpPr/>
          <p:nvPr/>
        </p:nvSpPr>
        <p:spPr>
          <a:xfrm>
            <a:off x="6400800" y="4526280"/>
            <a:ext cx="5120640" cy="59436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6629400" y="46634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830568" y="46634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031736" y="46634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132320" y="4649383"/>
            <a:ext cx="4572000" cy="228600"/>
          </a:xfrm>
          <a:prstGeom prst="rect">
            <a:avLst/>
          </a:prstGeom>
          <a:noFill/>
        </p:spPr>
        <p:txBody>
          <a:bodyPr wrap="square">
            <a:spAutoFit/>
          </a:bodyPr>
          <a:lstStyle/>
          <a:p>
            <a:pPr algn="l">
              <a:spcAft>
                <a:spcPts val="0"/>
              </a:spcAft>
              <a:defRPr sz="1200" b="1" i="0">
                <a:solidFill>
                  <a:srgbClr val="E8D5B7"/>
                </a:solidFill>
                <a:latin typeface="Calibri"/>
              </a:defRPr>
            </a:pPr>
            <a:r>
              <a:rPr dirty="0"/>
              <a:t>Validation Gate</a:t>
            </a:r>
          </a:p>
        </p:txBody>
      </p:sp>
      <p:sp>
        <p:nvSpPr>
          <p:cNvPr id="52" name="TextBox 51"/>
          <p:cNvSpPr txBox="1"/>
          <p:nvPr/>
        </p:nvSpPr>
        <p:spPr>
          <a:xfrm>
            <a:off x="7132320" y="4859695"/>
            <a:ext cx="4572000" cy="228600"/>
          </a:xfrm>
          <a:prstGeom prst="rect">
            <a:avLst/>
          </a:prstGeom>
          <a:noFill/>
        </p:spPr>
        <p:txBody>
          <a:bodyPr wrap="square">
            <a:spAutoFit/>
          </a:bodyPr>
          <a:lstStyle/>
          <a:p>
            <a:pPr algn="l">
              <a:spcAft>
                <a:spcPts val="0"/>
              </a:spcAft>
              <a:defRPr sz="1100" b="0" i="0">
                <a:solidFill>
                  <a:srgbClr val="C4A882"/>
                </a:solidFill>
                <a:latin typeface="Calibri"/>
              </a:defRPr>
            </a:pPr>
            <a:r>
              <a:rPr dirty="0"/>
              <a:t>All fixes must pass compilation before commit</a:t>
            </a:r>
          </a:p>
        </p:txBody>
      </p:sp>
      <p:sp>
        <p:nvSpPr>
          <p:cNvPr id="53" name="Rounded Rectangle 52"/>
          <p:cNvSpPr/>
          <p:nvPr/>
        </p:nvSpPr>
        <p:spPr>
          <a:xfrm>
            <a:off x="731520" y="5394960"/>
            <a:ext cx="10789920" cy="923544"/>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60120" y="553212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61288" y="553212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362456" y="553212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1005840" y="5760720"/>
            <a:ext cx="10241280" cy="457200"/>
          </a:xfrm>
          <a:prstGeom prst="rect">
            <a:avLst/>
          </a:prstGeom>
          <a:noFill/>
        </p:spPr>
        <p:txBody>
          <a:bodyPr wrap="square">
            <a:spAutoFit/>
          </a:bodyPr>
          <a:lstStyle/>
          <a:p>
            <a:pPr algn="l">
              <a:spcAft>
                <a:spcPts val="0"/>
              </a:spcAft>
              <a:defRPr sz="1400" b="0" i="0">
                <a:solidFill>
                  <a:srgbClr val="E8D5B7"/>
                </a:solidFill>
                <a:latin typeface="Calibri"/>
              </a:defRPr>
            </a:pPr>
            <a:r>
              <a:t>Design principle: fail safe, fail fast. Every decision point has an explicit exit condition. The agent never enters an unbounded loop or pushes unvalidated code.</a:t>
            </a:r>
          </a:p>
        </p:txBody>
      </p:sp>
      <p:sp>
        <p:nvSpPr>
          <p:cNvPr id="58" name="TextBox 57"/>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Installation &amp; Developer Workflow</a:t>
            </a:r>
          </a:p>
        </p:txBody>
      </p:sp>
      <p:sp>
        <p:nvSpPr>
          <p:cNvPr id="3" name="TextBox 2"/>
          <p:cNvSpPr txBox="1"/>
          <p:nvPr/>
        </p:nvSpPr>
        <p:spPr>
          <a:xfrm>
            <a:off x="731520" y="1371600"/>
            <a:ext cx="5029200" cy="365760"/>
          </a:xfrm>
          <a:prstGeom prst="rect">
            <a:avLst/>
          </a:prstGeom>
          <a:noFill/>
        </p:spPr>
        <p:txBody>
          <a:bodyPr wrap="square">
            <a:spAutoFit/>
          </a:bodyPr>
          <a:lstStyle/>
          <a:p>
            <a:pPr algn="l">
              <a:spcAft>
                <a:spcPts val="0"/>
              </a:spcAft>
              <a:defRPr sz="2200" b="0" i="0">
                <a:solidFill>
                  <a:srgbClr val="E8D5B7"/>
                </a:solidFill>
                <a:latin typeface="Georgia"/>
              </a:defRPr>
            </a:pPr>
            <a:r>
              <a:t>Prerequisites</a:t>
            </a:r>
          </a:p>
        </p:txBody>
      </p:sp>
      <p:sp>
        <p:nvSpPr>
          <p:cNvPr id="4" name="TextBox 3"/>
          <p:cNvSpPr txBox="1"/>
          <p:nvPr/>
        </p:nvSpPr>
        <p:spPr>
          <a:xfrm>
            <a:off x="731520" y="1874519"/>
            <a:ext cx="5029200" cy="1097280"/>
          </a:xfrm>
          <a:prstGeom prst="rect">
            <a:avLst/>
          </a:prstGeom>
          <a:noFill/>
        </p:spPr>
        <p:txBody>
          <a:bodyPr wrap="square">
            <a:spAutoFit/>
          </a:bodyPr>
          <a:lstStyle/>
          <a:p>
            <a:pPr>
              <a:spcBef>
                <a:spcPts val="200"/>
              </a:spcBef>
              <a:spcAft>
                <a:spcPts val="800"/>
              </a:spcAft>
            </a:pPr>
            <a:r>
              <a:rPr sz="1500">
                <a:solidFill>
                  <a:srgbClr val="D4886B"/>
                </a:solidFill>
                <a:latin typeface="Calibri"/>
              </a:rPr>
              <a:t>–  </a:t>
            </a:r>
            <a:r>
              <a:rPr sz="1500">
                <a:solidFill>
                  <a:srgbClr val="C4A882"/>
                </a:solidFill>
                <a:latin typeface="Calibri"/>
              </a:rPr>
              <a:t>Claude Code CLI + GitHub CLI (gh)</a:t>
            </a:r>
          </a:p>
          <a:p>
            <a:pPr>
              <a:spcBef>
                <a:spcPts val="200"/>
              </a:spcBef>
              <a:spcAft>
                <a:spcPts val="800"/>
              </a:spcAft>
            </a:pPr>
            <a:r>
              <a:rPr sz="1500">
                <a:solidFill>
                  <a:srgbClr val="D4886B"/>
                </a:solidFill>
                <a:latin typeface="Calibri"/>
              </a:rPr>
              <a:t>–  </a:t>
            </a:r>
            <a:r>
              <a:rPr sz="1500">
                <a:solidFill>
                  <a:srgbClr val="C4A882"/>
                </a:solidFill>
                <a:latin typeface="Calibri"/>
              </a:rPr>
              <a:t>Greptile GitHub App installed on repo</a:t>
            </a:r>
          </a:p>
          <a:p>
            <a:pPr>
              <a:spcBef>
                <a:spcPts val="200"/>
              </a:spcBef>
              <a:spcAft>
                <a:spcPts val="800"/>
              </a:spcAft>
            </a:pPr>
            <a:r>
              <a:rPr sz="1500">
                <a:solidFill>
                  <a:srgbClr val="D4886B"/>
                </a:solidFill>
                <a:latin typeface="Calibri"/>
              </a:rPr>
              <a:t>–  </a:t>
            </a:r>
            <a:r>
              <a:rPr sz="1500">
                <a:solidFill>
                  <a:srgbClr val="C4A882"/>
                </a:solidFill>
                <a:latin typeface="Calibri"/>
              </a:rPr>
              <a:t>Greptile MCP Plugin active in Claude Code</a:t>
            </a:r>
          </a:p>
        </p:txBody>
      </p:sp>
      <p:sp>
        <p:nvSpPr>
          <p:cNvPr id="5" name="Rounded Rectangle 4"/>
          <p:cNvSpPr/>
          <p:nvPr/>
        </p:nvSpPr>
        <p:spPr>
          <a:xfrm>
            <a:off x="731520" y="3017520"/>
            <a:ext cx="5029200" cy="13716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60120" y="31546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61288" y="31546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362456" y="31546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45920" y="309067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Install</a:t>
            </a:r>
          </a:p>
        </p:txBody>
      </p:sp>
      <p:sp>
        <p:nvSpPr>
          <p:cNvPr id="10" name="TextBox 9"/>
          <p:cNvSpPr txBox="1"/>
          <p:nvPr/>
        </p:nvSpPr>
        <p:spPr>
          <a:xfrm>
            <a:off x="1005840" y="3566160"/>
            <a:ext cx="4154739" cy="461665"/>
          </a:xfrm>
          <a:prstGeom prst="rect">
            <a:avLst/>
          </a:prstGeom>
          <a:noFill/>
        </p:spPr>
        <p:txBody>
          <a:bodyPr wrap="square">
            <a:spAutoFit/>
          </a:bodyPr>
          <a:lstStyle/>
          <a:p>
            <a:pPr algn="l">
              <a:spcAft>
                <a:spcPts val="0"/>
              </a:spcAft>
              <a:defRPr sz="1200" b="0" i="0">
                <a:solidFill>
                  <a:srgbClr val="D4886B"/>
                </a:solidFill>
                <a:latin typeface="JetBrains Mono"/>
              </a:defRPr>
            </a:pPr>
            <a:r>
              <a:rPr dirty="0"/>
              <a:t>git clone https://</a:t>
            </a:r>
            <a:r>
              <a:rPr dirty="0" err="1"/>
              <a:t>github.com</a:t>
            </a:r>
            <a:r>
              <a:rPr dirty="0"/>
              <a:t>/</a:t>
            </a:r>
            <a:r>
              <a:rPr dirty="0" err="1"/>
              <a:t>startappdev</a:t>
            </a:r>
            <a:r>
              <a:rPr dirty="0"/>
              <a:t>/</a:t>
            </a:r>
            <a:r>
              <a:rPr dirty="0" err="1"/>
              <a:t>agents.git</a:t>
            </a:r>
            <a:endParaRPr dirty="0"/>
          </a:p>
        </p:txBody>
      </p:sp>
      <p:sp>
        <p:nvSpPr>
          <p:cNvPr id="11" name="TextBox 10"/>
          <p:cNvSpPr txBox="1"/>
          <p:nvPr/>
        </p:nvSpPr>
        <p:spPr>
          <a:xfrm>
            <a:off x="1005840" y="3967655"/>
            <a:ext cx="2725332" cy="274320"/>
          </a:xfrm>
          <a:prstGeom prst="rect">
            <a:avLst/>
          </a:prstGeom>
          <a:noFill/>
        </p:spPr>
        <p:txBody>
          <a:bodyPr wrap="square">
            <a:spAutoFit/>
          </a:bodyPr>
          <a:lstStyle/>
          <a:p>
            <a:pPr algn="l">
              <a:spcAft>
                <a:spcPts val="0"/>
              </a:spcAft>
              <a:defRPr sz="1200" b="0" i="0">
                <a:solidFill>
                  <a:srgbClr val="D4886B"/>
                </a:solidFill>
                <a:latin typeface="JetBrains Mono"/>
              </a:defRPr>
            </a:pPr>
            <a:r>
              <a:rPr dirty="0"/>
              <a:t>cd agents &amp;&amp; ./</a:t>
            </a:r>
            <a:r>
              <a:rPr dirty="0" err="1"/>
              <a:t>install.sh</a:t>
            </a:r>
            <a:endParaRPr dirty="0"/>
          </a:p>
        </p:txBody>
      </p:sp>
      <p:sp>
        <p:nvSpPr>
          <p:cNvPr id="12" name="TextBox 11"/>
          <p:cNvSpPr txBox="1"/>
          <p:nvPr/>
        </p:nvSpPr>
        <p:spPr>
          <a:xfrm>
            <a:off x="6309360" y="1191663"/>
            <a:ext cx="5029200" cy="365760"/>
          </a:xfrm>
          <a:prstGeom prst="rect">
            <a:avLst/>
          </a:prstGeom>
          <a:noFill/>
        </p:spPr>
        <p:txBody>
          <a:bodyPr wrap="square">
            <a:spAutoFit/>
          </a:bodyPr>
          <a:lstStyle/>
          <a:p>
            <a:pPr algn="l">
              <a:spcAft>
                <a:spcPts val="0"/>
              </a:spcAft>
              <a:defRPr sz="2200" b="0" i="0">
                <a:solidFill>
                  <a:srgbClr val="E8D5B7"/>
                </a:solidFill>
                <a:latin typeface="Georgia"/>
              </a:defRPr>
            </a:pPr>
            <a:r>
              <a:rPr dirty="0"/>
              <a:t>Typical Workflow</a:t>
            </a:r>
          </a:p>
        </p:txBody>
      </p:sp>
      <p:sp>
        <p:nvSpPr>
          <p:cNvPr id="13" name="Oval 12"/>
          <p:cNvSpPr/>
          <p:nvPr/>
        </p:nvSpPr>
        <p:spPr>
          <a:xfrm>
            <a:off x="6492240" y="182880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1</a:t>
            </a:r>
          </a:p>
        </p:txBody>
      </p:sp>
      <p:sp>
        <p:nvSpPr>
          <p:cNvPr id="14" name="TextBox 13"/>
          <p:cNvSpPr txBox="1"/>
          <p:nvPr/>
        </p:nvSpPr>
        <p:spPr>
          <a:xfrm>
            <a:off x="6949440" y="1810512"/>
            <a:ext cx="4206240" cy="365760"/>
          </a:xfrm>
          <a:prstGeom prst="rect">
            <a:avLst/>
          </a:prstGeom>
          <a:noFill/>
        </p:spPr>
        <p:txBody>
          <a:bodyPr wrap="square">
            <a:spAutoFit/>
          </a:bodyPr>
          <a:lstStyle/>
          <a:p>
            <a:pPr algn="l">
              <a:spcAft>
                <a:spcPts val="0"/>
              </a:spcAft>
              <a:defRPr sz="1400" b="0" i="0">
                <a:solidFill>
                  <a:srgbClr val="C4A882"/>
                </a:solidFill>
                <a:latin typeface="Calibri"/>
              </a:defRPr>
            </a:pPr>
            <a:r>
              <a:t>Write code on feature branch</a:t>
            </a:r>
          </a:p>
        </p:txBody>
      </p:sp>
      <p:sp>
        <p:nvSpPr>
          <p:cNvPr id="15" name="Oval 14"/>
          <p:cNvSpPr/>
          <p:nvPr/>
        </p:nvSpPr>
        <p:spPr>
          <a:xfrm>
            <a:off x="6492240" y="237744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2</a:t>
            </a:r>
          </a:p>
        </p:txBody>
      </p:sp>
      <p:sp>
        <p:nvSpPr>
          <p:cNvPr id="16" name="TextBox 15"/>
          <p:cNvSpPr txBox="1"/>
          <p:nvPr/>
        </p:nvSpPr>
        <p:spPr>
          <a:xfrm>
            <a:off x="6949440" y="2359152"/>
            <a:ext cx="4206240" cy="365760"/>
          </a:xfrm>
          <a:prstGeom prst="rect">
            <a:avLst/>
          </a:prstGeom>
          <a:noFill/>
        </p:spPr>
        <p:txBody>
          <a:bodyPr wrap="square">
            <a:spAutoFit/>
          </a:bodyPr>
          <a:lstStyle/>
          <a:p>
            <a:pPr algn="l">
              <a:spcAft>
                <a:spcPts val="0"/>
              </a:spcAft>
              <a:defRPr sz="1400" b="0" i="0">
                <a:solidFill>
                  <a:srgbClr val="C4A882"/>
                </a:solidFill>
                <a:latin typeface="Calibri"/>
              </a:defRPr>
            </a:pPr>
            <a:r>
              <a:t>Type /greptile-review-loop</a:t>
            </a:r>
          </a:p>
        </p:txBody>
      </p:sp>
      <p:sp>
        <p:nvSpPr>
          <p:cNvPr id="17" name="Oval 16"/>
          <p:cNvSpPr/>
          <p:nvPr/>
        </p:nvSpPr>
        <p:spPr>
          <a:xfrm>
            <a:off x="6492240" y="292608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3</a:t>
            </a:r>
          </a:p>
        </p:txBody>
      </p:sp>
      <p:sp>
        <p:nvSpPr>
          <p:cNvPr id="18" name="TextBox 17"/>
          <p:cNvSpPr txBox="1"/>
          <p:nvPr/>
        </p:nvSpPr>
        <p:spPr>
          <a:xfrm>
            <a:off x="6949440" y="2907792"/>
            <a:ext cx="4206240" cy="365760"/>
          </a:xfrm>
          <a:prstGeom prst="rect">
            <a:avLst/>
          </a:prstGeom>
          <a:noFill/>
        </p:spPr>
        <p:txBody>
          <a:bodyPr wrap="square">
            <a:spAutoFit/>
          </a:bodyPr>
          <a:lstStyle/>
          <a:p>
            <a:pPr algn="l">
              <a:spcAft>
                <a:spcPts val="0"/>
              </a:spcAft>
              <a:defRPr sz="1400" b="0" i="0">
                <a:solidFill>
                  <a:srgbClr val="C4A882"/>
                </a:solidFill>
                <a:latin typeface="Calibri"/>
              </a:defRPr>
            </a:pPr>
            <a:r>
              <a:t>Agent creates/finds PR</a:t>
            </a:r>
          </a:p>
        </p:txBody>
      </p:sp>
      <p:sp>
        <p:nvSpPr>
          <p:cNvPr id="19" name="Oval 18"/>
          <p:cNvSpPr/>
          <p:nvPr/>
        </p:nvSpPr>
        <p:spPr>
          <a:xfrm>
            <a:off x="6492240" y="347472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4</a:t>
            </a:r>
          </a:p>
        </p:txBody>
      </p:sp>
      <p:sp>
        <p:nvSpPr>
          <p:cNvPr id="20" name="TextBox 19"/>
          <p:cNvSpPr txBox="1"/>
          <p:nvPr/>
        </p:nvSpPr>
        <p:spPr>
          <a:xfrm>
            <a:off x="6949440" y="3456432"/>
            <a:ext cx="4206240" cy="365760"/>
          </a:xfrm>
          <a:prstGeom prst="rect">
            <a:avLst/>
          </a:prstGeom>
          <a:noFill/>
        </p:spPr>
        <p:txBody>
          <a:bodyPr wrap="square">
            <a:spAutoFit/>
          </a:bodyPr>
          <a:lstStyle/>
          <a:p>
            <a:pPr algn="l">
              <a:spcAft>
                <a:spcPts val="0"/>
              </a:spcAft>
              <a:defRPr sz="1400" b="0" i="0">
                <a:solidFill>
                  <a:srgbClr val="C4A882"/>
                </a:solidFill>
                <a:latin typeface="Calibri"/>
              </a:defRPr>
            </a:pPr>
            <a:r>
              <a:t>Greptile reviews → agent fixes</a:t>
            </a:r>
          </a:p>
        </p:txBody>
      </p:sp>
      <p:sp>
        <p:nvSpPr>
          <p:cNvPr id="21" name="Oval 20"/>
          <p:cNvSpPr/>
          <p:nvPr/>
        </p:nvSpPr>
        <p:spPr>
          <a:xfrm>
            <a:off x="6492240" y="402336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5</a:t>
            </a:r>
          </a:p>
        </p:txBody>
      </p:sp>
      <p:sp>
        <p:nvSpPr>
          <p:cNvPr id="22" name="TextBox 21"/>
          <p:cNvSpPr txBox="1"/>
          <p:nvPr/>
        </p:nvSpPr>
        <p:spPr>
          <a:xfrm>
            <a:off x="6949440" y="4005072"/>
            <a:ext cx="4206240" cy="365760"/>
          </a:xfrm>
          <a:prstGeom prst="rect">
            <a:avLst/>
          </a:prstGeom>
          <a:noFill/>
        </p:spPr>
        <p:txBody>
          <a:bodyPr wrap="square">
            <a:spAutoFit/>
          </a:bodyPr>
          <a:lstStyle/>
          <a:p>
            <a:pPr algn="l">
              <a:spcAft>
                <a:spcPts val="0"/>
              </a:spcAft>
              <a:defRPr sz="1400" b="0" i="0">
                <a:solidFill>
                  <a:srgbClr val="C4A882"/>
                </a:solidFill>
                <a:latin typeface="Calibri"/>
              </a:defRPr>
            </a:pPr>
            <a:r>
              <a:t>Loop until 4/5 → auto-merge</a:t>
            </a:r>
          </a:p>
        </p:txBody>
      </p:sp>
      <p:sp>
        <p:nvSpPr>
          <p:cNvPr id="23" name="Oval 22"/>
          <p:cNvSpPr/>
          <p:nvPr/>
        </p:nvSpPr>
        <p:spPr>
          <a:xfrm>
            <a:off x="6492240" y="457200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6</a:t>
            </a:r>
          </a:p>
        </p:txBody>
      </p:sp>
      <p:sp>
        <p:nvSpPr>
          <p:cNvPr id="24" name="TextBox 23"/>
          <p:cNvSpPr txBox="1"/>
          <p:nvPr/>
        </p:nvSpPr>
        <p:spPr>
          <a:xfrm>
            <a:off x="6949440" y="4553712"/>
            <a:ext cx="4206240" cy="365760"/>
          </a:xfrm>
          <a:prstGeom prst="rect">
            <a:avLst/>
          </a:prstGeom>
          <a:noFill/>
        </p:spPr>
        <p:txBody>
          <a:bodyPr wrap="square">
            <a:spAutoFit/>
          </a:bodyPr>
          <a:lstStyle/>
          <a:p>
            <a:pPr algn="l">
              <a:spcAft>
                <a:spcPts val="0"/>
              </a:spcAft>
              <a:defRPr sz="1400" b="0" i="0">
                <a:solidFill>
                  <a:srgbClr val="C4A882"/>
                </a:solidFill>
                <a:latin typeface="Calibri"/>
              </a:defRPr>
            </a:pPr>
            <a:r>
              <a:t>Read final status report</a:t>
            </a:r>
          </a:p>
        </p:txBody>
      </p:sp>
      <p:sp>
        <p:nvSpPr>
          <p:cNvPr id="25" name="TextBox 24"/>
          <p:cNvSpPr txBox="1"/>
          <p:nvPr/>
        </p:nvSpPr>
        <p:spPr>
          <a:xfrm>
            <a:off x="731520" y="4572000"/>
            <a:ext cx="10515600" cy="365760"/>
          </a:xfrm>
          <a:prstGeom prst="rect">
            <a:avLst/>
          </a:prstGeom>
          <a:noFill/>
        </p:spPr>
        <p:txBody>
          <a:bodyPr wrap="square">
            <a:spAutoFit/>
          </a:bodyPr>
          <a:lstStyle/>
          <a:p>
            <a:pPr algn="l">
              <a:spcAft>
                <a:spcPts val="0"/>
              </a:spcAft>
              <a:defRPr sz="2200" b="0" i="0">
                <a:solidFill>
                  <a:srgbClr val="E8D5B7"/>
                </a:solidFill>
                <a:latin typeface="Georgia"/>
              </a:defRPr>
            </a:pPr>
            <a:r>
              <a:t>Required Components</a:t>
            </a:r>
          </a:p>
        </p:txBody>
      </p:sp>
      <p:sp>
        <p:nvSpPr>
          <p:cNvPr id="26" name="Rounded Rectangle 25"/>
          <p:cNvSpPr/>
          <p:nvPr/>
        </p:nvSpPr>
        <p:spPr>
          <a:xfrm>
            <a:off x="731520" y="5029200"/>
            <a:ext cx="260604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8680" y="5120640"/>
            <a:ext cx="2331720" cy="274320"/>
          </a:xfrm>
          <a:prstGeom prst="rect">
            <a:avLst/>
          </a:prstGeom>
          <a:noFill/>
        </p:spPr>
        <p:txBody>
          <a:bodyPr wrap="square">
            <a:spAutoFit/>
          </a:bodyPr>
          <a:lstStyle/>
          <a:p>
            <a:pPr algn="l">
              <a:spcAft>
                <a:spcPts val="0"/>
              </a:spcAft>
              <a:defRPr sz="1000" b="0" i="0">
                <a:solidFill>
                  <a:srgbClr val="D4886B"/>
                </a:solidFill>
                <a:latin typeface="JetBrains Mono"/>
              </a:defRPr>
            </a:pPr>
            <a:r>
              <a:t>greptile-review-loop.md</a:t>
            </a:r>
          </a:p>
        </p:txBody>
      </p:sp>
      <p:sp>
        <p:nvSpPr>
          <p:cNvPr id="28" name="TextBox 27"/>
          <p:cNvSpPr txBox="1"/>
          <p:nvPr/>
        </p:nvSpPr>
        <p:spPr>
          <a:xfrm>
            <a:off x="868680" y="5394960"/>
            <a:ext cx="2331720" cy="274320"/>
          </a:xfrm>
          <a:prstGeom prst="rect">
            <a:avLst/>
          </a:prstGeom>
          <a:noFill/>
        </p:spPr>
        <p:txBody>
          <a:bodyPr wrap="square">
            <a:spAutoFit/>
          </a:bodyPr>
          <a:lstStyle/>
          <a:p>
            <a:pPr algn="l">
              <a:spcAft>
                <a:spcPts val="0"/>
              </a:spcAft>
              <a:defRPr sz="1100" b="0" i="0">
                <a:solidFill>
                  <a:srgbClr val="E8D5B7"/>
                </a:solidFill>
                <a:latin typeface="Calibri"/>
              </a:defRPr>
            </a:pPr>
            <a:r>
              <a:t>Agent definition</a:t>
            </a:r>
          </a:p>
        </p:txBody>
      </p:sp>
      <p:sp>
        <p:nvSpPr>
          <p:cNvPr id="29" name="TextBox 28"/>
          <p:cNvSpPr txBox="1"/>
          <p:nvPr/>
        </p:nvSpPr>
        <p:spPr>
          <a:xfrm>
            <a:off x="868680" y="5669280"/>
            <a:ext cx="2331720" cy="274320"/>
          </a:xfrm>
          <a:prstGeom prst="rect">
            <a:avLst/>
          </a:prstGeom>
          <a:noFill/>
        </p:spPr>
        <p:txBody>
          <a:bodyPr wrap="square">
            <a:spAutoFit/>
          </a:bodyPr>
          <a:lstStyle/>
          <a:p>
            <a:pPr algn="l">
              <a:spcAft>
                <a:spcPts val="0"/>
              </a:spcAft>
              <a:defRPr sz="900" b="0" i="0">
                <a:solidFill>
                  <a:srgbClr val="7A6E5D"/>
                </a:solidFill>
                <a:latin typeface="JetBrains Mono"/>
              </a:defRPr>
            </a:pPr>
            <a:r>
              <a:t>~/.claude/agents/</a:t>
            </a:r>
          </a:p>
        </p:txBody>
      </p:sp>
      <p:sp>
        <p:nvSpPr>
          <p:cNvPr id="30" name="Rounded Rectangle 29"/>
          <p:cNvSpPr/>
          <p:nvPr/>
        </p:nvSpPr>
        <p:spPr>
          <a:xfrm>
            <a:off x="3474720" y="5029200"/>
            <a:ext cx="260604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611880" y="5120640"/>
            <a:ext cx="2331720" cy="274320"/>
          </a:xfrm>
          <a:prstGeom prst="rect">
            <a:avLst/>
          </a:prstGeom>
          <a:noFill/>
        </p:spPr>
        <p:txBody>
          <a:bodyPr wrap="square">
            <a:spAutoFit/>
          </a:bodyPr>
          <a:lstStyle/>
          <a:p>
            <a:pPr algn="l">
              <a:spcAft>
                <a:spcPts val="0"/>
              </a:spcAft>
              <a:defRPr sz="1000" b="0" i="0">
                <a:solidFill>
                  <a:srgbClr val="D4886B"/>
                </a:solidFill>
                <a:latin typeface="JetBrains Mono"/>
              </a:defRPr>
            </a:pPr>
            <a:r>
              <a:t>code-fixer.md</a:t>
            </a:r>
          </a:p>
        </p:txBody>
      </p:sp>
      <p:sp>
        <p:nvSpPr>
          <p:cNvPr id="32" name="TextBox 31"/>
          <p:cNvSpPr txBox="1"/>
          <p:nvPr/>
        </p:nvSpPr>
        <p:spPr>
          <a:xfrm>
            <a:off x="3611880" y="5394960"/>
            <a:ext cx="2331720" cy="274320"/>
          </a:xfrm>
          <a:prstGeom prst="rect">
            <a:avLst/>
          </a:prstGeom>
          <a:noFill/>
        </p:spPr>
        <p:txBody>
          <a:bodyPr wrap="square">
            <a:spAutoFit/>
          </a:bodyPr>
          <a:lstStyle/>
          <a:p>
            <a:pPr algn="l">
              <a:spcAft>
                <a:spcPts val="0"/>
              </a:spcAft>
              <a:defRPr sz="1100" b="0" i="0">
                <a:solidFill>
                  <a:srgbClr val="E8D5B7"/>
                </a:solidFill>
                <a:latin typeface="Calibri"/>
              </a:defRPr>
            </a:pPr>
            <a:r>
              <a:t>Sub-agent definition</a:t>
            </a:r>
          </a:p>
        </p:txBody>
      </p:sp>
      <p:sp>
        <p:nvSpPr>
          <p:cNvPr id="33" name="TextBox 32"/>
          <p:cNvSpPr txBox="1"/>
          <p:nvPr/>
        </p:nvSpPr>
        <p:spPr>
          <a:xfrm>
            <a:off x="3611880" y="5669280"/>
            <a:ext cx="2331720" cy="274320"/>
          </a:xfrm>
          <a:prstGeom prst="rect">
            <a:avLst/>
          </a:prstGeom>
          <a:noFill/>
        </p:spPr>
        <p:txBody>
          <a:bodyPr wrap="square">
            <a:spAutoFit/>
          </a:bodyPr>
          <a:lstStyle/>
          <a:p>
            <a:pPr algn="l">
              <a:spcAft>
                <a:spcPts val="0"/>
              </a:spcAft>
              <a:defRPr sz="900" b="0" i="0">
                <a:solidFill>
                  <a:srgbClr val="7A6E5D"/>
                </a:solidFill>
                <a:latin typeface="JetBrains Mono"/>
              </a:defRPr>
            </a:pPr>
            <a:r>
              <a:t>~/.claude/agents/</a:t>
            </a:r>
          </a:p>
        </p:txBody>
      </p:sp>
      <p:sp>
        <p:nvSpPr>
          <p:cNvPr id="34" name="Rounded Rectangle 33"/>
          <p:cNvSpPr/>
          <p:nvPr/>
        </p:nvSpPr>
        <p:spPr>
          <a:xfrm>
            <a:off x="6217920" y="5029200"/>
            <a:ext cx="260604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55080" y="5120640"/>
            <a:ext cx="2331720" cy="274320"/>
          </a:xfrm>
          <a:prstGeom prst="rect">
            <a:avLst/>
          </a:prstGeom>
          <a:noFill/>
        </p:spPr>
        <p:txBody>
          <a:bodyPr wrap="square">
            <a:spAutoFit/>
          </a:bodyPr>
          <a:lstStyle/>
          <a:p>
            <a:pPr algn="l">
              <a:spcAft>
                <a:spcPts val="0"/>
              </a:spcAft>
              <a:defRPr sz="1000" b="0" i="0">
                <a:solidFill>
                  <a:srgbClr val="D4886B"/>
                </a:solidFill>
                <a:latin typeface="JetBrains Mono"/>
              </a:defRPr>
            </a:pPr>
            <a:r>
              <a:t>greptile-review-loop/</a:t>
            </a:r>
          </a:p>
        </p:txBody>
      </p:sp>
      <p:sp>
        <p:nvSpPr>
          <p:cNvPr id="36" name="TextBox 35"/>
          <p:cNvSpPr txBox="1"/>
          <p:nvPr/>
        </p:nvSpPr>
        <p:spPr>
          <a:xfrm>
            <a:off x="6355080" y="5394960"/>
            <a:ext cx="2331720" cy="274320"/>
          </a:xfrm>
          <a:prstGeom prst="rect">
            <a:avLst/>
          </a:prstGeom>
          <a:noFill/>
        </p:spPr>
        <p:txBody>
          <a:bodyPr wrap="square">
            <a:spAutoFit/>
          </a:bodyPr>
          <a:lstStyle/>
          <a:p>
            <a:pPr algn="l">
              <a:spcAft>
                <a:spcPts val="0"/>
              </a:spcAft>
              <a:defRPr sz="1100" b="0" i="0">
                <a:solidFill>
                  <a:srgbClr val="E8D5B7"/>
                </a:solidFill>
                <a:latin typeface="Calibri"/>
              </a:defRPr>
            </a:pPr>
            <a:r>
              <a:t>Slash command</a:t>
            </a:r>
          </a:p>
        </p:txBody>
      </p:sp>
      <p:sp>
        <p:nvSpPr>
          <p:cNvPr id="37" name="TextBox 36"/>
          <p:cNvSpPr txBox="1"/>
          <p:nvPr/>
        </p:nvSpPr>
        <p:spPr>
          <a:xfrm>
            <a:off x="6355080" y="5669280"/>
            <a:ext cx="2331720" cy="274320"/>
          </a:xfrm>
          <a:prstGeom prst="rect">
            <a:avLst/>
          </a:prstGeom>
          <a:noFill/>
        </p:spPr>
        <p:txBody>
          <a:bodyPr wrap="square">
            <a:spAutoFit/>
          </a:bodyPr>
          <a:lstStyle/>
          <a:p>
            <a:pPr algn="l">
              <a:spcAft>
                <a:spcPts val="0"/>
              </a:spcAft>
              <a:defRPr sz="900" b="0" i="0">
                <a:solidFill>
                  <a:srgbClr val="7A6E5D"/>
                </a:solidFill>
                <a:latin typeface="JetBrains Mono"/>
              </a:defRPr>
            </a:pPr>
            <a:r>
              <a:t>~/.claude/commands/</a:t>
            </a:r>
          </a:p>
        </p:txBody>
      </p:sp>
      <p:sp>
        <p:nvSpPr>
          <p:cNvPr id="38" name="Rounded Rectangle 37"/>
          <p:cNvSpPr/>
          <p:nvPr/>
        </p:nvSpPr>
        <p:spPr>
          <a:xfrm>
            <a:off x="8961120" y="5029200"/>
            <a:ext cx="260604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98280" y="5120640"/>
            <a:ext cx="2331720" cy="274320"/>
          </a:xfrm>
          <a:prstGeom prst="rect">
            <a:avLst/>
          </a:prstGeom>
          <a:noFill/>
        </p:spPr>
        <p:txBody>
          <a:bodyPr wrap="square">
            <a:spAutoFit/>
          </a:bodyPr>
          <a:lstStyle/>
          <a:p>
            <a:pPr algn="l">
              <a:spcAft>
                <a:spcPts val="0"/>
              </a:spcAft>
              <a:defRPr sz="1000" b="0" i="0">
                <a:solidFill>
                  <a:srgbClr val="D4886B"/>
                </a:solidFill>
                <a:latin typeface="JetBrains Mono"/>
              </a:defRPr>
            </a:pPr>
            <a:r>
              <a:t>post-pr-greptile-hook.sh</a:t>
            </a:r>
          </a:p>
        </p:txBody>
      </p:sp>
      <p:sp>
        <p:nvSpPr>
          <p:cNvPr id="40" name="TextBox 39"/>
          <p:cNvSpPr txBox="1"/>
          <p:nvPr/>
        </p:nvSpPr>
        <p:spPr>
          <a:xfrm>
            <a:off x="9098280" y="5394960"/>
            <a:ext cx="2331720" cy="274320"/>
          </a:xfrm>
          <a:prstGeom prst="rect">
            <a:avLst/>
          </a:prstGeom>
          <a:noFill/>
        </p:spPr>
        <p:txBody>
          <a:bodyPr wrap="square">
            <a:spAutoFit/>
          </a:bodyPr>
          <a:lstStyle/>
          <a:p>
            <a:pPr algn="l">
              <a:spcAft>
                <a:spcPts val="0"/>
              </a:spcAft>
              <a:defRPr sz="1100" b="0" i="0">
                <a:solidFill>
                  <a:srgbClr val="E8D5B7"/>
                </a:solidFill>
                <a:latin typeface="Calibri"/>
              </a:defRPr>
            </a:pPr>
            <a:r>
              <a:t>Post-PR notification</a:t>
            </a:r>
          </a:p>
        </p:txBody>
      </p:sp>
      <p:sp>
        <p:nvSpPr>
          <p:cNvPr id="41" name="TextBox 40"/>
          <p:cNvSpPr txBox="1"/>
          <p:nvPr/>
        </p:nvSpPr>
        <p:spPr>
          <a:xfrm>
            <a:off x="9098280" y="5669280"/>
            <a:ext cx="2331720" cy="274320"/>
          </a:xfrm>
          <a:prstGeom prst="rect">
            <a:avLst/>
          </a:prstGeom>
          <a:noFill/>
        </p:spPr>
        <p:txBody>
          <a:bodyPr wrap="square">
            <a:spAutoFit/>
          </a:bodyPr>
          <a:lstStyle/>
          <a:p>
            <a:pPr algn="l">
              <a:spcAft>
                <a:spcPts val="0"/>
              </a:spcAft>
              <a:defRPr sz="900" b="0" i="0">
                <a:solidFill>
                  <a:srgbClr val="7A6E5D"/>
                </a:solidFill>
                <a:latin typeface="JetBrains Mono"/>
              </a:defRPr>
            </a:pPr>
            <a:r>
              <a:t>~/.claude/hooks/</a:t>
            </a:r>
          </a:p>
        </p:txBody>
      </p:sp>
      <p:sp>
        <p:nvSpPr>
          <p:cNvPr id="42" name="TextBox 41"/>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Final Status Report &amp; The Vision</a:t>
            </a:r>
          </a:p>
        </p:txBody>
      </p:sp>
      <p:sp>
        <p:nvSpPr>
          <p:cNvPr id="3" name="Rounded Rectangle 2"/>
          <p:cNvSpPr/>
          <p:nvPr/>
        </p:nvSpPr>
        <p:spPr>
          <a:xfrm>
            <a:off x="731520" y="1371600"/>
            <a:ext cx="5120640" cy="32004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6128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45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1444752"/>
            <a:ext cx="3931920" cy="320040"/>
          </a:xfrm>
          <a:prstGeom prst="rect">
            <a:avLst/>
          </a:prstGeom>
          <a:noFill/>
        </p:spPr>
        <p:txBody>
          <a:bodyPr wrap="square">
            <a:spAutoFit/>
          </a:bodyPr>
          <a:lstStyle/>
          <a:p>
            <a:pPr algn="ctr">
              <a:spcAft>
                <a:spcPts val="0"/>
              </a:spcAft>
              <a:defRPr sz="1100" b="0" i="0">
                <a:solidFill>
                  <a:srgbClr val="7A6E5D"/>
                </a:solidFill>
                <a:latin typeface="Calibri"/>
              </a:defRPr>
            </a:pPr>
            <a:r>
              <a:t>Example Final Report</a:t>
            </a:r>
          </a:p>
        </p:txBody>
      </p:sp>
      <p:sp>
        <p:nvSpPr>
          <p:cNvPr id="8" name="TextBox 7"/>
          <p:cNvSpPr txBox="1"/>
          <p:nvPr/>
        </p:nvSpPr>
        <p:spPr>
          <a:xfrm>
            <a:off x="1005840" y="1920240"/>
            <a:ext cx="4572000" cy="2560320"/>
          </a:xfrm>
          <a:prstGeom prst="rect">
            <a:avLst/>
          </a:prstGeom>
          <a:noFill/>
        </p:spPr>
        <p:txBody>
          <a:bodyPr wrap="square">
            <a:spAutoFit/>
          </a:bodyPr>
          <a:lstStyle/>
          <a:p>
            <a:pPr algn="l">
              <a:spcAft>
                <a:spcPts val="0"/>
              </a:spcAft>
              <a:defRPr sz="1200" b="0" i="0">
                <a:solidFill>
                  <a:srgbClr val="D4886B"/>
                </a:solidFill>
                <a:latin typeface="JetBrains Mono"/>
              </a:defRPr>
            </a:pPr>
            <a:r>
              <a:t>PR: #42 (feature/auth-refactor)</a:t>
            </a:r>
            <a:br/>
            <a:r>
              <a:t>Final Score: 5/5</a:t>
            </a:r>
            <a:br/>
            <a:r>
              <a:t>Iterations: 3</a:t>
            </a:r>
            <a:br/>
            <a:r>
              <a:t>Status: MERGED</a:t>
            </a:r>
            <a:br/>
            <a:br/>
            <a:r>
              <a:t>Fixes Applied:</a:t>
            </a:r>
            <a:br/>
            <a:r>
              <a:t>  - src/auth/validate.ts: input sanitization</a:t>
            </a:r>
            <a:br/>
            <a:r>
              <a:t>  - src/api/users.ts: parameterized queries</a:t>
            </a:r>
            <a:br/>
            <a:r>
              <a:t>  - tests/auth.test.ts: added edge cases</a:t>
            </a:r>
            <a:br/>
            <a:br/>
            <a:r>
              <a:t>Total Time: ~12 minutes</a:t>
            </a:r>
          </a:p>
        </p:txBody>
      </p:sp>
      <p:sp>
        <p:nvSpPr>
          <p:cNvPr id="9" name="TextBox 8"/>
          <p:cNvSpPr txBox="1"/>
          <p:nvPr/>
        </p:nvSpPr>
        <p:spPr>
          <a:xfrm>
            <a:off x="6309360" y="1371600"/>
            <a:ext cx="5029200" cy="365760"/>
          </a:xfrm>
          <a:prstGeom prst="rect">
            <a:avLst/>
          </a:prstGeom>
          <a:noFill/>
        </p:spPr>
        <p:txBody>
          <a:bodyPr wrap="square">
            <a:spAutoFit/>
          </a:bodyPr>
          <a:lstStyle/>
          <a:p>
            <a:pPr algn="l">
              <a:spcAft>
                <a:spcPts val="0"/>
              </a:spcAft>
              <a:defRPr sz="2200" b="0" i="0">
                <a:solidFill>
                  <a:srgbClr val="E8D5B7"/>
                </a:solidFill>
                <a:latin typeface="Georgia"/>
              </a:defRPr>
            </a:pPr>
            <a:r>
              <a:t>The Autonomous Development Vision</a:t>
            </a:r>
          </a:p>
        </p:txBody>
      </p:sp>
      <p:sp>
        <p:nvSpPr>
          <p:cNvPr id="10" name="Oval 9"/>
          <p:cNvSpPr/>
          <p:nvPr/>
        </p:nvSpPr>
        <p:spPr>
          <a:xfrm>
            <a:off x="6492240" y="192024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1</a:t>
            </a:r>
          </a:p>
        </p:txBody>
      </p:sp>
      <p:sp>
        <p:nvSpPr>
          <p:cNvPr id="11" name="TextBox 10"/>
          <p:cNvSpPr txBox="1"/>
          <p:nvPr/>
        </p:nvSpPr>
        <p:spPr>
          <a:xfrm>
            <a:off x="6949440" y="1847088"/>
            <a:ext cx="4206240" cy="274320"/>
          </a:xfrm>
          <a:prstGeom prst="rect">
            <a:avLst/>
          </a:prstGeom>
          <a:noFill/>
        </p:spPr>
        <p:txBody>
          <a:bodyPr wrap="square">
            <a:spAutoFit/>
          </a:bodyPr>
          <a:lstStyle/>
          <a:p>
            <a:pPr algn="l">
              <a:spcAft>
                <a:spcPts val="0"/>
              </a:spcAft>
              <a:defRPr sz="1400" b="1" i="0">
                <a:solidFill>
                  <a:srgbClr val="E8D5B7"/>
                </a:solidFill>
                <a:latin typeface="Calibri"/>
              </a:defRPr>
            </a:pPr>
            <a:r>
              <a:t>Human Express Intent</a:t>
            </a:r>
          </a:p>
        </p:txBody>
      </p:sp>
      <p:sp>
        <p:nvSpPr>
          <p:cNvPr id="12" name="TextBox 11"/>
          <p:cNvSpPr txBox="1"/>
          <p:nvPr/>
        </p:nvSpPr>
        <p:spPr>
          <a:xfrm>
            <a:off x="6949440" y="2121408"/>
            <a:ext cx="4206240" cy="274320"/>
          </a:xfrm>
          <a:prstGeom prst="rect">
            <a:avLst/>
          </a:prstGeom>
          <a:noFill/>
        </p:spPr>
        <p:txBody>
          <a:bodyPr wrap="square">
            <a:spAutoFit/>
          </a:bodyPr>
          <a:lstStyle/>
          <a:p>
            <a:pPr algn="l">
              <a:spcAft>
                <a:spcPts val="0"/>
              </a:spcAft>
              <a:defRPr sz="1200" b="0" i="0">
                <a:solidFill>
                  <a:srgbClr val="C4A882"/>
                </a:solidFill>
                <a:latin typeface="Calibri"/>
              </a:defRPr>
            </a:pPr>
            <a:r>
              <a:t>Developer writes code and pushes</a:t>
            </a:r>
          </a:p>
        </p:txBody>
      </p:sp>
      <p:sp>
        <p:nvSpPr>
          <p:cNvPr id="13" name="Oval 12"/>
          <p:cNvSpPr/>
          <p:nvPr/>
        </p:nvSpPr>
        <p:spPr>
          <a:xfrm>
            <a:off x="6492240" y="256032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2</a:t>
            </a:r>
          </a:p>
        </p:txBody>
      </p:sp>
      <p:sp>
        <p:nvSpPr>
          <p:cNvPr id="14" name="TextBox 13"/>
          <p:cNvSpPr txBox="1"/>
          <p:nvPr/>
        </p:nvSpPr>
        <p:spPr>
          <a:xfrm>
            <a:off x="6949440" y="2487168"/>
            <a:ext cx="4206240" cy="274320"/>
          </a:xfrm>
          <a:prstGeom prst="rect">
            <a:avLst/>
          </a:prstGeom>
          <a:noFill/>
        </p:spPr>
        <p:txBody>
          <a:bodyPr wrap="square">
            <a:spAutoFit/>
          </a:bodyPr>
          <a:lstStyle/>
          <a:p>
            <a:pPr algn="l">
              <a:spcAft>
                <a:spcPts val="0"/>
              </a:spcAft>
              <a:defRPr sz="1400" b="1" i="0">
                <a:solidFill>
                  <a:srgbClr val="E8D5B7"/>
                </a:solidFill>
                <a:latin typeface="Calibri"/>
              </a:defRPr>
            </a:pPr>
            <a:r>
              <a:t>Coding Agent Executes</a:t>
            </a:r>
          </a:p>
        </p:txBody>
      </p:sp>
      <p:sp>
        <p:nvSpPr>
          <p:cNvPr id="15" name="TextBox 14"/>
          <p:cNvSpPr txBox="1"/>
          <p:nvPr/>
        </p:nvSpPr>
        <p:spPr>
          <a:xfrm>
            <a:off x="6949440" y="2761488"/>
            <a:ext cx="4206240" cy="274320"/>
          </a:xfrm>
          <a:prstGeom prst="rect">
            <a:avLst/>
          </a:prstGeom>
          <a:noFill/>
        </p:spPr>
        <p:txBody>
          <a:bodyPr wrap="square">
            <a:spAutoFit/>
          </a:bodyPr>
          <a:lstStyle/>
          <a:p>
            <a:pPr algn="l">
              <a:spcAft>
                <a:spcPts val="0"/>
              </a:spcAft>
              <a:defRPr sz="1200" b="0" i="0">
                <a:solidFill>
                  <a:srgbClr val="C4A882"/>
                </a:solidFill>
                <a:latin typeface="Calibri"/>
              </a:defRPr>
            </a:pPr>
            <a:r>
              <a:t>Claude Code builds the feature</a:t>
            </a:r>
          </a:p>
        </p:txBody>
      </p:sp>
      <p:sp>
        <p:nvSpPr>
          <p:cNvPr id="16" name="Oval 15"/>
          <p:cNvSpPr/>
          <p:nvPr/>
        </p:nvSpPr>
        <p:spPr>
          <a:xfrm>
            <a:off x="6492240" y="320040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3</a:t>
            </a:r>
          </a:p>
        </p:txBody>
      </p:sp>
      <p:sp>
        <p:nvSpPr>
          <p:cNvPr id="17" name="TextBox 16"/>
          <p:cNvSpPr txBox="1"/>
          <p:nvPr/>
        </p:nvSpPr>
        <p:spPr>
          <a:xfrm>
            <a:off x="6949440" y="3127248"/>
            <a:ext cx="4206240" cy="274320"/>
          </a:xfrm>
          <a:prstGeom prst="rect">
            <a:avLst/>
          </a:prstGeom>
          <a:noFill/>
        </p:spPr>
        <p:txBody>
          <a:bodyPr wrap="square">
            <a:spAutoFit/>
          </a:bodyPr>
          <a:lstStyle/>
          <a:p>
            <a:pPr algn="l">
              <a:spcAft>
                <a:spcPts val="0"/>
              </a:spcAft>
              <a:defRPr sz="1400" b="1" i="0">
                <a:solidFill>
                  <a:srgbClr val="E8D5B7"/>
                </a:solidFill>
                <a:latin typeface="Calibri"/>
              </a:defRPr>
            </a:pPr>
            <a:r>
              <a:t>Validation Agent Reviews</a:t>
            </a:r>
          </a:p>
        </p:txBody>
      </p:sp>
      <p:sp>
        <p:nvSpPr>
          <p:cNvPr id="18" name="TextBox 17"/>
          <p:cNvSpPr txBox="1"/>
          <p:nvPr/>
        </p:nvSpPr>
        <p:spPr>
          <a:xfrm>
            <a:off x="6949440" y="3401568"/>
            <a:ext cx="4206240" cy="274320"/>
          </a:xfrm>
          <a:prstGeom prst="rect">
            <a:avLst/>
          </a:prstGeom>
          <a:noFill/>
        </p:spPr>
        <p:txBody>
          <a:bodyPr wrap="square">
            <a:spAutoFit/>
          </a:bodyPr>
          <a:lstStyle/>
          <a:p>
            <a:pPr algn="l">
              <a:spcAft>
                <a:spcPts val="0"/>
              </a:spcAft>
              <a:defRPr sz="1200" b="0" i="0">
                <a:solidFill>
                  <a:srgbClr val="C4A882"/>
                </a:solidFill>
                <a:latin typeface="Calibri"/>
              </a:defRPr>
            </a:pPr>
            <a:r>
              <a:t>Greptile analyzes with full context</a:t>
            </a:r>
          </a:p>
        </p:txBody>
      </p:sp>
      <p:sp>
        <p:nvSpPr>
          <p:cNvPr id="19" name="Oval 18"/>
          <p:cNvSpPr/>
          <p:nvPr/>
        </p:nvSpPr>
        <p:spPr>
          <a:xfrm>
            <a:off x="6492240" y="384048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4</a:t>
            </a:r>
          </a:p>
        </p:txBody>
      </p:sp>
      <p:sp>
        <p:nvSpPr>
          <p:cNvPr id="20" name="TextBox 19"/>
          <p:cNvSpPr txBox="1"/>
          <p:nvPr/>
        </p:nvSpPr>
        <p:spPr>
          <a:xfrm>
            <a:off x="6949440" y="3767328"/>
            <a:ext cx="4206240" cy="274320"/>
          </a:xfrm>
          <a:prstGeom prst="rect">
            <a:avLst/>
          </a:prstGeom>
          <a:noFill/>
        </p:spPr>
        <p:txBody>
          <a:bodyPr wrap="square">
            <a:spAutoFit/>
          </a:bodyPr>
          <a:lstStyle/>
          <a:p>
            <a:pPr algn="l">
              <a:spcAft>
                <a:spcPts val="0"/>
              </a:spcAft>
              <a:defRPr sz="1400" b="1" i="0">
                <a:solidFill>
                  <a:srgbClr val="E8D5B7"/>
                </a:solidFill>
                <a:latin typeface="Calibri"/>
              </a:defRPr>
            </a:pPr>
            <a:r>
              <a:t>Fix Agent Remediates</a:t>
            </a:r>
          </a:p>
        </p:txBody>
      </p:sp>
      <p:sp>
        <p:nvSpPr>
          <p:cNvPr id="21" name="TextBox 20"/>
          <p:cNvSpPr txBox="1"/>
          <p:nvPr/>
        </p:nvSpPr>
        <p:spPr>
          <a:xfrm>
            <a:off x="6949440" y="4041648"/>
            <a:ext cx="4206240" cy="274320"/>
          </a:xfrm>
          <a:prstGeom prst="rect">
            <a:avLst/>
          </a:prstGeom>
          <a:noFill/>
        </p:spPr>
        <p:txBody>
          <a:bodyPr wrap="square">
            <a:spAutoFit/>
          </a:bodyPr>
          <a:lstStyle/>
          <a:p>
            <a:pPr algn="l">
              <a:spcAft>
                <a:spcPts val="0"/>
              </a:spcAft>
              <a:defRPr sz="1200" b="0" i="0">
                <a:solidFill>
                  <a:srgbClr val="C4A882"/>
                </a:solidFill>
                <a:latin typeface="Calibri"/>
              </a:defRPr>
            </a:pPr>
            <a:r>
              <a:t>Code-fixer addresses findings</a:t>
            </a:r>
          </a:p>
        </p:txBody>
      </p:sp>
      <p:sp>
        <p:nvSpPr>
          <p:cNvPr id="22" name="Oval 21"/>
          <p:cNvSpPr/>
          <p:nvPr/>
        </p:nvSpPr>
        <p:spPr>
          <a:xfrm>
            <a:off x="6492240" y="4480560"/>
            <a:ext cx="292608" cy="292608"/>
          </a:xfrm>
          <a:prstGeom prst="ellipse">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Calibri"/>
              </a:rPr>
              <a:t>5</a:t>
            </a:r>
          </a:p>
        </p:txBody>
      </p:sp>
      <p:sp>
        <p:nvSpPr>
          <p:cNvPr id="23" name="TextBox 22"/>
          <p:cNvSpPr txBox="1"/>
          <p:nvPr/>
        </p:nvSpPr>
        <p:spPr>
          <a:xfrm>
            <a:off x="6949440" y="4407408"/>
            <a:ext cx="4206240" cy="274320"/>
          </a:xfrm>
          <a:prstGeom prst="rect">
            <a:avLst/>
          </a:prstGeom>
          <a:noFill/>
        </p:spPr>
        <p:txBody>
          <a:bodyPr wrap="square">
            <a:spAutoFit/>
          </a:bodyPr>
          <a:lstStyle/>
          <a:p>
            <a:pPr algn="l">
              <a:spcAft>
                <a:spcPts val="0"/>
              </a:spcAft>
              <a:defRPr sz="1400" b="1" i="0">
                <a:solidFill>
                  <a:srgbClr val="E8D5B7"/>
                </a:solidFill>
                <a:latin typeface="Calibri"/>
              </a:defRPr>
            </a:pPr>
            <a:r>
              <a:t>Loop Until Approved</a:t>
            </a:r>
          </a:p>
        </p:txBody>
      </p:sp>
      <p:sp>
        <p:nvSpPr>
          <p:cNvPr id="24" name="TextBox 23"/>
          <p:cNvSpPr txBox="1"/>
          <p:nvPr/>
        </p:nvSpPr>
        <p:spPr>
          <a:xfrm>
            <a:off x="6949440" y="4681728"/>
            <a:ext cx="4206240" cy="274320"/>
          </a:xfrm>
          <a:prstGeom prst="rect">
            <a:avLst/>
          </a:prstGeom>
          <a:noFill/>
        </p:spPr>
        <p:txBody>
          <a:bodyPr wrap="square">
            <a:spAutoFit/>
          </a:bodyPr>
          <a:lstStyle/>
          <a:p>
            <a:pPr algn="l">
              <a:spcAft>
                <a:spcPts val="0"/>
              </a:spcAft>
              <a:defRPr sz="1200" b="0" i="0">
                <a:solidFill>
                  <a:srgbClr val="C4A882"/>
                </a:solidFill>
                <a:latin typeface="Calibri"/>
              </a:defRPr>
            </a:pPr>
            <a:r>
              <a:t>Repeat until quality threshold met</a:t>
            </a:r>
          </a:p>
        </p:txBody>
      </p:sp>
      <p:sp>
        <p:nvSpPr>
          <p:cNvPr id="25" name="Rounded Rectangle 24"/>
          <p:cNvSpPr/>
          <p:nvPr/>
        </p:nvSpPr>
        <p:spPr>
          <a:xfrm>
            <a:off x="731520" y="5029200"/>
            <a:ext cx="1069848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60120" y="51663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61288" y="51663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362456" y="51663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45920" y="510235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The Key Insight</a:t>
            </a:r>
          </a:p>
        </p:txBody>
      </p:sp>
      <p:sp>
        <p:nvSpPr>
          <p:cNvPr id="30" name="TextBox 29"/>
          <p:cNvSpPr txBox="1"/>
          <p:nvPr/>
        </p:nvSpPr>
        <p:spPr>
          <a:xfrm>
            <a:off x="1005840" y="5486400"/>
            <a:ext cx="10241280" cy="640080"/>
          </a:xfrm>
          <a:prstGeom prst="rect">
            <a:avLst/>
          </a:prstGeom>
          <a:noFill/>
        </p:spPr>
        <p:txBody>
          <a:bodyPr wrap="square">
            <a:spAutoFit/>
          </a:bodyPr>
          <a:lstStyle/>
          <a:p>
            <a:pPr algn="l">
              <a:spcAft>
                <a:spcPts val="0"/>
              </a:spcAft>
              <a:defRPr sz="1500" b="0" i="0">
                <a:solidFill>
                  <a:srgbClr val="E8D5B7"/>
                </a:solidFill>
                <a:latin typeface="Calibri"/>
              </a:defRPr>
            </a:pPr>
            <a:r>
              <a:t>/greptile-review-loop is not just a tool -- it's a proof of concept for the autonomous development loop. The human writes code; agents review, fix, and merge. The developer's role shifts from code reviewer to intent expresser.</a:t>
            </a:r>
          </a:p>
        </p:txBody>
      </p:sp>
      <p:sp>
        <p:nvSpPr>
          <p:cNvPr id="31" name="TextBox 30"/>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731520"/>
            <a:ext cx="10515600" cy="365760"/>
          </a:xfrm>
          <a:prstGeom prst="rect">
            <a:avLst/>
          </a:prstGeom>
          <a:noFill/>
        </p:spPr>
        <p:txBody>
          <a:bodyPr wrap="square">
            <a:spAutoFit/>
          </a:bodyPr>
          <a:lstStyle/>
          <a:p>
            <a:pPr algn="l">
              <a:spcAft>
                <a:spcPts val="0"/>
              </a:spcAft>
              <a:defRPr sz="1300" b="0" i="0">
                <a:solidFill>
                  <a:srgbClr val="7A6E5D"/>
                </a:solidFill>
                <a:latin typeface="JetBrains Mono"/>
              </a:defRPr>
            </a:pPr>
            <a:r>
              <a:t>THE CLAUDE BEAST</a:t>
            </a:r>
          </a:p>
        </p:txBody>
      </p:sp>
      <p:sp>
        <p:nvSpPr>
          <p:cNvPr id="3" name="TextBox 2"/>
          <p:cNvSpPr txBox="1"/>
          <p:nvPr/>
        </p:nvSpPr>
        <p:spPr>
          <a:xfrm>
            <a:off x="731520" y="1188720"/>
            <a:ext cx="10515600" cy="731520"/>
          </a:xfrm>
          <a:prstGeom prst="rect">
            <a:avLst/>
          </a:prstGeom>
          <a:noFill/>
        </p:spPr>
        <p:txBody>
          <a:bodyPr wrap="square">
            <a:spAutoFit/>
          </a:bodyPr>
          <a:lstStyle/>
          <a:p>
            <a:pPr algn="l">
              <a:spcAft>
                <a:spcPts val="0"/>
              </a:spcAft>
              <a:defRPr sz="4400" b="0" i="0">
                <a:solidFill>
                  <a:srgbClr val="E8D5B7"/>
                </a:solidFill>
                <a:latin typeface="Georgia"/>
              </a:defRPr>
            </a:pPr>
            <a:r>
              <a:t>Why /greptile-review-loop Matters</a:t>
            </a:r>
          </a:p>
        </p:txBody>
      </p:sp>
      <p:sp>
        <p:nvSpPr>
          <p:cNvPr id="4" name="Rectangle 3"/>
          <p:cNvSpPr/>
          <p:nvPr/>
        </p:nvSpPr>
        <p:spPr>
          <a:xfrm>
            <a:off x="731520" y="2011680"/>
            <a:ext cx="27432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237744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233172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Truly Autonomous</a:t>
            </a:r>
          </a:p>
        </p:txBody>
      </p:sp>
      <p:sp>
        <p:nvSpPr>
          <p:cNvPr id="7" name="TextBox 6"/>
          <p:cNvSpPr txBox="1"/>
          <p:nvPr/>
        </p:nvSpPr>
        <p:spPr>
          <a:xfrm>
            <a:off x="1188720" y="274320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One command. Zero human intervention. PR created, reviewed, fixed, and merged automatically.</a:t>
            </a:r>
          </a:p>
        </p:txBody>
      </p:sp>
      <p:sp>
        <p:nvSpPr>
          <p:cNvPr id="8" name="Rectangle 7"/>
          <p:cNvSpPr/>
          <p:nvPr/>
        </p:nvSpPr>
        <p:spPr>
          <a:xfrm>
            <a:off x="914400" y="342900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338328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Safety by Design</a:t>
            </a:r>
          </a:p>
        </p:txBody>
      </p:sp>
      <p:sp>
        <p:nvSpPr>
          <p:cNvPr id="10" name="TextBox 9"/>
          <p:cNvSpPr txBox="1"/>
          <p:nvPr/>
        </p:nvSpPr>
        <p:spPr>
          <a:xfrm>
            <a:off x="1188720" y="379476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5-iteration cap, HANDLED_IDS deduplication, build validation, score thresholds -- every edge case has an explicit exit.</a:t>
            </a:r>
          </a:p>
        </p:txBody>
      </p:sp>
      <p:sp>
        <p:nvSpPr>
          <p:cNvPr id="11" name="Rectangle 10"/>
          <p:cNvSpPr/>
          <p:nvPr/>
        </p:nvSpPr>
        <p:spPr>
          <a:xfrm>
            <a:off x="914400" y="4480560"/>
            <a:ext cx="45720" cy="411480"/>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88720" y="4434840"/>
            <a:ext cx="9601200" cy="365760"/>
          </a:xfrm>
          <a:prstGeom prst="rect">
            <a:avLst/>
          </a:prstGeom>
          <a:noFill/>
        </p:spPr>
        <p:txBody>
          <a:bodyPr wrap="square">
            <a:spAutoFit/>
          </a:bodyPr>
          <a:lstStyle/>
          <a:p>
            <a:pPr algn="l">
              <a:spcAft>
                <a:spcPts val="0"/>
              </a:spcAft>
              <a:defRPr sz="2000" b="1" i="0">
                <a:solidFill>
                  <a:srgbClr val="E8D5B7"/>
                </a:solidFill>
                <a:latin typeface="Calibri"/>
              </a:defRPr>
            </a:pPr>
            <a:r>
              <a:t>The Future of Code Quality</a:t>
            </a:r>
          </a:p>
        </p:txBody>
      </p:sp>
      <p:sp>
        <p:nvSpPr>
          <p:cNvPr id="13" name="TextBox 12"/>
          <p:cNvSpPr txBox="1"/>
          <p:nvPr/>
        </p:nvSpPr>
        <p:spPr>
          <a:xfrm>
            <a:off x="1188720" y="4846320"/>
            <a:ext cx="9601200" cy="457200"/>
          </a:xfrm>
          <a:prstGeom prst="rect">
            <a:avLst/>
          </a:prstGeom>
          <a:noFill/>
        </p:spPr>
        <p:txBody>
          <a:bodyPr wrap="square">
            <a:spAutoFit/>
          </a:bodyPr>
          <a:lstStyle/>
          <a:p>
            <a:pPr algn="l">
              <a:spcAft>
                <a:spcPts val="0"/>
              </a:spcAft>
              <a:defRPr sz="1500" b="0" i="0">
                <a:solidFill>
                  <a:srgbClr val="C4A882"/>
                </a:solidFill>
                <a:latin typeface="Calibri"/>
              </a:defRPr>
            </a:pPr>
            <a:r>
              <a:t>Human writes code. Agent reviews. Agent fixes. Agent merges. The review bottleneck is eliminated.</a:t>
            </a:r>
          </a:p>
        </p:txBody>
      </p:sp>
      <p:sp>
        <p:nvSpPr>
          <p:cNvPr id="14" name="Rectangle 13"/>
          <p:cNvSpPr/>
          <p:nvPr/>
        </p:nvSpPr>
        <p:spPr>
          <a:xfrm>
            <a:off x="914400" y="5486400"/>
            <a:ext cx="1005840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623560"/>
            <a:ext cx="10241280" cy="548640"/>
          </a:xfrm>
          <a:prstGeom prst="rect">
            <a:avLst/>
          </a:prstGeom>
          <a:noFill/>
        </p:spPr>
        <p:txBody>
          <a:bodyPr wrap="square">
            <a:spAutoFit/>
          </a:bodyPr>
          <a:lstStyle/>
          <a:p>
            <a:pPr algn="l">
              <a:spcAft>
                <a:spcPts val="0"/>
              </a:spcAft>
              <a:defRPr sz="1400" b="0" i="1">
                <a:solidFill>
                  <a:srgbClr val="D4886B"/>
                </a:solidFill>
                <a:latin typeface="Calibri"/>
              </a:defRPr>
            </a:pPr>
            <a:r>
              <a:t>github.com/startappdev/agents  |  MIT License  |  /greptile-review-loop</a:t>
            </a:r>
          </a:p>
        </p:txBody>
      </p:sp>
      <p:sp>
        <p:nvSpPr>
          <p:cNvPr id="16" name="TextBox 15"/>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2433</Words>
  <Application>Microsoft Macintosh PowerPoint</Application>
  <PresentationFormat>Widescreen</PresentationFormat>
  <Paragraphs>297</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5</cp:revision>
  <dcterms:created xsi:type="dcterms:W3CDTF">2013-01-27T09:14:16Z</dcterms:created>
  <dcterms:modified xsi:type="dcterms:W3CDTF">2026-02-27T08:19:43Z</dcterms:modified>
  <cp:category/>
</cp:coreProperties>
</file>