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349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Title Slide</a:t>
            </a:r>
          </a:p>
          <a:p>
            <a:endParaRPr/>
          </a:p>
          <a:p>
            <a:r>
              <a:t>Opening: Welcome to Episode 8 of The Claude Beast series. Today we're covering one of the most powerful MCP integrations available -- Exa, the AI-native search engine.</a:t>
            </a:r>
          </a:p>
          <a:p>
            <a:endParaRPr/>
          </a:p>
          <a:p>
            <a:r>
              <a:t>Core Message: Exa MCP gives Claude Code real-time access to the web. No more stale training data. No more hallucinated API docs. With a single terminal command, Claude can search the web, read articles, research companies, and find code examples -- all grounded in current, verified sources.</a:t>
            </a:r>
          </a:p>
          <a:p>
            <a:endParaRPr/>
          </a:p>
          <a:p>
            <a:r>
              <a:t>Transition: Let's start by understanding what makes Exa different from traditional search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What Is Exa?</a:t>
            </a:r>
          </a:p>
          <a:p>
            <a:endParaRPr/>
          </a:p>
          <a:p>
            <a:r>
              <a:t>Opening: Exa, formerly known as Metaphor, is fundamentally different from Google or Bing. It was built from scratch specifically for AI models.</a:t>
            </a:r>
          </a:p>
          <a:p>
            <a:endParaRPr/>
          </a:p>
          <a:p>
            <a:r>
              <a:t>Key Points:</a:t>
            </a:r>
          </a:p>
          <a:p>
            <a:r>
              <a:t>- Founded in 2021, Y Combinator S21 batch, by William Bryk and Jeffrey Wang</a:t>
            </a:r>
          </a:p>
          <a:p>
            <a:r>
              <a:t>- Raised $107M total, with the latest Series B at $700M valuation led by Benchmark</a:t>
            </a:r>
          </a:p>
          <a:p>
            <a:r>
              <a:t>- NVIDIA's venture arm is also an investor, signaling strong infrastructure play</a:t>
            </a:r>
          </a:p>
          <a:p>
            <a:r>
              <a:t>- Uses transformer-based neural search to understand semantic meaning, not just keywords</a:t>
            </a:r>
          </a:p>
          <a:p>
            <a:r>
              <a:t>- Returns clean, structured content -- no ads, no HTML scraping needed</a:t>
            </a:r>
          </a:p>
          <a:p>
            <a:endParaRPr/>
          </a:p>
          <a:p>
            <a:r>
              <a:t>Why It Matters: Traditional search engines are designed for humans browsing web pages. Exa is designed for AI consumption -- the results are clean, structured, and immediately usable by LLMs.</a:t>
            </a:r>
          </a:p>
          <a:p>
            <a:endParaRPr/>
          </a:p>
          <a:p>
            <a:r>
              <a:t>Transition: But how does Claude actually connect to Exa? That's where MCP comes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What Is MCP?</a:t>
            </a:r>
          </a:p>
          <a:p>
            <a:endParaRPr/>
          </a:p>
          <a:p>
            <a:r>
              <a:t>Opening: MCP stands for Model Context Protocol. Think of it as USB-C for AI -- one universal standard that works everywhere.</a:t>
            </a:r>
          </a:p>
          <a:p>
            <a:endParaRPr/>
          </a:p>
          <a:p>
            <a:r>
              <a:t>The Problem: Before MCP, every AI-to-tool integration was custom. Want Claude to search the web? Custom code. Want it to query a database? Different custom code. This doesn't scale.</a:t>
            </a:r>
          </a:p>
          <a:p>
            <a:endParaRPr/>
          </a:p>
          <a:p>
            <a:r>
              <a:t>The Solution: MCP standardizes this. Build one MCP server for your tool, and any MCP-compatible client (Claude Code, Cursor, VS Code, Gemini CLI, Codex, and 10+ others) can use it immediately.</a:t>
            </a:r>
          </a:p>
          <a:p>
            <a:endParaRPr/>
          </a:p>
          <a:p>
            <a:r>
              <a:t>Technical Details:</a:t>
            </a:r>
          </a:p>
          <a:p>
            <a:r>
              <a:t>- JSON-RPC 2.0 protocol over STDIO, HTTP, or SSE</a:t>
            </a:r>
          </a:p>
          <a:p>
            <a:r>
              <a:t>- Client-server architecture with dynamic tool discovery</a:t>
            </a:r>
          </a:p>
          <a:p>
            <a:r>
              <a:t>- Stateful sessions with bidirectional communication</a:t>
            </a:r>
          </a:p>
          <a:p>
            <a:r>
              <a:t>- Permission-based security built in</a:t>
            </a:r>
          </a:p>
          <a:p>
            <a:endParaRPr/>
          </a:p>
          <a:p>
            <a:r>
              <a:t>Transition: Now let's see how Exa and MCP come together in Claude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Setup in 30 Seconds</a:t>
            </a:r>
          </a:p>
          <a:p>
            <a:endParaRPr/>
          </a:p>
          <a:p>
            <a:r>
              <a:t>Opening: This is the magic moment. One command. That's it. Claude Code is now connected to the web.</a:t>
            </a:r>
          </a:p>
          <a:p>
            <a:endParaRPr/>
          </a:p>
          <a:p>
            <a:r>
              <a:t>Demo Walk-Through:</a:t>
            </a:r>
          </a:p>
          <a:p>
            <a:r>
              <a:t>1. Open your terminal with Claude Code running</a:t>
            </a:r>
          </a:p>
          <a:p>
            <a:r>
              <a:t>2. Run: claude mcp add --transport http exa https://mcp.exa.ai/mcp</a:t>
            </a:r>
          </a:p>
          <a:p>
            <a:r>
              <a:t>3. Restart Claude Code</a:t>
            </a:r>
          </a:p>
          <a:p>
            <a:r>
              <a:t>4. Exa tools now appear in your available tools</a:t>
            </a:r>
          </a:p>
          <a:p>
            <a:endParaRPr/>
          </a:p>
          <a:p>
            <a:r>
              <a:t>Three Options:</a:t>
            </a:r>
          </a:p>
          <a:p>
            <a:r>
              <a:t>- Free remote: No API key, no setup, just works. Great for trying it out.</a:t>
            </a:r>
          </a:p>
          <a:p>
            <a:r>
              <a:t>- With API key: Sign up at dashboard.exa.ai, get $10 free credits, higher rate limits</a:t>
            </a:r>
          </a:p>
          <a:p>
            <a:r>
              <a:t>- Local npm: Install exa-mcp-server locally for full control and additional tools like Twitter search and academic paper search</a:t>
            </a:r>
          </a:p>
          <a:p>
            <a:endParaRPr/>
          </a:p>
          <a:p>
            <a:r>
              <a:t>The remote server is hosted by Exa -- no local dependencies needed.</a:t>
            </a:r>
          </a:p>
          <a:p>
            <a:endParaRPr/>
          </a:p>
          <a:p>
            <a:r>
              <a:t>Transition: Now let's look at what tools become available once you're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- 8 Tools at Your Fingertips</a:t>
            </a:r>
          </a:p>
          <a:p>
            <a:endParaRPr/>
          </a:p>
          <a:p>
            <a:r>
              <a:t>Opening: Once connected, Claude Code gains access to 8 powerful tools. Three are enabled by default, and the rest can be activated with a URL parameter.</a:t>
            </a:r>
          </a:p>
          <a:p>
            <a:endParaRPr/>
          </a:p>
          <a:p>
            <a:r>
              <a:t>Default Tools (auto-enabled):</a:t>
            </a:r>
          </a:p>
          <a:p>
            <a:r>
              <a:t>1. web_search_exa -- Nearly 2 million calls on the remote server. General web search that returns clean, LLM-ready content.</a:t>
            </a:r>
          </a:p>
          <a:p>
            <a:r>
              <a:t>2. get_code_context_exa -- Searches GitHub, Stack Overflow, and official docs. Over 229K calls. Critical for reducing code hallucination.</a:t>
            </a:r>
          </a:p>
          <a:p>
            <a:r>
              <a:t>3. company_research_exa -- Business intelligence: funding, headcount, news, tech stack.</a:t>
            </a:r>
          </a:p>
          <a:p>
            <a:endParaRPr/>
          </a:p>
          <a:p>
            <a:r>
              <a:t>Optional Tools (enable via URL parameter):</a:t>
            </a:r>
          </a:p>
          <a:p>
            <a:r>
              <a:t>4. crawling_exa -- Extract full content from any URL. Blazing fast at 274ms average.</a:t>
            </a:r>
          </a:p>
          <a:p>
            <a:r>
              <a:t>5. deep_researcher -- This is the star. An autonomous AI research agent that searches, reads, and writes reports. Takes 15 seconds to 3 minutes.</a:t>
            </a:r>
          </a:p>
          <a:p>
            <a:r>
              <a:t>6. people_search_exa -- Find professionals and their profiles.</a:t>
            </a:r>
          </a:p>
          <a:p>
            <a:r>
              <a:t>7-8. Advanced search and research check tools.</a:t>
            </a:r>
          </a:p>
          <a:p>
            <a:endParaRPr/>
          </a:p>
          <a:p>
            <a:r>
              <a:t>Key Stat: web_search_exa alone has been called nearly 2 million times -- one of the most-used MCP tools in the entire ecosystem.</a:t>
            </a:r>
          </a:p>
          <a:p>
            <a:endParaRPr/>
          </a:p>
          <a:p>
            <a:r>
              <a:t>Transition: Let's look at how developers are actually using these tools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Developer Use Cases</a:t>
            </a:r>
          </a:p>
          <a:p>
            <a:endParaRPr/>
          </a:p>
          <a:p>
            <a:r>
              <a:t>Opening: Here are the six most common ways developers are using Exa MCP with Claude Code.</a:t>
            </a:r>
          </a:p>
          <a:p>
            <a:endParaRPr/>
          </a:p>
          <a:p>
            <a:r>
              <a:t>Walk Through Each:</a:t>
            </a:r>
          </a:p>
          <a:p>
            <a:r>
              <a:t>1. Documentation Lookup -- The most common use case. Instead of Claude guessing at API signatures from potentially outdated training data, it fetches the latest docs in real time.</a:t>
            </a:r>
          </a:p>
          <a:p>
            <a:endParaRPr/>
          </a:p>
          <a:p>
            <a:r>
              <a:t>2. Code Examples -- This is huge for reducing hallucination. Claude pulls real, working code from GitHub and Stack Overflow instead of generating potentially incorrect patterns.</a:t>
            </a:r>
          </a:p>
          <a:p>
            <a:endParaRPr/>
          </a:p>
          <a:p>
            <a:r>
              <a:t>3. Deep Research -- The deep_researcher tool is unique in the MCP ecosystem. It autonomously conducts multi-step research across multiple sources, following leads like a human researcher but completing in minutes.</a:t>
            </a:r>
          </a:p>
          <a:p>
            <a:endParaRPr/>
          </a:p>
          <a:p>
            <a:r>
              <a:t>4. Real-Time Web Access -- Claude's training data has a cutoff. Exa bridges that gap with live web content.</a:t>
            </a:r>
          </a:p>
          <a:p>
            <a:endParaRPr/>
          </a:p>
          <a:p>
            <a:r>
              <a:t>5. Company Intelligence -- Perfect for hackathons and competitive analysis. Get structured data about any company.</a:t>
            </a:r>
          </a:p>
          <a:p>
            <a:endParaRPr/>
          </a:p>
          <a:p>
            <a:r>
              <a:t>6. Content Extraction -- When you have a specific URL, crawling_exa extracts clean text at 274ms average latency.</a:t>
            </a:r>
          </a:p>
          <a:p>
            <a:endParaRPr/>
          </a:p>
          <a:p>
            <a:r>
              <a:t>Transition: Let's dig deeper into why this is better than relying on training data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Why Training Data Alone Is Not Enough</a:t>
            </a:r>
          </a:p>
          <a:p>
            <a:endParaRPr/>
          </a:p>
          <a:p>
            <a:r>
              <a:t>Opening: This is the core argument for Exa MCP. Claude is incredibly powerful, but its training data is frozen in time. Let me walk through each limitation.</a:t>
            </a:r>
          </a:p>
          <a:p>
            <a:endParaRPr/>
          </a:p>
          <a:p>
            <a:r>
              <a:t>Key Comparisons:</a:t>
            </a:r>
          </a:p>
          <a:p>
            <a:r>
              <a:t>- Knowledge Cutoff: Claude's training data ends at a fixed date. Exa gives it live web access.</a:t>
            </a:r>
          </a:p>
          <a:p>
            <a:r>
              <a:t>- Stale Documentation: APIs change constantly. Exa fetches the latest docs, not outdated ones from training data.</a:t>
            </a:r>
          </a:p>
          <a:p>
            <a:r>
              <a:t>- Hallucinated Code: This is the biggest pain point. Without real examples, Claude sometimes generates plausible but incorrect code patterns. Exa's get_code_context tool fetches real, verified code from GitHub and Stack Overflow.</a:t>
            </a:r>
          </a:p>
          <a:p>
            <a:r>
              <a:t>- Deep Research: The autonomous research agent is a game-changer. It follows leads across multiple sources and writes cited reports.</a:t>
            </a:r>
          </a:p>
          <a:p>
            <a:endParaRPr/>
          </a:p>
          <a:p>
            <a:r>
              <a:t>Bottom Line: Exa MCP is especially critical for:</a:t>
            </a:r>
          </a:p>
          <a:p>
            <a:r>
              <a:t>- Fast-moving fields like AI and web development</a:t>
            </a:r>
          </a:p>
          <a:p>
            <a:r>
              <a:t>- Time-sensitive decisions like investment research and competitive analysis</a:t>
            </a:r>
          </a:p>
          <a:p>
            <a:r>
              <a:t>- Technical accuracy with correct API signatures and current library versions</a:t>
            </a:r>
          </a:p>
          <a:p>
            <a:r>
              <a:t>- Reducing hallucination by grounding responses in real sources</a:t>
            </a:r>
          </a:p>
          <a:p>
            <a:endParaRPr/>
          </a:p>
          <a:p>
            <a:r>
              <a:t>Transition: Now let's look at the benchmarks -- how does Exa compare to alternatives?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Get Started Now</a:t>
            </a:r>
          </a:p>
          <a:p>
            <a:endParaRPr/>
          </a:p>
          <a:p>
            <a:r>
              <a:t>Opening: Let's get you set up right now. This takes 30 seconds.</a:t>
            </a:r>
          </a:p>
          <a:p>
            <a:endParaRPr/>
          </a:p>
          <a:p>
            <a:r>
              <a:t>Walk-Through:</a:t>
            </a:r>
          </a:p>
          <a:p>
            <a:r>
              <a:t>1. Open your terminal and run the single command to add Exa MCP to Claude Code. No API key needed.</a:t>
            </a:r>
          </a:p>
          <a:p>
            <a:r>
              <a:t>2. Restart Claude Code so it picks up the new MCP server.</a:t>
            </a:r>
          </a:p>
          <a:p>
            <a:r>
              <a:t>3. Verify by asking Claude what Exa tools are available. You should see web_search_exa, get_code_context_exa, and company_research_exa.</a:t>
            </a:r>
          </a:p>
          <a:p>
            <a:r>
              <a:t>4. Test with a simple search query.</a:t>
            </a:r>
          </a:p>
          <a:p>
            <a:r>
              <a:t>5. For all 8 tools, use the extended URL with the tools parameter.</a:t>
            </a:r>
          </a:p>
          <a:p>
            <a:endParaRPr/>
          </a:p>
          <a:p>
            <a:r>
              <a:t>Closing Message:</a:t>
            </a:r>
          </a:p>
          <a:p>
            <a:r>
              <a:t>Exa MCP is one of the most impactful additions you can make to your Claude Code setup. With a single command, you transform Claude from a static AI assistant into a dynamic research partner with real-time web access.</a:t>
            </a:r>
          </a:p>
          <a:p>
            <a:endParaRPr/>
          </a:p>
          <a:p>
            <a:r>
              <a:t>For hackathons especially, this is a superpower. You can research APIs, find code examples, look up current documentation, and analyze competitors -- all without leaving your terminal.</a:t>
            </a:r>
          </a:p>
          <a:p>
            <a:endParaRPr/>
          </a:p>
          <a:p>
            <a:r>
              <a:t>Resources:</a:t>
            </a:r>
          </a:p>
          <a:p>
            <a:r>
              <a:t>- exa.ai -- Sign up and get $10 free credits</a:t>
            </a:r>
          </a:p>
          <a:p>
            <a:r>
              <a:t>- github.com/exa-labs/exa-mcp-server -- MIT-licensed source code</a:t>
            </a:r>
          </a:p>
          <a:p>
            <a:r>
              <a:t>- dashboard.exa.ai/api-keys -- Get an API key for higher limits</a:t>
            </a:r>
          </a:p>
          <a:p>
            <a:endParaRPr/>
          </a:p>
          <a:p>
            <a:r>
              <a:t>Thank you.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  |  EPISODE 08  |  February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400" b="0" i="0">
                <a:solidFill>
                  <a:srgbClr val="E8D5B7"/>
                </a:solidFill>
                <a:latin typeface="Georgia"/>
              </a:defRPr>
            </a:pPr>
            <a:r>
              <a:t>EXA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AI-Native Web Search for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040" y="3657601"/>
            <a:ext cx="393192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79476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 i="1">
                <a:solidFill>
                  <a:srgbClr val="D4886B"/>
                </a:solidFill>
                <a:latin typeface="Calibri"/>
              </a:defRPr>
            </a:pPr>
            <a:r>
              <a:rPr dirty="0"/>
              <a:t>How Exa transforms Claude from a static AI into a dynamic research assistant</a:t>
            </a:r>
            <a:br>
              <a:rPr dirty="0"/>
            </a:br>
            <a:r>
              <a:rPr dirty="0"/>
              <a:t>with real-time access to the entire web.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What Is Exa?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AI-Native Search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4200" y="2103120"/>
            <a:ext cx="59436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dirty="0">
                <a:solidFill>
                  <a:srgbClr val="D4886B"/>
                </a:solidFill>
                <a:latin typeface="Calibri"/>
              </a:rPr>
              <a:t>  –  </a:t>
            </a:r>
            <a:r>
              <a:rPr sz="1700" dirty="0">
                <a:solidFill>
                  <a:srgbClr val="C4A882"/>
                </a:solidFill>
                <a:latin typeface="Calibri"/>
              </a:rPr>
              <a:t>Built from the ground up for LLMs, not retrofitted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dirty="0">
                <a:solidFill>
                  <a:srgbClr val="D4886B"/>
                </a:solidFill>
                <a:latin typeface="Calibri"/>
              </a:rPr>
              <a:t>  – </a:t>
            </a:r>
            <a:r>
              <a:rPr lang="en-US" sz="1700" dirty="0">
                <a:solidFill>
                  <a:srgbClr val="D4886B"/>
                </a:solidFill>
                <a:latin typeface="Calibri"/>
              </a:rPr>
              <a:t> </a:t>
            </a:r>
            <a:r>
              <a:rPr lang="en-US" sz="1700" dirty="0">
                <a:solidFill>
                  <a:srgbClr val="C4A882"/>
                </a:solidFill>
                <a:latin typeface="Calibri"/>
              </a:rPr>
              <a:t>S</a:t>
            </a:r>
            <a:r>
              <a:rPr sz="1700" dirty="0">
                <a:solidFill>
                  <a:srgbClr val="C4A882"/>
                </a:solidFill>
                <a:latin typeface="Calibri"/>
              </a:rPr>
              <a:t>emantic search vs. keyword matching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dirty="0">
                <a:solidFill>
                  <a:srgbClr val="D4886B"/>
                </a:solidFill>
                <a:latin typeface="Calibri"/>
              </a:rPr>
              <a:t>  –  </a:t>
            </a:r>
            <a:r>
              <a:rPr sz="1700" dirty="0">
                <a:solidFill>
                  <a:srgbClr val="C4A882"/>
                </a:solidFill>
                <a:latin typeface="Calibri"/>
              </a:rPr>
              <a:t>Returns clean, structured content optimized for AI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dirty="0">
                <a:solidFill>
                  <a:srgbClr val="D4886B"/>
                </a:solidFill>
                <a:latin typeface="Calibri"/>
              </a:rPr>
              <a:t>  –  </a:t>
            </a:r>
            <a:r>
              <a:rPr sz="1700" dirty="0">
                <a:solidFill>
                  <a:srgbClr val="C4A882"/>
                </a:solidFill>
                <a:latin typeface="Calibri"/>
              </a:rPr>
              <a:t>Handles complex natural language queries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dirty="0">
                <a:solidFill>
                  <a:srgbClr val="D4886B"/>
                </a:solidFill>
                <a:latin typeface="Calibri"/>
              </a:rPr>
              <a:t>  –  </a:t>
            </a:r>
            <a:r>
              <a:rPr sz="1700" dirty="0">
                <a:solidFill>
                  <a:srgbClr val="C4A882"/>
                </a:solidFill>
                <a:latin typeface="Calibri"/>
              </a:rPr>
              <a:t>Specialized verticals: company, people, </a:t>
            </a:r>
            <a:r>
              <a:rPr sz="1700" b="1" dirty="0">
                <a:solidFill>
                  <a:srgbClr val="C4A882"/>
                </a:solidFill>
                <a:latin typeface="Calibri"/>
              </a:rPr>
              <a:t>code</a:t>
            </a:r>
            <a:r>
              <a:rPr sz="1700" dirty="0">
                <a:solidFill>
                  <a:srgbClr val="C4A882"/>
                </a:solidFill>
                <a:latin typeface="Calibri"/>
              </a:rPr>
              <a:t>, academic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MCP: The "USB-C for AI"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C4A882"/>
                </a:solidFill>
                <a:latin typeface="Calibri"/>
              </a:defRPr>
            </a:pPr>
            <a:r>
              <a:t>LLMs cannot interact with the real world on their own. Connecting 5 AI apps</a:t>
            </a:r>
            <a:br/>
            <a:r>
              <a:t>to 10 services previously required 50 custom integrations.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Model Context Protocol (MCP) -- an open standard by Anthropic.</a:t>
            </a:r>
            <a:br>
              <a:rPr dirty="0"/>
            </a:br>
            <a:r>
              <a:rPr dirty="0"/>
              <a:t>Build one connection, any MCP client can use it.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560320" cy="22860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3794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1288" y="3794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62456" y="3794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Open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JSON-RPC 2.0</a:t>
            </a:r>
            <a:br/>
            <a:r>
              <a:t>Not locked to any vendor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657600"/>
            <a:ext cx="2560320" cy="22860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49040" y="3794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950208" y="3794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51376" y="3794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Dynamic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526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AI discovers tools</a:t>
            </a:r>
            <a:br/>
            <a:r>
              <a:t>at runtime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57600"/>
            <a:ext cx="2560320" cy="22860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37960" y="3794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39128" y="3794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40296" y="3794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15+ AI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26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Claude, Cursor, VS Code</a:t>
            </a:r>
            <a:br/>
            <a:r>
              <a:t>Gemini CLI, Codex...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79" y="3657600"/>
            <a:ext cx="2560320" cy="22860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79" y="3794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28047" y="3794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729215" y="3794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59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30% 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4526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Reduced integration</a:t>
            </a:r>
            <a:br/>
            <a:r>
              <a:t>development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Setup in 30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D4886B"/>
                </a:solidFill>
                <a:latin typeface="Calibri"/>
              </a:defRPr>
            </a:pPr>
            <a:r>
              <a:t>ZERO FRICTION: No API key, no npm install, no local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10332720" cy="100584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057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44168" y="2057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45336" y="2057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9933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 i="0">
                <a:solidFill>
                  <a:srgbClr val="D4886B"/>
                </a:solidFill>
                <a:latin typeface="JetBrains Mono"/>
              </a:defRPr>
            </a:pPr>
            <a:r>
              <a:t>$ claude mcp add --transport http exa https://mcp.exa.ai/mcp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D4886B"/>
                </a:solidFill>
                <a:latin typeface="Calibri"/>
              </a:defRPr>
            </a:pPr>
            <a:r>
              <a:t>THREE SETUP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D4886B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E8D5B7"/>
                </a:solidFill>
                <a:latin typeface="Calibri"/>
              </a:defRPr>
            </a:pPr>
            <a:r>
              <a:t>Free Remote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7A6E5D"/>
                </a:solidFill>
                <a:latin typeface="Calibri"/>
              </a:defRPr>
            </a:pPr>
            <a:r>
              <a:t>No API key needed. Generous free tier with rate limits.</a:t>
            </a:r>
            <a:br/>
            <a:r>
              <a:t>https://mcp.exa.ai/mcp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D4886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E8D5B7"/>
                </a:solidFill>
                <a:latin typeface="Calibri"/>
              </a:defRPr>
            </a:pPr>
            <a:r>
              <a:t>With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5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7A6E5D"/>
                </a:solidFill>
                <a:latin typeface="Calibri"/>
              </a:defRPr>
            </a:pPr>
            <a:r>
              <a:t>$10 free credits on signup. Higher rate limits.</a:t>
            </a:r>
            <a:br/>
            <a:r>
              <a:t>Append ?exaApiKey=YOUR_KEY to the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3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D4886B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863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E8D5B7"/>
                </a:solidFill>
                <a:latin typeface="Calibri"/>
              </a:defRPr>
            </a:pPr>
            <a:r>
              <a:t>Local npm 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064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7A6E5D"/>
                </a:solidFill>
                <a:latin typeface="Calibri"/>
              </a:defRPr>
            </a:pPr>
            <a:r>
              <a:t>Full control. Additional tools (Twitter, academic papers).</a:t>
            </a:r>
            <a:br/>
            <a:r>
              <a:t>npx -y exa-mcp-server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8 Tools at Your Fingertips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21031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D4886B"/>
                </a:solidFill>
                <a:latin typeface="JetBrains Mono"/>
              </a:defRPr>
            </a:pPr>
            <a:r>
              <a:t>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web_search_exa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E8D5B7"/>
                </a:solidFill>
                <a:latin typeface="Calibri"/>
              </a:defRPr>
            </a:pPr>
            <a:r>
              <a:t>General web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737360"/>
            <a:ext cx="2560320" cy="21031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4904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95020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5137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2103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D4886B"/>
                </a:solidFill>
                <a:latin typeface="JetBrains Mono"/>
              </a:defRPr>
            </a:pPr>
            <a:r>
              <a:t>DEFAULT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get_code_context_exa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E8D5B7"/>
                </a:solidFill>
                <a:latin typeface="Calibri"/>
              </a:defRPr>
            </a:pPr>
            <a:r>
              <a:t>Code &amp; docs 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37360"/>
            <a:ext cx="2560320" cy="21031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3796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3912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4029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103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D4886B"/>
                </a:solidFill>
                <a:latin typeface="JetBrains Mono"/>
              </a:defRPr>
            </a:pPr>
            <a:r>
              <a:t>DEFAULT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company_research_exa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E8D5B7"/>
                </a:solidFill>
                <a:latin typeface="Calibri"/>
              </a:defRPr>
            </a:pPr>
            <a:r>
              <a:t>Company intelligence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79" y="1737360"/>
            <a:ext cx="2560320" cy="21031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326879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528047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29215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81159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crawling_exa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59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E8D5B7"/>
                </a:solidFill>
                <a:latin typeface="Calibri"/>
              </a:defRPr>
            </a:pPr>
            <a:r>
              <a:t>URL content extraction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14800"/>
            <a:ext cx="2560320" cy="21031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0120" y="4251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61288" y="4251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362456" y="4251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deep_researcher_start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E8D5B7"/>
                </a:solidFill>
                <a:latin typeface="Calibri"/>
              </a:defRPr>
            </a:pPr>
            <a:r>
              <a:t>AI research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20440" y="4114800"/>
            <a:ext cx="2560320" cy="21031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749040" y="4251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950208" y="4251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151376" y="4251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033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people_search_exa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332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E8D5B7"/>
                </a:solidFill>
                <a:latin typeface="Calibri"/>
              </a:defRPr>
            </a:pPr>
            <a:r>
              <a:t>Professional profiles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4114800"/>
            <a:ext cx="2560320" cy="21031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537960" y="4251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739128" y="4251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940296" y="4251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922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web_search_advanced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E8D5B7"/>
                </a:solidFill>
                <a:latin typeface="Calibri"/>
              </a:defRPr>
            </a:pPr>
            <a:r>
              <a:t>Advanced filters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79" y="4114800"/>
            <a:ext cx="2560320" cy="21031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326879" y="4251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528047" y="4251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729215" y="4251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81159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deep_researcher_check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81159" y="4892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E8D5B7"/>
                </a:solidFill>
                <a:latin typeface="Calibri"/>
              </a:defRPr>
            </a:pPr>
            <a:r>
              <a:t>Get research results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Developer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15087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Documentation 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Fetch latest API docs for any framework.</a:t>
            </a:r>
            <a:br/>
            <a:r>
              <a:t>No more stale training data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A6E5D"/>
                </a:solidFill>
                <a:latin typeface="JetBrains Mono"/>
              </a:defRPr>
            </a:pPr>
            <a:r>
              <a:t>"Find the latest Next.js 15 server actions docs"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15087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508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Code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Pull real snippets from GitHub &amp; Stack Overflow.</a:t>
            </a:r>
            <a:br/>
            <a:r>
              <a:t>Ground suggestions in verified, working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A6E5D"/>
                </a:solidFill>
                <a:latin typeface="JetBrains Mono"/>
              </a:defRPr>
            </a:pPr>
            <a:r>
              <a:t>"Find FastAPI OAuth2 dependency injection examples"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303520" cy="15087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Deep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Autonomous multi-hop research with cited sources.</a:t>
            </a:r>
            <a:br/>
            <a:r>
              <a:t>Structured JSON output for programmatic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A6E5D"/>
                </a:solidFill>
                <a:latin typeface="JetBrains Mono"/>
              </a:defRPr>
            </a:pPr>
            <a:r>
              <a:t>"Research the AI code assistant competitive landscape"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108960"/>
            <a:ext cx="5303520" cy="15087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246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Real-Time Web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Access information published after training cutoff.</a:t>
            </a:r>
            <a:br/>
            <a:r>
              <a:t>Current news, announcements, and updates.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A6E5D"/>
                </a:solidFill>
                <a:latin typeface="JetBrains Mono"/>
              </a:defRPr>
            </a:pPr>
            <a:r>
              <a:t>"What were the key React conference announcements?"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5303520" cy="15087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983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Company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03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Research competitors, partners, or targets.</a:t>
            </a:r>
            <a:br/>
            <a:r>
              <a:t>Funding, headcount, tech stack, web traffic.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852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A6E5D"/>
                </a:solidFill>
                <a:latin typeface="JetBrains Mono"/>
              </a:defRPr>
            </a:pPr>
            <a:r>
              <a:t>"Research Anthropic's latest funding and products"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846320"/>
            <a:ext cx="5303520" cy="15087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4983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Content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303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Read full articles from any known URL.</a:t>
            </a:r>
            <a:br/>
            <a:r>
              <a:t>Clean text extraction for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852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A6E5D"/>
                </a:solidFill>
                <a:latin typeface="JetBrains Mono"/>
              </a:defRPr>
            </a:pPr>
            <a:r>
              <a:t>"Get the full text of this blog post: [URL]"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Why Training Data Alone Is Not Enough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508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1288" y="1508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62456" y="1508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37160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rPr dirty="0"/>
              <a:t>Core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9532" y="1592949"/>
            <a:ext cx="78995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 i="0">
                <a:solidFill>
                  <a:srgbClr val="E8D5B7"/>
                </a:solidFill>
                <a:latin typeface="Calibri"/>
              </a:defRPr>
            </a:pPr>
            <a:r>
              <a:rPr dirty="0"/>
              <a:t>Claude's training data is a snapshot frozen in time. Exa MCP transforms Claude</a:t>
            </a:r>
            <a:br>
              <a:rPr dirty="0"/>
            </a:br>
            <a:r>
              <a:rPr dirty="0"/>
              <a:t>from a static knowledge system into a dynamic research assistant.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0698480" cy="9144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D4886B"/>
                </a:solidFill>
                <a:latin typeface="JetBrains Mono"/>
              </a:defRPr>
            </a:pPr>
            <a:r>
              <a:t>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42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D4886B"/>
                </a:solidFill>
                <a:latin typeface="JetBrains Mono"/>
              </a:defRPr>
            </a:pPr>
            <a:r>
              <a:t>HOW EXA SOLVES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10698480" cy="9144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69848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809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Knowledge Cutoff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80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Real-time access to current web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381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Stale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381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Fetches latest docs, changelogs, API 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69848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953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Hallucinated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953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Grounds suggestions in real GitHub/SO 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52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No Live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3525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Current news, events, announcements on demand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10698480" cy="411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Missing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8097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Pull specific articles and research papers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669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Shallow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26694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Deep Researcher: multi-step, multi-source, autonomous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669280"/>
            <a:ext cx="10698480" cy="9144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795403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D4886B"/>
                </a:solidFill>
                <a:latin typeface="Calibri"/>
              </a:defRPr>
            </a:pPr>
            <a:r>
              <a:rPr dirty="0"/>
              <a:t>Critical for: fast-moving fields (AI, web dev)  |  time-sensitive decisions  |  technical accuracy  |  reducing hallucination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Get Started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115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D4886B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115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STEP 1: Add Exa MCP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531620"/>
            <a:ext cx="9875520" cy="5029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647703"/>
            <a:ext cx="60108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rPr lang="en-US" dirty="0" err="1"/>
              <a:t>claude</a:t>
            </a:r>
            <a:r>
              <a:rPr lang="en-US" dirty="0"/>
              <a:t> </a:t>
            </a:r>
            <a:r>
              <a:rPr lang="en-US" dirty="0" err="1"/>
              <a:t>mcp</a:t>
            </a:r>
            <a:r>
              <a:rPr lang="en-US" dirty="0"/>
              <a:t> add </a:t>
            </a:r>
            <a:r>
              <a:rPr lang="en-US" dirty="0" err="1"/>
              <a:t>exa</a:t>
            </a:r>
            <a:r>
              <a:rPr lang="en-US" dirty="0"/>
              <a:t> -e EXA_API_KEY=$KEY -- </a:t>
            </a:r>
            <a:r>
              <a:rPr lang="en-US" dirty="0" err="1"/>
              <a:t>npx</a:t>
            </a:r>
            <a:r>
              <a:rPr lang="en-US" dirty="0"/>
              <a:t> -y exa-</a:t>
            </a:r>
            <a:r>
              <a:rPr lang="en-US" dirty="0" err="1"/>
              <a:t>mcp</a:t>
            </a:r>
            <a:r>
              <a:rPr lang="en-US" dirty="0"/>
              <a:t>-server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20345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D4886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345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STEP 2: Restart Claude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545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Exit and reopen Claude Code to load the new 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575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D4886B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575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STEP 3: Verify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775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Ask Claude: "What Exa tools do you have available?"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804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D4886B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804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STEP 4: Test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005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Ask Claude: "Search for the latest TypeScript 5.7 features"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034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D4886B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034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D5B7"/>
                </a:solidFill>
                <a:latin typeface="Calibri"/>
              </a:defRPr>
            </a:pPr>
            <a:r>
              <a:t>STEP 5: Enable All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960620"/>
            <a:ext cx="9875520" cy="746651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5018274"/>
            <a:ext cx="97315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rPr dirty="0" err="1"/>
              <a:t>claude</a:t>
            </a:r>
            <a:r>
              <a:rPr dirty="0"/>
              <a:t> </a:t>
            </a:r>
            <a:r>
              <a:rPr dirty="0" err="1"/>
              <a:t>mcp</a:t>
            </a:r>
            <a:r>
              <a:rPr dirty="0"/>
              <a:t> add --transport http </a:t>
            </a:r>
            <a:r>
              <a:rPr dirty="0" err="1"/>
              <a:t>exa</a:t>
            </a:r>
            <a:br>
              <a:rPr dirty="0"/>
            </a:br>
            <a:r>
              <a:rPr dirty="0"/>
              <a:t>"https://</a:t>
            </a:r>
            <a:r>
              <a:rPr dirty="0" err="1"/>
              <a:t>mcp.exa.ai</a:t>
            </a:r>
            <a:r>
              <a:rPr dirty="0"/>
              <a:t>/</a:t>
            </a:r>
            <a:r>
              <a:rPr dirty="0" err="1"/>
              <a:t>mcp?tools</a:t>
            </a:r>
            <a:r>
              <a:rPr dirty="0"/>
              <a:t>=</a:t>
            </a:r>
            <a:r>
              <a:rPr dirty="0" err="1"/>
              <a:t>web_search_exa,get_code_context_exa</a:t>
            </a:r>
            <a:r>
              <a:rPr dirty="0"/>
              <a:t>,</a:t>
            </a:r>
            <a:br>
              <a:rPr dirty="0"/>
            </a:br>
            <a:r>
              <a:rPr dirty="0"/>
              <a:t>crawling_exa,company_research_exa,deep_researcher_start,deep_researcher_check"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2362</Words>
  <Application>Microsoft Macintosh PowerPoint</Application>
  <PresentationFormat>Widescreen</PresentationFormat>
  <Paragraphs>247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Haim Ari</cp:lastModifiedBy>
  <cp:revision>4</cp:revision>
  <dcterms:created xsi:type="dcterms:W3CDTF">2013-01-27T09:14:16Z</dcterms:created>
  <dcterms:modified xsi:type="dcterms:W3CDTF">2026-02-26T12:49:25Z</dcterms:modified>
  <cp:category/>
</cp:coreProperties>
</file>